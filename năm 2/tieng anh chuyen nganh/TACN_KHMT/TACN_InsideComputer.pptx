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6"/>
  </p:notes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300" r:id="rId25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77A7"/>
    <a:srgbClr val="597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EAC239-98E5-4029-A45A-D9EF26821850}">
  <a:tblStyle styleId="{2EEAC239-98E5-4029-A45A-D9EF26821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A6F1C34-89C7-99A0-A7A5-491D7FEE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FAC64739-7A21-C9CA-C5C3-D219402C8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636E7FCD-D2E7-8CDD-7C20-EBF96AC55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478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30B0E1D-C170-7AB7-3373-BFD443EE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AE9169E0-0692-FC49-533D-68D95A057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7BD49CE3-1895-8ABE-CE06-C3A67BC88D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022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1D72B0A-B234-72D5-C873-9E4CB13B3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AA4BD7E4-4EBE-39CD-56E1-1DAF70AF1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F5544197-4754-36A9-ADF8-4D7EDA299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55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40DD2C9-68FE-3D41-7F97-0ED35D95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3B370B89-43DF-89D1-367E-6088379FA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21039799-0825-30DA-5B0F-B64ED467D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6977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CBB1F8E-4B22-5CDC-8745-39EA3E4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D48B2AC3-D11B-595A-34D6-44BD26397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F9A50E5C-DD71-3A9A-48E4-9704FECE5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7724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3FC6BA0-C0CE-0554-D184-B4CEA0BD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5D123D66-A2F0-F7C3-80D7-4AE0EF790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8DE05C71-C463-A20C-47A6-4997CC865B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937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ACB3A58-4979-72FB-0DD5-CD5E913D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6C97D443-220A-2921-927B-73FE1C3F6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F11C26FF-A60E-0E66-CBE7-CD5A86E33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8890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10783B8-5FDC-A8FB-95C8-57150F25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22E7223C-6C8C-9E69-231D-3572EF6EF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EF2D7711-48CB-77C0-F292-5FB9962F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8191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32F495C-6958-CC87-A2F4-A6090645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1C06009B-ED51-23FB-F60E-D80806C32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E4F4EC86-4436-223B-3DC1-1D0E852C5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2503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BA1CB98-F15E-8447-2CB8-52C1DD06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4F732099-5960-C727-30A8-44EC5EDBA0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4AF07A3F-91EF-EF21-2ACD-315E80A56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2526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9BA53A1-307F-43F0-1085-74772CDC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3E63D099-137D-BFD3-E17F-FE2A68E09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5417D1FA-5DD0-F69B-1E03-94F0A7E67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098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2554" y="1552125"/>
            <a:ext cx="40182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12550" y="3794075"/>
            <a:ext cx="4018200" cy="5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3225" y="1237559"/>
            <a:ext cx="7717500" cy="3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59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4.svg"/><Relationship Id="rId7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4.svg"/><Relationship Id="rId7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4.svg"/><Relationship Id="rId7" Type="http://schemas.openxmlformats.org/officeDocument/2006/relationships/image" Target="../media/image3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4.svg"/><Relationship Id="rId7" Type="http://schemas.openxmlformats.org/officeDocument/2006/relationships/image" Target="../media/image3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24.svg"/><Relationship Id="rId7" Type="http://schemas.openxmlformats.org/officeDocument/2006/relationships/image" Target="../media/image3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41.svg"/><Relationship Id="rId4" Type="http://schemas.openxmlformats.org/officeDocument/2006/relationships/image" Target="../media/image25.png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4572000" cy="19643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Inside 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Computer</a:t>
            </a:r>
            <a:endParaRPr lang="vi-VN" dirty="0">
              <a:solidFill>
                <a:srgbClr val="FF0000"/>
              </a:solidFill>
            </a:endParaRPr>
          </a:p>
        </p:txBody>
      </p:sp>
      <p:pic>
        <p:nvPicPr>
          <p:cNvPr id="2" name="Picture 2" descr="An open computer case showing internal components. photo – Free Product  Image on Unsplash">
            <a:extLst>
              <a:ext uri="{FF2B5EF4-FFF2-40B4-BE49-F238E27FC236}">
                <a16:creationId xmlns:a16="http://schemas.microsoft.com/office/drawing/2014/main" id="{A08741B8-2976-E8AE-E8C8-6747FF07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" y="2021680"/>
            <a:ext cx="4043363" cy="3032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43F17A-E4E8-5CCA-8547-25629AAC4EFA}"/>
              </a:ext>
            </a:extLst>
          </p:cNvPr>
          <p:cNvSpPr txBox="1"/>
          <p:nvPr/>
        </p:nvSpPr>
        <p:spPr>
          <a:xfrm>
            <a:off x="4572000" y="4159447"/>
            <a:ext cx="4475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Fira Sans Extra Condensed" panose="020B0503050000020004" pitchFamily="34" charset="0"/>
              </a:rPr>
              <a:t>Blah blah</a:t>
            </a:r>
            <a:endParaRPr lang="en-US" sz="2400" dirty="0">
              <a:latin typeface="Fira Sans Extra Condensed" panose="020B0503050000020004" pitchFamily="34" charset="0"/>
            </a:endParaRPr>
          </a:p>
        </p:txBody>
      </p:sp>
      <p:pic>
        <p:nvPicPr>
          <p:cNvPr id="5122" name="Picture 2" descr="Story pin image">
            <a:extLst>
              <a:ext uri="{FF2B5EF4-FFF2-40B4-BE49-F238E27FC236}">
                <a16:creationId xmlns:a16="http://schemas.microsoft.com/office/drawing/2014/main" id="{EDD9BC18-2F1B-FB35-B246-2D402F4D5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316" y="157336"/>
            <a:ext cx="3489323" cy="359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AD33FBC9-16A5-0AA9-08A2-0B848ECE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E9CA74E-6F15-05DF-1705-466FC63FA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2F95146C-C415-DA95-DB2A-D4D727A62809}"/>
              </a:ext>
            </a:extLst>
          </p:cNvPr>
          <p:cNvSpPr txBox="1">
            <a:spLocks/>
          </p:cNvSpPr>
          <p:nvPr/>
        </p:nvSpPr>
        <p:spPr>
          <a:xfrm>
            <a:off x="4021299" y="3658557"/>
            <a:ext cx="1101408" cy="517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pic>
        <p:nvPicPr>
          <p:cNvPr id="2050" name="Picture 2" descr="PC assembly. Personal computer components service and maintenance, gaming PC  upgrade with SSD, CPU and GPU. Vector concept Stock Vector Image &amp; Art -  Alamy">
            <a:extLst>
              <a:ext uri="{FF2B5EF4-FFF2-40B4-BE49-F238E27FC236}">
                <a16:creationId xmlns:a16="http://schemas.microsoft.com/office/drawing/2014/main" id="{13746507-4BA4-860D-02F9-9A275FCD2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67"/>
          <a:stretch>
            <a:fillRect/>
          </a:stretch>
        </p:blipFill>
        <p:spPr bwMode="auto">
          <a:xfrm>
            <a:off x="2446366" y="780369"/>
            <a:ext cx="4251268" cy="251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531F7714-DB7C-E404-47A1-E234730FD6D3}"/>
              </a:ext>
            </a:extLst>
          </p:cNvPr>
          <p:cNvSpPr txBox="1">
            <a:spLocks/>
          </p:cNvSpPr>
          <p:nvPr/>
        </p:nvSpPr>
        <p:spPr>
          <a:xfrm>
            <a:off x="713250" y="94568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Why Understanding Hardware Matters</a:t>
            </a:r>
            <a:endParaRPr lang="vi-VN" sz="2800" dirty="0">
              <a:solidFill>
                <a:srgbClr val="3F77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4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72B2E46-3A27-69FF-DB2C-BB6CD36F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7E7F5A-57AE-4CDC-C1B3-6795BEA26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5C4ABEE7-FBA4-D9EA-442B-DEAD5F67FF08}"/>
              </a:ext>
            </a:extLst>
          </p:cNvPr>
          <p:cNvSpPr txBox="1">
            <a:spLocks/>
          </p:cNvSpPr>
          <p:nvPr/>
        </p:nvSpPr>
        <p:spPr>
          <a:xfrm>
            <a:off x="2411412" y="3536158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F93E68BB-E494-C90A-09C2-4505B397ECBE}"/>
              </a:ext>
            </a:extLst>
          </p:cNvPr>
          <p:cNvSpPr txBox="1">
            <a:spLocks/>
          </p:cNvSpPr>
          <p:nvPr/>
        </p:nvSpPr>
        <p:spPr>
          <a:xfrm>
            <a:off x="713249" y="110835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The Motherboard: The Great Backbone</a:t>
            </a:r>
            <a:endParaRPr lang="vi-VN" sz="1400" dirty="0">
              <a:solidFill>
                <a:srgbClr val="3F77A7"/>
              </a:solidFill>
            </a:endParaRPr>
          </a:p>
        </p:txBody>
      </p:sp>
      <p:pic>
        <p:nvPicPr>
          <p:cNvPr id="1032" name="Picture 8" descr="Motherboard Parts Stock Illustrations – 1,612 Motherboard Parts Stock  Illustrations, Vectors &amp; Clipart - Dreamstime">
            <a:extLst>
              <a:ext uri="{FF2B5EF4-FFF2-40B4-BE49-F238E27FC236}">
                <a16:creationId xmlns:a16="http://schemas.microsoft.com/office/drawing/2014/main" id="{6FB24DE2-286F-CA8A-43A9-B59A90E41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462" y="779541"/>
            <a:ext cx="4945074" cy="275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65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961236E5-188C-3C27-17FF-DA04684F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989866-7F77-3CE1-9B47-FCB4E186D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2AFBA81B-17A5-F074-D479-7A87A770FB28}"/>
              </a:ext>
            </a:extLst>
          </p:cNvPr>
          <p:cNvSpPr txBox="1">
            <a:spLocks/>
          </p:cNvSpPr>
          <p:nvPr/>
        </p:nvSpPr>
        <p:spPr>
          <a:xfrm>
            <a:off x="2411412" y="3536158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6090811F-275B-583F-7D76-AB1CCCDF2966}"/>
              </a:ext>
            </a:extLst>
          </p:cNvPr>
          <p:cNvSpPr txBox="1">
            <a:spLocks/>
          </p:cNvSpPr>
          <p:nvPr/>
        </p:nvSpPr>
        <p:spPr>
          <a:xfrm>
            <a:off x="713248" y="127930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The CPU: The Brain of the Computer</a:t>
            </a:r>
            <a:endParaRPr lang="vi-VN" sz="900" dirty="0">
              <a:solidFill>
                <a:srgbClr val="3F77A7"/>
              </a:solidFill>
            </a:endParaRPr>
          </a:p>
        </p:txBody>
      </p:sp>
      <p:pic>
        <p:nvPicPr>
          <p:cNvPr id="2050" name="Picture 2" descr="This may contain: someone is removing the cpu from their motherboard">
            <a:extLst>
              <a:ext uri="{FF2B5EF4-FFF2-40B4-BE49-F238E27FC236}">
                <a16:creationId xmlns:a16="http://schemas.microsoft.com/office/drawing/2014/main" id="{55B0F293-C238-F560-230D-6DD95BBB5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712" y="814389"/>
            <a:ext cx="4274573" cy="2721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112C08E1-733A-2A73-F682-394D0E086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DFEBF8-8CD5-A806-D568-7F2F5DFFA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2A6B46C4-3E4E-2DAE-435F-F3A9927EB37F}"/>
              </a:ext>
            </a:extLst>
          </p:cNvPr>
          <p:cNvSpPr txBox="1">
            <a:spLocks/>
          </p:cNvSpPr>
          <p:nvPr/>
        </p:nvSpPr>
        <p:spPr>
          <a:xfrm>
            <a:off x="2604319" y="3615326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EA4B4460-50EA-AC0D-0E1D-FAEC2753A9C7}"/>
              </a:ext>
            </a:extLst>
          </p:cNvPr>
          <p:cNvSpPr txBox="1">
            <a:spLocks/>
          </p:cNvSpPr>
          <p:nvPr/>
        </p:nvSpPr>
        <p:spPr>
          <a:xfrm>
            <a:off x="713249" y="127930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RAM: Your Quick, Short-Term Memory</a:t>
            </a:r>
            <a:endParaRPr lang="vi-VN" sz="400" dirty="0">
              <a:solidFill>
                <a:srgbClr val="3F77A7"/>
              </a:solidFill>
            </a:endParaRPr>
          </a:p>
        </p:txBody>
      </p:sp>
      <p:pic>
        <p:nvPicPr>
          <p:cNvPr id="3074" name="Picture 2" descr="Story pin image">
            <a:extLst>
              <a:ext uri="{FF2B5EF4-FFF2-40B4-BE49-F238E27FC236}">
                <a16:creationId xmlns:a16="http://schemas.microsoft.com/office/drawing/2014/main" id="{DAEA4240-FA37-BBB6-E132-76BC575C7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381" y="813731"/>
            <a:ext cx="3043237" cy="278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36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3D05591-D627-C5FD-BD34-A123C17A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9D392E-65AD-93D9-A9BB-56544C89D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670BC42D-CEFA-84C5-4688-813C64F2D255}"/>
              </a:ext>
            </a:extLst>
          </p:cNvPr>
          <p:cNvSpPr txBox="1">
            <a:spLocks/>
          </p:cNvSpPr>
          <p:nvPr/>
        </p:nvSpPr>
        <p:spPr>
          <a:xfrm>
            <a:off x="2604319" y="3702189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EA17E571-9E99-E09C-B099-E3A2CFC33F09}"/>
              </a:ext>
            </a:extLst>
          </p:cNvPr>
          <p:cNvSpPr txBox="1">
            <a:spLocks/>
          </p:cNvSpPr>
          <p:nvPr/>
        </p:nvSpPr>
        <p:spPr>
          <a:xfrm>
            <a:off x="520343" y="107762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The Hard Drive: Permanent Storage</a:t>
            </a:r>
            <a:endParaRPr lang="vi-VN" sz="100" dirty="0">
              <a:solidFill>
                <a:srgbClr val="3F77A7"/>
              </a:solidFill>
            </a:endParaRPr>
          </a:p>
        </p:txBody>
      </p:sp>
      <p:pic>
        <p:nvPicPr>
          <p:cNvPr id="4098" name="Picture 2" descr="This may contain: the parts of a hard drive">
            <a:extLst>
              <a:ext uri="{FF2B5EF4-FFF2-40B4-BE49-F238E27FC236}">
                <a16:creationId xmlns:a16="http://schemas.microsoft.com/office/drawing/2014/main" id="{629B255D-79DD-E8DE-BA68-ADFEFCEE6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306" y="793563"/>
            <a:ext cx="3481388" cy="299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47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8578708-DC51-5B63-3DDF-B5DA570C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1415C2-2A00-BF86-2019-C33D37136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5DFCD4DB-CF76-DE4F-8A12-812D3EF7AE4C}"/>
              </a:ext>
            </a:extLst>
          </p:cNvPr>
          <p:cNvSpPr txBox="1">
            <a:spLocks/>
          </p:cNvSpPr>
          <p:nvPr/>
        </p:nvSpPr>
        <p:spPr>
          <a:xfrm>
            <a:off x="2411412" y="3536158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24728420-EA9F-C1FF-DB82-64A66F368A71}"/>
              </a:ext>
            </a:extLst>
          </p:cNvPr>
          <p:cNvSpPr txBox="1">
            <a:spLocks/>
          </p:cNvSpPr>
          <p:nvPr/>
        </p:nvSpPr>
        <p:spPr>
          <a:xfrm>
            <a:off x="713248" y="78253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The Power Supply: The Electrical Source</a:t>
            </a:r>
            <a:endParaRPr lang="vi-VN" sz="100" dirty="0">
              <a:solidFill>
                <a:srgbClr val="3F77A7"/>
              </a:solidFill>
            </a:endParaRPr>
          </a:p>
        </p:txBody>
      </p:sp>
      <p:pic>
        <p:nvPicPr>
          <p:cNvPr id="6146" name="Picture 2" descr="The Cables in Your PC's Power Supply, Explained">
            <a:extLst>
              <a:ext uri="{FF2B5EF4-FFF2-40B4-BE49-F238E27FC236}">
                <a16:creationId xmlns:a16="http://schemas.microsoft.com/office/drawing/2014/main" id="{DC55C61E-C5D1-D9C3-3AD8-2AB7751CC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889" y="714376"/>
            <a:ext cx="4036219" cy="269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77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678988FA-B2C2-1CD0-6FAC-74A3DD83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0079FB-F70C-D1AE-24DB-4FC3B31C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C6654B4F-65E5-F41D-0F03-6FBD85D848C0}"/>
              </a:ext>
            </a:extLst>
          </p:cNvPr>
          <p:cNvSpPr txBox="1">
            <a:spLocks/>
          </p:cNvSpPr>
          <p:nvPr/>
        </p:nvSpPr>
        <p:spPr>
          <a:xfrm>
            <a:off x="2411412" y="3536158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0FC3293F-0161-23E6-3E21-ACB558149C2B}"/>
              </a:ext>
            </a:extLst>
          </p:cNvPr>
          <p:cNvSpPr txBox="1">
            <a:spLocks/>
          </p:cNvSpPr>
          <p:nvPr/>
        </p:nvSpPr>
        <p:spPr>
          <a:xfrm>
            <a:off x="520342" y="103460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The Cooling System: Keeping it Cool</a:t>
            </a:r>
            <a:endParaRPr lang="vi-VN" sz="100" dirty="0">
              <a:solidFill>
                <a:srgbClr val="3F77A7"/>
              </a:solidFill>
            </a:endParaRPr>
          </a:p>
        </p:txBody>
      </p:sp>
      <p:pic>
        <p:nvPicPr>
          <p:cNvPr id="7170" name="Picture 2" descr="Computer cooling - Wikipedia">
            <a:extLst>
              <a:ext uri="{FF2B5EF4-FFF2-40B4-BE49-F238E27FC236}">
                <a16:creationId xmlns:a16="http://schemas.microsoft.com/office/drawing/2014/main" id="{D3BB2018-2992-129E-E658-9A12B7990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505" y="714376"/>
            <a:ext cx="4321175" cy="288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96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BDC376E-A540-AAD2-98B7-7B2C551E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6D6D1-73A8-D11D-C72E-8F7ED9EA8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733481E3-E4B5-F514-B811-2616D241EF74}"/>
              </a:ext>
            </a:extLst>
          </p:cNvPr>
          <p:cNvSpPr txBox="1">
            <a:spLocks/>
          </p:cNvSpPr>
          <p:nvPr/>
        </p:nvSpPr>
        <p:spPr>
          <a:xfrm>
            <a:off x="2411412" y="3536158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4EF7D996-54A1-7693-CC7E-0B7D51E8C305}"/>
              </a:ext>
            </a:extLst>
          </p:cNvPr>
          <p:cNvSpPr txBox="1">
            <a:spLocks/>
          </p:cNvSpPr>
          <p:nvPr/>
        </p:nvSpPr>
        <p:spPr>
          <a:xfrm>
            <a:off x="713248" y="80622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Expansion Cards: Upgrading Functions</a:t>
            </a:r>
            <a:endParaRPr lang="vi-VN" sz="100" dirty="0">
              <a:solidFill>
                <a:srgbClr val="3F77A7"/>
              </a:solidFill>
            </a:endParaRPr>
          </a:p>
        </p:txBody>
      </p:sp>
      <p:pic>
        <p:nvPicPr>
          <p:cNvPr id="8196" name="Picture 4" descr="Install Graphics Card On PC">
            <a:extLst>
              <a:ext uri="{FF2B5EF4-FFF2-40B4-BE49-F238E27FC236}">
                <a16:creationId xmlns:a16="http://schemas.microsoft.com/office/drawing/2014/main" id="{37AAB44D-F60C-80A4-DDD6-8C2FF8B6A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1" y="714376"/>
            <a:ext cx="4270375" cy="2848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62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CA799E1-5CD0-3D87-C6FF-284222AF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E60F6E4-7D83-4DEC-7B10-0F0A89DDC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62C410DE-15C5-0A0D-40D4-CF9380381DAB}"/>
              </a:ext>
            </a:extLst>
          </p:cNvPr>
          <p:cNvSpPr txBox="1">
            <a:spLocks/>
          </p:cNvSpPr>
          <p:nvPr/>
        </p:nvSpPr>
        <p:spPr>
          <a:xfrm>
            <a:off x="2411412" y="3536158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7E2EBB8D-9929-F1F1-E919-F7073AEAC966}"/>
              </a:ext>
            </a:extLst>
          </p:cNvPr>
          <p:cNvSpPr txBox="1">
            <a:spLocks/>
          </p:cNvSpPr>
          <p:nvPr/>
        </p:nvSpPr>
        <p:spPr>
          <a:xfrm>
            <a:off x="713246" y="99103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-US" sz="2800" dirty="0">
                <a:solidFill>
                  <a:srgbClr val="3F77A7"/>
                </a:solidFill>
              </a:rPr>
              <a:t>Step-by-Step Computer Assembly</a:t>
            </a:r>
            <a:endParaRPr lang="vi-VN" sz="100" dirty="0">
              <a:solidFill>
                <a:srgbClr val="3F77A7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6B93DD-51CD-DB5E-1B67-5CE8A61F8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851" y="714376"/>
            <a:ext cx="3722295" cy="28951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0365EC-B00D-7ED1-E6BD-49838920C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066" y="714376"/>
            <a:ext cx="2561867" cy="2895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5A2762-89AE-5A02-B8F1-CB5E2A2D2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84" y="714376"/>
            <a:ext cx="2333017" cy="28951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C25131-D8A4-C5F2-47C3-C5021A89F0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0851" y="779188"/>
            <a:ext cx="3722295" cy="27569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B4BDF2-2E68-C441-7A7A-747F2E9F02F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968"/>
          <a:stretch>
            <a:fillRect/>
          </a:stretch>
        </p:blipFill>
        <p:spPr>
          <a:xfrm>
            <a:off x="2934804" y="746140"/>
            <a:ext cx="3274387" cy="28230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4149C4-FDEC-035D-3222-FB0BD031EE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2391" y="767569"/>
            <a:ext cx="3319211" cy="282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4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327F92D5-BF21-B52E-1415-6526E758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9C17EB-27E8-70FE-8FE4-A43B2A057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28246"/>
            <a:ext cx="7830643" cy="4887007"/>
          </a:xfrm>
          <a:prstGeom prst="rect">
            <a:avLst/>
          </a:prstGeom>
        </p:spPr>
      </p:pic>
      <p:sp>
        <p:nvSpPr>
          <p:cNvPr id="4" name="Google Shape;61;p17">
            <a:extLst>
              <a:ext uri="{FF2B5EF4-FFF2-40B4-BE49-F238E27FC236}">
                <a16:creationId xmlns:a16="http://schemas.microsoft.com/office/drawing/2014/main" id="{B613F2E0-90B8-3DBD-6584-C30C4B26A8B9}"/>
              </a:ext>
            </a:extLst>
          </p:cNvPr>
          <p:cNvSpPr txBox="1">
            <a:spLocks/>
          </p:cNvSpPr>
          <p:nvPr/>
        </p:nvSpPr>
        <p:spPr>
          <a:xfrm>
            <a:off x="2411412" y="3536158"/>
            <a:ext cx="4321175" cy="1607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sz="1800" dirty="0">
                <a:solidFill>
                  <a:srgbClr val="3F77A7"/>
                </a:solidFill>
                <a:latin typeface="Fira Sans Extra Condensed" panose="020B0503050000020004" pitchFamily="34" charset="0"/>
              </a:rPr>
              <a:t>Blah blah</a:t>
            </a:r>
            <a:br>
              <a:rPr lang="en-US" dirty="0">
                <a:solidFill>
                  <a:srgbClr val="3F77A7"/>
                </a:solidFill>
                <a:latin typeface="Fira Sans Extra Condensed" panose="020B0503050000020004" pitchFamily="34" charset="0"/>
              </a:rPr>
            </a:br>
            <a:endParaRPr lang="en-US" dirty="0">
              <a:solidFill>
                <a:srgbClr val="3F77A7"/>
              </a:solidFill>
              <a:latin typeface="Fira Sans Extra Condensed" panose="020B0503050000020004" pitchFamily="34" charset="0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1B62FAB1-1A9A-BBF0-07A8-243674510915}"/>
              </a:ext>
            </a:extLst>
          </p:cNvPr>
          <p:cNvSpPr txBox="1">
            <a:spLocks/>
          </p:cNvSpPr>
          <p:nvPr/>
        </p:nvSpPr>
        <p:spPr>
          <a:xfrm>
            <a:off x="713249" y="80600"/>
            <a:ext cx="7717500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6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Sans Extra Condensed"/>
              <a:buNone/>
              <a:defRPr sz="52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>
              <a:lnSpc>
                <a:spcPts val="3610"/>
              </a:lnSpc>
              <a:buClr>
                <a:srgbClr val="000000"/>
              </a:buClr>
              <a:buFont typeface="Arial"/>
            </a:pPr>
            <a:r>
              <a:rPr lang="en-US" sz="2800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Arial"/>
              </a:rPr>
              <a:t>Summary: The Perfect Harmony</a:t>
            </a:r>
            <a:endParaRPr lang="vi-VN" sz="2800" dirty="0">
              <a:solidFill>
                <a:srgbClr val="3F77A7"/>
              </a:solidFill>
              <a:latin typeface="Fira Sans Extra Condensed" panose="020B0503050000020004" pitchFamily="34" charset="0"/>
              <a:ea typeface="Capriola"/>
              <a:cs typeface="Capriola"/>
              <a:sym typeface="Arial"/>
            </a:endParaRPr>
          </a:p>
        </p:txBody>
      </p:sp>
      <p:pic>
        <p:nvPicPr>
          <p:cNvPr id="9218" name="Picture 2" descr="Computer parts and connection diagram isometric. Central processor controls  PC network audio strips connected power supply unit with adapter cable  connection case control gadgets USB. Vector clipart. Stock Vector by  ©Alexcardo 409766398">
            <a:extLst>
              <a:ext uri="{FF2B5EF4-FFF2-40B4-BE49-F238E27FC236}">
                <a16:creationId xmlns:a16="http://schemas.microsoft.com/office/drawing/2014/main" id="{7B25DE36-DF49-85BC-BF09-486537080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8"/>
          <a:stretch>
            <a:fillRect/>
          </a:stretch>
        </p:blipFill>
        <p:spPr bwMode="auto">
          <a:xfrm>
            <a:off x="2818184" y="720866"/>
            <a:ext cx="3121818" cy="280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74320" y="1640737"/>
            <a:ext cx="4795361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I’m the brain of your computer, thinking faster than a squirrel after coffee. What am I?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5D93C1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Question 1</a:t>
            </a:r>
          </a:p>
        </p:txBody>
      </p:sp>
      <p:sp>
        <p:nvSpPr>
          <p:cNvPr id="6" name="Freeform 6"/>
          <p:cNvSpPr/>
          <p:nvPr/>
        </p:nvSpPr>
        <p:spPr>
          <a:xfrm>
            <a:off x="7718541" y="274999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8553" y="3086100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401" y="1361872"/>
            <a:ext cx="3740932" cy="2584644"/>
          </a:xfrm>
          <a:custGeom>
            <a:avLst/>
            <a:gdLst/>
            <a:ahLst/>
            <a:cxnLst/>
            <a:rect l="l" t="t" r="r" b="b"/>
            <a:pathLst>
              <a:path w="7481864" h="5169288">
                <a:moveTo>
                  <a:pt x="0" y="0"/>
                </a:moveTo>
                <a:lnTo>
                  <a:pt x="7481864" y="0"/>
                </a:lnTo>
                <a:lnTo>
                  <a:pt x="7481864" y="5169288"/>
                </a:lnTo>
                <a:lnTo>
                  <a:pt x="0" y="516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089039" y="1343584"/>
            <a:ext cx="447478" cy="447478"/>
          </a:xfrm>
          <a:custGeom>
            <a:avLst/>
            <a:gdLst/>
            <a:ahLst/>
            <a:cxnLst/>
            <a:rect l="l" t="t" r="r" b="b"/>
            <a:pathLst>
              <a:path w="894956" h="894956">
                <a:moveTo>
                  <a:pt x="0" y="0"/>
                </a:moveTo>
                <a:lnTo>
                  <a:pt x="894956" y="0"/>
                </a:lnTo>
                <a:lnTo>
                  <a:pt x="894956" y="894956"/>
                </a:lnTo>
                <a:lnTo>
                  <a:pt x="0" y="894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92694" y="1850850"/>
            <a:ext cx="1349270" cy="1893108"/>
          </a:xfrm>
          <a:custGeom>
            <a:avLst/>
            <a:gdLst/>
            <a:ahLst/>
            <a:cxnLst/>
            <a:rect l="l" t="t" r="r" b="b"/>
            <a:pathLst>
              <a:path w="2698539" h="3786215">
                <a:moveTo>
                  <a:pt x="0" y="0"/>
                </a:moveTo>
                <a:lnTo>
                  <a:pt x="2698538" y="0"/>
                </a:lnTo>
                <a:lnTo>
                  <a:pt x="2698538" y="3786215"/>
                </a:lnTo>
                <a:lnTo>
                  <a:pt x="0" y="37862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FFFFFF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Answer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2507" y="2042275"/>
            <a:ext cx="1998719" cy="81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6"/>
              </a:lnSpc>
            </a:pPr>
            <a:r>
              <a:rPr lang="en-US" sz="4902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CPU.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91739" y="2773591"/>
            <a:ext cx="2400955" cy="27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29"/>
              </a:lnSpc>
            </a:pPr>
            <a:r>
              <a:rPr lang="en-US" sz="1700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CENTRAL PROCESSING UNIT.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38097" y="2507627"/>
            <a:ext cx="2155972" cy="115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86"/>
              </a:lnSpc>
            </a:pPr>
            <a:r>
              <a:rPr lang="en-US" sz="1668" dirty="0">
                <a:solidFill>
                  <a:srgbClr val="FFF6E5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It acts as the brain, processing all instructions so your computer can work.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8097" y="2057762"/>
            <a:ext cx="1368014" cy="27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8"/>
              </a:lnSpc>
            </a:pPr>
            <a:r>
              <a:rPr lang="en-US" sz="2308" dirty="0">
                <a:solidFill>
                  <a:srgbClr val="FFFFFF"/>
                </a:solidFill>
                <a:latin typeface="Fira Sans Extra Condensed" panose="020B0503050000020004" pitchFamily="34" charset="0"/>
                <a:ea typeface="Bukhari Script"/>
                <a:cs typeface="Bukhari Script"/>
                <a:sym typeface="Bukhari Script"/>
              </a:rPr>
              <a:t>Function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74320" y="1640737"/>
            <a:ext cx="4795361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I’m always at your right hand, clicking away… unless you’re a lefty! What computer part am I?</a:t>
            </a:r>
          </a:p>
        </p:txBody>
      </p:sp>
      <p:sp>
        <p:nvSpPr>
          <p:cNvPr id="5" name="Freeform 5"/>
          <p:cNvSpPr/>
          <p:nvPr/>
        </p:nvSpPr>
        <p:spPr>
          <a:xfrm>
            <a:off x="7425107" y="2654194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5D93C1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Question 2</a:t>
            </a:r>
          </a:p>
        </p:txBody>
      </p:sp>
      <p:sp>
        <p:nvSpPr>
          <p:cNvPr id="7" name="Freeform 7"/>
          <p:cNvSpPr/>
          <p:nvPr/>
        </p:nvSpPr>
        <p:spPr>
          <a:xfrm>
            <a:off x="284415" y="1469421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401" y="1361872"/>
            <a:ext cx="3740932" cy="2584644"/>
          </a:xfrm>
          <a:custGeom>
            <a:avLst/>
            <a:gdLst/>
            <a:ahLst/>
            <a:cxnLst/>
            <a:rect l="l" t="t" r="r" b="b"/>
            <a:pathLst>
              <a:path w="7481864" h="5169288">
                <a:moveTo>
                  <a:pt x="0" y="0"/>
                </a:moveTo>
                <a:lnTo>
                  <a:pt x="7481864" y="0"/>
                </a:lnTo>
                <a:lnTo>
                  <a:pt x="7481864" y="5169288"/>
                </a:lnTo>
                <a:lnTo>
                  <a:pt x="0" y="516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59050" y="1568527"/>
            <a:ext cx="447478" cy="447478"/>
          </a:xfrm>
          <a:custGeom>
            <a:avLst/>
            <a:gdLst/>
            <a:ahLst/>
            <a:cxnLst/>
            <a:rect l="l" t="t" r="r" b="b"/>
            <a:pathLst>
              <a:path w="894956" h="894956">
                <a:moveTo>
                  <a:pt x="0" y="0"/>
                </a:moveTo>
                <a:lnTo>
                  <a:pt x="894956" y="0"/>
                </a:lnTo>
                <a:lnTo>
                  <a:pt x="894956" y="894956"/>
                </a:lnTo>
                <a:lnTo>
                  <a:pt x="0" y="894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FFFFFF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Answer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2175" y="2430876"/>
            <a:ext cx="2869826" cy="81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6"/>
              </a:lnSpc>
            </a:pPr>
            <a:r>
              <a:rPr lang="en-US" sz="4902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MOUSE.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08108" y="2732570"/>
            <a:ext cx="2433545" cy="85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86"/>
              </a:lnSpc>
            </a:pPr>
            <a:r>
              <a:rPr lang="en-US" sz="1668" dirty="0">
                <a:solidFill>
                  <a:srgbClr val="FFF6E5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It lets you point, click, and move around your computer easily.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08108" y="2282705"/>
            <a:ext cx="1368014" cy="27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8"/>
              </a:lnSpc>
            </a:pPr>
            <a:r>
              <a:rPr lang="en-US" sz="2308" dirty="0">
                <a:solidFill>
                  <a:srgbClr val="FFFFFF"/>
                </a:solidFill>
                <a:latin typeface="Fira Sans Extra Condensed" panose="020B0503050000020004" pitchFamily="34" charset="0"/>
                <a:ea typeface="Bukhari Script"/>
                <a:cs typeface="Bukhari Script"/>
                <a:sym typeface="Bukhari Script"/>
              </a:rPr>
              <a:t>Function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4462065" y="2308813"/>
            <a:ext cx="1262164" cy="1028700"/>
          </a:xfrm>
          <a:custGeom>
            <a:avLst/>
            <a:gdLst/>
            <a:ahLst/>
            <a:cxnLst/>
            <a:rect l="l" t="t" r="r" b="b"/>
            <a:pathLst>
              <a:path w="2524328" h="2057400">
                <a:moveTo>
                  <a:pt x="0" y="0"/>
                </a:moveTo>
                <a:lnTo>
                  <a:pt x="2524328" y="0"/>
                </a:lnTo>
                <a:lnTo>
                  <a:pt x="25243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71502" y="1952329"/>
            <a:ext cx="5453605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 store your memories but never forget… even when you do. </a:t>
            </a:r>
          </a:p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What’s my name?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41226" y="4193660"/>
            <a:ext cx="1235586" cy="19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5D93C1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Question 3</a:t>
            </a:r>
          </a:p>
        </p:txBody>
      </p:sp>
      <p:sp>
        <p:nvSpPr>
          <p:cNvPr id="6" name="Freeform 6"/>
          <p:cNvSpPr/>
          <p:nvPr/>
        </p:nvSpPr>
        <p:spPr>
          <a:xfrm>
            <a:off x="7718541" y="274999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8553" y="3086100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401" y="1361872"/>
            <a:ext cx="3740932" cy="2584644"/>
          </a:xfrm>
          <a:custGeom>
            <a:avLst/>
            <a:gdLst/>
            <a:ahLst/>
            <a:cxnLst/>
            <a:rect l="l" t="t" r="r" b="b"/>
            <a:pathLst>
              <a:path w="7481864" h="5169288">
                <a:moveTo>
                  <a:pt x="0" y="0"/>
                </a:moveTo>
                <a:lnTo>
                  <a:pt x="7481864" y="0"/>
                </a:lnTo>
                <a:lnTo>
                  <a:pt x="7481864" y="5169288"/>
                </a:lnTo>
                <a:lnTo>
                  <a:pt x="0" y="516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057317" y="1508537"/>
            <a:ext cx="447478" cy="447478"/>
          </a:xfrm>
          <a:custGeom>
            <a:avLst/>
            <a:gdLst/>
            <a:ahLst/>
            <a:cxnLst/>
            <a:rect l="l" t="t" r="r" b="b"/>
            <a:pathLst>
              <a:path w="894956" h="894956">
                <a:moveTo>
                  <a:pt x="0" y="0"/>
                </a:moveTo>
                <a:lnTo>
                  <a:pt x="894955" y="0"/>
                </a:lnTo>
                <a:lnTo>
                  <a:pt x="894955" y="894956"/>
                </a:lnTo>
                <a:lnTo>
                  <a:pt x="0" y="894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342599" y="1606234"/>
            <a:ext cx="2360475" cy="1231739"/>
          </a:xfrm>
          <a:custGeom>
            <a:avLst/>
            <a:gdLst/>
            <a:ahLst/>
            <a:cxnLst/>
            <a:rect l="l" t="t" r="r" b="b"/>
            <a:pathLst>
              <a:path w="4720949" h="2463477">
                <a:moveTo>
                  <a:pt x="0" y="0"/>
                </a:moveTo>
                <a:lnTo>
                  <a:pt x="4720949" y="0"/>
                </a:lnTo>
                <a:lnTo>
                  <a:pt x="4720949" y="2463477"/>
                </a:lnTo>
                <a:lnTo>
                  <a:pt x="0" y="24634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FFFFFF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Answer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7686" y="2240685"/>
            <a:ext cx="2869826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51"/>
              </a:lnSpc>
            </a:pPr>
            <a:r>
              <a:rPr lang="en-US" sz="4902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HARD</a:t>
            </a:r>
          </a:p>
          <a:p>
            <a:pPr>
              <a:lnSpc>
                <a:spcPts val="4951"/>
              </a:lnSpc>
            </a:pPr>
            <a:r>
              <a:rPr lang="en-US" sz="4902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DRIVE.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6375" y="2672580"/>
            <a:ext cx="2092527" cy="85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86"/>
              </a:lnSpc>
            </a:pPr>
            <a:r>
              <a:rPr lang="en-US" sz="1668" dirty="0">
                <a:solidFill>
                  <a:srgbClr val="FFF6E5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It saves all your files, photos, and programs for long-term use.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6375" y="2222715"/>
            <a:ext cx="1368014" cy="27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8"/>
              </a:lnSpc>
            </a:pPr>
            <a:r>
              <a:rPr lang="en-US" sz="2308" dirty="0">
                <a:solidFill>
                  <a:srgbClr val="FFFFFF"/>
                </a:solidFill>
                <a:latin typeface="Fira Sans Extra Condensed" panose="020B0503050000020004" pitchFamily="34" charset="0"/>
                <a:ea typeface="Bukhari Script"/>
                <a:cs typeface="Bukhari Script"/>
                <a:sym typeface="Bukhari Script"/>
              </a:rPr>
              <a:t>Function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71502" y="1952329"/>
            <a:ext cx="5453605" cy="89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I’ve got keys but no doors, and I’m always ready for a good press. Who am I?</a:t>
            </a:r>
          </a:p>
        </p:txBody>
      </p:sp>
      <p:sp>
        <p:nvSpPr>
          <p:cNvPr id="5" name="Freeform 5"/>
          <p:cNvSpPr/>
          <p:nvPr/>
        </p:nvSpPr>
        <p:spPr>
          <a:xfrm>
            <a:off x="7425107" y="2654194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5D93C1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Question 4</a:t>
            </a:r>
          </a:p>
        </p:txBody>
      </p:sp>
      <p:sp>
        <p:nvSpPr>
          <p:cNvPr id="7" name="Freeform 7"/>
          <p:cNvSpPr/>
          <p:nvPr/>
        </p:nvSpPr>
        <p:spPr>
          <a:xfrm>
            <a:off x="284415" y="1469421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401" y="1361872"/>
            <a:ext cx="3740932" cy="2584644"/>
          </a:xfrm>
          <a:custGeom>
            <a:avLst/>
            <a:gdLst/>
            <a:ahLst/>
            <a:cxnLst/>
            <a:rect l="l" t="t" r="r" b="b"/>
            <a:pathLst>
              <a:path w="7481864" h="5169288">
                <a:moveTo>
                  <a:pt x="0" y="0"/>
                </a:moveTo>
                <a:lnTo>
                  <a:pt x="7481864" y="0"/>
                </a:lnTo>
                <a:lnTo>
                  <a:pt x="7481864" y="5169288"/>
                </a:lnTo>
                <a:lnTo>
                  <a:pt x="0" y="516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057317" y="1508537"/>
            <a:ext cx="447478" cy="447478"/>
          </a:xfrm>
          <a:custGeom>
            <a:avLst/>
            <a:gdLst/>
            <a:ahLst/>
            <a:cxnLst/>
            <a:rect l="l" t="t" r="r" b="b"/>
            <a:pathLst>
              <a:path w="894956" h="894956">
                <a:moveTo>
                  <a:pt x="0" y="0"/>
                </a:moveTo>
                <a:lnTo>
                  <a:pt x="894955" y="0"/>
                </a:lnTo>
                <a:lnTo>
                  <a:pt x="894955" y="894956"/>
                </a:lnTo>
                <a:lnTo>
                  <a:pt x="0" y="894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32410" y="1732276"/>
            <a:ext cx="2253218" cy="1450253"/>
          </a:xfrm>
          <a:custGeom>
            <a:avLst/>
            <a:gdLst/>
            <a:ahLst/>
            <a:cxnLst/>
            <a:rect l="l" t="t" r="r" b="b"/>
            <a:pathLst>
              <a:path w="4506436" h="2900506">
                <a:moveTo>
                  <a:pt x="0" y="0"/>
                </a:moveTo>
                <a:lnTo>
                  <a:pt x="4506436" y="0"/>
                </a:lnTo>
                <a:lnTo>
                  <a:pt x="4506436" y="2900506"/>
                </a:lnTo>
                <a:lnTo>
                  <a:pt x="0" y="290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FFFFFF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Answer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7686" y="2240685"/>
            <a:ext cx="2615150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51"/>
              </a:lnSpc>
            </a:pPr>
            <a:r>
              <a:rPr lang="en-US" sz="4902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KEY</a:t>
            </a:r>
          </a:p>
          <a:p>
            <a:pPr>
              <a:lnSpc>
                <a:spcPts val="4951"/>
              </a:lnSpc>
            </a:pPr>
            <a:r>
              <a:rPr lang="en-US" sz="4902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BOARD.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6375" y="2672580"/>
            <a:ext cx="2227348" cy="86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86"/>
              </a:lnSpc>
            </a:pPr>
            <a:r>
              <a:rPr lang="en-US" sz="1668" dirty="0">
                <a:solidFill>
                  <a:srgbClr val="FFF6E5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It lets you type letters, numbers, and commands into your computer.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6375" y="2222715"/>
            <a:ext cx="1368014" cy="27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8"/>
              </a:lnSpc>
            </a:pPr>
            <a:r>
              <a:rPr lang="en-US" sz="2308" dirty="0">
                <a:solidFill>
                  <a:srgbClr val="FFFFFF"/>
                </a:solidFill>
                <a:latin typeface="Fira Sans Extra Condensed" panose="020B0503050000020004" pitchFamily="34" charset="0"/>
                <a:ea typeface="Bukhari Script"/>
                <a:cs typeface="Bukhari Script"/>
                <a:sym typeface="Bukhari Script"/>
              </a:rPr>
              <a:t>Function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71502" y="1952329"/>
            <a:ext cx="5453605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 take digital dreams and print them on paper. </a:t>
            </a:r>
          </a:p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What’s my name?</a:t>
            </a:r>
          </a:p>
        </p:txBody>
      </p:sp>
      <p:sp>
        <p:nvSpPr>
          <p:cNvPr id="5" name="Freeform 5"/>
          <p:cNvSpPr/>
          <p:nvPr/>
        </p:nvSpPr>
        <p:spPr>
          <a:xfrm>
            <a:off x="7718541" y="274999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5D93C1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Question 5</a:t>
            </a:r>
          </a:p>
        </p:txBody>
      </p:sp>
      <p:sp>
        <p:nvSpPr>
          <p:cNvPr id="7" name="Freeform 7"/>
          <p:cNvSpPr/>
          <p:nvPr/>
        </p:nvSpPr>
        <p:spPr>
          <a:xfrm>
            <a:off x="268553" y="3086100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401" y="1361872"/>
            <a:ext cx="3740932" cy="2584644"/>
          </a:xfrm>
          <a:custGeom>
            <a:avLst/>
            <a:gdLst/>
            <a:ahLst/>
            <a:cxnLst/>
            <a:rect l="l" t="t" r="r" b="b"/>
            <a:pathLst>
              <a:path w="7481864" h="5169288">
                <a:moveTo>
                  <a:pt x="0" y="0"/>
                </a:moveTo>
                <a:lnTo>
                  <a:pt x="7481864" y="0"/>
                </a:lnTo>
                <a:lnTo>
                  <a:pt x="7481864" y="5169288"/>
                </a:lnTo>
                <a:lnTo>
                  <a:pt x="0" y="516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14934" y="1426093"/>
            <a:ext cx="447478" cy="447478"/>
          </a:xfrm>
          <a:custGeom>
            <a:avLst/>
            <a:gdLst/>
            <a:ahLst/>
            <a:cxnLst/>
            <a:rect l="l" t="t" r="r" b="b"/>
            <a:pathLst>
              <a:path w="894956" h="894956">
                <a:moveTo>
                  <a:pt x="0" y="0"/>
                </a:moveTo>
                <a:lnTo>
                  <a:pt x="894956" y="0"/>
                </a:lnTo>
                <a:lnTo>
                  <a:pt x="894956" y="894956"/>
                </a:lnTo>
                <a:lnTo>
                  <a:pt x="0" y="8949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15963" y="3072553"/>
            <a:ext cx="1547731" cy="1024317"/>
          </a:xfrm>
          <a:custGeom>
            <a:avLst/>
            <a:gdLst/>
            <a:ahLst/>
            <a:cxnLst/>
            <a:rect l="l" t="t" r="r" b="b"/>
            <a:pathLst>
              <a:path w="3095462" h="2048633">
                <a:moveTo>
                  <a:pt x="0" y="0"/>
                </a:moveTo>
                <a:lnTo>
                  <a:pt x="3095462" y="0"/>
                </a:lnTo>
                <a:lnTo>
                  <a:pt x="3095462" y="2048633"/>
                </a:lnTo>
                <a:lnTo>
                  <a:pt x="0" y="2048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FFFFFF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Answer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3559" y="2416124"/>
            <a:ext cx="3146504" cy="64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51"/>
              </a:lnSpc>
            </a:pPr>
            <a:r>
              <a:rPr lang="en-US" sz="4902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PRINTER.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63992" y="2590136"/>
            <a:ext cx="2473198" cy="85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86"/>
              </a:lnSpc>
            </a:pPr>
            <a:r>
              <a:rPr lang="en-US" sz="1668" dirty="0">
                <a:solidFill>
                  <a:srgbClr val="FFF6E5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It turns your digital documents and pictures into real paper copies.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63992" y="2140271"/>
            <a:ext cx="1368014" cy="27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8"/>
              </a:lnSpc>
            </a:pPr>
            <a:r>
              <a:rPr lang="en-US" sz="2308" dirty="0">
                <a:solidFill>
                  <a:srgbClr val="FFFFFF"/>
                </a:solidFill>
                <a:latin typeface="Fira Sans Extra Condensed" panose="020B0503050000020004" pitchFamily="34" charset="0"/>
                <a:ea typeface="Bukhari Script"/>
                <a:cs typeface="Bukhari Script"/>
                <a:sym typeface="Bukhari Script"/>
              </a:rPr>
              <a:t>Function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96378" y="1640737"/>
            <a:ext cx="4351245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Without me, your computer naps forever. </a:t>
            </a:r>
          </a:p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 bring the energy! </a:t>
            </a:r>
          </a:p>
          <a:p>
            <a:pPr algn="ctr">
              <a:lnSpc>
                <a:spcPts val="3610"/>
              </a:lnSpc>
            </a:pPr>
            <a:r>
              <a:rPr lang="en-US" sz="2635" dirty="0">
                <a:solidFill>
                  <a:srgbClr val="3F77A7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Who am I?</a:t>
            </a:r>
          </a:p>
        </p:txBody>
      </p:sp>
      <p:sp>
        <p:nvSpPr>
          <p:cNvPr id="5" name="Freeform 5"/>
          <p:cNvSpPr/>
          <p:nvPr/>
        </p:nvSpPr>
        <p:spPr>
          <a:xfrm>
            <a:off x="7425107" y="2654194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5D93C1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Question 6</a:t>
            </a:r>
          </a:p>
        </p:txBody>
      </p:sp>
      <p:sp>
        <p:nvSpPr>
          <p:cNvPr id="7" name="Freeform 7"/>
          <p:cNvSpPr/>
          <p:nvPr/>
        </p:nvSpPr>
        <p:spPr>
          <a:xfrm>
            <a:off x="284415" y="1469421"/>
            <a:ext cx="1367927" cy="2057400"/>
          </a:xfrm>
          <a:custGeom>
            <a:avLst/>
            <a:gdLst/>
            <a:ahLst/>
            <a:cxnLst/>
            <a:rect l="l" t="t" r="r" b="b"/>
            <a:pathLst>
              <a:path w="2735854" h="4114800">
                <a:moveTo>
                  <a:pt x="0" y="0"/>
                </a:moveTo>
                <a:lnTo>
                  <a:pt x="2735854" y="0"/>
                </a:lnTo>
                <a:lnTo>
                  <a:pt x="2735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sp>
        <p:nvSpPr>
          <p:cNvPr id="3" name="Freeform 3"/>
          <p:cNvSpPr/>
          <p:nvPr/>
        </p:nvSpPr>
        <p:spPr>
          <a:xfrm>
            <a:off x="735971" y="514350"/>
            <a:ext cx="7846095" cy="4279688"/>
          </a:xfrm>
          <a:custGeom>
            <a:avLst/>
            <a:gdLst/>
            <a:ahLst/>
            <a:cxnLst/>
            <a:rect l="l" t="t" r="r" b="b"/>
            <a:pathLst>
              <a:path w="15692190" h="8559376">
                <a:moveTo>
                  <a:pt x="0" y="0"/>
                </a:moveTo>
                <a:lnTo>
                  <a:pt x="15692190" y="0"/>
                </a:lnTo>
                <a:lnTo>
                  <a:pt x="15692190" y="8559376"/>
                </a:lnTo>
                <a:lnTo>
                  <a:pt x="0" y="8559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1401" y="1361872"/>
            <a:ext cx="3740932" cy="2584644"/>
          </a:xfrm>
          <a:custGeom>
            <a:avLst/>
            <a:gdLst/>
            <a:ahLst/>
            <a:cxnLst/>
            <a:rect l="l" t="t" r="r" b="b"/>
            <a:pathLst>
              <a:path w="7481864" h="5169288">
                <a:moveTo>
                  <a:pt x="0" y="0"/>
                </a:moveTo>
                <a:lnTo>
                  <a:pt x="7481864" y="0"/>
                </a:lnTo>
                <a:lnTo>
                  <a:pt x="7481864" y="5169288"/>
                </a:lnTo>
                <a:lnTo>
                  <a:pt x="0" y="516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69917" y="1517540"/>
            <a:ext cx="447478" cy="447478"/>
          </a:xfrm>
          <a:custGeom>
            <a:avLst/>
            <a:gdLst/>
            <a:ahLst/>
            <a:cxnLst/>
            <a:rect l="l" t="t" r="r" b="b"/>
            <a:pathLst>
              <a:path w="894956" h="894956">
                <a:moveTo>
                  <a:pt x="0" y="0"/>
                </a:moveTo>
                <a:lnTo>
                  <a:pt x="894955" y="0"/>
                </a:lnTo>
                <a:lnTo>
                  <a:pt x="894955" y="894955"/>
                </a:lnTo>
                <a:lnTo>
                  <a:pt x="0" y="894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347444" y="2246330"/>
            <a:ext cx="1858735" cy="1192970"/>
          </a:xfrm>
          <a:custGeom>
            <a:avLst/>
            <a:gdLst/>
            <a:ahLst/>
            <a:cxnLst/>
            <a:rect l="l" t="t" r="r" b="b"/>
            <a:pathLst>
              <a:path w="3717469" h="2385939">
                <a:moveTo>
                  <a:pt x="0" y="0"/>
                </a:moveTo>
                <a:lnTo>
                  <a:pt x="3717469" y="0"/>
                </a:lnTo>
                <a:lnTo>
                  <a:pt x="3717469" y="2385939"/>
                </a:lnTo>
                <a:lnTo>
                  <a:pt x="0" y="23859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25755" y="1625494"/>
            <a:ext cx="579797" cy="946256"/>
          </a:xfrm>
          <a:custGeom>
            <a:avLst/>
            <a:gdLst/>
            <a:ahLst/>
            <a:cxnLst/>
            <a:rect l="l" t="t" r="r" b="b"/>
            <a:pathLst>
              <a:path w="1159594" h="1892512">
                <a:moveTo>
                  <a:pt x="0" y="0"/>
                </a:moveTo>
                <a:lnTo>
                  <a:pt x="1159594" y="0"/>
                </a:lnTo>
                <a:lnTo>
                  <a:pt x="1159594" y="1892512"/>
                </a:lnTo>
                <a:lnTo>
                  <a:pt x="0" y="18925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41226" y="4193660"/>
            <a:ext cx="1235586" cy="20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677" spc="-139" dirty="0">
                <a:solidFill>
                  <a:srgbClr val="FFFFFF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Answer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00034" y="2322530"/>
            <a:ext cx="2283665" cy="111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3"/>
              </a:lnSpc>
            </a:pPr>
            <a:r>
              <a:rPr lang="en-US" sz="4281" dirty="0">
                <a:solidFill>
                  <a:srgbClr val="28619A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POWER SUPPLY.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18975" y="2630382"/>
            <a:ext cx="1671598" cy="115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86"/>
              </a:lnSpc>
            </a:pPr>
            <a:r>
              <a:rPr lang="en-US" sz="1668" dirty="0">
                <a:solidFill>
                  <a:srgbClr val="FFF6E5"/>
                </a:solidFill>
                <a:latin typeface="Fira Sans Extra Condensed" panose="020B0503050000020004" pitchFamily="34" charset="0"/>
                <a:ea typeface="Capriola"/>
                <a:cs typeface="Capriola"/>
                <a:sym typeface="Capriola"/>
              </a:rPr>
              <a:t>It gives power to every part of your computer so it can run.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18975" y="2231718"/>
            <a:ext cx="1368014" cy="27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8"/>
              </a:lnSpc>
            </a:pPr>
            <a:r>
              <a:rPr lang="en-US" sz="2308" dirty="0">
                <a:solidFill>
                  <a:srgbClr val="FFFFFF"/>
                </a:solidFill>
                <a:latin typeface="Fira Sans Extra Condensed" panose="020B0503050000020004" pitchFamily="34" charset="0"/>
                <a:ea typeface="Bukhari Script"/>
                <a:cs typeface="Bukhari Script"/>
                <a:sym typeface="Bukhari Script"/>
              </a:rPr>
              <a:t>Function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4572000" y="3082042"/>
            <a:ext cx="346296" cy="565171"/>
          </a:xfrm>
          <a:custGeom>
            <a:avLst/>
            <a:gdLst/>
            <a:ahLst/>
            <a:cxnLst/>
            <a:rect l="l" t="t" r="r" b="b"/>
            <a:pathLst>
              <a:path w="692591" h="1130341">
                <a:moveTo>
                  <a:pt x="0" y="0"/>
                </a:moveTo>
                <a:lnTo>
                  <a:pt x="692591" y="0"/>
                </a:lnTo>
                <a:lnTo>
                  <a:pt x="692591" y="1130341"/>
                </a:lnTo>
                <a:lnTo>
                  <a:pt x="0" y="11303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83C1288-77BE-5EA0-FEAD-A081B6107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>
            <a:extLst>
              <a:ext uri="{FF2B5EF4-FFF2-40B4-BE49-F238E27FC236}">
                <a16:creationId xmlns:a16="http://schemas.microsoft.com/office/drawing/2014/main" id="{281075B7-7215-D3D5-0D9F-50E5103AB6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377855" y="1135856"/>
            <a:ext cx="4545451" cy="2871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THE END.</a:t>
            </a:r>
            <a:br>
              <a:rPr lang="vi-VN" dirty="0"/>
            </a:br>
            <a:r>
              <a:rPr lang="vi-VN" dirty="0"/>
              <a:t>Thank you for your </a:t>
            </a:r>
            <a:r>
              <a:rPr lang="vi-VN" dirty="0">
                <a:solidFill>
                  <a:schemeClr val="accent2"/>
                </a:solidFill>
              </a:rPr>
              <a:t>listening.</a:t>
            </a:r>
          </a:p>
        </p:txBody>
      </p:sp>
    </p:spTree>
    <p:extLst>
      <p:ext uri="{BB962C8B-B14F-4D97-AF65-F5344CB8AC3E}">
        <p14:creationId xmlns:p14="http://schemas.microsoft.com/office/powerpoint/2010/main" val="3458773024"/>
      </p:ext>
    </p:extLst>
  </p:cSld>
  <p:clrMapOvr>
    <a:masterClrMapping/>
  </p:clrMapOvr>
</p:sld>
</file>

<file path=ppt/theme/theme1.xml><?xml version="1.0" encoding="utf-8"?>
<a:theme xmlns:a="http://schemas.openxmlformats.org/drawingml/2006/main" name="Soccer Infographics by Slidesgo">
  <a:themeElements>
    <a:clrScheme name="Simple Light">
      <a:dk1>
        <a:srgbClr val="000000"/>
      </a:dk1>
      <a:lt1>
        <a:srgbClr val="49BA49"/>
      </a:lt1>
      <a:dk2>
        <a:srgbClr val="F9D93D"/>
      </a:dk2>
      <a:lt2>
        <a:srgbClr val="FFAB6D"/>
      </a:lt2>
      <a:accent1>
        <a:srgbClr val="E8E3D9"/>
      </a:accent1>
      <a:accent2>
        <a:srgbClr val="CC0000"/>
      </a:accent2>
      <a:accent3>
        <a:srgbClr val="8A4F07"/>
      </a:accent3>
      <a:accent4>
        <a:srgbClr val="EFEFE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338</Words>
  <Application>Microsoft Office PowerPoint</Application>
  <PresentationFormat>On-screen Show (16:9)</PresentationFormat>
  <Paragraphs>66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Roboto</vt:lpstr>
      <vt:lpstr>Fira Sans Extra Condensed</vt:lpstr>
      <vt:lpstr>Arial</vt:lpstr>
      <vt:lpstr>Soccer Infographics by Slidesgo</vt:lpstr>
      <vt:lpstr>Inside  the Computer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END. Thank you for your listening.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Famous  Person Lionel Messi </dc:title>
  <cp:lastModifiedBy>Hoang Anh Le</cp:lastModifiedBy>
  <cp:revision>35</cp:revision>
  <dcterms:modified xsi:type="dcterms:W3CDTF">2026-05-20T16:03:38Z</dcterms:modified>
</cp:coreProperties>
</file>