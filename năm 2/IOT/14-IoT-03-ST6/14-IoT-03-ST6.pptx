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4" r:id="rId1"/>
  </p:sldMasterIdLst>
  <p:notesMasterIdLst>
    <p:notesMasterId r:id="rId32"/>
  </p:notesMasterIdLst>
  <p:sldIdLst>
    <p:sldId id="292" r:id="rId2"/>
    <p:sldId id="286" r:id="rId3"/>
    <p:sldId id="290" r:id="rId4"/>
    <p:sldId id="291" r:id="rId5"/>
    <p:sldId id="293" r:id="rId6"/>
    <p:sldId id="294" r:id="rId7"/>
    <p:sldId id="295" r:id="rId8"/>
    <p:sldId id="287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8" r:id="rId26"/>
    <p:sldId id="282" r:id="rId27"/>
    <p:sldId id="289" r:id="rId28"/>
    <p:sldId id="283" r:id="rId29"/>
    <p:sldId id="284" r:id="rId30"/>
    <p:sldId id="285" r:id="rId31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6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4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2254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77A73-9B03-645A-2911-DDEF85D69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5417CE-77E0-BB4C-15A9-08A38AA57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D826C4-01AF-9B21-AEB5-DB19D3858E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0B6FB-5BFB-0C13-7AD1-14FE1F956A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468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27BF5-81B3-97B7-2600-EBF0BA4CA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9CD29B-3C65-994E-6D94-E49148BC92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470783-48AD-3343-C0F8-9B3F7BE38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D48E2-0CEA-7D56-33CE-462AE8AB63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64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61BB8-7146-0D1B-46AD-FC74DEEFC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16DD9A-8635-987D-C740-0F69EAECE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4C494B-65A4-1D51-E9BC-3528188DB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0B1E7-5BDE-7E3C-15A8-E31281EA8A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232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F8242-209F-B651-490E-F30CDC314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F48979-D2FC-3FE4-6A63-3A4E68AA3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F94E55-343C-843B-5B32-0AF8C604E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20E830-F42E-8F18-6362-670885531E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920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139EA-20D6-5529-38C8-DEA20623A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EF18F0-5FC8-DB82-BB15-FD82FFB38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D56A84-1E2E-EE88-DD4F-E0C9A3D27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2FF1A-4A5A-E8AF-304D-2F2B259241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797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3790B-79AF-62DF-E0AB-741D976EA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4A0E3B-B57B-F47A-316F-EC088F355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BC3A8B-0892-53EF-55D2-285B244CD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DC12-5BF8-9834-3DAF-047291D9C4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76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7C0A7-8DBF-6876-63B0-1059047C8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532E3E-BB7C-445E-61FB-A3E333C0CF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B5111B-0715-EC2C-DD7A-821BA6FBC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46899-34A0-1E24-C5BE-EFCB36C7B8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2352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9BBB9-5D06-3DBF-4FBF-38DE5754B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BA49D0-5A44-7E30-92AA-D9165BCF8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846C7-669A-4A0A-110B-CCE1D9FB4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C1D1C-CACF-B39B-AA7B-0FEC5215A0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0227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70753-ADAB-B762-4458-EBCA30C70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92693A-4D48-C473-CA4D-06CA71E8E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D1A480-F5A2-98B3-B12E-173E014F7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22261-F732-24A4-1878-FD87AE43AE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798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53456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30773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99116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07222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37355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84097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29818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2889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38420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76004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853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1098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276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E4DF7-3CA1-D927-A1DE-A42A626B2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A person looking at a smartphone screen displaying a live video feed.">
            <a:extLst>
              <a:ext uri="{FF2B5EF4-FFF2-40B4-BE49-F238E27FC236}">
                <a16:creationId xmlns:a16="http://schemas.microsoft.com/office/drawing/2014/main" id="{6B223333-5AE3-CB8F-A518-D850B9D091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244" r="27244"/>
          <a:stretch/>
        </p:blipFill>
        <p:spPr>
          <a:xfrm>
            <a:off x="0" y="0"/>
            <a:ext cx="3810000" cy="68580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DEA79415-4292-83B8-8942-E2175B01479E}"/>
              </a:ext>
            </a:extLst>
          </p:cNvPr>
          <p:cNvSpPr/>
          <p:nvPr/>
        </p:nvSpPr>
        <p:spPr>
          <a:xfrm>
            <a:off x="4191000" y="241640"/>
            <a:ext cx="6515100" cy="296251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7776"/>
              </a:lnSpc>
            </a:pPr>
            <a:r>
              <a:rPr lang="en-US" sz="6750" kern="0" spc="-40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SMART</a:t>
            </a:r>
            <a:br>
              <a:rPr lang="en-US" sz="6750" kern="0" spc="-40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</a:br>
            <a:r>
              <a:rPr lang="en-US" sz="6750" kern="0" spc="-40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SURVEILLANCE</a:t>
            </a:r>
            <a:br>
              <a:rPr lang="en-US" sz="6750" kern="0" spc="-40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</a:br>
            <a:r>
              <a:rPr lang="en-US" sz="6750" kern="0" spc="-40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SYSTEM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476514-6A96-8AE1-D924-D9B4F5AA83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9952" y="112972"/>
            <a:ext cx="1829827" cy="2348279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B630D169-DE07-BF2F-3CED-913E877EF625}"/>
              </a:ext>
            </a:extLst>
          </p:cNvPr>
          <p:cNvSpPr/>
          <p:nvPr/>
        </p:nvSpPr>
        <p:spPr>
          <a:xfrm>
            <a:off x="4191000" y="3329535"/>
            <a:ext cx="6134100" cy="32004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2520"/>
              </a:lnSpc>
              <a:spcBef>
                <a:spcPts val="628"/>
              </a:spcBef>
            </a:pPr>
            <a:r>
              <a:rPr lang="en-US" sz="1800" kern="0" spc="-36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REAL-TIME VIDEO MONITORING AND ALERTING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1F489317-8286-2B4C-62ED-F182D72B6211}"/>
              </a:ext>
            </a:extLst>
          </p:cNvPr>
          <p:cNvSpPr/>
          <p:nvPr/>
        </p:nvSpPr>
        <p:spPr>
          <a:xfrm>
            <a:off x="4191000" y="4590980"/>
            <a:ext cx="1333381" cy="2194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28"/>
              </a:lnSpc>
            </a:pPr>
            <a:r>
              <a:rPr lang="en-US" sz="2000" kern="0" spc="-90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Vũ Trọng Hưng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A1683D9F-365B-2DD0-315C-FA5AE3A51154}"/>
              </a:ext>
            </a:extLst>
          </p:cNvPr>
          <p:cNvSpPr/>
          <p:nvPr/>
        </p:nvSpPr>
        <p:spPr>
          <a:xfrm>
            <a:off x="4190523" y="5142876"/>
            <a:ext cx="1323975" cy="22669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85"/>
              </a:lnSpc>
              <a:spcBef>
                <a:spcPts val="755"/>
              </a:spcBef>
            </a:pPr>
            <a:r>
              <a:rPr lang="en-US" sz="2000" kern="0" spc="-26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24162053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D77E8CE6-0C81-51B8-D6CE-C8891406B73C}"/>
              </a:ext>
            </a:extLst>
          </p:cNvPr>
          <p:cNvSpPr/>
          <p:nvPr/>
        </p:nvSpPr>
        <p:spPr>
          <a:xfrm>
            <a:off x="5895021" y="4590980"/>
            <a:ext cx="2315529" cy="2194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28"/>
              </a:lnSpc>
            </a:pPr>
            <a:r>
              <a:rPr lang="en-US" sz="2000" kern="0" spc="-90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Trần Quốc Nguyên Khang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A197AF9E-AD2B-33FD-9B44-4C3FC2B7B47F}"/>
              </a:ext>
            </a:extLst>
          </p:cNvPr>
          <p:cNvSpPr/>
          <p:nvPr/>
        </p:nvSpPr>
        <p:spPr>
          <a:xfrm>
            <a:off x="5895021" y="5140315"/>
            <a:ext cx="2219325" cy="22669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85"/>
              </a:lnSpc>
              <a:spcBef>
                <a:spcPts val="755"/>
              </a:spcBef>
            </a:pPr>
            <a:r>
              <a:rPr lang="en-US" sz="2000" kern="0" spc="-26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24162058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9A41E5F6-3951-330E-8DCD-38E266A7E3F1}"/>
              </a:ext>
            </a:extLst>
          </p:cNvPr>
          <p:cNvSpPr/>
          <p:nvPr/>
        </p:nvSpPr>
        <p:spPr>
          <a:xfrm>
            <a:off x="8715137" y="4590980"/>
            <a:ext cx="1990963" cy="2194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28"/>
              </a:lnSpc>
            </a:pPr>
            <a:r>
              <a:rPr lang="en-US" sz="2000" kern="0" spc="-90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Đinh Phạm Thế Khang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E687DE73-5B75-D392-AA8C-44806541BBA1}"/>
              </a:ext>
            </a:extLst>
          </p:cNvPr>
          <p:cNvSpPr/>
          <p:nvPr/>
        </p:nvSpPr>
        <p:spPr>
          <a:xfrm>
            <a:off x="8715137" y="5140315"/>
            <a:ext cx="1924050" cy="22669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85"/>
              </a:lnSpc>
              <a:spcBef>
                <a:spcPts val="755"/>
              </a:spcBef>
            </a:pPr>
            <a:r>
              <a:rPr lang="en-US" sz="2000" kern="0" spc="-26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24162055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51144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DCE21-6DC7-4B28-71C6-930494B87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A9B9101-7348-7BA0-1981-EC9A30988A0F}"/>
              </a:ext>
            </a:extLst>
          </p:cNvPr>
          <p:cNvSpPr/>
          <p:nvPr/>
        </p:nvSpPr>
        <p:spPr>
          <a:xfrm>
            <a:off x="857250" y="209996"/>
            <a:ext cx="11334750" cy="54864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4320"/>
              </a:lnSpc>
            </a:pP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Nội dung đề tài</a:t>
            </a:r>
            <a:endParaRPr lang="en-US" sz="4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629D992-4433-BEEF-AF05-CE8F8B4F093A}"/>
              </a:ext>
            </a:extLst>
          </p:cNvPr>
          <p:cNvSpPr/>
          <p:nvPr/>
        </p:nvSpPr>
        <p:spPr>
          <a:xfrm>
            <a:off x="924118" y="1344473"/>
            <a:ext cx="8429625" cy="482505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46"/>
              </a:lnSpc>
              <a:buSzPct val="100000"/>
            </a:pPr>
            <a:r>
              <a:rPr lang="en-US" sz="24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I. Phần Mở đầu</a:t>
            </a:r>
            <a:endParaRPr lang="en-US" sz="24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algn="l">
              <a:lnSpc>
                <a:spcPts val="2246"/>
              </a:lnSpc>
              <a:spcBef>
                <a:spcPts val="2114"/>
              </a:spcBef>
              <a:buSzPct val="100000"/>
            </a:pPr>
            <a:r>
              <a:rPr lang="en-US" sz="24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II. Phần Nội dung</a:t>
            </a:r>
            <a:endParaRPr lang="en-US" sz="24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800100" lvl="1" indent="-342900">
              <a:lnSpc>
                <a:spcPts val="2246"/>
              </a:lnSpc>
              <a:spcBef>
                <a:spcPts val="2114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Chương 1: Giới thiệu (Tổng quan hệ thống IoT)</a:t>
            </a:r>
            <a:endParaRPr lang="en-US" sz="24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800100" lvl="1" indent="-342900">
              <a:lnSpc>
                <a:spcPts val="2246"/>
              </a:lnSpc>
              <a:spcBef>
                <a:spcPts val="2114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Chương 2: Phân tích yêu cầu (Nguyên lý, hoạt động, giải pháp)</a:t>
            </a:r>
            <a:endParaRPr lang="en-US" sz="24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800100" lvl="1" indent="-342900">
              <a:lnSpc>
                <a:spcPts val="2246"/>
              </a:lnSpc>
              <a:spcBef>
                <a:spcPts val="2114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Chương 3: Kiến thức liên quan (ESP32-CAM, PIR, nguồn, IoT)</a:t>
            </a:r>
            <a:endParaRPr lang="en-US" sz="24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800100" lvl="1" indent="-342900">
              <a:lnSpc>
                <a:spcPts val="2246"/>
              </a:lnSpc>
              <a:spcBef>
                <a:spcPts val="2114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Chương 4: Ứng dụng (Sơ đồ, mạch, code, khó </a:t>
            </a:r>
            <a:r>
              <a:rPr lang="en-US" sz="2400" kern="0" spc="-117" dirty="0" err="1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khăn</a:t>
            </a:r>
            <a:r>
              <a:rPr lang="en-US" sz="24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)</a:t>
            </a:r>
          </a:p>
          <a:p>
            <a:pPr algn="l">
              <a:lnSpc>
                <a:spcPts val="2246"/>
              </a:lnSpc>
              <a:spcBef>
                <a:spcPts val="2114"/>
              </a:spcBef>
              <a:buSzPct val="100000"/>
            </a:pPr>
            <a:r>
              <a:rPr lang="en-US" sz="2400" kern="0" spc="-117" dirty="0">
                <a:latin typeface="Inter" panose="02000503000000020004" pitchFamily="2" charset="0"/>
                <a:ea typeface="Inter" panose="02000503000000020004" pitchFamily="2" charset="0"/>
              </a:rPr>
              <a:t>III. </a:t>
            </a:r>
            <a:r>
              <a:rPr lang="en-US" sz="2400" kern="0" spc="-117" dirty="0" err="1">
                <a:latin typeface="Inter" panose="02000503000000020004" pitchFamily="2" charset="0"/>
                <a:ea typeface="Inter" panose="02000503000000020004" pitchFamily="2" charset="0"/>
              </a:rPr>
              <a:t>Kết</a:t>
            </a:r>
            <a:r>
              <a:rPr lang="en-US" sz="2400" kern="0" spc="-117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kern="0" spc="-117" dirty="0" err="1">
                <a:latin typeface="Inter" panose="02000503000000020004" pitchFamily="2" charset="0"/>
                <a:ea typeface="Inter" panose="02000503000000020004" pitchFamily="2" charset="0"/>
              </a:rPr>
              <a:t>luận</a:t>
            </a:r>
            <a:endParaRPr lang="en-US" sz="2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89788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0B618-9167-297A-255F-C33FD7E68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B57FE65-D654-E37D-35DE-C6F1E737E927}"/>
              </a:ext>
            </a:extLst>
          </p:cNvPr>
          <p:cNvSpPr/>
          <p:nvPr/>
        </p:nvSpPr>
        <p:spPr>
          <a:xfrm>
            <a:off x="1924050" y="3043237"/>
            <a:ext cx="8343900" cy="7715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6075"/>
              </a:lnSpc>
              <a:spcBef>
                <a:spcPts val="855"/>
              </a:spcBef>
            </a:pPr>
            <a:r>
              <a:rPr lang="en-US" sz="5400" kern="0" spc="-338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I. </a:t>
            </a:r>
            <a:r>
              <a:rPr lang="en-US" sz="6000" kern="0" spc="-338" dirty="0" err="1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Phần</a:t>
            </a:r>
            <a:r>
              <a:rPr lang="en-US" sz="5400" kern="0" spc="-338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 </a:t>
            </a:r>
            <a:r>
              <a:rPr lang="en-US" sz="5400" kern="0" spc="-338" dirty="0" err="1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Mở</a:t>
            </a:r>
            <a:r>
              <a:rPr lang="en-US" sz="5400" kern="0" spc="-338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 </a:t>
            </a:r>
            <a:r>
              <a:rPr lang="en-US" sz="5400" kern="0" spc="-338" dirty="0" err="1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đầu</a:t>
            </a:r>
            <a:endParaRPr lang="en-US" sz="5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3930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3D544-73F3-928B-2AFA-8CF6B7762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8E9B8A8-2A41-8CD4-4861-6FF4BB30DBC8}"/>
              </a:ext>
            </a:extLst>
          </p:cNvPr>
          <p:cNvSpPr/>
          <p:nvPr/>
        </p:nvSpPr>
        <p:spPr>
          <a:xfrm>
            <a:off x="481788" y="131771"/>
            <a:ext cx="11334750" cy="54864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4320"/>
              </a:lnSpc>
            </a:pP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1. Tóm tắt Hệ thống</a:t>
            </a:r>
            <a:endParaRPr lang="en-US" sz="4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FBA57E84-E616-B8F2-E6F0-AF508FBA5F1A}"/>
              </a:ext>
            </a:extLst>
          </p:cNvPr>
          <p:cNvSpPr/>
          <p:nvPr/>
        </p:nvSpPr>
        <p:spPr>
          <a:xfrm>
            <a:off x="1496894" y="1379220"/>
            <a:ext cx="714375" cy="714375"/>
          </a:xfrm>
          <a:prstGeom prst="ellipse">
            <a:avLst/>
          </a:prstGeom>
          <a:noFill/>
          <a:ln w="50800">
            <a:solidFill>
              <a:srgbClr val="009FA2"/>
            </a:solidFill>
            <a:prstDash val="solid"/>
            <a:miter lim="800000"/>
          </a:ln>
        </p:spPr>
        <p:txBody>
          <a:bodyPr/>
          <a:lstStyle/>
          <a:p>
            <a:endParaRPr lang="vi-VN" sz="20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CA39127F-699C-B089-50CD-BB4888BB3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021" y="1636335"/>
            <a:ext cx="323850" cy="247650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DFA6B5B7-3E0E-77FF-1293-C4FC8AE5FD7D}"/>
              </a:ext>
            </a:extLst>
          </p:cNvPr>
          <p:cNvSpPr/>
          <p:nvPr/>
        </p:nvSpPr>
        <p:spPr>
          <a:xfrm>
            <a:off x="2452970" y="1462753"/>
            <a:ext cx="3952875" cy="2632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74"/>
              </a:lnSpc>
            </a:pPr>
            <a:r>
              <a:rPr lang="en-US" sz="2000" kern="0" spc="-108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Mô hình giám sát thông minh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7500333-1AFE-BF1B-D21D-7E63D4577C04}"/>
              </a:ext>
            </a:extLst>
          </p:cNvPr>
          <p:cNvSpPr/>
          <p:nvPr/>
        </p:nvSpPr>
        <p:spPr>
          <a:xfrm>
            <a:off x="2424396" y="1852433"/>
            <a:ext cx="3952875" cy="2667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0"/>
              </a:lnSpc>
              <a:spcBef>
                <a:spcPts val="622"/>
              </a:spcBef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Giá thành thấp, dễ triển khai.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A36B94F5-EFBC-B2A5-03B8-2CA471E2FCA7}"/>
              </a:ext>
            </a:extLst>
          </p:cNvPr>
          <p:cNvSpPr/>
          <p:nvPr/>
        </p:nvSpPr>
        <p:spPr>
          <a:xfrm>
            <a:off x="1501924" y="2489546"/>
            <a:ext cx="714375" cy="714375"/>
          </a:xfrm>
          <a:prstGeom prst="ellipse">
            <a:avLst/>
          </a:prstGeom>
          <a:noFill/>
          <a:ln w="50800">
            <a:solidFill>
              <a:srgbClr val="2292AF"/>
            </a:solidFill>
            <a:prstDash val="solid"/>
            <a:miter lim="800000"/>
          </a:ln>
        </p:spPr>
        <p:txBody>
          <a:bodyPr/>
          <a:lstStyle/>
          <a:p>
            <a:endParaRPr lang="vi-VN" sz="20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C492463-6FA3-C274-8B3D-E06BA936C9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9546" y="2648978"/>
            <a:ext cx="304800" cy="400050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9A0DA41F-CBA3-A275-1CB4-C6A52F63D844}"/>
              </a:ext>
            </a:extLst>
          </p:cNvPr>
          <p:cNvSpPr/>
          <p:nvPr/>
        </p:nvSpPr>
        <p:spPr>
          <a:xfrm>
            <a:off x="2329533" y="2687077"/>
            <a:ext cx="4427182" cy="6263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74"/>
              </a:lnSpc>
            </a:pPr>
            <a:r>
              <a:rPr lang="en-US" sz="2000" kern="0" spc="-108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Sử dụng ESP32-CAM và PIR HC-SR501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1D35E001-9B91-5BAC-106E-E1CFA332B2B3}"/>
              </a:ext>
            </a:extLst>
          </p:cNvPr>
          <p:cNvSpPr/>
          <p:nvPr/>
        </p:nvSpPr>
        <p:spPr>
          <a:xfrm>
            <a:off x="1514758" y="3573779"/>
            <a:ext cx="714375" cy="714375"/>
          </a:xfrm>
          <a:prstGeom prst="ellipse">
            <a:avLst/>
          </a:prstGeom>
          <a:noFill/>
          <a:ln w="50800">
            <a:solidFill>
              <a:srgbClr val="4486BD"/>
            </a:solidFill>
            <a:prstDash val="solid"/>
            <a:miter lim="800000"/>
          </a:ln>
        </p:spPr>
        <p:txBody>
          <a:bodyPr/>
          <a:lstStyle/>
          <a:p>
            <a:endParaRPr lang="vi-VN" sz="20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4" name="Image 3" descr="preencoded.png">
            <a:extLst>
              <a:ext uri="{FF2B5EF4-FFF2-40B4-BE49-F238E27FC236}">
                <a16:creationId xmlns:a16="http://schemas.microsoft.com/office/drawing/2014/main" id="{93CB8ED1-8C96-CFAB-AACE-5157F93C9A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8596" y="3775472"/>
            <a:ext cx="295275" cy="333375"/>
          </a:xfrm>
          <a:prstGeom prst="rect">
            <a:avLst/>
          </a:prstGeom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08E184B5-57C1-DBD9-1101-43EB4F711B2E}"/>
              </a:ext>
            </a:extLst>
          </p:cNvPr>
          <p:cNvSpPr/>
          <p:nvPr/>
        </p:nvSpPr>
        <p:spPr>
          <a:xfrm>
            <a:off x="2452971" y="3508660"/>
            <a:ext cx="3952875" cy="2632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74"/>
              </a:lnSpc>
            </a:pPr>
            <a:r>
              <a:rPr lang="en-US" sz="2000" kern="0" spc="-108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Truyền hình ảnh và cảnh báo tức thời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01992895-70AF-38B8-1616-6EFD28A225C1}"/>
              </a:ext>
            </a:extLst>
          </p:cNvPr>
          <p:cNvSpPr/>
          <p:nvPr/>
        </p:nvSpPr>
        <p:spPr>
          <a:xfrm>
            <a:off x="2452971" y="4095757"/>
            <a:ext cx="3952875" cy="2667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0"/>
              </a:lnSpc>
              <a:spcBef>
                <a:spcPts val="622"/>
              </a:spcBef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Qua Telegram.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E0621321-48AB-E435-C8BE-43F3B644A3A4}"/>
              </a:ext>
            </a:extLst>
          </p:cNvPr>
          <p:cNvSpPr/>
          <p:nvPr/>
        </p:nvSpPr>
        <p:spPr>
          <a:xfrm>
            <a:off x="6809843" y="1379220"/>
            <a:ext cx="714375" cy="714375"/>
          </a:xfrm>
          <a:prstGeom prst="ellipse">
            <a:avLst/>
          </a:prstGeom>
          <a:noFill/>
          <a:ln w="50800">
            <a:solidFill>
              <a:srgbClr val="6579CA"/>
            </a:solidFill>
            <a:prstDash val="solid"/>
            <a:miter lim="800000"/>
          </a:ln>
        </p:spPr>
        <p:txBody>
          <a:bodyPr/>
          <a:lstStyle/>
          <a:p>
            <a:endParaRPr lang="vi-VN" sz="20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8" name="Image 4" descr="preencoded.png">
            <a:extLst>
              <a:ext uri="{FF2B5EF4-FFF2-40B4-BE49-F238E27FC236}">
                <a16:creationId xmlns:a16="http://schemas.microsoft.com/office/drawing/2014/main" id="{CA1E7D0C-2BF8-0613-5CAA-D2A607475A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4630" y="1554644"/>
            <a:ext cx="304800" cy="400050"/>
          </a:xfrm>
          <a:prstGeom prst="rect">
            <a:avLst/>
          </a:prstGeom>
        </p:spPr>
      </p:pic>
      <p:sp>
        <p:nvSpPr>
          <p:cNvPr id="19" name="Text 10">
            <a:extLst>
              <a:ext uri="{FF2B5EF4-FFF2-40B4-BE49-F238E27FC236}">
                <a16:creationId xmlns:a16="http://schemas.microsoft.com/office/drawing/2014/main" id="{5FEE2B67-ADFB-4581-59E9-7204242AC996}"/>
              </a:ext>
            </a:extLst>
          </p:cNvPr>
          <p:cNvSpPr/>
          <p:nvPr/>
        </p:nvSpPr>
        <p:spPr>
          <a:xfrm>
            <a:off x="7729005" y="1554644"/>
            <a:ext cx="4087533" cy="2632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74"/>
              </a:lnSpc>
            </a:pPr>
            <a:r>
              <a:rPr lang="en-US" sz="2000" kern="0" spc="-108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Cung cấp chức năng live stream video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76265713-9E74-6909-C7C0-8A3AB58AAC01}"/>
              </a:ext>
            </a:extLst>
          </p:cNvPr>
          <p:cNvSpPr/>
          <p:nvPr/>
        </p:nvSpPr>
        <p:spPr>
          <a:xfrm>
            <a:off x="6809843" y="2483642"/>
            <a:ext cx="714375" cy="714375"/>
          </a:xfrm>
          <a:prstGeom prst="ellipse">
            <a:avLst/>
          </a:prstGeom>
          <a:noFill/>
          <a:ln w="50800">
            <a:solidFill>
              <a:srgbClr val="876CD7"/>
            </a:solidFill>
            <a:prstDash val="solid"/>
            <a:miter lim="800000"/>
          </a:ln>
        </p:spPr>
        <p:txBody>
          <a:bodyPr/>
          <a:lstStyle/>
          <a:p>
            <a:endParaRPr lang="vi-VN" sz="20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21" name="Image 5" descr="preencoded.png">
            <a:extLst>
              <a:ext uri="{FF2B5EF4-FFF2-40B4-BE49-F238E27FC236}">
                <a16:creationId xmlns:a16="http://schemas.microsoft.com/office/drawing/2014/main" id="{2FDE8876-A368-8A42-1B51-5F2024F967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5170" y="2687078"/>
            <a:ext cx="142875" cy="323850"/>
          </a:xfrm>
          <a:prstGeom prst="rect">
            <a:avLst/>
          </a:prstGeom>
        </p:spPr>
      </p:pic>
      <p:sp>
        <p:nvSpPr>
          <p:cNvPr id="22" name="Text 12">
            <a:extLst>
              <a:ext uri="{FF2B5EF4-FFF2-40B4-BE49-F238E27FC236}">
                <a16:creationId xmlns:a16="http://schemas.microsoft.com/office/drawing/2014/main" id="{85E02206-A2F0-0765-C931-E34AA2258683}"/>
              </a:ext>
            </a:extLst>
          </p:cNvPr>
          <p:cNvSpPr/>
          <p:nvPr/>
        </p:nvSpPr>
        <p:spPr>
          <a:xfrm>
            <a:off x="7762301" y="2555454"/>
            <a:ext cx="3952875" cy="2632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74"/>
              </a:lnSpc>
            </a:pPr>
            <a:r>
              <a:rPr lang="en-US" sz="2000" kern="0" spc="-108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Nguồn cấp linh hoạt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78DAF61F-54A4-3399-1124-C47BA296AD46}"/>
              </a:ext>
            </a:extLst>
          </p:cNvPr>
          <p:cNvSpPr/>
          <p:nvPr/>
        </p:nvSpPr>
        <p:spPr>
          <a:xfrm>
            <a:off x="7762301" y="2946562"/>
            <a:ext cx="3952875" cy="2667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0"/>
              </a:lnSpc>
              <a:spcBef>
                <a:spcPts val="622"/>
              </a:spcBef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Bằng pin 18650.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6528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3C92E-7159-13C8-7E8F-20B315635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>
            <a:extLst>
              <a:ext uri="{FF2B5EF4-FFF2-40B4-BE49-F238E27FC236}">
                <a16:creationId xmlns:a16="http://schemas.microsoft.com/office/drawing/2014/main" id="{5D05D787-B942-53F5-1321-54FFBCA5C150}"/>
              </a:ext>
            </a:extLst>
          </p:cNvPr>
          <p:cNvSpPr/>
          <p:nvPr/>
        </p:nvSpPr>
        <p:spPr>
          <a:xfrm>
            <a:off x="737507" y="108997"/>
            <a:ext cx="11334750" cy="54864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4320"/>
              </a:lnSpc>
            </a:pP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2. Lợi ích Hệ thống</a:t>
            </a:r>
            <a:endParaRPr lang="en-US" sz="4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4E6AC7EA-852F-5F9F-3A36-CDBF22BE1651}"/>
              </a:ext>
            </a:extLst>
          </p:cNvPr>
          <p:cNvSpPr/>
          <p:nvPr/>
        </p:nvSpPr>
        <p:spPr>
          <a:xfrm>
            <a:off x="1530609" y="1321530"/>
            <a:ext cx="4476750" cy="4800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vi-VN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26" name="Image 1" descr="A diagram showing IoT devices connected to a network">
            <a:extLst>
              <a:ext uri="{FF2B5EF4-FFF2-40B4-BE49-F238E27FC236}">
                <a16:creationId xmlns:a16="http://schemas.microsoft.com/office/drawing/2014/main" id="{4769BBFE-5D1B-DAEF-48F6-B1BA93EF0E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849" r="21849"/>
          <a:stretch/>
        </p:blipFill>
        <p:spPr>
          <a:xfrm>
            <a:off x="449430" y="1025752"/>
            <a:ext cx="4661018" cy="4998198"/>
          </a:xfrm>
          <a:prstGeom prst="rect">
            <a:avLst/>
          </a:prstGeom>
        </p:spPr>
      </p:pic>
      <p:sp>
        <p:nvSpPr>
          <p:cNvPr id="27" name="Text 2">
            <a:extLst>
              <a:ext uri="{FF2B5EF4-FFF2-40B4-BE49-F238E27FC236}">
                <a16:creationId xmlns:a16="http://schemas.microsoft.com/office/drawing/2014/main" id="{DB893377-7AD1-1476-A194-1A760531DD1A}"/>
              </a:ext>
            </a:extLst>
          </p:cNvPr>
          <p:cNvSpPr/>
          <p:nvPr/>
        </p:nvSpPr>
        <p:spPr>
          <a:xfrm>
            <a:off x="6007359" y="1025752"/>
            <a:ext cx="3000375" cy="26225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2246"/>
              </a:lnSpc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Thay thế camera truyền</a:t>
            </a:r>
            <a:b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</a:b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thống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Ở các không gian nhỏ.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Giảm chi phí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Đầu tư, lắp đặt.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Cảnh báo tức thời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Chủ động.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6E140861-260F-9DB0-9166-8ED70FB48DE5}"/>
              </a:ext>
            </a:extLst>
          </p:cNvPr>
          <p:cNvSpPr/>
          <p:nvPr/>
        </p:nvSpPr>
        <p:spPr>
          <a:xfrm>
            <a:off x="9161203" y="1023964"/>
            <a:ext cx="3000375" cy="17400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2246"/>
              </a:lnSpc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Trực quan hóa tình hình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Qua live stream.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Phù hợp xu hướng IoT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Thiết bị biên, xử lý cục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bộ, giao tiếp mạng.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61633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8A69D-6F1B-DC87-108D-60770EFE9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1">
            <a:extLst>
              <a:ext uri="{FF2B5EF4-FFF2-40B4-BE49-F238E27FC236}">
                <a16:creationId xmlns:a16="http://schemas.microsoft.com/office/drawing/2014/main" id="{A749B50B-B5B8-E059-0BF5-C1F345693AF2}"/>
              </a:ext>
            </a:extLst>
          </p:cNvPr>
          <p:cNvSpPr/>
          <p:nvPr/>
        </p:nvSpPr>
        <p:spPr>
          <a:xfrm>
            <a:off x="2678274" y="1047210"/>
            <a:ext cx="4476750" cy="4800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vi-VN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2338F596-C4DE-DA5E-72F6-391230B698A3}"/>
              </a:ext>
            </a:extLst>
          </p:cNvPr>
          <p:cNvSpPr/>
          <p:nvPr/>
        </p:nvSpPr>
        <p:spPr>
          <a:xfrm>
            <a:off x="504242" y="119651"/>
            <a:ext cx="11334750" cy="54864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4320"/>
              </a:lnSpc>
            </a:pP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3. Lý do chọn đề tài</a:t>
            </a:r>
            <a:endParaRPr lang="en-US" sz="4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6D494C73-BA3F-FD54-FE46-8BF591B1097C}"/>
              </a:ext>
            </a:extLst>
          </p:cNvPr>
          <p:cNvSpPr/>
          <p:nvPr/>
        </p:nvSpPr>
        <p:spPr>
          <a:xfrm>
            <a:off x="1623915" y="1306830"/>
            <a:ext cx="4476750" cy="4800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vi-VN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5" name="Image 1" descr="An ESP32-CAM microcontroller board">
            <a:extLst>
              <a:ext uri="{FF2B5EF4-FFF2-40B4-BE49-F238E27FC236}">
                <a16:creationId xmlns:a16="http://schemas.microsoft.com/office/drawing/2014/main" id="{069D85B7-CD3D-0606-19AC-B672F1E2FA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94" r="17594"/>
          <a:stretch/>
        </p:blipFill>
        <p:spPr>
          <a:xfrm>
            <a:off x="596673" y="1028700"/>
            <a:ext cx="4476750" cy="480060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9B8A7CD1-3142-AFCE-F333-CBE76A303359}"/>
              </a:ext>
            </a:extLst>
          </p:cNvPr>
          <p:cNvSpPr/>
          <p:nvPr/>
        </p:nvSpPr>
        <p:spPr>
          <a:xfrm>
            <a:off x="5722337" y="1097632"/>
            <a:ext cx="3000375" cy="449140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2246"/>
              </a:lnSpc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Ứng dụng cao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Nhu cầu giám sát giá rẻ,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tức thời.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Công nghệ phù hợp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Khai thác thế mạnh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ESP32-CAM (Camera, Wi-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Fi, giá rẻ).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Rút ngắn thời gian phát</a:t>
            </a:r>
            <a:b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</a:b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triển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Tận dụng Telegram API.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C1B9074-D5EA-8ECB-6244-411DAC15E928}"/>
              </a:ext>
            </a:extLst>
          </p:cNvPr>
          <p:cNvSpPr/>
          <p:nvPr/>
        </p:nvSpPr>
        <p:spPr>
          <a:xfrm>
            <a:off x="9236625" y="1107506"/>
            <a:ext cx="3000375" cy="379583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2246"/>
              </a:lnSpc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Cân bằng kỹ thuật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Phù hợp đồ án môn học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(phần cứng, phần mềm,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tích hợp).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Học hỏi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Rèn luyện kỹ năng nhúng,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mạng, xử lý sự kiện.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71458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9D801-AFFF-5EC5-36AE-32C5FEE52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1">
            <a:extLst>
              <a:ext uri="{FF2B5EF4-FFF2-40B4-BE49-F238E27FC236}">
                <a16:creationId xmlns:a16="http://schemas.microsoft.com/office/drawing/2014/main" id="{D16DFD60-720C-F7B8-FE68-3344B8776262}"/>
              </a:ext>
            </a:extLst>
          </p:cNvPr>
          <p:cNvSpPr/>
          <p:nvPr/>
        </p:nvSpPr>
        <p:spPr>
          <a:xfrm>
            <a:off x="2678274" y="1047210"/>
            <a:ext cx="4476750" cy="4800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vi-VN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855611FB-43F3-39C8-0B9C-54AA28CDABBC}"/>
              </a:ext>
            </a:extLst>
          </p:cNvPr>
          <p:cNvSpPr/>
          <p:nvPr/>
        </p:nvSpPr>
        <p:spPr>
          <a:xfrm>
            <a:off x="1623915" y="1306830"/>
            <a:ext cx="4476750" cy="4800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vi-VN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AE510C4F-A0C7-4032-4BC3-8EF95F73AF3E}"/>
              </a:ext>
            </a:extLst>
          </p:cNvPr>
          <p:cNvSpPr/>
          <p:nvPr/>
        </p:nvSpPr>
        <p:spPr>
          <a:xfrm>
            <a:off x="629233" y="224250"/>
            <a:ext cx="11334750" cy="54864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4320"/>
              </a:lnSpc>
            </a:pP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4. Tính cấp thiết</a:t>
            </a:r>
            <a:endParaRPr lang="en-US" sz="4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3B9A0F64-BC49-4BAF-AE5A-B1DCA9F5BF47}"/>
              </a:ext>
            </a:extLst>
          </p:cNvPr>
          <p:cNvSpPr/>
          <p:nvPr/>
        </p:nvSpPr>
        <p:spPr>
          <a:xfrm>
            <a:off x="476250" y="1581150"/>
            <a:ext cx="4476750" cy="4800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vi-VN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0" name="Image 1" descr="An ESP32-CAM module with a PIR sensor and a Telegram logo.">
            <a:extLst>
              <a:ext uri="{FF2B5EF4-FFF2-40B4-BE49-F238E27FC236}">
                <a16:creationId xmlns:a16="http://schemas.microsoft.com/office/drawing/2014/main" id="{536E89DC-EB41-5B86-95BF-5991F48A85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545" r="23545"/>
          <a:stretch/>
        </p:blipFill>
        <p:spPr>
          <a:xfrm>
            <a:off x="518238" y="1047210"/>
            <a:ext cx="4476750" cy="4800600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E5059737-149A-1FDB-019C-EAE45C5ED1CA}"/>
              </a:ext>
            </a:extLst>
          </p:cNvPr>
          <p:cNvSpPr/>
          <p:nvPr/>
        </p:nvSpPr>
        <p:spPr>
          <a:xfrm>
            <a:off x="5429250" y="1047210"/>
            <a:ext cx="6286500" cy="459300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2246"/>
              </a:lnSpc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Camera truyền thống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Chi phí cao, phụ thuộc hạ tầng, thiếu cảnh báo tức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thời.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Nhu cầu thực tế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Giải pháp linh hoạt cho không gian nhỏ, cảnh báo khi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có sự kiện.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ESP32-CAM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Nền tảng IoT giá rẻ, tích hợp Camera và Wi-Fi.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Tích hợp PIR &amp; Telegram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Tối ưu hiệu suất, phản ứng nhanh, giao diện quen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thuộc.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97318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6E12B-275C-7A3A-1758-65B5C3845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ED8D414-A105-8730-0085-C94E44583155}"/>
              </a:ext>
            </a:extLst>
          </p:cNvPr>
          <p:cNvSpPr/>
          <p:nvPr/>
        </p:nvSpPr>
        <p:spPr>
          <a:xfrm>
            <a:off x="1924050" y="3043237"/>
            <a:ext cx="8343900" cy="7715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6075"/>
              </a:lnSpc>
              <a:spcBef>
                <a:spcPts val="855"/>
              </a:spcBef>
            </a:pPr>
            <a:r>
              <a:rPr lang="en-US" sz="6000" kern="0" spc="-338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II. </a:t>
            </a:r>
            <a:r>
              <a:rPr lang="en-US" sz="6000" kern="0" spc="-338" dirty="0" err="1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Phần</a:t>
            </a:r>
            <a:r>
              <a:rPr lang="en-US" sz="6000" kern="0" spc="-338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 </a:t>
            </a:r>
            <a:r>
              <a:rPr lang="en-US" sz="6000" kern="0" spc="-338" dirty="0" err="1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Nội</a:t>
            </a:r>
            <a:r>
              <a:rPr lang="en-US" sz="6000" kern="0" spc="-338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 dung</a:t>
            </a:r>
            <a:endParaRPr lang="en-US" sz="6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66583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345" y="183185"/>
            <a:ext cx="11334750" cy="54864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20"/>
              </a:lnSpc>
            </a:pP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Chương 1: Giới thiệu Hệ thống</a:t>
            </a:r>
            <a:endParaRPr lang="en-US" sz="4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305459" y="823110"/>
            <a:ext cx="11334750" cy="29337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310"/>
              </a:lnSpc>
              <a:spcBef>
                <a:spcPts val="914"/>
              </a:spcBef>
            </a:pPr>
            <a:r>
              <a:rPr lang="en-US" sz="1650" kern="0" spc="-33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Smart Surveillance System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632856" y="1718664"/>
            <a:ext cx="714375" cy="714375"/>
          </a:xfrm>
          <a:prstGeom prst="ellipse">
            <a:avLst/>
          </a:prstGeom>
          <a:noFill/>
          <a:ln w="50800">
            <a:solidFill>
              <a:srgbClr val="009FA2"/>
            </a:solidFill>
            <a:prstDash val="solid"/>
            <a:miter lim="800000"/>
          </a:ln>
        </p:spPr>
        <p:txBody>
          <a:bodyPr/>
          <a:lstStyle/>
          <a:p>
            <a:endParaRPr lang="vi-VN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168" y="1893033"/>
            <a:ext cx="285750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37731" y="1812473"/>
            <a:ext cx="3952875" cy="2632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74"/>
              </a:lnSpc>
            </a:pPr>
            <a:r>
              <a:rPr lang="en-US" sz="1800" kern="0" spc="-108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Giám sát an ninh IoT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561543" y="2068573"/>
            <a:ext cx="3952875" cy="2667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0"/>
              </a:lnSpc>
              <a:spcBef>
                <a:spcPts val="622"/>
              </a:spcBef>
            </a:pPr>
            <a: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Chủ động, dựa trên sự kiện.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1632856" y="2945962"/>
            <a:ext cx="714375" cy="714375"/>
          </a:xfrm>
          <a:prstGeom prst="ellipse">
            <a:avLst/>
          </a:prstGeom>
          <a:noFill/>
          <a:ln w="50800">
            <a:solidFill>
              <a:srgbClr val="2292AF"/>
            </a:solidFill>
            <a:prstDash val="solid"/>
            <a:miter lim="800000"/>
          </a:ln>
        </p:spPr>
        <p:txBody>
          <a:bodyPr/>
          <a:lstStyle/>
          <a:p>
            <a:endParaRPr lang="vi-VN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018" y="3169799"/>
            <a:ext cx="342900" cy="2667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537731" y="2920662"/>
            <a:ext cx="3952875" cy="2632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74"/>
              </a:lnSpc>
            </a:pPr>
            <a:r>
              <a:rPr lang="en-US" sz="1800" kern="0" spc="-108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Đề tài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2504393" y="3213716"/>
            <a:ext cx="3952875" cy="533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0"/>
              </a:lnSpc>
              <a:spcBef>
                <a:spcPts val="622"/>
              </a:spcBef>
            </a:pPr>
            <a: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Smart Surveillance System - Giám</a:t>
            </a:r>
            <a:b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sát thời gian thực, cảnh báo.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1632856" y="4139383"/>
            <a:ext cx="714375" cy="714375"/>
          </a:xfrm>
          <a:prstGeom prst="ellipse">
            <a:avLst/>
          </a:prstGeom>
          <a:noFill/>
          <a:ln w="50800">
            <a:solidFill>
              <a:srgbClr val="4486BD"/>
            </a:solidFill>
            <a:prstDash val="solid"/>
            <a:miter lim="800000"/>
          </a:ln>
        </p:spPr>
        <p:txBody>
          <a:bodyPr/>
          <a:lstStyle/>
          <a:p>
            <a:endParaRPr lang="vi-VN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168" y="4389875"/>
            <a:ext cx="323850" cy="2476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561542" y="4190281"/>
            <a:ext cx="3952875" cy="2632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74"/>
              </a:lnSpc>
            </a:pPr>
            <a:r>
              <a:rPr lang="en-US" sz="1800" kern="0" spc="-108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Thành phần cốt lõi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2561542" y="4496570"/>
            <a:ext cx="4093730" cy="533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0"/>
              </a:lnSpc>
              <a:spcBef>
                <a:spcPts val="622"/>
              </a:spcBef>
            </a:pPr>
            <a: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PIR -&gt; ESP32-CAM (Chụp ảnh/Stream)</a:t>
            </a:r>
            <a:b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-&gt; Telegram/Web.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6814589" y="1718532"/>
            <a:ext cx="714375" cy="714375"/>
          </a:xfrm>
          <a:prstGeom prst="ellipse">
            <a:avLst/>
          </a:prstGeom>
          <a:noFill/>
          <a:ln w="50800">
            <a:solidFill>
              <a:srgbClr val="6579CA"/>
            </a:solidFill>
            <a:prstDash val="solid"/>
            <a:miter lim="800000"/>
          </a:ln>
        </p:spPr>
        <p:txBody>
          <a:bodyPr/>
          <a:lstStyle/>
          <a:p>
            <a:endParaRPr lang="vi-VN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0326" y="1916173"/>
            <a:ext cx="342900" cy="3048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776481" y="1756707"/>
            <a:ext cx="3952875" cy="2632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74"/>
              </a:lnSpc>
            </a:pPr>
            <a:r>
              <a:rPr lang="en-US" sz="1800" kern="0" spc="-108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Lợi ích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7776481" y="2075556"/>
            <a:ext cx="4198614" cy="8001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0"/>
              </a:lnSpc>
              <a:spcBef>
                <a:spcPts val="622"/>
              </a:spcBef>
            </a:pPr>
            <a: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Camera sự kiện, chi phí thấp. Gửi</a:t>
            </a:r>
            <a:b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ảnh/thông báo tức thời. Live stream</a:t>
            </a:r>
            <a:b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trực quan.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1" name="Shape 14"/>
          <p:cNvSpPr/>
          <p:nvPr/>
        </p:nvSpPr>
        <p:spPr>
          <a:xfrm>
            <a:off x="6899182" y="4139382"/>
            <a:ext cx="714375" cy="714375"/>
          </a:xfrm>
          <a:prstGeom prst="ellipse">
            <a:avLst/>
          </a:prstGeom>
          <a:noFill/>
          <a:ln w="50800">
            <a:solidFill>
              <a:srgbClr val="876CD7"/>
            </a:solidFill>
            <a:prstDash val="solid"/>
            <a:miter lim="800000"/>
          </a:ln>
        </p:spPr>
        <p:txBody>
          <a:bodyPr/>
          <a:lstStyle/>
          <a:p>
            <a:endParaRPr lang="vi-VN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5394" y="4361300"/>
            <a:ext cx="361950" cy="27622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789769" y="4181672"/>
            <a:ext cx="3952875" cy="2632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74"/>
              </a:lnSpc>
            </a:pPr>
            <a:r>
              <a:rPr lang="en-US" sz="1800" kern="0" spc="-108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Ứng dụng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7789769" y="4513700"/>
            <a:ext cx="3952875" cy="2667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0"/>
              </a:lnSpc>
              <a:spcBef>
                <a:spcPts val="622"/>
              </a:spcBef>
            </a:pPr>
            <a: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Không gian nhỏ, an ninh cá nhân.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558601" y="94297"/>
            <a:ext cx="11334750" cy="54864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20"/>
              </a:lnSpc>
            </a:pPr>
            <a:r>
              <a:rPr lang="en-US" sz="375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Chương 2: Phân tích Yêu cầu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88938" y="2397316"/>
            <a:ext cx="3619500" cy="1881188"/>
          </a:xfrm>
          <a:prstGeom prst="rect">
            <a:avLst/>
          </a:prstGeom>
          <a:noFill/>
          <a:ln w="50800">
            <a:solidFill>
              <a:srgbClr val="009FA2"/>
            </a:solidFill>
            <a:prstDash val="solid"/>
            <a:miter lim="800000"/>
          </a:ln>
        </p:spPr>
        <p:txBody>
          <a:bodyPr/>
          <a:lstStyle/>
          <a:p>
            <a:endParaRPr lang="vi-VN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74688" y="2889044"/>
            <a:ext cx="3238500" cy="28527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46"/>
              </a:lnSpc>
            </a:pPr>
            <a:r>
              <a:rPr lang="en-US" sz="195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Yêu cầu chức năng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74688" y="3250875"/>
            <a:ext cx="3329594" cy="8001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0"/>
              </a:lnSpc>
              <a:spcBef>
                <a:spcPts val="591"/>
              </a:spcBef>
            </a:pPr>
            <a: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Phát hiện chuyển động (PIR).</a:t>
            </a:r>
            <a:b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Chụp ảnh &amp; gửi Telegram.</a:t>
            </a:r>
            <a:b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Live stream video.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989126" y="2040128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6D6F"/>
            </a:solidFill>
            <a:prstDash val="solid"/>
            <a:miter lim="800000"/>
          </a:ln>
        </p:spPr>
        <p:txBody>
          <a:bodyPr/>
          <a:lstStyle/>
          <a:p>
            <a:endParaRPr lang="vi-VN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4006" y="2250810"/>
            <a:ext cx="295275" cy="29527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390032" y="2405995"/>
            <a:ext cx="3619500" cy="1881188"/>
          </a:xfrm>
          <a:prstGeom prst="rect">
            <a:avLst/>
          </a:prstGeom>
          <a:noFill/>
          <a:ln w="50800">
            <a:solidFill>
              <a:srgbClr val="4486BD"/>
            </a:solidFill>
            <a:prstDash val="solid"/>
            <a:miter lim="800000"/>
          </a:ln>
        </p:spPr>
        <p:txBody>
          <a:bodyPr/>
          <a:lstStyle/>
          <a:p>
            <a:endParaRPr lang="vi-VN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675782" y="2897723"/>
            <a:ext cx="3238500" cy="28527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46"/>
              </a:lnSpc>
            </a:pPr>
            <a:r>
              <a:rPr lang="en-US" sz="195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Yêu cầu phi chức năng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675782" y="3259554"/>
            <a:ext cx="3248863" cy="8001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0"/>
              </a:lnSpc>
              <a:spcBef>
                <a:spcPts val="591"/>
              </a:spcBef>
            </a:pPr>
            <a: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Nguồn pin độc lập. Cấu trúc</a:t>
            </a:r>
            <a:b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gọn nhẹ. Dễ lắp đặt, vận</a:t>
            </a:r>
            <a:b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hành.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890220" y="2048807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66B98"/>
            </a:solidFill>
            <a:prstDash val="solid"/>
            <a:miter lim="800000"/>
          </a:ln>
        </p:spPr>
        <p:txBody>
          <a:bodyPr/>
          <a:lstStyle/>
          <a:p>
            <a:endParaRPr lang="vi-VN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162" y="2242750"/>
            <a:ext cx="333375" cy="33337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291126" y="2397316"/>
            <a:ext cx="3619500" cy="1881188"/>
          </a:xfrm>
          <a:prstGeom prst="rect">
            <a:avLst/>
          </a:prstGeom>
          <a:noFill/>
          <a:ln w="50800">
            <a:solidFill>
              <a:srgbClr val="876CD7"/>
            </a:solidFill>
            <a:prstDash val="solid"/>
            <a:miter lim="800000"/>
          </a:ln>
        </p:spPr>
        <p:txBody>
          <a:bodyPr/>
          <a:lstStyle/>
          <a:p>
            <a:endParaRPr lang="vi-VN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8576876" y="2889044"/>
            <a:ext cx="3238500" cy="28527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246"/>
              </a:lnSpc>
            </a:pPr>
            <a:r>
              <a:rPr lang="en-US" sz="195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Yêu cầu kỹ thuật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8576876" y="3250875"/>
            <a:ext cx="3299465" cy="533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0"/>
              </a:lnSpc>
              <a:spcBef>
                <a:spcPts val="591"/>
              </a:spcBef>
            </a:pPr>
            <a: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Độ nhạy PIR, tốc độ gửi ảnh.</a:t>
            </a:r>
            <a:b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Độ ổn định nguồn cấp.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9791314" y="2040128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644CC"/>
            </a:solidFill>
            <a:prstDash val="solid"/>
            <a:miter lim="800000"/>
          </a:ln>
        </p:spPr>
        <p:txBody>
          <a:bodyPr/>
          <a:lstStyle/>
          <a:p>
            <a:endParaRPr lang="vi-VN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9448" y="2225697"/>
            <a:ext cx="323850" cy="342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978888" y="-58432"/>
            <a:ext cx="5149636" cy="10972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4320"/>
              </a:lnSpc>
            </a:pP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2.1. </a:t>
            </a:r>
            <a:r>
              <a:rPr lang="en-US" sz="4000" kern="0" spc="-225" dirty="0" err="1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Sơ</a:t>
            </a: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 </a:t>
            </a:r>
            <a:r>
              <a:rPr lang="en-US" sz="4000" kern="0" spc="-225" dirty="0" err="1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đồ</a:t>
            </a: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 Nguyên lý</a:t>
            </a:r>
            <a:endParaRPr lang="en-US" sz="4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DEE4246-1162-76AF-26B3-BA6A0E53E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3683" y="249478"/>
            <a:ext cx="4142807" cy="58807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2DD0433-AF0C-3190-4E9B-39D45F6ECF72}"/>
              </a:ext>
            </a:extLst>
          </p:cNvPr>
          <p:cNvSpPr txBox="1"/>
          <p:nvPr/>
        </p:nvSpPr>
        <p:spPr>
          <a:xfrm>
            <a:off x="978888" y="899267"/>
            <a:ext cx="6377554" cy="5709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vi-VN" sz="2000" dirty="0"/>
              <a:t>ESP32-CAM là </a:t>
            </a:r>
            <a:r>
              <a:rPr lang="vi-VN" sz="2000" b="1" dirty="0"/>
              <a:t>hạt nhân điều khiển trung tâm</a:t>
            </a:r>
            <a:r>
              <a:rPr lang="vi-VN" sz="2000" dirty="0"/>
              <a:t> của toàn hệ thống</a:t>
            </a:r>
          </a:p>
          <a:p>
            <a:pPr>
              <a:spcAft>
                <a:spcPts val="600"/>
              </a:spcAft>
            </a:pPr>
            <a:r>
              <a:rPr lang="vi-VN" sz="2000" dirty="0"/>
              <a:t>Tín hiệu từ </a:t>
            </a:r>
            <a:r>
              <a:rPr lang="vi-VN" sz="2000" b="1" dirty="0"/>
              <a:t>PIR HC-SR501</a:t>
            </a:r>
            <a:r>
              <a:rPr lang="vi-VN" sz="2000" dirty="0"/>
              <a:t> được đưa vào chân GPIO để phát hiện chuyển động</a:t>
            </a:r>
          </a:p>
          <a:p>
            <a:pPr>
              <a:spcAft>
                <a:spcPts val="600"/>
              </a:spcAft>
            </a:pPr>
            <a:r>
              <a:rPr lang="vi-VN" sz="2000" dirty="0"/>
              <a:t>Nguồn điện: </a:t>
            </a:r>
            <a:r>
              <a:rPr lang="vi-VN" sz="2000" b="1" dirty="0"/>
              <a:t>2 pin 18650 → LM2596</a:t>
            </a:r>
            <a:r>
              <a:rPr lang="vi-VN" sz="2000" dirty="0"/>
              <a:t> cung cấp điện áp ổn định</a:t>
            </a:r>
          </a:p>
          <a:p>
            <a:pPr>
              <a:spcAft>
                <a:spcPts val="600"/>
              </a:spcAft>
            </a:pPr>
            <a:r>
              <a:rPr lang="vi-VN" sz="2000" dirty="0"/>
              <a:t>Giao tiếp chính: </a:t>
            </a:r>
            <a:endParaRPr lang="en-US" sz="2000" dirty="0"/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000" b="1" dirty="0"/>
              <a:t>Telegram Bot</a:t>
            </a:r>
            <a:r>
              <a:rPr lang="vi-VN" sz="2000" dirty="0"/>
              <a:t> – gửi cảnh báo và ảnh sự kiện</a:t>
            </a:r>
            <a:endParaRPr lang="en-US" sz="2000" dirty="0"/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000" b="1" dirty="0"/>
              <a:t>Web Server</a:t>
            </a:r>
            <a:r>
              <a:rPr lang="vi-VN" sz="2000" dirty="0"/>
              <a:t> – xem live stream video thời gian thực</a:t>
            </a:r>
          </a:p>
          <a:p>
            <a:pPr>
              <a:spcAft>
                <a:spcPts val="600"/>
              </a:spcAft>
            </a:pPr>
            <a:r>
              <a:rPr lang="vi-VN" sz="2000" b="1" dirty="0"/>
              <a:t>Đặc điểm thiết kế:</a:t>
            </a:r>
            <a:endParaRPr lang="vi-VN" sz="2000" dirty="0"/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000" dirty="0"/>
              <a:t>Tối giản linh kiện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000" dirty="0"/>
              <a:t>Tập trung 3 luồng xử lý: </a:t>
            </a:r>
            <a:r>
              <a:rPr lang="vi-VN" sz="2000" b="1" dirty="0"/>
              <a:t>Phát hiện → Ghi nhận → Truyền thông</a:t>
            </a:r>
            <a:endParaRPr lang="vi-VN" sz="2000" dirty="0"/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000" dirty="0"/>
              <a:t>Giảm tải cho vi điều khiển, chỉ hoạt động khi có sự kiện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52689" y="401448"/>
            <a:ext cx="11334750" cy="54864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4320"/>
              </a:lnSpc>
            </a:pP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2.2. Nguyên tắc </a:t>
            </a:r>
            <a:r>
              <a:rPr lang="en-US" sz="4000" kern="0" spc="-225" dirty="0" err="1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Hoạt</a:t>
            </a: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 </a:t>
            </a:r>
            <a:r>
              <a:rPr lang="en-US" sz="4000" kern="0" spc="-225" dirty="0" err="1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động</a:t>
            </a:r>
            <a:endParaRPr lang="en-US" sz="4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84738" y="1581150"/>
            <a:ext cx="4476750" cy="4800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vi-VN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5" name="Image 1" descr="ESP32-CAM module connected to a PIR sensor"/>
          <p:cNvPicPr>
            <a:picLocks noChangeAspect="1"/>
          </p:cNvPicPr>
          <p:nvPr/>
        </p:nvPicPr>
        <p:blipFill>
          <a:blip r:embed="rId3"/>
          <a:srcRect l="23772" r="23772"/>
          <a:stretch/>
        </p:blipFill>
        <p:spPr>
          <a:xfrm>
            <a:off x="476250" y="1487328"/>
            <a:ext cx="4476750" cy="4800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37738" y="1581150"/>
            <a:ext cx="3000375" cy="36708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2246"/>
              </a:lnSpc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Khởi động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Kết nối Wi-Fi, khởi tạo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camera, web server,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nghe PIR.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Phát hiện chuyển động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PIR gửi tín hiệu, ESP32-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CAM khóa thời gian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chống lặp.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Gửi cảnh báo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Chụp ảnh JPEG, gửi qua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Telegram Bot.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823863" y="1581150"/>
            <a:ext cx="3000375" cy="332406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2246"/>
              </a:lnSpc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Live stream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Cung cấp giao diện xem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video trực tiếp qua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trình duyệt.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Tối ưu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Tách cảnh báo ảnh &amp; live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stream.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628366" y="264635"/>
            <a:ext cx="11334750" cy="54864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4320"/>
              </a:lnSpc>
            </a:pP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2.3. Giải pháp Lựa chọn</a:t>
            </a:r>
            <a:endParaRPr lang="en-US" sz="4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585790" y="1439955"/>
            <a:ext cx="714375" cy="714375"/>
          </a:xfrm>
          <a:prstGeom prst="ellipse">
            <a:avLst/>
          </a:prstGeom>
          <a:noFill/>
          <a:ln w="50800">
            <a:solidFill>
              <a:srgbClr val="009FA2"/>
            </a:solidFill>
            <a:prstDash val="solid"/>
            <a:miter lim="800000"/>
          </a:ln>
        </p:spPr>
        <p:txBody>
          <a:bodyPr/>
          <a:lstStyle/>
          <a:p>
            <a:endParaRPr lang="vi-VN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086" y="1635217"/>
            <a:ext cx="323850" cy="3238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490665" y="1456116"/>
            <a:ext cx="3952875" cy="2632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74"/>
              </a:lnSpc>
            </a:pPr>
            <a:r>
              <a:rPr lang="en-US" sz="1800" kern="0" spc="-108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Bộ xử lý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2505080" y="1799849"/>
            <a:ext cx="4128960" cy="533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0"/>
              </a:lnSpc>
              <a:spcBef>
                <a:spcPts val="622"/>
              </a:spcBef>
            </a:pPr>
            <a: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ESP32-CAM: Tích hợp Camera, Wi-Fi,</a:t>
            </a:r>
            <a:b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giá thành rẻ.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1585790" y="2799992"/>
            <a:ext cx="714375" cy="714375"/>
          </a:xfrm>
          <a:prstGeom prst="ellipse">
            <a:avLst/>
          </a:prstGeom>
          <a:noFill/>
          <a:ln w="50800">
            <a:solidFill>
              <a:srgbClr val="2292AF"/>
            </a:solidFill>
            <a:prstDash val="solid"/>
            <a:miter lim="800000"/>
          </a:ln>
        </p:spPr>
        <p:txBody>
          <a:bodyPr/>
          <a:lstStyle/>
          <a:p>
            <a:endParaRPr lang="vi-VN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6016" y="2999232"/>
            <a:ext cx="133350" cy="3238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490664" y="2837266"/>
            <a:ext cx="3952875" cy="2632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74"/>
              </a:lnSpc>
            </a:pPr>
            <a:r>
              <a:rPr lang="en-US" sz="1800" kern="0" spc="-108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Cảm biến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2490664" y="3116688"/>
            <a:ext cx="4104330" cy="533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0"/>
              </a:lnSpc>
              <a:spcBef>
                <a:spcPts val="622"/>
              </a:spcBef>
            </a:pPr>
            <a: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PIR HC-SR501: Đơn giản, tiêu thụ</a:t>
            </a:r>
            <a:b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năng lượng thấp, dễ dàng tích hợp.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1603823" y="4141047"/>
            <a:ext cx="714375" cy="714375"/>
          </a:xfrm>
          <a:prstGeom prst="ellipse">
            <a:avLst/>
          </a:prstGeom>
          <a:noFill/>
          <a:ln w="50800">
            <a:solidFill>
              <a:srgbClr val="4486BD"/>
            </a:solidFill>
            <a:prstDash val="solid"/>
            <a:miter lim="800000"/>
          </a:ln>
        </p:spPr>
        <p:txBody>
          <a:bodyPr/>
          <a:lstStyle/>
          <a:p>
            <a:endParaRPr lang="vi-VN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2378" y="4299510"/>
            <a:ext cx="200025" cy="3429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490663" y="4154391"/>
            <a:ext cx="3952875" cy="2632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74"/>
              </a:lnSpc>
            </a:pPr>
            <a:r>
              <a:rPr lang="en-US" sz="1800" kern="0" spc="-108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Cơ chế Cảnh báo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2490665" y="4504820"/>
            <a:ext cx="3952875" cy="533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0"/>
              </a:lnSpc>
              <a:spcBef>
                <a:spcPts val="622"/>
              </a:spcBef>
            </a:pPr>
            <a: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Telegram Bot: API mở, hỗ trợ gửi</a:t>
            </a:r>
            <a:b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ảnh, triển khai nhanh chóng.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6871806" y="1976061"/>
            <a:ext cx="714375" cy="714375"/>
          </a:xfrm>
          <a:prstGeom prst="ellipse">
            <a:avLst/>
          </a:prstGeom>
          <a:noFill/>
          <a:ln w="50800">
            <a:solidFill>
              <a:srgbClr val="6579CA"/>
            </a:solidFill>
            <a:prstDash val="solid"/>
            <a:miter lim="800000"/>
          </a:ln>
        </p:spPr>
        <p:txBody>
          <a:bodyPr/>
          <a:lstStyle/>
          <a:p>
            <a:endParaRPr lang="vi-VN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7555" y="2171323"/>
            <a:ext cx="142875" cy="3238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729414" y="1934925"/>
            <a:ext cx="3952875" cy="2632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74"/>
              </a:lnSpc>
            </a:pPr>
            <a:r>
              <a:rPr lang="en-US" sz="1800" kern="0" spc="-108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Nguồn cấp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7729415" y="2274783"/>
            <a:ext cx="4002513" cy="8001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0"/>
              </a:lnSpc>
              <a:spcBef>
                <a:spcPts val="622"/>
              </a:spcBef>
            </a:pPr>
            <a: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Pin 18650 + Bộ chuyển đổi LM2596:</a:t>
            </a:r>
            <a:b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Linh hoạt, ổn định, tiết kiệm năng</a:t>
            </a:r>
            <a:b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lượng.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0" name="Shape 13"/>
          <p:cNvSpPr/>
          <p:nvPr/>
        </p:nvSpPr>
        <p:spPr>
          <a:xfrm>
            <a:off x="6824540" y="3820239"/>
            <a:ext cx="714375" cy="714375"/>
          </a:xfrm>
          <a:prstGeom prst="ellipse">
            <a:avLst/>
          </a:prstGeom>
          <a:noFill/>
          <a:ln w="50800">
            <a:solidFill>
              <a:srgbClr val="876CD7"/>
            </a:solidFill>
            <a:prstDash val="solid"/>
            <a:miter lim="800000"/>
          </a:ln>
        </p:spPr>
        <p:txBody>
          <a:bodyPr/>
          <a:lstStyle/>
          <a:p>
            <a:endParaRPr lang="vi-VN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8471" y="4043479"/>
            <a:ext cx="333375" cy="27622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729415" y="3768685"/>
            <a:ext cx="3952875" cy="2632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74"/>
              </a:lnSpc>
            </a:pPr>
            <a:r>
              <a:rPr lang="en-US" sz="1800" kern="0" spc="-108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Môi trường Phát triển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7729415" y="4112418"/>
            <a:ext cx="4214826" cy="533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100"/>
              </a:lnSpc>
              <a:spcBef>
                <a:spcPts val="622"/>
              </a:spcBef>
            </a:pPr>
            <a: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Arduino IDE: Phổ biến, cộng đồng hỗ</a:t>
            </a:r>
            <a:b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trợ lớn, dễ sử dụng.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0307" y="224050"/>
            <a:ext cx="11334750" cy="54864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20"/>
              </a:lnSpc>
            </a:pP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Chương 3: Kiến thức Liên quan</a:t>
            </a:r>
            <a:endParaRPr lang="en-US" sz="4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107799" y="1497503"/>
            <a:ext cx="3270171" cy="45080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2246"/>
              </a:lnSpc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ESP32-CAM Module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Giới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thiệu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vi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điều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khiển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tích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hợp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camrera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và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Wi-Fi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PIR Motion Sensor (HC-</a:t>
            </a:r>
            <a:b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</a:b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SR501)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Cảm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biến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phát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hiện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chuyển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động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bằng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hồng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ngoại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059045" y="1497502"/>
            <a:ext cx="3270171" cy="309716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2246"/>
              </a:lnSpc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Pin 18650 Li-ion &amp; Battery</a:t>
            </a:r>
            <a:b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</a:b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Holder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Nguồn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điện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di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động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cho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hệt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thống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JST Connector</a:t>
            </a: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Đầu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nối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điện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2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chân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an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toàn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915044" y="1483922"/>
            <a:ext cx="3270171" cy="34367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2246"/>
              </a:lnSpc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DC-DC Buck Converter</a:t>
            </a:r>
            <a:b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</a:b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(LM2596)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Module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hạ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áp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chuyển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mạch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hiệu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suất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cao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Arduino UNO (</a:t>
            </a:r>
            <a:r>
              <a:rPr lang="en-US" sz="2000" kern="0" spc="-117" dirty="0" err="1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cho</a:t>
            </a: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 </a:t>
            </a:r>
            <a:r>
              <a:rPr lang="en-US" sz="2000" kern="0" spc="-117" dirty="0" err="1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hiệu</a:t>
            </a:r>
            <a:b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</a:br>
            <a:r>
              <a:rPr lang="en-US" sz="2000" kern="0" spc="-117" dirty="0" err="1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chuẩn</a:t>
            </a: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 PIR)</a:t>
            </a: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Dùng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để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hiệu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chuẩn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cảm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biến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PIR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605254" y="284858"/>
            <a:ext cx="11334750" cy="54864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4320"/>
              </a:lnSpc>
            </a:pP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3.1. ESP32-CAM Module</a:t>
            </a:r>
            <a:endParaRPr lang="en-US" sz="4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502617" y="1035725"/>
            <a:ext cx="11334750" cy="29337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r>
              <a:rPr lang="vi-VN" sz="1600" dirty="0">
                <a:solidFill>
                  <a:schemeClr val="tx1">
                    <a:lumMod val="85000"/>
                  </a:schemeClr>
                </a:solidFill>
              </a:rPr>
              <a:t>Vi điều khiển tích hợp Wi-Fi &amp; Bluetooth, công suất thấp</a:t>
            </a:r>
            <a:endParaRPr lang="vi-VN" sz="1600" dirty="0">
              <a:solidFill>
                <a:schemeClr val="tx1">
                  <a:lumMod val="85000"/>
                </a:schemeClr>
              </a:solidFill>
              <a:effectLst/>
            </a:endParaRPr>
          </a:p>
        </p:txBody>
      </p:sp>
      <p:sp>
        <p:nvSpPr>
          <p:cNvPr id="5" name="Shape 2"/>
          <p:cNvSpPr/>
          <p:nvPr/>
        </p:nvSpPr>
        <p:spPr>
          <a:xfrm>
            <a:off x="476250" y="1733550"/>
            <a:ext cx="4476750" cy="464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vi-VN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6" name="Image 1" descr="ESP32-CAM module"/>
          <p:cNvPicPr>
            <a:picLocks noChangeAspect="1"/>
          </p:cNvPicPr>
          <p:nvPr/>
        </p:nvPicPr>
        <p:blipFill>
          <a:blip r:embed="rId3"/>
          <a:srcRect l="1844" r="1844"/>
          <a:stretch/>
        </p:blipFill>
        <p:spPr>
          <a:xfrm>
            <a:off x="476250" y="1733550"/>
            <a:ext cx="4476750" cy="4648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34000" y="1733550"/>
            <a:ext cx="3000375" cy="37941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37744" indent="-237744">
              <a:lnSpc>
                <a:spcPts val="2246"/>
              </a:lnSpc>
              <a:buSzPct val="100000"/>
              <a:buFont typeface="Arial" panose="020B0604020202020204" pitchFamily="34" charset="0"/>
              <a:buChar char="•"/>
            </a:pPr>
            <a:r>
              <a:rPr lang="vi-VN" altLang="vi-VN" sz="2000" dirty="0">
                <a:latin typeface="Inter" panose="02000503000000020004" pitchFamily="2" charset="0"/>
                <a:ea typeface="Inter" panose="02000503000000020004" pitchFamily="2" charset="0"/>
              </a:rPr>
              <a:t>Vi điều khiển </a:t>
            </a:r>
            <a:endParaRPr lang="en-US" altLang="vi-VN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37744">
              <a:lnSpc>
                <a:spcPts val="2100"/>
              </a:lnSpc>
              <a:spcBef>
                <a:spcPts val="444"/>
              </a:spcBef>
              <a:buSzPct val="100000"/>
            </a:pPr>
            <a:r>
              <a:rPr lang="vi-VN" altLang="vi-VN" sz="2000" dirty="0">
                <a:solidFill>
                  <a:schemeClr val="tx1">
                    <a:lumMod val="8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Vi điều khiển giá rẻ, tiết kiệm năng lượng, tích hợp sẵn Wi-Fi và Bluetooth</a:t>
            </a:r>
            <a:r>
              <a:rPr lang="vi-VN" altLang="vi-VN" sz="2000" dirty="0">
                <a:solidFill>
                  <a:schemeClr val="tx1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. </a:t>
            </a:r>
            <a:endParaRPr lang="en-US" altLang="vi-VN" sz="2000" dirty="0">
              <a:solidFill>
                <a:schemeClr val="tx1">
                  <a:lumMod val="7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>
              <a:lnSpc>
                <a:spcPts val="2246"/>
              </a:lnSpc>
              <a:buSzPct val="100000"/>
              <a:buFont typeface="Arial" panose="020B0604020202020204" pitchFamily="34" charset="0"/>
              <a:buChar char="•"/>
            </a:pPr>
            <a:endParaRPr lang="vi-VN" altLang="vi-VN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37744" lvl="0" indent="-237744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vi-VN" altLang="vi-VN" sz="2000" dirty="0">
                <a:latin typeface="Inter" panose="02000503000000020004" pitchFamily="2" charset="0"/>
                <a:ea typeface="Inter" panose="02000503000000020004" pitchFamily="2" charset="0"/>
              </a:rPr>
              <a:t>Bộ xử lý </a:t>
            </a:r>
            <a:endParaRPr lang="en-US" altLang="vi-VN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37744" lvl="0" defTabSz="914400" eaLnBrk="0" fontAlgn="base" hangingPunct="0">
              <a:lnSpc>
                <a:spcPts val="2100"/>
              </a:lnSpc>
              <a:spcBef>
                <a:spcPts val="444"/>
              </a:spcBef>
              <a:spcAft>
                <a:spcPct val="0"/>
              </a:spcAft>
            </a:pPr>
            <a:r>
              <a:rPr lang="vi-VN" altLang="vi-VN" sz="2000" dirty="0">
                <a:solidFill>
                  <a:schemeClr val="tx1">
                    <a:lumMod val="8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Bộ xử lý 32-bit LX6 tốc độ 240 MHz. </a:t>
            </a:r>
            <a:endParaRPr lang="en-US" altLang="vi-VN" sz="2000" dirty="0">
              <a:solidFill>
                <a:schemeClr val="tx1">
                  <a:lumMod val="8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vi-VN" altLang="vi-VN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37744" lvl="0" indent="-237744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vi-VN" altLang="vi-VN" sz="2000" dirty="0">
                <a:latin typeface="Inter" panose="02000503000000020004" pitchFamily="2" charset="0"/>
                <a:ea typeface="Inter" panose="02000503000000020004" pitchFamily="2" charset="0"/>
              </a:rPr>
              <a:t>Bộ nhớ </a:t>
            </a:r>
            <a:endParaRPr lang="en-US" altLang="vi-VN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37744" lvl="0" defTabSz="914400" eaLnBrk="0" fontAlgn="base" hangingPunct="0">
              <a:lnSpc>
                <a:spcPts val="2100"/>
              </a:lnSpc>
              <a:spcBef>
                <a:spcPts val="444"/>
              </a:spcBef>
              <a:spcAft>
                <a:spcPct val="0"/>
              </a:spcAft>
            </a:pPr>
            <a:r>
              <a:rPr lang="vi-VN" altLang="vi-VN" sz="2000" dirty="0">
                <a:solidFill>
                  <a:schemeClr val="tx1">
                    <a:lumMod val="8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520KB SRAM và 448KB ROM. </a:t>
            </a:r>
          </a:p>
        </p:txBody>
      </p:sp>
      <p:sp>
        <p:nvSpPr>
          <p:cNvPr id="8" name="Text 4"/>
          <p:cNvSpPr/>
          <p:nvPr/>
        </p:nvSpPr>
        <p:spPr>
          <a:xfrm>
            <a:off x="8810625" y="1733549"/>
            <a:ext cx="3000375" cy="365211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37744" indent="-237744" algn="l">
              <a:lnSpc>
                <a:spcPts val="2246"/>
              </a:lnSpc>
              <a:buSzPct val="100000"/>
              <a:buFont typeface="Arial" panose="020B0604020202020204" pitchFamily="34" charset="0"/>
              <a:buChar char="•"/>
            </a:pPr>
            <a:r>
              <a:rPr lang="vi-VN" altLang="vi-VN" sz="2000" dirty="0">
                <a:latin typeface="Inter" panose="02000503000000020004" pitchFamily="2" charset="0"/>
                <a:ea typeface="Inter" panose="02000503000000020004" pitchFamily="2" charset="0"/>
              </a:rPr>
              <a:t>Kết nối </a:t>
            </a:r>
            <a:endParaRPr lang="en-US" altLang="vi-VN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37744" algn="l">
              <a:lnSpc>
                <a:spcPts val="2100"/>
              </a:lnSpc>
              <a:spcBef>
                <a:spcPts val="444"/>
              </a:spcBef>
              <a:buSzPct val="100000"/>
            </a:pPr>
            <a:r>
              <a:rPr lang="vi-VN" altLang="vi-VN" sz="2000" dirty="0">
                <a:solidFill>
                  <a:schemeClr val="tx1">
                    <a:lumMod val="8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Hỗ trợ Wi-Fi 802.11 b/g/n. </a:t>
            </a:r>
            <a:endParaRPr lang="en-US" altLang="vi-VN" sz="2000" dirty="0">
              <a:solidFill>
                <a:schemeClr val="tx1">
                  <a:lumMod val="8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 algn="l">
              <a:lnSpc>
                <a:spcPts val="2246"/>
              </a:lnSpc>
              <a:buSzPct val="100000"/>
              <a:buFont typeface="Arial" panose="020B0604020202020204" pitchFamily="34" charset="0"/>
              <a:buChar char="•"/>
            </a:pPr>
            <a:endParaRPr lang="vi-VN" altLang="vi-VN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37744" lvl="0" indent="-237744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vi-VN" altLang="vi-VN" sz="2000" dirty="0">
                <a:latin typeface="Inter" panose="02000503000000020004" pitchFamily="2" charset="0"/>
                <a:ea typeface="Inter" panose="02000503000000020004" pitchFamily="2" charset="0"/>
              </a:rPr>
              <a:t>Vai trò trong hệ thống </a:t>
            </a:r>
            <a:endParaRPr lang="en-US" altLang="vi-VN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37744" lvl="0" defTabSz="914400" eaLnBrk="0" fontAlgn="base" hangingPunct="0">
              <a:lnSpc>
                <a:spcPts val="2100"/>
              </a:lnSpc>
              <a:spcBef>
                <a:spcPts val="444"/>
              </a:spcBef>
              <a:spcAft>
                <a:spcPct val="0"/>
              </a:spcAft>
            </a:pPr>
            <a:r>
              <a:rPr lang="vi-VN" altLang="vi-VN" sz="2000" dirty="0">
                <a:solidFill>
                  <a:schemeClr val="tx1">
                    <a:lumMod val="8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Là trung tâm xử lý chính, điều khiển camera OV2640, xử lý tín hiệu từ cảm biến PIR và quản lý kết nối mạng (Telegram &amp; Web Server). </a:t>
            </a: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CB9202C6-4671-F79C-89E2-15B3E7D43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vi-VN" altLang="vi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6178B4B2-3FA9-5E0E-7FEC-7AD9F7938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vi-VN" altLang="vi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614585" y="275311"/>
            <a:ext cx="11334750" cy="54864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4320"/>
              </a:lnSpc>
            </a:pP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3.2. PIR Motion Sensor (HC-SR501)</a:t>
            </a:r>
            <a:endParaRPr lang="en-US" sz="4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76250" y="1581150"/>
            <a:ext cx="4476750" cy="4800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vi-VN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5" name="Image 1" descr="PIR Motion Sensor HC-SR501"/>
          <p:cNvPicPr>
            <a:picLocks noChangeAspect="1"/>
          </p:cNvPicPr>
          <p:nvPr/>
        </p:nvPicPr>
        <p:blipFill>
          <a:blip r:embed="rId3"/>
          <a:srcRect l="3373" r="3373"/>
          <a:stretch/>
        </p:blipFill>
        <p:spPr>
          <a:xfrm>
            <a:off x="476250" y="1581150"/>
            <a:ext cx="4476750" cy="4800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34000" y="1581149"/>
            <a:ext cx="3000375" cy="380451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2246"/>
              </a:lnSpc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Nguyên lý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Phát hiện thay đổi bức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xạ hồng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ngoại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Điện áp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4.5V - 20V (thường 5V).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Đầu ra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3.3V TTL.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653382" y="1581150"/>
            <a:ext cx="3000375" cy="36107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2246"/>
              </a:lnSpc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Phạm vi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3-7m, góc quét ~110°.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Điều chỉnh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Độ nhạy, thời gian trễ.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Vai trò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Kích hoạt hệ thống khi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có chuyển động.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605254" y="334763"/>
            <a:ext cx="11334750" cy="54864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4320"/>
              </a:lnSpc>
            </a:pP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3.3. Pin 18650 Li-ion &amp; Battery Holder</a:t>
            </a:r>
            <a:endParaRPr lang="en-US" sz="4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76250" y="1581150"/>
            <a:ext cx="4476750" cy="4800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vi-VN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5" name="Image 1" descr="A single black 18650 Li-ion battery next to a red plastic battery holder designed to hold two 18650 batteries in series."/>
          <p:cNvPicPr>
            <a:picLocks noChangeAspect="1"/>
          </p:cNvPicPr>
          <p:nvPr/>
        </p:nvPicPr>
        <p:blipFill>
          <a:blip r:embed="rId3"/>
          <a:srcRect l="10647" r="10647"/>
          <a:stretch/>
        </p:blipFill>
        <p:spPr>
          <a:xfrm>
            <a:off x="476250" y="1581150"/>
            <a:ext cx="4476750" cy="4800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24500" y="1581150"/>
            <a:ext cx="6286500" cy="43934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2246"/>
              </a:lnSpc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Pin sạc Lithium-ion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Dung lượng cao (2000-3500mAh).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Điện áp danh nghĩa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3.7V.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Battery Holder (2 cell nối tiếp)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Cung cấp điện áp ~7.4V.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Vai trò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Nguồn điện độc lập cho hệ thống, tăng tính di động.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577262" y="191335"/>
            <a:ext cx="11334750" cy="54864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4320"/>
              </a:lnSpc>
            </a:pP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3.4. JST Connector</a:t>
            </a:r>
            <a:endParaRPr lang="en-US" sz="4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577262" y="1403868"/>
            <a:ext cx="4476750" cy="4800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vi-VN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5" name="Image 1" descr="A 2-pin JST connector."/>
          <p:cNvPicPr>
            <a:picLocks noChangeAspect="1"/>
          </p:cNvPicPr>
          <p:nvPr/>
        </p:nvPicPr>
        <p:blipFill>
          <a:blip r:embed="rId3"/>
          <a:srcRect l="15030" r="15030"/>
          <a:stretch/>
        </p:blipFill>
        <p:spPr>
          <a:xfrm>
            <a:off x="1577262" y="1403868"/>
            <a:ext cx="4476750" cy="4800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30262" y="1403868"/>
            <a:ext cx="6364618" cy="401990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2246"/>
              </a:lnSpc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Đầu nối điện 2-pin phổ biến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 err="1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Khoảng</a:t>
            </a: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 cách chân: 2.0mm </a:t>
            </a:r>
            <a:r>
              <a:rPr lang="en-US" sz="2000" kern="0" spc="-117" dirty="0" err="1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hoặc</a:t>
            </a: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 2.54mm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 err="1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Có</a:t>
            </a: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 khóa cơ học, an toàn, dễ tháo lắp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Vai trò: Kết nối nguồn pin 18650 với module hạ áp</a:t>
            </a:r>
            <a:b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</a:b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LM2596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586593" y="368617"/>
            <a:ext cx="11334750" cy="54864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4320"/>
              </a:lnSpc>
            </a:pP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3.5. DC-DC Buck Converter (LM2596)</a:t>
            </a:r>
            <a:endParaRPr lang="en-US" sz="4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76250" y="1581150"/>
            <a:ext cx="4476750" cy="4800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vi-VN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5" name="Image 1" descr="A DC-DC buck converter module with labels indicating input and output voltage and current."/>
          <p:cNvPicPr>
            <a:picLocks noChangeAspect="1"/>
          </p:cNvPicPr>
          <p:nvPr/>
        </p:nvPicPr>
        <p:blipFill>
          <a:blip r:embed="rId3"/>
          <a:srcRect l="3373" r="3373"/>
          <a:stretch/>
        </p:blipFill>
        <p:spPr>
          <a:xfrm>
            <a:off x="476250" y="1581150"/>
            <a:ext cx="4476750" cy="4800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29250" y="1586942"/>
            <a:ext cx="3000375" cy="231064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>
              <a:lnSpc>
                <a:spcPts val="2246"/>
              </a:lnSpc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</a:rPr>
              <a:t>Module </a:t>
            </a:r>
            <a:r>
              <a:rPr lang="en-US" sz="2000" kern="0" spc="-117" dirty="0" err="1">
                <a:latin typeface="Inter" panose="02000503000000020004" pitchFamily="2" charset="0"/>
                <a:ea typeface="Inter" panose="02000503000000020004" pitchFamily="2" charset="0"/>
              </a:rPr>
              <a:t>hạ</a:t>
            </a: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117" dirty="0" err="1">
                <a:latin typeface="Inter" panose="02000503000000020004" pitchFamily="2" charset="0"/>
                <a:ea typeface="Inter" panose="02000503000000020004" pitchFamily="2" charset="0"/>
              </a:rPr>
              <a:t>áp</a:t>
            </a: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117" dirty="0" err="1">
                <a:latin typeface="Inter" panose="02000503000000020004" pitchFamily="2" charset="0"/>
                <a:ea typeface="Inter" panose="02000503000000020004" pitchFamily="2" charset="0"/>
              </a:rPr>
              <a:t>chuyển</a:t>
            </a: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117" dirty="0" err="1">
                <a:latin typeface="Inter" panose="02000503000000020004" pitchFamily="2" charset="0"/>
                <a:ea typeface="Inter" panose="02000503000000020004" pitchFamily="2" charset="0"/>
              </a:rPr>
              <a:t>mạch</a:t>
            </a: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117" dirty="0" err="1">
                <a:latin typeface="Inter" panose="02000503000000020004" pitchFamily="2" charset="0"/>
                <a:ea typeface="Inter" panose="02000503000000020004" pitchFamily="2" charset="0"/>
              </a:rPr>
              <a:t>hiệu</a:t>
            </a: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117" dirty="0" err="1">
                <a:latin typeface="Inter" panose="02000503000000020004" pitchFamily="2" charset="0"/>
                <a:ea typeface="Inter" panose="02000503000000020004" pitchFamily="2" charset="0"/>
              </a:rPr>
              <a:t>suất</a:t>
            </a: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117" dirty="0" err="1">
                <a:latin typeface="Inter" panose="02000503000000020004" pitchFamily="2" charset="0"/>
                <a:ea typeface="Inter" panose="02000503000000020004" pitchFamily="2" charset="0"/>
              </a:rPr>
              <a:t>cao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 err="1">
                <a:latin typeface="Inter" panose="02000503000000020004" pitchFamily="2" charset="0"/>
                <a:ea typeface="Inter" panose="02000503000000020004" pitchFamily="2" charset="0"/>
              </a:rPr>
              <a:t>Điện</a:t>
            </a: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117" dirty="0" err="1">
                <a:latin typeface="Inter" panose="02000503000000020004" pitchFamily="2" charset="0"/>
                <a:ea typeface="Inter" panose="02000503000000020004" pitchFamily="2" charset="0"/>
              </a:rPr>
              <a:t>áp</a:t>
            </a: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117" dirty="0" err="1">
                <a:latin typeface="Inter" panose="02000503000000020004" pitchFamily="2" charset="0"/>
                <a:ea typeface="Inter" panose="02000503000000020004" pitchFamily="2" charset="0"/>
              </a:rPr>
              <a:t>đầu</a:t>
            </a: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117" dirty="0" err="1">
                <a:latin typeface="Inter" panose="02000503000000020004" pitchFamily="2" charset="0"/>
                <a:ea typeface="Inter" panose="02000503000000020004" pitchFamily="2" charset="0"/>
              </a:rPr>
              <a:t>vào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4V - 40V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810625" y="1579192"/>
            <a:ext cx="3000375" cy="35429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2246"/>
              </a:lnSpc>
              <a:buSzPct val="100000"/>
              <a:buChar char="•"/>
            </a:pPr>
            <a:r>
              <a:rPr lang="en-US" sz="2000" dirty="0" err="1">
                <a:latin typeface="Inter" panose="02000503000000020004" pitchFamily="2" charset="0"/>
                <a:ea typeface="Inter" panose="02000503000000020004" pitchFamily="2" charset="0"/>
              </a:rPr>
              <a:t>Điện</a:t>
            </a:r>
            <a:r>
              <a:rPr lang="en-US" sz="200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dirty="0" err="1">
                <a:latin typeface="Inter" panose="02000503000000020004" pitchFamily="2" charset="0"/>
                <a:ea typeface="Inter" panose="02000503000000020004" pitchFamily="2" charset="0"/>
              </a:rPr>
              <a:t>áp</a:t>
            </a:r>
            <a:r>
              <a:rPr lang="en-US" sz="200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dirty="0" err="1">
                <a:latin typeface="Inter" panose="02000503000000020004" pitchFamily="2" charset="0"/>
                <a:ea typeface="Inter" panose="02000503000000020004" pitchFamily="2" charset="0"/>
              </a:rPr>
              <a:t>đầu</a:t>
            </a:r>
            <a:r>
              <a:rPr lang="en-US" sz="200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dirty="0" err="1">
                <a:latin typeface="Inter" panose="02000503000000020004" pitchFamily="2" charset="0"/>
                <a:ea typeface="Inter" panose="02000503000000020004" pitchFamily="2" charset="0"/>
              </a:rPr>
              <a:t>ra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1.25V - 37V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 err="1">
                <a:latin typeface="Inter" panose="02000503000000020004" pitchFamily="2" charset="0"/>
                <a:ea typeface="Inter" panose="02000503000000020004" pitchFamily="2" charset="0"/>
              </a:rPr>
              <a:t>Dòng</a:t>
            </a: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117" dirty="0" err="1">
                <a:latin typeface="Inter" panose="02000503000000020004" pitchFamily="2" charset="0"/>
                <a:ea typeface="Inter" panose="02000503000000020004" pitchFamily="2" charset="0"/>
              </a:rPr>
              <a:t>điện</a:t>
            </a: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117" dirty="0" err="1">
                <a:latin typeface="Inter" panose="02000503000000020004" pitchFamily="2" charset="0"/>
                <a:ea typeface="Inter" panose="02000503000000020004" pitchFamily="2" charset="0"/>
              </a:rPr>
              <a:t>tối</a:t>
            </a: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117" dirty="0" err="1">
                <a:latin typeface="Inter" panose="02000503000000020004" pitchFamily="2" charset="0"/>
                <a:ea typeface="Inter" panose="02000503000000020004" pitchFamily="2" charset="0"/>
              </a:rPr>
              <a:t>đa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3A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</a:rPr>
              <a:t>Vai </a:t>
            </a:r>
            <a:r>
              <a:rPr lang="en-US" sz="2000" kern="0" spc="-117" dirty="0" err="1">
                <a:latin typeface="Inter" panose="02000503000000020004" pitchFamily="2" charset="0"/>
                <a:ea typeface="Inter" panose="02000503000000020004" pitchFamily="2" charset="0"/>
              </a:rPr>
              <a:t>trò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Ổn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định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nguồn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điện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từ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pin 18650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xuống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mức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5V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để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cung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cấp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cho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ESP32-CAM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và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các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linh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kiện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000" kern="0" spc="-30" dirty="0" err="1">
                <a:latin typeface="Inter" panose="02000503000000020004" pitchFamily="2" charset="0"/>
                <a:ea typeface="Inter" panose="02000503000000020004" pitchFamily="2" charset="0"/>
              </a:rPr>
              <a:t>khác</a:t>
            </a: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131697" y="-65314"/>
            <a:ext cx="6096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vi-VN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4" name="Image 1" descr="An Arduino UNO development board"/>
          <p:cNvPicPr>
            <a:picLocks noChangeAspect="1"/>
          </p:cNvPicPr>
          <p:nvPr/>
        </p:nvPicPr>
        <p:blipFill>
          <a:blip r:embed="rId3"/>
          <a:srcRect l="16667" r="16667"/>
          <a:stretch/>
        </p:blipFill>
        <p:spPr>
          <a:xfrm>
            <a:off x="7131697" y="-65314"/>
            <a:ext cx="6096000" cy="6858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11947" y="261830"/>
            <a:ext cx="3852056" cy="10972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4320"/>
              </a:lnSpc>
              <a:spcBef>
                <a:spcPts val="1807"/>
              </a:spcBef>
            </a:pP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3.6. Arduino UNO</a:t>
            </a:r>
            <a:b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</a:b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(Hiệu chuẩn PIR)</a:t>
            </a:r>
            <a:endParaRPr lang="en-US" sz="4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311922" y="1838748"/>
            <a:ext cx="5162550" cy="58674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ts val="2310"/>
              </a:lnSpc>
              <a:spcBef>
                <a:spcPts val="914"/>
              </a:spcBef>
              <a:buFont typeface="Arial" panose="020B0604020202020204" pitchFamily="34" charset="0"/>
              <a:buChar char="•"/>
            </a:pPr>
            <a:r>
              <a:rPr lang="en-US" sz="2000" kern="0" spc="-33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Bo mạch vi điều khiển phổ biến</a:t>
            </a:r>
            <a:br>
              <a:rPr lang="en-US" sz="2000" kern="0" spc="-33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3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(ATmega328P).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311922" y="2721281"/>
            <a:ext cx="5543550" cy="29337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ts val="2310"/>
              </a:lnSpc>
              <a:spcBef>
                <a:spcPts val="1073"/>
              </a:spcBef>
              <a:buFont typeface="Arial" panose="020B0604020202020204" pitchFamily="34" charset="0"/>
              <a:buChar char="•"/>
            </a:pPr>
            <a:r>
              <a:rPr lang="en-US" sz="2000" kern="0" spc="-33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Hỗ trợ nạp code, giao tiếp Serial Monitor.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311922" y="3433980"/>
            <a:ext cx="5543550" cy="58674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ts val="2310"/>
              </a:lnSpc>
              <a:spcBef>
                <a:spcPts val="1073"/>
              </a:spcBef>
              <a:buFont typeface="Arial" panose="020B0604020202020204" pitchFamily="34" charset="0"/>
              <a:buChar char="•"/>
            </a:pPr>
            <a:r>
              <a:rPr lang="en-US" sz="2000" kern="0" spc="-33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Vai trò: Hỗ trợ hiệu chuẩn và kiểm tra cảm</a:t>
            </a:r>
            <a:br>
              <a:rPr lang="en-US" sz="2000" kern="0" spc="-33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3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biến PIR trước khi tích hợp vào ESP32-CAM.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379223"/>
            <a:ext cx="11334750" cy="54864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4320"/>
              </a:lnSpc>
            </a:pP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Chương 4: Ứng dụng Hệ thống</a:t>
            </a:r>
            <a:endParaRPr lang="en-US" sz="4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76250" y="1581150"/>
            <a:ext cx="4476750" cy="4800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vi-VN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5" name="Image 1" descr="ESP32-CAM module with a PIR sensor"/>
          <p:cNvPicPr>
            <a:picLocks noChangeAspect="1"/>
          </p:cNvPicPr>
          <p:nvPr/>
        </p:nvPicPr>
        <p:blipFill>
          <a:blip r:embed="rId3"/>
          <a:srcRect l="23772" r="23772"/>
          <a:stretch/>
        </p:blipFill>
        <p:spPr>
          <a:xfrm>
            <a:off x="476250" y="1581150"/>
            <a:ext cx="4476750" cy="4800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02996" y="1586941"/>
            <a:ext cx="6539008" cy="38529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2246"/>
              </a:lnSpc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Mô tả Hệ thống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Hệ thống giám sát gọn nhẹ, độc lập. Giao diện: Telegram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(cảnh báo), Web Browser (live stream).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Kịch bản Sử dụng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Đặt tại cửa ra vào, phòng làm việc, kho hàng... Phát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hiện -&gt; Chụp ảnh -&gt; Gửi Telegram -&gt; Live stream.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Tính ứng dụng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An ninh nhà ở nhỏ, văn phòng. Thí nghiệm, tủ thiết bị.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Tương tác thực tế, đơn giản.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9781" y="-451655"/>
            <a:ext cx="5743808" cy="164592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4320"/>
              </a:lnSpc>
            </a:pP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4.2. </a:t>
            </a:r>
            <a:r>
              <a:rPr lang="en-US" sz="4000" kern="0" spc="-225" dirty="0" err="1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Sơ</a:t>
            </a: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 </a:t>
            </a:r>
            <a:r>
              <a:rPr lang="en-US" sz="4000" kern="0" spc="-225" dirty="0" err="1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đồ</a:t>
            </a: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 </a:t>
            </a:r>
            <a:r>
              <a:rPr lang="en-US" sz="4000" kern="0" spc="-225" dirty="0" err="1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Khối</a:t>
            </a: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 </a:t>
            </a:r>
            <a:r>
              <a:rPr lang="en-US" sz="4000" kern="0" spc="-225" dirty="0" err="1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Ứng</a:t>
            </a: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 </a:t>
            </a:r>
            <a:r>
              <a:rPr lang="en-US" sz="4000" kern="0" spc="-225" dirty="0" err="1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dụng</a:t>
            </a:r>
            <a:endParaRPr lang="en-US" sz="4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36D3CEF-2421-D221-0C15-A00FAA0F1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192" y="183572"/>
            <a:ext cx="5743808" cy="624288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C415857-0B4B-B580-B7B2-A836F8009086}"/>
              </a:ext>
            </a:extLst>
          </p:cNvPr>
          <p:cNvSpPr txBox="1"/>
          <p:nvPr/>
        </p:nvSpPr>
        <p:spPr>
          <a:xfrm>
            <a:off x="109781" y="742609"/>
            <a:ext cx="6283270" cy="5032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vi-VN" sz="1900" dirty="0">
                <a:latin typeface="Inter" panose="02000503000000020004" pitchFamily="2" charset="0"/>
                <a:ea typeface="Inter" panose="02000503000000020004" pitchFamily="2" charset="0"/>
              </a:rPr>
              <a:t>Sơ đồ khối gồm </a:t>
            </a:r>
            <a:r>
              <a:rPr lang="vi-VN" sz="1900" b="1" dirty="0">
                <a:latin typeface="Inter" panose="02000503000000020004" pitchFamily="2" charset="0"/>
                <a:ea typeface="Inter" panose="02000503000000020004" pitchFamily="2" charset="0"/>
              </a:rPr>
              <a:t>3 tầng chính</a:t>
            </a:r>
            <a:r>
              <a:rPr lang="vi-VN" sz="1900" dirty="0">
                <a:latin typeface="Inter" panose="02000503000000020004" pitchFamily="2" charset="0"/>
                <a:ea typeface="Inter" panose="02000503000000020004" pitchFamily="2" charset="0"/>
              </a:rPr>
              <a:t>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1900" b="1" dirty="0">
                <a:latin typeface="Inter" panose="02000503000000020004" pitchFamily="2" charset="0"/>
                <a:ea typeface="Inter" panose="02000503000000020004" pitchFamily="2" charset="0"/>
              </a:rPr>
              <a:t>Tầng cảm nhận</a:t>
            </a:r>
            <a:r>
              <a:rPr lang="vi-VN" sz="1900" dirty="0">
                <a:latin typeface="Inter" panose="02000503000000020004" pitchFamily="2" charset="0"/>
                <a:ea typeface="Inter" panose="02000503000000020004" pitchFamily="2" charset="0"/>
              </a:rPr>
              <a:t>: PIR HC-SR501 – Phát hiện chuyển động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1900" b="1" dirty="0">
                <a:latin typeface="Inter" panose="02000503000000020004" pitchFamily="2" charset="0"/>
                <a:ea typeface="Inter" panose="02000503000000020004" pitchFamily="2" charset="0"/>
              </a:rPr>
              <a:t>Tầng xử lý</a:t>
            </a:r>
            <a:r>
              <a:rPr lang="vi-VN" sz="1900" dirty="0">
                <a:latin typeface="Inter" panose="02000503000000020004" pitchFamily="2" charset="0"/>
                <a:ea typeface="Inter" panose="02000503000000020004" pitchFamily="2" charset="0"/>
              </a:rPr>
              <a:t>: ESP32-CAM – Điều khiển camera và xử lý sự kiện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1900" b="1" dirty="0">
                <a:latin typeface="Inter" panose="02000503000000020004" pitchFamily="2" charset="0"/>
                <a:ea typeface="Inter" panose="02000503000000020004" pitchFamily="2" charset="0"/>
              </a:rPr>
              <a:t>Tầng giao tiếp</a:t>
            </a:r>
            <a:r>
              <a:rPr lang="vi-VN" sz="1900" dirty="0">
                <a:latin typeface="Inter" panose="02000503000000020004" pitchFamily="2" charset="0"/>
                <a:ea typeface="Inter" panose="02000503000000020004" pitchFamily="2" charset="0"/>
              </a:rPr>
              <a:t>: Telegram Bot &amp; Web Server – Gửi cảnh báo và live stream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1900" b="1" dirty="0">
                <a:latin typeface="Inter" panose="02000503000000020004" pitchFamily="2" charset="0"/>
                <a:ea typeface="Inter" panose="02000503000000020004" pitchFamily="2" charset="0"/>
              </a:rPr>
              <a:t>Nguồn điện</a:t>
            </a:r>
            <a:r>
              <a:rPr lang="vi-VN" sz="1900" dirty="0">
                <a:latin typeface="Inter" panose="02000503000000020004" pitchFamily="2" charset="0"/>
                <a:ea typeface="Inter" panose="02000503000000020004" pitchFamily="2" charset="0"/>
              </a:rPr>
              <a:t>: Pin 18650 + LM2596 cung cấp 5V ổn định.</a:t>
            </a:r>
          </a:p>
          <a:p>
            <a:pPr>
              <a:spcAft>
                <a:spcPts val="600"/>
              </a:spcAft>
            </a:pPr>
            <a:r>
              <a:rPr lang="vi-VN" sz="1900" b="1" dirty="0">
                <a:latin typeface="Inter" panose="02000503000000020004" pitchFamily="2" charset="0"/>
                <a:ea typeface="Inter" panose="02000503000000020004" pitchFamily="2" charset="0"/>
              </a:rPr>
              <a:t>Nguyên lý hoạt động</a:t>
            </a:r>
            <a:r>
              <a:rPr lang="vi-VN" sz="1900" dirty="0">
                <a:latin typeface="Inter" panose="02000503000000020004" pitchFamily="2" charset="0"/>
                <a:ea typeface="Inter" panose="02000503000000020004" pitchFamily="2" charset="0"/>
              </a:rPr>
              <a:t> (5 bước chính):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1900" dirty="0">
                <a:latin typeface="Inter" panose="02000503000000020004" pitchFamily="2" charset="0"/>
                <a:ea typeface="Inter" panose="02000503000000020004" pitchFamily="2" charset="0"/>
              </a:rPr>
              <a:t>Khởi động và kết nối Wi-Fi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1900" dirty="0">
                <a:latin typeface="Inter" panose="02000503000000020004" pitchFamily="2" charset="0"/>
                <a:ea typeface="Inter" panose="02000503000000020004" pitchFamily="2" charset="0"/>
              </a:rPr>
              <a:t>Cấu hình camera &amp; web server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1900" dirty="0">
                <a:latin typeface="Inter" panose="02000503000000020004" pitchFamily="2" charset="0"/>
                <a:ea typeface="Inter" panose="02000503000000020004" pitchFamily="2" charset="0"/>
              </a:rPr>
              <a:t>Phát hiện chuyển động → chụp ảnh &amp; gửi Telegram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1900" dirty="0">
                <a:latin typeface="Inter" panose="02000503000000020004" pitchFamily="2" charset="0"/>
                <a:ea typeface="Inter" panose="02000503000000020004" pitchFamily="2" charset="0"/>
              </a:rPr>
              <a:t>Người dùng xem live stream qua trình duyệt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1900" dirty="0">
                <a:latin typeface="Inter" panose="02000503000000020004" pitchFamily="2" charset="0"/>
                <a:ea typeface="Inter" panose="02000503000000020004" pitchFamily="2" charset="0"/>
              </a:rPr>
              <a:t>Chế độ chống lặp → quay về trạng thái chờ</a:t>
            </a:r>
          </a:p>
          <a:p>
            <a:pPr>
              <a:spcAft>
                <a:spcPts val="600"/>
              </a:spcAft>
            </a:pPr>
            <a:r>
              <a:rPr lang="vi-VN" sz="1900" b="1" dirty="0">
                <a:latin typeface="Inter" panose="02000503000000020004" pitchFamily="2" charset="0"/>
                <a:ea typeface="Inter" panose="02000503000000020004" pitchFamily="2" charset="0"/>
              </a:rPr>
              <a:t>Ưu điểm</a:t>
            </a:r>
            <a:r>
              <a:rPr lang="vi-VN" sz="1900" dirty="0">
                <a:latin typeface="Inter" panose="02000503000000020004" pitchFamily="2" charset="0"/>
                <a:ea typeface="Inter" panose="02000503000000020004" pitchFamily="2" charset="0"/>
              </a:rPr>
              <a:t>: Phản ứng nhanh, tránh thông báo trùng lặp.</a:t>
            </a: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368617"/>
            <a:ext cx="11334750" cy="54864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4320"/>
              </a:lnSpc>
            </a:pP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4.3. Sơ Đồ Mạch Kết Nối &amp; Xây Dựng</a:t>
            </a:r>
            <a:endParaRPr lang="en-US" sz="4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76250" y="1581150"/>
            <a:ext cx="4476750" cy="406717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vi-VN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5EB354-DDF3-FEA3-54A0-96652107A0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72" y="1380480"/>
            <a:ext cx="5861972" cy="420706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CDC7C4C-1B95-37E1-90BE-BEC4F9C1790C}"/>
              </a:ext>
            </a:extLst>
          </p:cNvPr>
          <p:cNvSpPr txBox="1"/>
          <p:nvPr/>
        </p:nvSpPr>
        <p:spPr>
          <a:xfrm>
            <a:off x="6422433" y="1285874"/>
            <a:ext cx="5689492" cy="463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vi-VN" sz="200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Sơ đồ kết nối tập trung vào </a:t>
            </a:r>
            <a:r>
              <a:rPr lang="vi-VN" sz="2000" b="1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3 nhóm chân chính</a:t>
            </a:r>
            <a:r>
              <a:rPr lang="vi-VN" sz="2000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000" b="1" dirty="0">
                <a:latin typeface="Inter" panose="02000503000000020004" pitchFamily="2" charset="0"/>
                <a:ea typeface="Inter" panose="02000503000000020004" pitchFamily="2" charset="0"/>
              </a:rPr>
              <a:t>Nhóm nguồn</a:t>
            </a:r>
            <a:r>
              <a:rPr lang="vi-VN" sz="2000" dirty="0">
                <a:latin typeface="Inter" panose="02000503000000020004" pitchFamily="2" charset="0"/>
                <a:ea typeface="Inter" panose="02000503000000020004" pitchFamily="2" charset="0"/>
              </a:rPr>
              <a:t>: Pin 2x18650 → LM2596 → cấp 5V ổn định cho ESP32-CAM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000" b="1" dirty="0">
                <a:latin typeface="Inter" panose="02000503000000020004" pitchFamily="2" charset="0"/>
                <a:ea typeface="Inter" panose="02000503000000020004" pitchFamily="2" charset="0"/>
              </a:rPr>
              <a:t>Nhóm nạp chương trình</a:t>
            </a:r>
            <a:r>
              <a:rPr lang="vi-VN" sz="2000" dirty="0">
                <a:latin typeface="Inter" panose="02000503000000020004" pitchFamily="2" charset="0"/>
                <a:ea typeface="Inter" panose="02000503000000020004" pitchFamily="2" charset="0"/>
              </a:rPr>
              <a:t>: FTDI/USB-TTL nối U0R, U0T, 5V, GND (Khi nạp: kéo GPIO0 xuống GND → nạp code → nhả GPIO0 và reset)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000" b="1" dirty="0">
                <a:latin typeface="Inter" panose="02000503000000020004" pitchFamily="2" charset="0"/>
                <a:ea typeface="Inter" panose="02000503000000020004" pitchFamily="2" charset="0"/>
              </a:rPr>
              <a:t>Nhóm tín hiệu cảm biến</a:t>
            </a:r>
            <a:r>
              <a:rPr lang="vi-VN" sz="2000" dirty="0">
                <a:latin typeface="Inter" panose="02000503000000020004" pitchFamily="2" charset="0"/>
                <a:ea typeface="Inter" panose="02000503000000020004" pitchFamily="2" charset="0"/>
              </a:rPr>
              <a:t>: PIR HC-SR501 nối chân OUT vào GPIO của ESP32-CAM</a:t>
            </a:r>
          </a:p>
          <a:p>
            <a:pPr>
              <a:spcAft>
                <a:spcPts val="600"/>
              </a:spcAft>
              <a:buNone/>
            </a:pPr>
            <a:r>
              <a:rPr lang="vi-VN" sz="2000" b="1" dirty="0">
                <a:effectLst/>
                <a:latin typeface="Inter" panose="02000503000000020004" pitchFamily="2" charset="0"/>
                <a:ea typeface="Inter" panose="02000503000000020004" pitchFamily="2" charset="0"/>
              </a:rPr>
              <a:t>Cách thực hiện chính:</a:t>
            </a:r>
            <a:endParaRPr lang="vi-VN" sz="2000" dirty="0"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342900" indent="-342900">
              <a:spcAft>
                <a:spcPts val="600"/>
              </a:spcAft>
              <a:buFont typeface="Inter" panose="02000503000000020004" pitchFamily="2" charset="0"/>
              <a:buChar char="+"/>
            </a:pPr>
            <a:r>
              <a:rPr lang="vi-VN" sz="2000" dirty="0">
                <a:latin typeface="Inter" panose="02000503000000020004" pitchFamily="2" charset="0"/>
                <a:ea typeface="Inter" panose="02000503000000020004" pitchFamily="2" charset="0"/>
              </a:rPr>
              <a:t>Cấp nguồn phù hợp cho PIR</a:t>
            </a:r>
          </a:p>
          <a:p>
            <a:pPr marL="342900" indent="-342900">
              <a:spcAft>
                <a:spcPts val="600"/>
              </a:spcAft>
              <a:buFont typeface="Inter" panose="02000503000000020004" pitchFamily="2" charset="0"/>
              <a:buChar char="+"/>
            </a:pPr>
            <a:r>
              <a:rPr lang="vi-VN" sz="2000" dirty="0">
                <a:latin typeface="Inter" panose="02000503000000020004" pitchFamily="2" charset="0"/>
                <a:ea typeface="Inter" panose="02000503000000020004" pitchFamily="2" charset="0"/>
              </a:rPr>
              <a:t>Nối tín hiệu OUT của PIR vào GPIO</a:t>
            </a:r>
          </a:p>
          <a:p>
            <a:pPr marL="342900" indent="-342900">
              <a:spcAft>
                <a:spcPts val="600"/>
              </a:spcAft>
              <a:buFont typeface="Inter" panose="02000503000000020004" pitchFamily="2" charset="0"/>
              <a:buChar char="+"/>
            </a:pPr>
            <a:r>
              <a:rPr lang="vi-VN" sz="2000" dirty="0">
                <a:latin typeface="Inter" panose="02000503000000020004" pitchFamily="2" charset="0"/>
                <a:ea typeface="Inter" panose="02000503000000020004" pitchFamily="2" charset="0"/>
              </a:rPr>
              <a:t>Sử dụng LM2596 để hạ áp từ pin 18650 xuống 5V ổn định</a:t>
            </a: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/>
          <p:nvPr/>
        </p:nvSpPr>
        <p:spPr>
          <a:xfrm>
            <a:off x="495089" y="180863"/>
            <a:ext cx="4789783" cy="10972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4320"/>
              </a:lnSpc>
              <a:spcBef>
                <a:spcPts val="1807"/>
              </a:spcBef>
            </a:pP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Mã nguồn Hiệu chuẩn</a:t>
            </a:r>
            <a:b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</a:b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PIR (Arduino UNO)</a:t>
            </a:r>
            <a:endParaRPr lang="en-US" sz="4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BDE08F-57A3-5CCA-1C50-FDF84D5BF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427" y="552048"/>
            <a:ext cx="5982535" cy="5753903"/>
          </a:xfrm>
          <a:prstGeom prst="rect">
            <a:avLst/>
          </a:prstGeom>
        </p:spPr>
      </p:pic>
      <p:sp>
        <p:nvSpPr>
          <p:cNvPr id="16" name="Rectangle 4">
            <a:extLst>
              <a:ext uri="{FF2B5EF4-FFF2-40B4-BE49-F238E27FC236}">
                <a16:creationId xmlns:a16="http://schemas.microsoft.com/office/drawing/2014/main" id="{0E51BD80-43C9-DAA6-CD68-F05D85FF8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247" y="1265541"/>
            <a:ext cx="539862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vi-VN" altLang="vi-VN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vi-VN" sz="2000" b="0" i="0" u="none" strike="noStrike" cap="none" normalizeH="0" baseline="0" dirty="0">
                <a:ln>
                  <a:noFill/>
                </a:ln>
                <a:effectLst/>
                <a:latin typeface="Inter" panose="02000503000000020004" pitchFamily="2" charset="0"/>
                <a:ea typeface="Inter" panose="02000503000000020004" pitchFamily="2" charset="0"/>
              </a:rPr>
              <a:t>Chân pir = 2 nhận tín hiệu HIGH khi PIR phát hiện chuyển động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vi-VN" sz="2000" b="0" i="0" u="none" strike="noStrike" cap="none" normalizeH="0" baseline="0" dirty="0">
                <a:ln>
                  <a:noFill/>
                </a:ln>
                <a:effectLst/>
                <a:latin typeface="Inter" panose="02000503000000020004" pitchFamily="2" charset="0"/>
                <a:ea typeface="Inter" panose="02000503000000020004" pitchFamily="2" charset="0"/>
              </a:rPr>
              <a:t>Khi có chuyển động: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ts val="600"/>
              </a:spcAft>
              <a:buFont typeface="Inter" panose="02000503000000020004" pitchFamily="2" charset="0"/>
              <a:buChar char="+"/>
            </a:pPr>
            <a:r>
              <a:rPr kumimoji="0" lang="vi-VN" altLang="vi-VN" sz="2000" b="0" i="0" u="none" strike="noStrike" cap="none" normalizeH="0" baseline="0" dirty="0">
                <a:ln>
                  <a:noFill/>
                </a:ln>
                <a:effectLst/>
                <a:latin typeface="Inter" panose="02000503000000020004" pitchFamily="2" charset="0"/>
                <a:ea typeface="Inter" panose="02000503000000020004" pitchFamily="2" charset="0"/>
              </a:rPr>
              <a:t>Bật LED sáng 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ts val="600"/>
              </a:spcAft>
              <a:buFont typeface="Inter" panose="02000503000000020004" pitchFamily="2" charset="0"/>
              <a:buChar char="+"/>
            </a:pPr>
            <a:r>
              <a:rPr kumimoji="0" lang="vi-VN" altLang="vi-VN" sz="2000" b="0" i="0" u="none" strike="noStrike" cap="none" normalizeH="0" baseline="0" dirty="0">
                <a:ln>
                  <a:noFill/>
                </a:ln>
                <a:effectLst/>
                <a:latin typeface="Inter" panose="02000503000000020004" pitchFamily="2" charset="0"/>
                <a:ea typeface="Inter" panose="02000503000000020004" pitchFamily="2" charset="0"/>
              </a:rPr>
              <a:t>In thông báo “Phát hiện chuyển động!” ra Serial Monitor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vi-VN" sz="2000" b="0" i="0" u="none" strike="noStrike" cap="none" normalizeH="0" baseline="0" dirty="0">
                <a:ln>
                  <a:noFill/>
                </a:ln>
                <a:effectLst/>
                <a:latin typeface="Inter" panose="02000503000000020004" pitchFamily="2" charset="0"/>
                <a:ea typeface="Inter" panose="02000503000000020004" pitchFamily="2" charset="0"/>
              </a:rPr>
              <a:t>Hàm delay(2000) giữ LED sáng 2 giây để dễ quan sát và điều chỉnh biến trở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vi-VN" sz="2000" b="0" i="0" u="none" strike="noStrike" cap="none" normalizeH="0" baseline="0" dirty="0">
                <a:ln>
                  <a:noFill/>
                </a:ln>
                <a:effectLst/>
                <a:latin typeface="Inter" panose="02000503000000020004" pitchFamily="2" charset="0"/>
                <a:ea typeface="Inter" panose="02000503000000020004" pitchFamily="2" charset="0"/>
              </a:rPr>
              <a:t>Chương trình rất đơn giản, tiêu thụ ít tài nguyên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vi-VN" sz="2000" b="0" i="0" u="none" strike="noStrike" cap="none" normalizeH="0" baseline="0" dirty="0">
                <a:ln>
                  <a:noFill/>
                </a:ln>
                <a:effectLst/>
                <a:latin typeface="Inter" panose="02000503000000020004" pitchFamily="2" charset="0"/>
                <a:ea typeface="Inter" panose="02000503000000020004" pitchFamily="2" charset="0"/>
              </a:rPr>
              <a:t>Giúp hiệu chỉnh chính xác trước khi đưa vào hệ t</a:t>
            </a:r>
            <a:r>
              <a:rPr kumimoji="0" lang="en-US" altLang="vi-VN" sz="2000" b="0" i="0" u="none" strike="noStrike" cap="none" normalizeH="0" baseline="0" dirty="0">
                <a:ln>
                  <a:noFill/>
                </a:ln>
                <a:effectLst/>
                <a:latin typeface="Inter" panose="02000503000000020004" pitchFamily="2" charset="0"/>
                <a:ea typeface="Inter" panose="02000503000000020004" pitchFamily="2" charset="0"/>
              </a:rPr>
              <a:t>h</a:t>
            </a:r>
            <a:r>
              <a:rPr kumimoji="0" lang="vi-VN" altLang="vi-VN" sz="2000" b="0" i="0" u="none" strike="noStrike" cap="none" normalizeH="0" baseline="0" dirty="0">
                <a:ln>
                  <a:noFill/>
                </a:ln>
                <a:effectLst/>
                <a:latin typeface="Inter" panose="02000503000000020004" pitchFamily="2" charset="0"/>
                <a:ea typeface="Inter" panose="02000503000000020004" pitchFamily="2" charset="0"/>
              </a:rPr>
              <a:t>ống ESP32-CAM </a:t>
            </a: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1A43F2-D786-F842-AAE9-6221AB07F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181" y="340961"/>
            <a:ext cx="6470593" cy="5827363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CF74F65-2502-6550-CCA5-A468191F3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26" y="1531152"/>
            <a:ext cx="488971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vi-VN" altLang="vi-VN" sz="2000" b="0" i="0" u="none" strike="noStrike" cap="none" normalizeH="0" baseline="0" dirty="0">
              <a:ln>
                <a:noFill/>
              </a:ln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vi-VN" sz="2000" b="0" i="0" u="none" strike="noStrike" cap="none" normalizeH="0" baseline="0" dirty="0">
                <a:ln>
                  <a:noFill/>
                </a:ln>
                <a:effectLst/>
                <a:latin typeface="Inter" panose="02000503000000020004" pitchFamily="2" charset="0"/>
                <a:ea typeface="Inter" panose="02000503000000020004" pitchFamily="2" charset="0"/>
              </a:rPr>
              <a:t>Hệ thống khởi động → kết nối Wi-Fi → sẵn sàng camera &amp; web server </a:t>
            </a:r>
            <a:endParaRPr kumimoji="0" lang="en-US" altLang="vi-VN" sz="2000" b="0" i="0" u="none" strike="noStrike" cap="none" normalizeH="0" baseline="0" dirty="0">
              <a:ln>
                <a:noFill/>
              </a:ln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vi-VN" altLang="vi-VN" sz="2000" b="0" i="0" u="none" strike="noStrike" cap="none" normalizeH="0" baseline="0" dirty="0">
              <a:ln>
                <a:noFill/>
              </a:ln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vi-VN" sz="2000" b="0" i="0" u="none" strike="noStrike" cap="none" normalizeH="0" baseline="0" dirty="0">
                <a:ln>
                  <a:noFill/>
                </a:ln>
                <a:effectLst/>
                <a:latin typeface="Inter" panose="02000503000000020004" pitchFamily="2" charset="0"/>
                <a:ea typeface="Inter" panose="02000503000000020004" pitchFamily="2" charset="0"/>
              </a:rPr>
              <a:t>Khi PIR phát hiện chuyển động → chụp ảnh → gửi Telegram </a:t>
            </a:r>
            <a:endParaRPr kumimoji="0" lang="en-US" altLang="vi-VN" sz="2000" b="0" i="0" u="none" strike="noStrike" cap="none" normalizeH="0" baseline="0" dirty="0">
              <a:ln>
                <a:noFill/>
              </a:ln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vi-VN" altLang="vi-VN" sz="2000" b="0" i="0" u="none" strike="noStrike" cap="none" normalizeH="0" baseline="0" dirty="0">
              <a:ln>
                <a:noFill/>
              </a:ln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vi-VN" sz="2000" b="0" i="0" u="none" strike="noStrike" cap="none" normalizeH="0" baseline="0" dirty="0">
                <a:ln>
                  <a:noFill/>
                </a:ln>
                <a:effectLst/>
                <a:latin typeface="Inter" panose="02000503000000020004" pitchFamily="2" charset="0"/>
                <a:ea typeface="Inter" panose="02000503000000020004" pitchFamily="2" charset="0"/>
              </a:rPr>
              <a:t>Người dùng có thể xem live stream qua đ</a:t>
            </a:r>
            <a:r>
              <a:rPr lang="en-US" altLang="vi-VN" sz="2000" dirty="0">
                <a:latin typeface="Inter" panose="02000503000000020004" pitchFamily="2" charset="0"/>
                <a:ea typeface="Inter" panose="02000503000000020004" pitchFamily="2" charset="0"/>
              </a:rPr>
              <a:t>ị</a:t>
            </a:r>
            <a:r>
              <a:rPr kumimoji="0" lang="vi-VN" altLang="vi-VN" sz="2000" b="0" i="0" u="none" strike="noStrike" cap="none" normalizeH="0" baseline="0" dirty="0">
                <a:ln>
                  <a:noFill/>
                </a:ln>
                <a:effectLst/>
                <a:latin typeface="Inter" panose="02000503000000020004" pitchFamily="2" charset="0"/>
                <a:ea typeface="Inter" panose="02000503000000020004" pitchFamily="2" charset="0"/>
              </a:rPr>
              <a:t>a chỉ IP </a:t>
            </a:r>
          </a:p>
        </p:txBody>
      </p:sp>
    </p:spTree>
    <p:extLst>
      <p:ext uri="{BB962C8B-B14F-4D97-AF65-F5344CB8AC3E}">
        <p14:creationId xmlns:p14="http://schemas.microsoft.com/office/powerpoint/2010/main" val="1322536862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368617"/>
            <a:ext cx="11334750" cy="54864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4320"/>
              </a:lnSpc>
            </a:pP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4.4. Phân Tích Khó Khăn &amp; Khắc Phục</a:t>
            </a:r>
            <a:endParaRPr lang="en-US" sz="4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19125" y="1656361"/>
            <a:ext cx="5048250" cy="31374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2246"/>
              </a:lnSpc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Nguồn cấp không ổn định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Sụt áp khi camera &amp; Wi-Fi hoạt động. Dùng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LM2596, dây ngắn, đo đạc kỹ.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Báo động giả PIR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Nhiễu nhiệt, luồng khí. Hiệu chuẩn kỹ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(Arduino), chọn vị trí, chống lặp code.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Cấu hình Telegram API/HTTPS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Lỗi gửi ảnh. Kiểm tra từng bước, theo dõi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log serial</a:t>
            </a:r>
            <a:r>
              <a:rPr lang="en-US" sz="15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.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096000" y="1656361"/>
            <a:ext cx="5048250" cy="32721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2246"/>
              </a:lnSpc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Cân bằng chất lượng ảnh &amp; tốc độ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Độ phân giải, nén JPEG. Thử nghiệm, chọn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cấu hình tối ưu.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indent="-241300" algn="l">
              <a:lnSpc>
                <a:spcPts val="2246"/>
              </a:lnSpc>
              <a:spcBef>
                <a:spcPts val="1964"/>
              </a:spcBef>
              <a:buSzPct val="100000"/>
              <a:buChar char="•"/>
            </a:pPr>
            <a:r>
              <a:rPr lang="en-US" sz="2000" kern="0" spc="-117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Hoàn thiện cơ khí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41300" lvl="1" indent="0" algn="l">
              <a:lnSpc>
                <a:spcPts val="2100"/>
              </a:lnSpc>
              <a:spcBef>
                <a:spcPts val="444"/>
              </a:spcBef>
              <a:buNone/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Lắp đặt chắc chắn, góc quay tối ưu. Dùng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spacer, vít, băng keo hai mặt.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1333D-D7D0-AB23-D251-276AFDB9C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D4E9444-8438-458A-6F0A-8BBFB88E706D}"/>
              </a:ext>
            </a:extLst>
          </p:cNvPr>
          <p:cNvSpPr/>
          <p:nvPr/>
        </p:nvSpPr>
        <p:spPr>
          <a:xfrm>
            <a:off x="1924050" y="3043237"/>
            <a:ext cx="8343900" cy="7715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6075"/>
              </a:lnSpc>
              <a:spcBef>
                <a:spcPts val="855"/>
              </a:spcBef>
            </a:pPr>
            <a:r>
              <a:rPr lang="en-US" sz="6000" kern="0" spc="-338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III. </a:t>
            </a:r>
            <a:r>
              <a:rPr lang="en-US" sz="6000" kern="0" spc="-338" dirty="0" err="1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Kết</a:t>
            </a:r>
            <a:r>
              <a:rPr lang="en-US" sz="6000" kern="0" spc="-338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 </a:t>
            </a:r>
            <a:r>
              <a:rPr lang="en-US" sz="6000" kern="0" spc="-338" dirty="0" err="1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luận</a:t>
            </a:r>
            <a:endParaRPr lang="en-US" sz="6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43209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368617"/>
            <a:ext cx="11334750" cy="54864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20"/>
              </a:lnSpc>
            </a:pP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988219" y="2367915"/>
            <a:ext cx="1428750" cy="1428750"/>
          </a:xfrm>
          <a:prstGeom prst="ellipse">
            <a:avLst/>
          </a:prstGeom>
          <a:noFill/>
          <a:ln w="50800">
            <a:solidFill>
              <a:srgbClr val="009FA2"/>
            </a:solidFill>
            <a:prstDash val="solid"/>
            <a:miter lim="800000"/>
          </a:ln>
        </p:spPr>
        <p:txBody>
          <a:bodyPr/>
          <a:lstStyle/>
          <a:p>
            <a:endParaRPr lang="vi-VN" sz="20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126" y="2856257"/>
            <a:ext cx="657225" cy="4286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6281" y="3887986"/>
            <a:ext cx="1952625" cy="2632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74"/>
              </a:lnSpc>
            </a:pPr>
            <a:r>
              <a:rPr lang="en-US" sz="2000" kern="0" spc="-108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Đã xây dựng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685377" y="4231719"/>
            <a:ext cx="2166342" cy="10668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00"/>
              </a:lnSpc>
              <a:spcBef>
                <a:spcPts val="622"/>
              </a:spcBef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Hệ thống giám sát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ESP32-CAM (PIR,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Telegram, Live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Stream).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3917156" y="2367915"/>
            <a:ext cx="1428750" cy="1428750"/>
          </a:xfrm>
          <a:prstGeom prst="ellipse">
            <a:avLst/>
          </a:prstGeom>
          <a:noFill/>
          <a:ln w="50800">
            <a:solidFill>
              <a:srgbClr val="2D8EB4"/>
            </a:solidFill>
            <a:prstDash val="solid"/>
            <a:miter lim="800000"/>
          </a:ln>
        </p:spPr>
        <p:txBody>
          <a:bodyPr/>
          <a:lstStyle/>
          <a:p>
            <a:endParaRPr lang="vi-VN" sz="20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194" y="2780910"/>
            <a:ext cx="609600" cy="609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83756" y="3887986"/>
            <a:ext cx="2495550" cy="2632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74"/>
              </a:lnSpc>
            </a:pPr>
            <a:r>
              <a:rPr lang="en-US" sz="2000" kern="0" spc="-108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Đáp ứng mục tiêu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3315164" y="4231719"/>
            <a:ext cx="2705927" cy="8001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00"/>
              </a:lnSpc>
              <a:spcBef>
                <a:spcPts val="622"/>
              </a:spcBef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Giá rẻ, gọn nhẹ, dễ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nhân rộng, bám sát nội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dung học phần.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6846094" y="2367915"/>
            <a:ext cx="1428750" cy="1428750"/>
          </a:xfrm>
          <a:prstGeom prst="ellipse">
            <a:avLst/>
          </a:prstGeom>
          <a:noFill/>
          <a:ln w="50800">
            <a:solidFill>
              <a:srgbClr val="5A7DC5"/>
            </a:solidFill>
            <a:prstDash val="solid"/>
            <a:miter lim="800000"/>
          </a:ln>
        </p:spPr>
        <p:txBody>
          <a:bodyPr/>
          <a:lstStyle/>
          <a:p>
            <a:endParaRPr lang="vi-VN" sz="20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070" y="2739021"/>
            <a:ext cx="495300" cy="6762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17469" y="3887986"/>
            <a:ext cx="2286000" cy="2632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74"/>
              </a:lnSpc>
            </a:pPr>
            <a:r>
              <a:rPr lang="en-US" sz="2000" kern="0" spc="-108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Ưu điểm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6360873" y="4231719"/>
            <a:ext cx="2478296" cy="13335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00"/>
              </a:lnSpc>
              <a:spcBef>
                <a:spcPts val="622"/>
              </a:spcBef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Phần cứng phổ biến,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Telegram trực quan,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kích hoạt theo sự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kiện, nguồn pin linh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hoạt.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9775031" y="2367915"/>
            <a:ext cx="1428750" cy="1428750"/>
          </a:xfrm>
          <a:prstGeom prst="ellipse">
            <a:avLst/>
          </a:prstGeom>
          <a:noFill/>
          <a:ln w="50800">
            <a:solidFill>
              <a:srgbClr val="876CD7"/>
            </a:solidFill>
            <a:prstDash val="solid"/>
            <a:miter lim="800000"/>
          </a:ln>
        </p:spPr>
        <p:txBody>
          <a:bodyPr/>
          <a:lstStyle/>
          <a:p>
            <a:endParaRPr lang="vi-VN" sz="20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9401" y="2755798"/>
            <a:ext cx="733425" cy="6572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313069" y="3887986"/>
            <a:ext cx="2352675" cy="2632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74"/>
              </a:lnSpc>
            </a:pPr>
            <a:r>
              <a:rPr lang="en-US" sz="2000" kern="0" spc="-108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Hạn chế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9250257" y="4231719"/>
            <a:ext cx="2683437" cy="10668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00"/>
              </a:lnSpc>
              <a:spcBef>
                <a:spcPts val="622"/>
              </a:spcBef>
            </a:pP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Phụ thuộc Wi-Fi, phạm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vi PIR, độ phân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giải/tốc độ stream,</a:t>
            </a:r>
            <a:b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2000" kern="0" spc="-30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chưa lưu trữ cloud.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250" y="368617"/>
            <a:ext cx="11334750" cy="54864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4320"/>
              </a:lnSpc>
            </a:pPr>
            <a:r>
              <a:rPr lang="en-US" sz="4000" kern="0" spc="-225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Hướng phát triển Tương lai</a:t>
            </a:r>
            <a:endParaRPr lang="en-US" sz="4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76250" y="1938338"/>
            <a:ext cx="3619500" cy="1995488"/>
          </a:xfrm>
          <a:prstGeom prst="rect">
            <a:avLst/>
          </a:prstGeom>
          <a:noFill/>
          <a:ln w="50800">
            <a:solidFill>
              <a:srgbClr val="009FA2"/>
            </a:solidFill>
            <a:prstDash val="solid"/>
            <a:miter lim="800000"/>
          </a:ln>
        </p:spPr>
        <p:txBody>
          <a:bodyPr/>
          <a:lstStyle/>
          <a:p>
            <a:endParaRPr lang="vi-VN" sz="15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2000" y="2438519"/>
            <a:ext cx="3238500" cy="24241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09"/>
              </a:lnSpc>
            </a:pPr>
            <a:r>
              <a:rPr lang="en-US" sz="1500" kern="0" spc="-99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Lưu trữ ảnh/video lên Cloud</a:t>
            </a:r>
            <a:endParaRPr lang="en-US" sz="15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62000" y="2745938"/>
            <a:ext cx="3238500" cy="4533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85"/>
              </a:lnSpc>
              <a:spcBef>
                <a:spcPts val="503"/>
              </a:spcBef>
            </a:pPr>
            <a:r>
              <a:rPr lang="en-US" sz="1500" kern="0" spc="-26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Sử dụng các dịch vụ như Google</a:t>
            </a:r>
            <a:br>
              <a:rPr lang="en-US" sz="1500" kern="0" spc="-26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1500" kern="0" spc="-26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Drive, AWS để lưu trữ dữ liệu.</a:t>
            </a:r>
            <a:endParaRPr lang="en-US" sz="15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976438" y="15811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6D6F"/>
            </a:solidFill>
            <a:prstDash val="solid"/>
            <a:miter lim="800000"/>
          </a:ln>
        </p:spPr>
        <p:txBody>
          <a:bodyPr/>
          <a:lstStyle/>
          <a:p>
            <a:endParaRPr lang="vi-VN" sz="15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753" y="1796020"/>
            <a:ext cx="314325" cy="28575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286250" y="1938338"/>
            <a:ext cx="3619500" cy="1995488"/>
          </a:xfrm>
          <a:prstGeom prst="rect">
            <a:avLst/>
          </a:prstGeom>
          <a:noFill/>
          <a:ln w="50800">
            <a:solidFill>
              <a:srgbClr val="1B95AD"/>
            </a:solidFill>
            <a:prstDash val="solid"/>
            <a:miter lim="800000"/>
          </a:ln>
        </p:spPr>
        <p:txBody>
          <a:bodyPr/>
          <a:lstStyle/>
          <a:p>
            <a:endParaRPr lang="vi-VN" sz="15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572000" y="2438519"/>
            <a:ext cx="3372095" cy="24241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09"/>
              </a:lnSpc>
            </a:pPr>
            <a:r>
              <a:rPr lang="en-US" sz="1500" kern="0" spc="-99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Điều khiển từ xa qua lệnh Telegram</a:t>
            </a:r>
            <a:endParaRPr lang="en-US" sz="15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572000" y="2745938"/>
            <a:ext cx="3346829" cy="68008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85"/>
              </a:lnSpc>
              <a:spcBef>
                <a:spcPts val="503"/>
              </a:spcBef>
            </a:pPr>
            <a:r>
              <a:rPr lang="en-US" sz="1500" kern="0" spc="-26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Cho phép bật flash, chụp ảnh theo</a:t>
            </a:r>
            <a:br>
              <a:rPr lang="en-US" sz="1500" kern="0" spc="-26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1500" kern="0" spc="-26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yêu cầu thông qua tin nhắn</a:t>
            </a:r>
            <a:br>
              <a:rPr lang="en-US" sz="1500" kern="0" spc="-26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1500" kern="0" spc="-26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Telegram.</a:t>
            </a:r>
            <a:endParaRPr lang="en-US" sz="15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786438" y="15811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46F81"/>
            </a:solidFill>
            <a:prstDash val="solid"/>
            <a:miter lim="800000"/>
          </a:ln>
        </p:spPr>
        <p:txBody>
          <a:bodyPr/>
          <a:lstStyle/>
          <a:p>
            <a:endParaRPr lang="vi-VN" sz="15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984" y="1783463"/>
            <a:ext cx="352425" cy="31432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096250" y="1938338"/>
            <a:ext cx="3619500" cy="1995488"/>
          </a:xfrm>
          <a:prstGeom prst="rect">
            <a:avLst/>
          </a:prstGeom>
          <a:noFill/>
          <a:ln w="50800">
            <a:solidFill>
              <a:srgbClr val="368BB7"/>
            </a:solidFill>
            <a:prstDash val="solid"/>
            <a:miter lim="800000"/>
          </a:ln>
        </p:spPr>
        <p:txBody>
          <a:bodyPr/>
          <a:lstStyle/>
          <a:p>
            <a:endParaRPr lang="vi-VN" sz="15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8382000" y="2438519"/>
            <a:ext cx="3238500" cy="24241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09"/>
              </a:lnSpc>
            </a:pPr>
            <a:r>
              <a:rPr lang="en-US" sz="1500" kern="0" spc="-99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Tích hợp cảm biến khác</a:t>
            </a:r>
            <a:endParaRPr lang="en-US" sz="15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8382000" y="2745938"/>
            <a:ext cx="3369596" cy="68008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85"/>
              </a:lnSpc>
              <a:spcBef>
                <a:spcPts val="503"/>
              </a:spcBef>
            </a:pPr>
            <a:r>
              <a:rPr lang="en-US" sz="1500" kern="0" spc="-26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Kết nối thêm các cảm biến như cửa</a:t>
            </a:r>
            <a:br>
              <a:rPr lang="en-US" sz="1500" kern="0" spc="-26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1500" kern="0" spc="-26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từ, báo cháy để tăng cường chức</a:t>
            </a:r>
            <a:br>
              <a:rPr lang="en-US" sz="1500" kern="0" spc="-26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1500" kern="0" spc="-26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năng.</a:t>
            </a:r>
            <a:endParaRPr lang="en-US" sz="15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9596438" y="15811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A6D90"/>
            </a:solidFill>
            <a:prstDash val="solid"/>
            <a:miter lim="800000"/>
          </a:ln>
        </p:spPr>
        <p:txBody>
          <a:bodyPr/>
          <a:lstStyle/>
          <a:p>
            <a:endParaRPr lang="vi-VN" sz="15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934" y="1791835"/>
            <a:ext cx="304800" cy="295275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76250" y="4386263"/>
            <a:ext cx="3619500" cy="1995488"/>
          </a:xfrm>
          <a:prstGeom prst="rect">
            <a:avLst/>
          </a:prstGeom>
          <a:noFill/>
          <a:ln w="50800">
            <a:solidFill>
              <a:srgbClr val="5180C2"/>
            </a:solidFill>
            <a:prstDash val="solid"/>
            <a:miter lim="800000"/>
          </a:ln>
        </p:spPr>
        <p:txBody>
          <a:bodyPr/>
          <a:lstStyle/>
          <a:p>
            <a:endParaRPr lang="vi-VN" sz="15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762000" y="4886444"/>
            <a:ext cx="3299385" cy="48482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09"/>
              </a:lnSpc>
            </a:pPr>
            <a:r>
              <a:rPr lang="en-US" sz="1500" kern="0" spc="-99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Sử dụng pin kèm mạch sạc và bảo</a:t>
            </a:r>
            <a:br>
              <a:rPr lang="en-US" sz="1500" kern="0" spc="-99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</a:br>
            <a:r>
              <a:rPr lang="en-US" sz="1500" kern="0" spc="-99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vệ</a:t>
            </a:r>
            <a:endParaRPr lang="en-US" sz="15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762000" y="5436275"/>
            <a:ext cx="3238500" cy="4533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85"/>
              </a:lnSpc>
              <a:spcBef>
                <a:spcPts val="503"/>
              </a:spcBef>
            </a:pPr>
            <a:r>
              <a:rPr lang="en-US" sz="1500" kern="0" spc="-26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Tối ưu hóa nguồn điện với pin,</a:t>
            </a:r>
            <a:br>
              <a:rPr lang="en-US" sz="1500" kern="0" spc="-26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1500" kern="0" spc="-26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mạch sạc và bảo vệ.</a:t>
            </a:r>
            <a:endParaRPr lang="en-US" sz="15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1976438" y="402907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A67A6"/>
            </a:solidFill>
            <a:prstDash val="solid"/>
            <a:miter lim="800000"/>
          </a:ln>
        </p:spPr>
        <p:txBody>
          <a:bodyPr/>
          <a:lstStyle/>
          <a:p>
            <a:endParaRPr lang="vi-VN" sz="15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2506" y="4227202"/>
            <a:ext cx="142875" cy="32385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4286250" y="4386263"/>
            <a:ext cx="3619500" cy="1995488"/>
          </a:xfrm>
          <a:prstGeom prst="rect">
            <a:avLst/>
          </a:prstGeom>
          <a:noFill/>
          <a:ln w="50800">
            <a:solidFill>
              <a:srgbClr val="6C76CC"/>
            </a:solidFill>
            <a:prstDash val="solid"/>
            <a:miter lim="800000"/>
          </a:ln>
        </p:spPr>
        <p:txBody>
          <a:bodyPr/>
          <a:lstStyle/>
          <a:p>
            <a:endParaRPr lang="vi-VN" sz="15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5" name="Text 18"/>
          <p:cNvSpPr/>
          <p:nvPr/>
        </p:nvSpPr>
        <p:spPr>
          <a:xfrm>
            <a:off x="4572000" y="4886444"/>
            <a:ext cx="3238500" cy="48482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09"/>
              </a:lnSpc>
            </a:pPr>
            <a:r>
              <a:rPr lang="en-US" sz="1500" kern="0" spc="-99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Mở rộng nhận dạng đối</a:t>
            </a:r>
            <a:br>
              <a:rPr lang="en-US" sz="1500" kern="0" spc="-99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</a:br>
            <a:r>
              <a:rPr lang="en-US" sz="1500" kern="0" spc="-99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tượng/người</a:t>
            </a:r>
            <a:endParaRPr lang="en-US" sz="15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6" name="Text 19"/>
          <p:cNvSpPr/>
          <p:nvPr/>
        </p:nvSpPr>
        <p:spPr>
          <a:xfrm>
            <a:off x="4572000" y="5436275"/>
            <a:ext cx="3238500" cy="4533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85"/>
              </a:lnSpc>
              <a:spcBef>
                <a:spcPts val="503"/>
              </a:spcBef>
            </a:pPr>
            <a:r>
              <a:rPr lang="en-US" sz="1500" kern="0" spc="-26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Nâng cao khả năng nhận diện các</a:t>
            </a:r>
            <a:br>
              <a:rPr lang="en-US" sz="1500" kern="0" spc="-26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1500" kern="0" spc="-26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đối tượng và con người.</a:t>
            </a:r>
            <a:endParaRPr lang="en-US" sz="15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7" name="Shape 20"/>
          <p:cNvSpPr/>
          <p:nvPr/>
        </p:nvSpPr>
        <p:spPr>
          <a:xfrm>
            <a:off x="5786438" y="402907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653BF"/>
            </a:solidFill>
            <a:prstDash val="solid"/>
            <a:miter lim="800000"/>
          </a:ln>
        </p:spPr>
        <p:txBody>
          <a:bodyPr/>
          <a:lstStyle/>
          <a:p>
            <a:endParaRPr lang="vi-VN" sz="15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2934" y="4235572"/>
            <a:ext cx="304800" cy="30480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8096250" y="4386263"/>
            <a:ext cx="3619500" cy="1995488"/>
          </a:xfrm>
          <a:prstGeom prst="rect">
            <a:avLst/>
          </a:prstGeom>
          <a:noFill/>
          <a:ln w="50800">
            <a:solidFill>
              <a:srgbClr val="876CD7"/>
            </a:solidFill>
            <a:prstDash val="solid"/>
            <a:miter lim="800000"/>
          </a:ln>
        </p:spPr>
        <p:txBody>
          <a:bodyPr/>
          <a:lstStyle/>
          <a:p>
            <a:endParaRPr lang="vi-VN" sz="15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8382000" y="4886444"/>
            <a:ext cx="3238500" cy="24241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09"/>
              </a:lnSpc>
            </a:pPr>
            <a:r>
              <a:rPr lang="en-US" sz="1500" kern="0" spc="-99" dirty="0">
                <a:latin typeface="Inter" panose="02000503000000020004" pitchFamily="2" charset="0"/>
                <a:ea typeface="Inter" panose="02000503000000020004" pitchFamily="2" charset="0"/>
                <a:cs typeface="Satoshi Black" pitchFamily="34" charset="-120"/>
              </a:rPr>
              <a:t>Cải thiện giao diện live stream</a:t>
            </a:r>
            <a:endParaRPr lang="en-US" sz="15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8382000" y="5193863"/>
            <a:ext cx="3447577" cy="68008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85"/>
              </a:lnSpc>
              <a:spcBef>
                <a:spcPts val="503"/>
              </a:spcBef>
            </a:pPr>
            <a:r>
              <a:rPr lang="en-US" sz="1500" kern="0" spc="-26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Tối ưu hóa và nâng cao trải nghiệm</a:t>
            </a:r>
            <a:br>
              <a:rPr lang="en-US" sz="1500" kern="0" spc="-26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1500" kern="0" spc="-26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người dùng cho tính năng phát</a:t>
            </a:r>
            <a:br>
              <a:rPr lang="en-US" sz="1500" kern="0" spc="-26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</a:br>
            <a:r>
              <a:rPr lang="en-US" sz="1500" kern="0" spc="-26" dirty="0">
                <a:latin typeface="Inter" panose="02000503000000020004" pitchFamily="2" charset="0"/>
                <a:ea typeface="Inter" panose="02000503000000020004" pitchFamily="2" charset="0"/>
                <a:cs typeface="DM Mono Regular" pitchFamily="34" charset="-120"/>
              </a:rPr>
              <a:t>trực tiếp.</a:t>
            </a:r>
            <a:endParaRPr lang="en-US" sz="15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9596438" y="402907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644CC"/>
            </a:solidFill>
            <a:prstDash val="solid"/>
            <a:miter lim="800000"/>
          </a:ln>
        </p:spPr>
        <p:txBody>
          <a:bodyPr/>
          <a:lstStyle/>
          <a:p>
            <a:endParaRPr lang="vi-VN" sz="15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98753" y="4193715"/>
            <a:ext cx="304800" cy="4000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089148" y="1264323"/>
            <a:ext cx="6013703" cy="4149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cap="all" spc="-338" dirty="0" err="1">
                <a:latin typeface="+mj-lt"/>
                <a:ea typeface="+mj-ea"/>
                <a:cs typeface="+mj-cs"/>
              </a:rPr>
              <a:t>Cảm</a:t>
            </a:r>
            <a:r>
              <a:rPr lang="en-US" sz="6000" cap="all" spc="-338" dirty="0">
                <a:latin typeface="+mj-lt"/>
                <a:ea typeface="+mj-ea"/>
                <a:cs typeface="+mj-cs"/>
              </a:rPr>
              <a:t> </a:t>
            </a:r>
            <a:r>
              <a:rPr lang="en-US" sz="6000" cap="all" spc="-338" dirty="0" err="1">
                <a:latin typeface="+mj-lt"/>
                <a:ea typeface="+mj-ea"/>
                <a:cs typeface="+mj-cs"/>
              </a:rPr>
              <a:t>ơn</a:t>
            </a:r>
            <a:r>
              <a:rPr lang="en-US" sz="6000" cap="all" spc="-338" dirty="0">
                <a:latin typeface="+mj-lt"/>
                <a:ea typeface="+mj-ea"/>
                <a:cs typeface="+mj-cs"/>
              </a:rPr>
              <a:t> </a:t>
            </a:r>
            <a:r>
              <a:rPr lang="en-US" sz="6000" cap="all" spc="-338" dirty="0" err="1">
                <a:latin typeface="+mj-lt"/>
                <a:ea typeface="+mj-ea"/>
                <a:cs typeface="+mj-cs"/>
              </a:rPr>
              <a:t>thầy</a:t>
            </a:r>
            <a:r>
              <a:rPr lang="en-US" sz="6000" cap="all" spc="-338" dirty="0">
                <a:latin typeface="+mj-lt"/>
                <a:ea typeface="+mj-ea"/>
                <a:cs typeface="+mj-cs"/>
              </a:rPr>
              <a:t> </a:t>
            </a:r>
            <a:r>
              <a:rPr lang="en-US" sz="6000" cap="all" spc="-338" dirty="0" err="1">
                <a:latin typeface="+mj-lt"/>
                <a:ea typeface="+mj-ea"/>
                <a:cs typeface="+mj-cs"/>
              </a:rPr>
              <a:t>đã</a:t>
            </a:r>
            <a:r>
              <a:rPr lang="en-US" sz="6000" cap="all" spc="-338" dirty="0">
                <a:latin typeface="+mj-lt"/>
                <a:ea typeface="+mj-ea"/>
                <a:cs typeface="+mj-cs"/>
              </a:rPr>
              <a:t> </a:t>
            </a:r>
            <a:r>
              <a:rPr lang="en-US" sz="6000" cap="all" spc="-338" dirty="0" err="1">
                <a:latin typeface="+mj-lt"/>
                <a:ea typeface="+mj-ea"/>
                <a:cs typeface="+mj-cs"/>
              </a:rPr>
              <a:t>lắng</a:t>
            </a:r>
            <a:r>
              <a:rPr lang="en-US" sz="6000" cap="all" spc="-338" dirty="0">
                <a:latin typeface="+mj-lt"/>
                <a:ea typeface="+mj-ea"/>
                <a:cs typeface="+mj-cs"/>
              </a:rPr>
              <a:t> </a:t>
            </a:r>
            <a:r>
              <a:rPr lang="en-US" sz="6000" cap="all" spc="-338" dirty="0" err="1">
                <a:latin typeface="+mj-lt"/>
                <a:ea typeface="+mj-ea"/>
                <a:cs typeface="+mj-cs"/>
              </a:rPr>
              <a:t>nghe</a:t>
            </a:r>
            <a:endParaRPr lang="en-US" sz="6000" cap="all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190</TotalTime>
  <Words>2212</Words>
  <Application>Microsoft Office PowerPoint</Application>
  <PresentationFormat>Widescreen</PresentationFormat>
  <Paragraphs>286</Paragraphs>
  <Slides>30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Inter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Giám sát Thông minh Giám sát Video Thời gian thực và Cảnh báo</dc:title>
  <dc:subject>Hệ thống Giám sát Thông minh Giám sát Video Thời gian thực và Cảnh báo</dc:subject>
  <dc:creator>Nguyên Khang</dc:creator>
  <cp:lastModifiedBy>vutronghung112020@outlook.com</cp:lastModifiedBy>
  <cp:revision>26</cp:revision>
  <dcterms:created xsi:type="dcterms:W3CDTF">2026-03-25T18:09:16Z</dcterms:created>
  <dcterms:modified xsi:type="dcterms:W3CDTF">2026-03-31T02:08:10Z</dcterms:modified>
</cp:coreProperties>
</file>