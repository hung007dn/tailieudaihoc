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42"/>
  </p:notesMasterIdLst>
  <p:sldIdLst>
    <p:sldId id="256" r:id="rId2"/>
    <p:sldId id="390" r:id="rId3"/>
    <p:sldId id="406" r:id="rId4"/>
    <p:sldId id="410" r:id="rId5"/>
    <p:sldId id="407" r:id="rId6"/>
    <p:sldId id="409" r:id="rId7"/>
    <p:sldId id="411" r:id="rId8"/>
    <p:sldId id="431" r:id="rId9"/>
    <p:sldId id="393" r:id="rId10"/>
    <p:sldId id="394" r:id="rId11"/>
    <p:sldId id="395" r:id="rId12"/>
    <p:sldId id="396" r:id="rId13"/>
    <p:sldId id="412" r:id="rId14"/>
    <p:sldId id="415" r:id="rId15"/>
    <p:sldId id="417" r:id="rId16"/>
    <p:sldId id="418" r:id="rId17"/>
    <p:sldId id="419" r:id="rId18"/>
    <p:sldId id="420" r:id="rId19"/>
    <p:sldId id="403" r:id="rId20"/>
    <p:sldId id="416" r:id="rId21"/>
    <p:sldId id="398" r:id="rId22"/>
    <p:sldId id="399" r:id="rId23"/>
    <p:sldId id="432" r:id="rId24"/>
    <p:sldId id="400" r:id="rId25"/>
    <p:sldId id="434" r:id="rId26"/>
    <p:sldId id="401" r:id="rId27"/>
    <p:sldId id="421" r:id="rId28"/>
    <p:sldId id="425" r:id="rId29"/>
    <p:sldId id="423" r:id="rId30"/>
    <p:sldId id="424" r:id="rId31"/>
    <p:sldId id="426" r:id="rId32"/>
    <p:sldId id="429" r:id="rId33"/>
    <p:sldId id="404" r:id="rId34"/>
    <p:sldId id="405" r:id="rId35"/>
    <p:sldId id="428" r:id="rId36"/>
    <p:sldId id="435" r:id="rId37"/>
    <p:sldId id="436" r:id="rId38"/>
    <p:sldId id="437" r:id="rId39"/>
    <p:sldId id="433" r:id="rId40"/>
    <p:sldId id="274" r:id="rId41"/>
  </p:sldIdLst>
  <p:sldSz cx="12192000" cy="6858000"/>
  <p:notesSz cx="6858000" cy="9144000"/>
  <p:embeddedFontLst>
    <p:embeddedFont>
      <p:font typeface="Cambria" panose="02040503050406030204" pitchFamily="18" charset="0"/>
      <p:regular r:id="rId43"/>
      <p:bold r:id="rId44"/>
      <p:italic r:id="rId45"/>
      <p:boldItalic r:id="rId46"/>
    </p:embeddedFont>
    <p:embeddedFont>
      <p:font typeface="Cambria Math" panose="02040503050406030204" pitchFamily="18" charset="0"/>
      <p:regular r:id="rId47"/>
    </p:embeddedFont>
    <p:embeddedFont>
      <p:font typeface="Helvetica" panose="020B0604020202020204" pitchFamily="34" charset="0"/>
      <p:regular r:id="rId48"/>
      <p:bold r:id="rId49"/>
      <p:italic r:id="rId50"/>
      <p:boldItalic r:id="rId51"/>
    </p:embeddedFont>
  </p:embeddedFontLst>
  <p:defaultText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9" roundtripDataSignature="AMtx7mh85/ABd3AIUOjS0qUmusQleDyw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1BB"/>
    <a:srgbClr val="0072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4958F2-2C8F-48F7-AD29-E23EF3F93446}">
  <a:tblStyle styleId="{244958F2-2C8F-48F7-AD29-E23EF3F9344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88"/>
    <p:restoredTop sz="61741" autoAdjust="0"/>
  </p:normalViewPr>
  <p:slideViewPr>
    <p:cSldViewPr snapToGrid="0">
      <p:cViewPr varScale="1">
        <p:scale>
          <a:sx n="68" d="100"/>
          <a:sy n="68" d="100"/>
        </p:scale>
        <p:origin x="138" y="66"/>
      </p:cViewPr>
      <p:guideLst>
        <p:guide orient="horz" pos="2160"/>
        <p:guide pos="384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102"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99" Type="http://customschemas.google.com/relationships/presentationmetadata" Target="meta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32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800" b="1" i="0" u="none" strike="noStrike" cap="none">
                <a:solidFill>
                  <a:srgbClr val="000000"/>
                </a:solidFill>
                <a:effectLst/>
                <a:latin typeface="Arial"/>
                <a:ea typeface="Arial"/>
                <a:cs typeface="Arial"/>
                <a:sym typeface="Arial"/>
              </a:rPr>
              <a:t>Định nghĩa của Wayne Wolf:</a:t>
            </a:r>
            <a:r>
              <a:rPr lang="en-US" sz="1800" b="0" i="0" u="none" strike="noStrike" cap="none">
                <a:solidFill>
                  <a:srgbClr val="000000"/>
                </a:solidFill>
                <a:effectLst/>
                <a:latin typeface="Arial"/>
                <a:ea typeface="Arial"/>
                <a:cs typeface="Arial"/>
                <a:sym typeface="Arial"/>
              </a:rPr>
              <a:t> Là bất kỳ thiết bị nào bao gồm một máy tính có thể lập trình được nhưng bản thân nó không phải là một máy tính đa năng.</a:t>
            </a:r>
          </a:p>
          <a:p>
            <a:pPr lvl="0"/>
            <a:r>
              <a:rPr lang="en-US" sz="1800" b="1" i="0" u="none" strike="noStrike" cap="none">
                <a:solidFill>
                  <a:srgbClr val="000000"/>
                </a:solidFill>
                <a:effectLst/>
                <a:latin typeface="Arial"/>
                <a:ea typeface="Arial"/>
                <a:cs typeface="Arial"/>
                <a:sym typeface="Arial"/>
              </a:rPr>
              <a:t>Định nghĩa của Jonathan W. Valvano:</a:t>
            </a:r>
            <a:r>
              <a:rPr lang="en-US" sz="1800" b="0" i="0" u="none" strike="noStrike" cap="none">
                <a:solidFill>
                  <a:srgbClr val="000000"/>
                </a:solidFill>
                <a:effectLst/>
                <a:latin typeface="Arial"/>
                <a:ea typeface="Arial"/>
                <a:cs typeface="Arial"/>
                <a:sym typeface="Arial"/>
              </a:rPr>
              <a:t> Một hệ thống máy tính nhúng bao gồm một vi máy tính kết hợp với các thiết bị cơ khí, hóa học và điện tử đi kèm, được lập trình cho một mục đích chuyên dụng cụ thể và được đóng gói thành một hệ thống hoàn chỉnh.</a:t>
            </a:r>
          </a:p>
          <a:p>
            <a:pPr lvl="0"/>
            <a:r>
              <a:rPr lang="en-US" sz="1800" b="1" i="0" u="none" strike="noStrike" cap="none">
                <a:solidFill>
                  <a:srgbClr val="000000"/>
                </a:solidFill>
                <a:effectLst/>
                <a:latin typeface="Arial"/>
                <a:ea typeface="Arial"/>
                <a:cs typeface="Arial"/>
                <a:sym typeface="Arial"/>
              </a:rPr>
              <a:t>Định nghĩa của Raj Kamal:</a:t>
            </a:r>
            <a:r>
              <a:rPr lang="en-US" sz="1800" b="0" i="0" u="none" strike="noStrike" cap="none">
                <a:solidFill>
                  <a:srgbClr val="000000"/>
                </a:solidFill>
                <a:effectLst/>
                <a:latin typeface="Arial"/>
                <a:ea typeface="Arial"/>
                <a:cs typeface="Arial"/>
                <a:sym typeface="Arial"/>
              </a:rPr>
              <a:t> Một hệ thống nhúng là hệ thống có phần cứng máy tính với phần mềm được nhúng bên trong như một trong những thành phần quan trọng nhất của nó.</a:t>
            </a:r>
          </a:p>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a:t>
            </a:fld>
            <a:endParaRPr lang="en-US"/>
          </a:p>
        </p:txBody>
      </p:sp>
    </p:spTree>
    <p:extLst>
      <p:ext uri="{BB962C8B-B14F-4D97-AF65-F5344CB8AC3E}">
        <p14:creationId xmlns:p14="http://schemas.microsoft.com/office/powerpoint/2010/main" val="2411086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effectLst/>
              </a:rPr>
              <a:t>Là hệ thống gồm phần cứng chung và hệ điều hành đa dụng, dùng để chạy nhiều loại ứng dụng khác nhau.</a:t>
            </a:r>
            <a:endParaRPr lang="en-US"/>
          </a:p>
          <a:p>
            <a:pPr lvl="0"/>
            <a:r>
              <a:rPr lang="en-US">
                <a:effectLst/>
              </a:rPr>
              <a:t>Chứa hệ điều hành đa dụng (GPOS).</a:t>
            </a:r>
            <a:endParaRPr lang="en-US"/>
          </a:p>
          <a:p>
            <a:pPr lvl="0"/>
            <a:r>
              <a:rPr lang="en-US">
                <a:effectLst/>
              </a:rPr>
              <a:t>Ứng dụng có thể thay đổi (lập trình) bởi người dùng. Người dùng có thể cài lại hệ điều hành, thêm hoặc xóa ứng dụng.</a:t>
            </a:r>
            <a:endParaRPr lang="en-US"/>
          </a:p>
          <a:p>
            <a:pPr lvl="0"/>
            <a:r>
              <a:rPr lang="en-US">
                <a:effectLst/>
              </a:rPr>
              <a:t>Hiệu năng là yếu tố quyết định khi chọn hệ thống. Luôn theo tiêu chí “nhanh hơn thì tốt hơn”.</a:t>
            </a:r>
            <a:endParaRPr lang="en-US"/>
          </a:p>
          <a:p>
            <a:r>
              <a:rPr lang="en-US" b="1"/>
              <a:t>Hệ thống nhúng (Embedded System)</a:t>
            </a:r>
          </a:p>
          <a:p>
            <a:pPr lvl="0"/>
            <a:r>
              <a:rPr lang="en-US">
                <a:effectLst/>
              </a:rPr>
              <a:t>Là hệ thống gồm phần cứng chuyên dụng và hệ điều hành nhúng, dùng để chạy một tập ứng dụng cụ thể.</a:t>
            </a:r>
            <a:endParaRPr lang="en-US"/>
          </a:p>
          <a:p>
            <a:pPr lvl="0"/>
            <a:r>
              <a:rPr lang="en-US">
                <a:effectLst/>
              </a:rPr>
              <a:t>Có thể có hoặc không có hệ điều hành.</a:t>
            </a:r>
            <a:endParaRPr lang="en-US"/>
          </a:p>
          <a:p>
            <a:pPr lvl="0"/>
            <a:r>
              <a:rPr lang="en-US">
                <a:effectLst/>
              </a:rPr>
              <a:t>Firmware được lập trình sẵn và </a:t>
            </a:r>
            <a:r>
              <a:rPr lang="en-US" b="1">
                <a:effectLst/>
              </a:rPr>
              <a:t>không thể thay đổi</a:t>
            </a:r>
            <a:r>
              <a:rPr lang="en-US">
                <a:effectLst/>
              </a:rPr>
              <a:t> bởi người dùng cuối.</a:t>
            </a:r>
            <a:endParaRPr lang="en-US"/>
          </a:p>
          <a:p>
            <a:pPr lvl="0"/>
            <a:r>
              <a:rPr lang="en-US">
                <a:effectLst/>
              </a:rPr>
              <a:t>Các yêu cầu đặc thù của ứng dụng (hiệu năng, tiêu thụ điện, bộ nhớ…) là yếu tố quyết định khi chọn hệ thống.</a:t>
            </a:r>
            <a:endParaRPr lang="en-US"/>
          </a:p>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a:t>
            </a:fld>
            <a:endParaRPr lang="en-US"/>
          </a:p>
        </p:txBody>
      </p:sp>
    </p:spTree>
    <p:extLst>
      <p:ext uri="{BB962C8B-B14F-4D97-AF65-F5344CB8AC3E}">
        <p14:creationId xmlns:p14="http://schemas.microsoft.com/office/powerpoint/2010/main" val="2985032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effectLst/>
              </a:rPr>
              <a:t>Ít hoặc hầu như không được tối ưu để giảm mức tiêu thụ điện, chỉ có một số tùy chọn quản lý năng lượng ở nhiều mức khác nhau.</a:t>
            </a:r>
            <a:endParaRPr lang="en-US"/>
          </a:p>
          <a:p>
            <a:pPr lvl="0"/>
            <a:r>
              <a:rPr lang="en-US">
                <a:effectLst/>
              </a:rPr>
              <a:t>Yêu cầu phản hồi </a:t>
            </a:r>
            <a:r>
              <a:rPr lang="en-US" b="1">
                <a:effectLst/>
              </a:rPr>
              <a:t>không mang tính thời gian nghiêm ngặt</a:t>
            </a:r>
            <a:r>
              <a:rPr lang="en-US">
                <a:effectLst/>
              </a:rPr>
              <a:t>.</a:t>
            </a:r>
            <a:endParaRPr lang="en-US"/>
          </a:p>
          <a:p>
            <a:pPr lvl="0"/>
            <a:r>
              <a:rPr lang="en-US" b="1">
                <a:effectLst/>
              </a:rPr>
              <a:t>Không cần</a:t>
            </a:r>
            <a:r>
              <a:rPr lang="en-US">
                <a:effectLst/>
              </a:rPr>
              <a:t> phải có hành vi thực thi mang tính xác định (deterministic).</a:t>
            </a:r>
            <a:endParaRPr lang="en-US"/>
          </a:p>
          <a:p>
            <a:endParaRPr lang="en-US"/>
          </a:p>
          <a:p>
            <a:pPr lvl="0"/>
            <a:r>
              <a:rPr lang="en-US">
                <a:effectLst/>
              </a:rPr>
              <a:t>Được tối ưu hóa cao để tận dụng các chế độ tiết kiệm năng lượng mà phần cứng và hệ điều hành hỗ trợ.</a:t>
            </a:r>
            <a:endParaRPr lang="en-US"/>
          </a:p>
          <a:p>
            <a:pPr lvl="0"/>
            <a:r>
              <a:rPr lang="en-US">
                <a:effectLst/>
              </a:rPr>
              <a:t>Với một số loại hệ thống nhúng như hệ thống nhiệm vụ quan trọng (mission‑critical), yêu cầu thời gian phản hồi là </a:t>
            </a:r>
            <a:r>
              <a:rPr lang="en-US" b="1">
                <a:effectLst/>
              </a:rPr>
              <a:t>cực kỳ quan trọng</a:t>
            </a:r>
            <a:r>
              <a:rPr lang="en-US">
                <a:effectLst/>
              </a:rPr>
              <a:t>.</a:t>
            </a:r>
            <a:endParaRPr lang="en-US"/>
          </a:p>
          <a:p>
            <a:pPr lvl="0"/>
            <a:r>
              <a:rPr lang="en-US">
                <a:effectLst/>
              </a:rPr>
              <a:t>Hành vi thực thi mang tính </a:t>
            </a:r>
            <a:r>
              <a:rPr lang="en-US" b="1">
                <a:effectLst/>
              </a:rPr>
              <a:t>xác định</a:t>
            </a:r>
            <a:r>
              <a:rPr lang="en-US">
                <a:effectLst/>
              </a:rPr>
              <a:t> đối với một số hệ thống nhúng, ví dụ như hệ thống </a:t>
            </a:r>
            <a:r>
              <a:rPr lang="en-US" b="1">
                <a:effectLst/>
              </a:rPr>
              <a:t>Thời gian thực cứng (Hard Real‑Time)</a:t>
            </a:r>
            <a:r>
              <a:rPr lang="en-US">
                <a:effectLst/>
              </a:rPr>
              <a:t>.</a:t>
            </a:r>
            <a:endParaRPr lang="en-US"/>
          </a:p>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6</a:t>
            </a:fld>
            <a:endParaRPr lang="en-US"/>
          </a:p>
        </p:txBody>
      </p:sp>
    </p:spTree>
    <p:extLst>
      <p:ext uri="{BB962C8B-B14F-4D97-AF65-F5344CB8AC3E}">
        <p14:creationId xmlns:p14="http://schemas.microsoft.com/office/powerpoint/2010/main" val="912785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Hệ thống nhúng xuất hiện trong hầu hết thiết bị điện tử hiện đại – từ gia dụng, y tế, ô tô đến công nghiệp và IoT</a:t>
            </a:r>
          </a:p>
          <a:p>
            <a:r>
              <a:rPr lang="en-US"/>
              <a:t>Quân sự: định vị, bộ đàm, tên lửa,….</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7</a:t>
            </a:fld>
            <a:endParaRPr lang="en-US"/>
          </a:p>
        </p:txBody>
      </p:sp>
    </p:spTree>
    <p:extLst>
      <p:ext uri="{BB962C8B-B14F-4D97-AF65-F5344CB8AC3E}">
        <p14:creationId xmlns:p14="http://schemas.microsoft.com/office/powerpoint/2010/main" val="2096843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refrigerator</a:t>
            </a:r>
          </a:p>
          <a:p>
            <a:pPr lvl="1"/>
            <a:r>
              <a:rPr lang="en-US"/>
              <a:t>Maintain a moderately stable, low temperature within it</a:t>
            </a:r>
          </a:p>
          <a:p>
            <a:pPr lvl="1"/>
            <a:r>
              <a:rPr lang="en-US"/>
              <a:t>Sense its internal temperature and compare that with the temperature required</a:t>
            </a:r>
          </a:p>
          <a:p>
            <a:pPr lvl="1"/>
            <a:r>
              <a:rPr lang="en-US"/>
              <a:t>Lowers the temperature by switching on a compressor</a:t>
            </a:r>
          </a:p>
          <a:p>
            <a:pPr lvl="1"/>
            <a:r>
              <a:rPr lang="en-US"/>
              <a:t>The temperature measurement requires one or more sensors</a:t>
            </a:r>
          </a:p>
          <a:p>
            <a:pPr lvl="1"/>
            <a:r>
              <a:rPr lang="en-US"/>
              <a:t>Controlling the compressor requires some form of electronic interface</a:t>
            </a:r>
          </a:p>
          <a:p>
            <a:endParaRPr lang="en-US"/>
          </a:p>
          <a:p>
            <a:r>
              <a:rPr lang="en-US" sz="1800" b="0" i="0" u="none" strike="noStrike" cap="none">
                <a:solidFill>
                  <a:srgbClr val="000000"/>
                </a:solidFill>
                <a:effectLst/>
                <a:latin typeface="Arial"/>
                <a:ea typeface="Arial"/>
                <a:cs typeface="Arial"/>
                <a:sym typeface="Arial"/>
              </a:rPr>
              <a:t>Duy trì nhiệt độ thấp, ổn định vừa phải bên trong nó</a:t>
            </a:r>
            <a:br>
              <a:rPr lang="en-US"/>
            </a:br>
            <a:r>
              <a:rPr lang="en-US" sz="1800" b="0" i="0" u="none" strike="noStrike" cap="none">
                <a:solidFill>
                  <a:srgbClr val="000000"/>
                </a:solidFill>
                <a:effectLst/>
                <a:latin typeface="Arial"/>
                <a:ea typeface="Arial"/>
                <a:cs typeface="Arial"/>
                <a:sym typeface="Arial"/>
              </a:rPr>
              <a:t>Cảm nhận nhiệt độ bên trong của nó và so sánh với nhiệt độ cần thiết</a:t>
            </a:r>
            <a:br>
              <a:rPr lang="en-US"/>
            </a:br>
            <a:r>
              <a:rPr lang="en-US" sz="1800" b="0" i="0" u="none" strike="noStrike" cap="none">
                <a:solidFill>
                  <a:srgbClr val="000000"/>
                </a:solidFill>
                <a:effectLst/>
                <a:latin typeface="Arial"/>
                <a:ea typeface="Arial"/>
                <a:cs typeface="Arial"/>
                <a:sym typeface="Arial"/>
              </a:rPr>
              <a:t>Giảm nhiệt độ bằng cách bật máy nén</a:t>
            </a:r>
            <a:br>
              <a:rPr lang="en-US"/>
            </a:br>
            <a:r>
              <a:rPr lang="en-US" sz="1800" b="0" i="0" u="none" strike="noStrike" cap="none">
                <a:solidFill>
                  <a:srgbClr val="000000"/>
                </a:solidFill>
                <a:effectLst/>
                <a:latin typeface="Arial"/>
                <a:ea typeface="Arial"/>
                <a:cs typeface="Arial"/>
                <a:sym typeface="Arial"/>
              </a:rPr>
              <a:t>Việc đo nhiệt độ yêu cầu một hoặc nhiều cảm biến</a:t>
            </a:r>
            <a:br>
              <a:rPr lang="en-US"/>
            </a:br>
            <a:r>
              <a:rPr lang="en-US" sz="1800" b="0" i="0" u="none" strike="noStrike" cap="none">
                <a:solidFill>
                  <a:srgbClr val="000000"/>
                </a:solidFill>
                <a:effectLst/>
                <a:latin typeface="Arial"/>
                <a:ea typeface="Arial"/>
                <a:cs typeface="Arial"/>
                <a:sym typeface="Arial"/>
              </a:rPr>
              <a:t>Việc điều khiển máy nén đòi hỏi một số dạng giao diện điện tử</a:t>
            </a:r>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9</a:t>
            </a:fld>
            <a:endParaRPr lang="en-US"/>
          </a:p>
        </p:txBody>
      </p:sp>
    </p:spTree>
    <p:extLst>
      <p:ext uri="{BB962C8B-B14F-4D97-AF65-F5344CB8AC3E}">
        <p14:creationId xmlns:p14="http://schemas.microsoft.com/office/powerpoint/2010/main" val="2395876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car door mechanism</a:t>
            </a:r>
          </a:p>
          <a:p>
            <a:pPr lvl="1"/>
            <a:r>
              <a:rPr lang="en-US"/>
              <a:t>Window stall sensor, door sensor</a:t>
            </a:r>
          </a:p>
          <a:p>
            <a:pPr lvl="1"/>
            <a:r>
              <a:rPr lang="en-US"/>
              <a:t>Window motor, lock actuator</a:t>
            </a:r>
          </a:p>
          <a:p>
            <a:pPr lvl="1"/>
            <a:r>
              <a:rPr lang="en-US"/>
              <a:t>Window control buttons</a:t>
            </a:r>
          </a:p>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10</a:t>
            </a:fld>
            <a:endParaRPr lang="en-US"/>
          </a:p>
        </p:txBody>
      </p:sp>
    </p:spTree>
    <p:extLst>
      <p:ext uri="{BB962C8B-B14F-4D97-AF65-F5344CB8AC3E}">
        <p14:creationId xmlns:p14="http://schemas.microsoft.com/office/powerpoint/2010/main" val="2108446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Nhấn mạnh xu hướng "từ đơn nhiệm cố định → có hệ điều hành thời gian thực → kết nối mạng/IoT" để dẫn dắt sang các chương sau (ARM, lập trình nhúng, RTOS).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13</a:t>
            </a:fld>
            <a:endParaRPr lang="en-US"/>
          </a:p>
        </p:txBody>
      </p:sp>
    </p:spTree>
    <p:extLst>
      <p:ext uri="{BB962C8B-B14F-4D97-AF65-F5344CB8AC3E}">
        <p14:creationId xmlns:p14="http://schemas.microsoft.com/office/powerpoint/2010/main" val="3497614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285750">
              <a:buFontTx/>
              <a:buChar char="-"/>
            </a:pPr>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14</a:t>
            </a:fld>
            <a:endParaRPr lang="en-US"/>
          </a:p>
        </p:txBody>
      </p:sp>
    </p:spTree>
    <p:extLst>
      <p:ext uri="{BB962C8B-B14F-4D97-AF65-F5344CB8AC3E}">
        <p14:creationId xmlns:p14="http://schemas.microsoft.com/office/powerpoint/2010/main" val="41743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751B-21A1-6D05-46DA-34AB48C5B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392EF-9254-D860-D6AB-8E93E6384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EB180-DC2C-1490-3D37-521AA024A56E}"/>
              </a:ext>
            </a:extLst>
          </p:cNvPr>
          <p:cNvSpPr>
            <a:spLocks noGrp="1"/>
          </p:cNvSpPr>
          <p:nvPr>
            <p:ph type="body" idx="1"/>
          </p:nvPr>
        </p:nvSpPr>
        <p:spPr/>
        <p:txBody>
          <a:bodyPr/>
          <a:lstStyle/>
          <a:p>
            <a:pPr marL="514350" indent="-285750">
              <a:buFontTx/>
              <a:buChar char="-"/>
            </a:pPr>
            <a:endParaRPr lang="en-US"/>
          </a:p>
        </p:txBody>
      </p:sp>
      <p:sp>
        <p:nvSpPr>
          <p:cNvPr id="4" name="Slide Number Placeholder 3">
            <a:extLst>
              <a:ext uri="{FF2B5EF4-FFF2-40B4-BE49-F238E27FC236}">
                <a16:creationId xmlns:a16="http://schemas.microsoft.com/office/drawing/2014/main" id="{7ACA9DF2-89E6-D7DE-88C7-D34503C210D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15</a:t>
            </a:fld>
            <a:endParaRPr lang="en-US"/>
          </a:p>
        </p:txBody>
      </p:sp>
    </p:spTree>
    <p:extLst>
      <p:ext uri="{BB962C8B-B14F-4D97-AF65-F5344CB8AC3E}">
        <p14:creationId xmlns:p14="http://schemas.microsoft.com/office/powerpoint/2010/main" val="2839082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F91D-C492-B187-DFAC-BE21F2503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43145-1AA5-FE6A-86AF-AD7E9E601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E7BE0-59F8-D107-DADA-6ED296956723}"/>
              </a:ext>
            </a:extLst>
          </p:cNvPr>
          <p:cNvSpPr>
            <a:spLocks noGrp="1"/>
          </p:cNvSpPr>
          <p:nvPr>
            <p:ph type="body" idx="1"/>
          </p:nvPr>
        </p:nvSpPr>
        <p:spPr/>
        <p:txBody>
          <a:bodyPr/>
          <a:lstStyle/>
          <a:p>
            <a:pPr marL="5143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i="1">
                <a:solidFill>
                  <a:srgbClr val="5E6A77"/>
                </a:solidFill>
              </a:rPr>
              <a:t>Thông điệp: thiết kế hệ nhúng là bài toán cân bằng giữa chức năng, chi phí, năng lượng, kích thước và độ tin cậy.</a:t>
            </a:r>
            <a:endParaRPr lang="en-US" sz="1800"/>
          </a:p>
          <a:p>
            <a:pPr marL="514350" indent="-285750">
              <a:buFontTx/>
              <a:buChar char="-"/>
            </a:pPr>
            <a:endParaRPr lang="en-US"/>
          </a:p>
        </p:txBody>
      </p:sp>
      <p:sp>
        <p:nvSpPr>
          <p:cNvPr id="4" name="Slide Number Placeholder 3">
            <a:extLst>
              <a:ext uri="{FF2B5EF4-FFF2-40B4-BE49-F238E27FC236}">
                <a16:creationId xmlns:a16="http://schemas.microsoft.com/office/drawing/2014/main" id="{02B44193-F2F0-551B-7C72-DA1FA68A73D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16</a:t>
            </a:fld>
            <a:endParaRPr lang="en-US"/>
          </a:p>
        </p:txBody>
      </p:sp>
    </p:spTree>
    <p:extLst>
      <p:ext uri="{BB962C8B-B14F-4D97-AF65-F5344CB8AC3E}">
        <p14:creationId xmlns:p14="http://schemas.microsoft.com/office/powerpoint/2010/main" val="2451459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E4C27-A724-B7D7-45E7-EF82FF8FA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34B2D-B7DE-B0E9-345D-D08D863606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C9E54-DBB0-B44D-B0BF-80C3BA193A95}"/>
              </a:ext>
            </a:extLst>
          </p:cNvPr>
          <p:cNvSpPr>
            <a:spLocks noGrp="1"/>
          </p:cNvSpPr>
          <p:nvPr>
            <p:ph type="body" idx="1"/>
          </p:nvPr>
        </p:nvSpPr>
        <p:spPr/>
        <p:txBody>
          <a:bodyPr/>
          <a:lstStyle/>
          <a:p>
            <a:pPr marL="514350" indent="-285750">
              <a:buFontTx/>
              <a:buChar char="-"/>
            </a:pPr>
            <a:r>
              <a:rPr lang="en-US" b="1"/>
              <a:t>Cơ cấu chấp hành (Actuator)</a:t>
            </a:r>
            <a:r>
              <a:rPr lang="en-US"/>
              <a:t> là thiết bị/bộ phận đầu ra của hệ thống nhúng, có nhiệm vụ </a:t>
            </a:r>
            <a:r>
              <a:rPr lang="en-US" b="1"/>
              <a:t>biến tín hiệu điều khiển điện (từ bộ xử lý) thành một tác động vật lý thực tế</a:t>
            </a:r>
            <a:r>
              <a:rPr lang="en-US"/>
              <a:t> lên môi trường bên ngoài.</a:t>
            </a:r>
          </a:p>
        </p:txBody>
      </p:sp>
      <p:sp>
        <p:nvSpPr>
          <p:cNvPr id="4" name="Slide Number Placeholder 3">
            <a:extLst>
              <a:ext uri="{FF2B5EF4-FFF2-40B4-BE49-F238E27FC236}">
                <a16:creationId xmlns:a16="http://schemas.microsoft.com/office/drawing/2014/main" id="{A8087C27-D421-116E-9F72-CB104DF4987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17</a:t>
            </a:fld>
            <a:endParaRPr lang="en-US"/>
          </a:p>
        </p:txBody>
      </p:sp>
    </p:spTree>
    <p:extLst>
      <p:ext uri="{BB962C8B-B14F-4D97-AF65-F5344CB8AC3E}">
        <p14:creationId xmlns:p14="http://schemas.microsoft.com/office/powerpoint/2010/main" val="399227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9B95A-AF2E-F8FB-32CF-558A85A4A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65EED-5347-7FF8-9BB1-92C3DE367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B8369-07D7-2F2F-08CB-C038F84F3874}"/>
              </a:ext>
            </a:extLst>
          </p:cNvPr>
          <p:cNvSpPr>
            <a:spLocks noGrp="1"/>
          </p:cNvSpPr>
          <p:nvPr>
            <p:ph type="body" idx="1"/>
          </p:nvPr>
        </p:nvSpPr>
        <p:spPr/>
        <p:txBody>
          <a:bodyPr/>
          <a:lstStyle/>
          <a:p>
            <a:pPr marL="5143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i="1">
                <a:solidFill>
                  <a:srgbClr val="5E6A77"/>
                </a:solidFill>
              </a:rPr>
              <a:t>Kết luận: hệ thống nhúng không chỉ cần “chạy được”, mà phải chạy ổn định, đúng thời điểm và đáng tin cậy trong điều kiện thực tế.</a:t>
            </a:r>
            <a:endParaRPr lang="en-US" sz="1800"/>
          </a:p>
          <a:p>
            <a:pPr marL="514350" indent="-285750">
              <a:buFontTx/>
              <a:buChar char="-"/>
            </a:pPr>
            <a:endParaRPr lang="en-US"/>
          </a:p>
        </p:txBody>
      </p:sp>
      <p:sp>
        <p:nvSpPr>
          <p:cNvPr id="4" name="Slide Number Placeholder 3">
            <a:extLst>
              <a:ext uri="{FF2B5EF4-FFF2-40B4-BE49-F238E27FC236}">
                <a16:creationId xmlns:a16="http://schemas.microsoft.com/office/drawing/2014/main" id="{426DC52F-4394-8566-B2E1-29963FA069C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18</a:t>
            </a:fld>
            <a:endParaRPr lang="en-US"/>
          </a:p>
        </p:txBody>
      </p:sp>
    </p:spTree>
    <p:extLst>
      <p:ext uri="{BB962C8B-B14F-4D97-AF65-F5344CB8AC3E}">
        <p14:creationId xmlns:p14="http://schemas.microsoft.com/office/powerpoint/2010/main" val="1119211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21</a:t>
            </a:fld>
            <a:endParaRPr lang="en-US"/>
          </a:p>
        </p:txBody>
      </p:sp>
    </p:spTree>
    <p:extLst>
      <p:ext uri="{BB962C8B-B14F-4D97-AF65-F5344CB8AC3E}">
        <p14:creationId xmlns:p14="http://schemas.microsoft.com/office/powerpoint/2010/main" val="3989437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8FEC-6100-898B-6638-33BBEE6AC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0AB3C-F124-3A59-6F2F-3808627D0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B8599-369F-F6BC-40F6-396080837D25}"/>
              </a:ext>
            </a:extLst>
          </p:cNvPr>
          <p:cNvSpPr>
            <a:spLocks noGrp="1"/>
          </p:cNvSpPr>
          <p:nvPr>
            <p:ph type="body" idx="1"/>
          </p:nvPr>
        </p:nvSpPr>
        <p:spPr/>
        <p:txBody>
          <a:bodyPr/>
          <a:lstStyle/>
          <a:p>
            <a:r>
              <a:rPr lang="en-US"/>
              <a:t>I/O Port: Đọc hoặc xuất tín hiệu số</a:t>
            </a:r>
          </a:p>
        </p:txBody>
      </p:sp>
      <p:sp>
        <p:nvSpPr>
          <p:cNvPr id="4" name="Slide Number Placeholder 3">
            <a:extLst>
              <a:ext uri="{FF2B5EF4-FFF2-40B4-BE49-F238E27FC236}">
                <a16:creationId xmlns:a16="http://schemas.microsoft.com/office/drawing/2014/main" id="{E1095F66-FEA0-6D25-FD1D-D4F4AAA5715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25</a:t>
            </a:fld>
            <a:endParaRPr lang="en-US"/>
          </a:p>
        </p:txBody>
      </p:sp>
    </p:spTree>
    <p:extLst>
      <p:ext uri="{BB962C8B-B14F-4D97-AF65-F5344CB8AC3E}">
        <p14:creationId xmlns:p14="http://schemas.microsoft.com/office/powerpoint/2010/main" val="2756163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26</a:t>
            </a:fld>
            <a:endParaRPr lang="en-US"/>
          </a:p>
        </p:txBody>
      </p:sp>
    </p:spTree>
    <p:extLst>
      <p:ext uri="{BB962C8B-B14F-4D97-AF65-F5344CB8AC3E}">
        <p14:creationId xmlns:p14="http://schemas.microsoft.com/office/powerpoint/2010/main" val="2309385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Mini2440 là </a:t>
            </a:r>
            <a:r>
              <a:rPr lang="en-US" b="1"/>
              <a:t>bo mạch phát triển</a:t>
            </a:r>
            <a:r>
              <a:rPr lang="en-US"/>
              <a:t> dựa trên vi xử lý </a:t>
            </a:r>
            <a:r>
              <a:rPr lang="en-US" b="1"/>
              <a:t>Samsung S3C2440 (ARM9)</a:t>
            </a:r>
            <a:r>
              <a:rPr lang="en-US"/>
              <a:t>. Nó giống như một “máy tính nhúng thu nhỏ”, có đầy đủ:</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30</a:t>
            </a:fld>
            <a:endParaRPr lang="en-US"/>
          </a:p>
        </p:txBody>
      </p:sp>
    </p:spTree>
    <p:extLst>
      <p:ext uri="{BB962C8B-B14F-4D97-AF65-F5344CB8AC3E}">
        <p14:creationId xmlns:p14="http://schemas.microsoft.com/office/powerpoint/2010/main" val="864127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Hệ thống camera giám sát:</a:t>
            </a:r>
            <a:r>
              <a:rPr lang="en-US"/>
              <a:t> hình ảnh hiển thị chậm vài trăm mili giây thường vẫn chấp nhận được.</a:t>
            </a:r>
          </a:p>
          <a:p>
            <a:r>
              <a:rPr lang="en-US" b="1"/>
              <a:t>Hệ thống đặt vé/đặt phòng:</a:t>
            </a:r>
            <a:r>
              <a:rPr lang="en-US"/>
              <a:t> kết quả phản hồi chậm ảnh hưởng trải nghiệm nhưng thường không gây hậu quả nghiêm trọng.</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31</a:t>
            </a:fld>
            <a:endParaRPr lang="en-US"/>
          </a:p>
        </p:txBody>
      </p:sp>
    </p:spTree>
    <p:extLst>
      <p:ext uri="{BB962C8B-B14F-4D97-AF65-F5344CB8AC3E}">
        <p14:creationId xmlns:p14="http://schemas.microsoft.com/office/powerpoint/2010/main" val="3832644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Phạm vi ứng dụng của hệ thống nhúng</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32</a:t>
            </a:fld>
            <a:endParaRPr lang="en-US"/>
          </a:p>
        </p:txBody>
      </p:sp>
    </p:spTree>
    <p:extLst>
      <p:ext uri="{BB962C8B-B14F-4D97-AF65-F5344CB8AC3E}">
        <p14:creationId xmlns:p14="http://schemas.microsoft.com/office/powerpoint/2010/main" val="3336838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t>Hiệu năng phù hợp bài toán, không dư thừa tài nguyên nhưng vẫn đáp ứng chức năng</a:t>
            </a:r>
          </a:p>
          <a:p>
            <a:pPr lvl="0"/>
            <a:r>
              <a:rPr lang="en-US"/>
              <a:t>Tiêu thụ năng lượng tối ưu, đặc biệt với thiết bị chạy pin/IoT</a:t>
            </a:r>
          </a:p>
          <a:p>
            <a:pPr lvl="0"/>
            <a:r>
              <a:rPr lang="en-US"/>
              <a:t>Độ tin cậy, an toàn cao — kiểm thử kỹ do khó/không thể can thiệp sửa lỗi sau khi triển khai</a:t>
            </a:r>
          </a:p>
          <a:p>
            <a:pPr lvl="0"/>
            <a:r>
              <a:rPr lang="en-US"/>
              <a:t>Khả năng đáp ứng thời gian thực (nếu ứng dụng yêu cầu)</a:t>
            </a:r>
          </a:p>
          <a:p>
            <a:pPr lvl="0"/>
            <a:r>
              <a:rPr lang="en-US"/>
              <a:t>Khả năng chống nhiễu, hoạt động ổn định trong môi trường công nghiệp (nhiệt độ, độ ẩm, rung động...)</a:t>
            </a:r>
          </a:p>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33</a:t>
            </a:fld>
            <a:endParaRPr lang="en-US"/>
          </a:p>
        </p:txBody>
      </p:sp>
    </p:spTree>
    <p:extLst>
      <p:ext uri="{BB962C8B-B14F-4D97-AF65-F5344CB8AC3E}">
        <p14:creationId xmlns:p14="http://schemas.microsoft.com/office/powerpoint/2010/main" val="3017719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cap="none">
                <a:solidFill>
                  <a:srgbClr val="000000"/>
                </a:solidFill>
                <a:effectLst/>
                <a:latin typeface="Arial"/>
                <a:ea typeface="Arial"/>
                <a:cs typeface="Arial"/>
                <a:sym typeface="Arial"/>
              </a:rPr>
              <a:t>Hiệu suất: Các đặc tính vận hành chính của sản phẩm</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Tính năng: Những đặc điểm bổ sung cho các chức năng cơ bản của sản phẩm</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Độ tin cậy: Xác suất xảy ra trục trặc của sản phẩm</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Độ bền: Thước đo mức độ sử dụng của một sản phẩm trước khi nó bị hỏng</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Khả năng phục vụ: Dễ dàng và thời gian để sửa chữa sau khi hỏng hóc</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Conformance: mức độ đáp ứng các tiêu chuẩn</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Tính thẩm mỹ: Sản phẩm trông như thế nào</a:t>
            </a:r>
            <a:br>
              <a:rPr lang="en-US" sz="1800" b="0" i="0" u="none" strike="noStrike" cap="none">
                <a:solidFill>
                  <a:srgbClr val="000000"/>
                </a:solidFill>
                <a:effectLst/>
                <a:latin typeface="Arial"/>
                <a:ea typeface="Arial"/>
                <a:cs typeface="Arial"/>
                <a:sym typeface="Arial"/>
              </a:rPr>
            </a:br>
            <a:r>
              <a:rPr lang="en-US" sz="1800" b="0" i="0" u="none" strike="noStrike" cap="none">
                <a:solidFill>
                  <a:srgbClr val="000000"/>
                </a:solidFill>
                <a:effectLst/>
                <a:latin typeface="Arial"/>
                <a:ea typeface="Arial"/>
                <a:cs typeface="Arial"/>
                <a:sym typeface="Arial"/>
              </a:rPr>
              <a:t>Chất lượng cảm nhận: Khía cạnh này gắn liền với danh tiếng</a:t>
            </a:r>
          </a:p>
          <a:p>
            <a:br>
              <a:rPr lang="en-US"/>
            </a:br>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34</a:t>
            </a:fld>
            <a:endParaRPr lang="en-US"/>
          </a:p>
        </p:txBody>
      </p:sp>
    </p:spTree>
    <p:extLst>
      <p:ext uri="{BB962C8B-B14F-4D97-AF65-F5344CB8AC3E}">
        <p14:creationId xmlns:p14="http://schemas.microsoft.com/office/powerpoint/2010/main" val="2625380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35</a:t>
            </a:fld>
            <a:endParaRPr lang="en-US"/>
          </a:p>
        </p:txBody>
      </p:sp>
    </p:spTree>
    <p:extLst>
      <p:ext uri="{BB962C8B-B14F-4D97-AF65-F5344CB8AC3E}">
        <p14:creationId xmlns:p14="http://schemas.microsoft.com/office/powerpoint/2010/main" val="1171912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55A2B-2BA6-B993-1369-DDC303604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A60F4-FBDE-62AD-ED87-B39DB9C13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25BF4-3091-1E84-5326-B0A41B538C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F325F4-E7B8-1044-C84A-7564991D5014}"/>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36</a:t>
            </a:fld>
            <a:endParaRPr lang="en-US"/>
          </a:p>
        </p:txBody>
      </p:sp>
    </p:spTree>
    <p:extLst>
      <p:ext uri="{BB962C8B-B14F-4D97-AF65-F5344CB8AC3E}">
        <p14:creationId xmlns:p14="http://schemas.microsoft.com/office/powerpoint/2010/main" val="4241145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25CF0-2DDA-63E4-0DB6-B5E945EBC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BC035-0052-2478-0CA0-7BB67EF9F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2963B-DC62-E596-DD43-830182F310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5436BD-DB10-82A7-84E1-FB091B7E7E7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37</a:t>
            </a:fld>
            <a:endParaRPr lang="en-US"/>
          </a:p>
        </p:txBody>
      </p:sp>
    </p:spTree>
    <p:extLst>
      <p:ext uri="{BB962C8B-B14F-4D97-AF65-F5344CB8AC3E}">
        <p14:creationId xmlns:p14="http://schemas.microsoft.com/office/powerpoint/2010/main" val="4200121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38</a:t>
            </a:fld>
            <a:endParaRPr lang="en-US"/>
          </a:p>
        </p:txBody>
      </p:sp>
    </p:spTree>
    <p:extLst>
      <p:ext uri="{BB962C8B-B14F-4D97-AF65-F5344CB8AC3E}">
        <p14:creationId xmlns:p14="http://schemas.microsoft.com/office/powerpoint/2010/main" val="1620907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4DA77-0714-4226-8456-DE0FB00C8765}"/>
              </a:ext>
            </a:extLst>
          </p:cNvPr>
          <p:cNvSpPr>
            <a:spLocks noGrp="1"/>
          </p:cNvSpPr>
          <p:nvPr>
            <p:ph type="dt" sz="half" idx="10"/>
          </p:nvPr>
        </p:nvSpPr>
        <p:spPr/>
        <p:txBody>
          <a:bodyPr/>
          <a:lstStyle/>
          <a:p>
            <a:fld id="{9CA311B0-C663-044B-8537-C2327B0D4FD9}" type="datetime1">
              <a:rPr lang="en-US" smtClean="0"/>
              <a:t>8/18/2026</a:t>
            </a:fld>
            <a:endParaRPr lang="en-US"/>
          </a:p>
        </p:txBody>
      </p:sp>
      <p:sp>
        <p:nvSpPr>
          <p:cNvPr id="3" name="Footer Placeholder 2">
            <a:extLst>
              <a:ext uri="{FF2B5EF4-FFF2-40B4-BE49-F238E27FC236}">
                <a16:creationId xmlns:a16="http://schemas.microsoft.com/office/drawing/2014/main" id="{548689CE-C57C-4CCE-B5D7-91A284CB1988}"/>
              </a:ext>
            </a:extLst>
          </p:cNvPr>
          <p:cNvSpPr>
            <a:spLocks noGrp="1"/>
          </p:cNvSpPr>
          <p:nvPr>
            <p:ph type="ftr" sz="quarter" idx="11"/>
          </p:nvPr>
        </p:nvSpPr>
        <p:spPr/>
        <p:txBody>
          <a:body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4" name="Slide Number Placeholder 3">
            <a:extLst>
              <a:ext uri="{FF2B5EF4-FFF2-40B4-BE49-F238E27FC236}">
                <a16:creationId xmlns:a16="http://schemas.microsoft.com/office/drawing/2014/main" id="{4440DF66-3D9B-4E31-B419-8D199F946398}"/>
              </a:ext>
            </a:extLst>
          </p:cNvPr>
          <p:cNvSpPr>
            <a:spLocks noGrp="1"/>
          </p:cNvSpPr>
          <p:nvPr>
            <p:ph type="sldNum" sz="quarter" idx="12"/>
          </p:nvPr>
        </p:nvSpPr>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spTree>
    <p:extLst>
      <p:ext uri="{BB962C8B-B14F-4D97-AF65-F5344CB8AC3E}">
        <p14:creationId xmlns:p14="http://schemas.microsoft.com/office/powerpoint/2010/main" val="3353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3383E68-6F40-3623-74DA-3E2C7F33E73C}"/>
              </a:ext>
            </a:extLst>
          </p:cNvPr>
          <p:cNvSpPr>
            <a:spLocks noGrp="1"/>
          </p:cNvSpPr>
          <p:nvPr>
            <p:ph type="sldNum" sz="quarter" idx="12"/>
          </p:nvPr>
        </p:nvSpPr>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sp>
        <p:nvSpPr>
          <p:cNvPr id="3" name="Title 2">
            <a:extLst>
              <a:ext uri="{FF2B5EF4-FFF2-40B4-BE49-F238E27FC236}">
                <a16:creationId xmlns:a16="http://schemas.microsoft.com/office/drawing/2014/main" id="{59C84736-CC6A-F097-0E56-CB9E53B635BA}"/>
              </a:ext>
            </a:extLst>
          </p:cNvPr>
          <p:cNvSpPr>
            <a:spLocks noGrp="1"/>
          </p:cNvSpPr>
          <p:nvPr>
            <p:ph type="title"/>
          </p:nvPr>
        </p:nvSpPr>
        <p:spPr/>
        <p:txBody>
          <a:bodyPr/>
          <a:lstStyle>
            <a:lvl1pPr>
              <a:defRPr>
                <a:solidFill>
                  <a:srgbClr val="FF0000"/>
                </a:solidFill>
                <a:latin typeface="Arial" panose="020B0604020202020204" pitchFamily="34" charset="0"/>
                <a:cs typeface="Arial" panose="020B0604020202020204" pitchFamily="34" charset="0"/>
              </a:defRPr>
            </a:lvl1pPr>
          </a:lstStyle>
          <a:p>
            <a:r>
              <a:rPr lang="en-US"/>
              <a:t>Click to edit Master title style</a:t>
            </a:r>
            <a:endParaRPr lang="en-VN" dirty="0"/>
          </a:p>
        </p:txBody>
      </p:sp>
      <p:pic>
        <p:nvPicPr>
          <p:cNvPr id="2" name="Picture 1">
            <a:extLst>
              <a:ext uri="{FF2B5EF4-FFF2-40B4-BE49-F238E27FC236}">
                <a16:creationId xmlns:a16="http://schemas.microsoft.com/office/drawing/2014/main" id="{0D32A6F9-0CC7-6110-283B-46068A6974B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2601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32A6F9-0CC7-6110-283B-46068A6974B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itle 10">
            <a:extLst>
              <a:ext uri="{FF2B5EF4-FFF2-40B4-BE49-F238E27FC236}">
                <a16:creationId xmlns:a16="http://schemas.microsoft.com/office/drawing/2014/main" id="{40E35BC1-22CB-9D07-099E-4BA71A28CC09}"/>
              </a:ext>
            </a:extLst>
          </p:cNvPr>
          <p:cNvSpPr>
            <a:spLocks noGrp="1"/>
          </p:cNvSpPr>
          <p:nvPr>
            <p:ph type="title" hasCustomPrompt="1"/>
          </p:nvPr>
        </p:nvSpPr>
        <p:spPr>
          <a:xfrm>
            <a:off x="695006" y="689729"/>
            <a:ext cx="10515600" cy="1325563"/>
          </a:xfrm>
        </p:spPr>
        <p:txBody>
          <a:bodyPr>
            <a:normAutofit/>
          </a:bodyPr>
          <a:lstStyle>
            <a:lvl1pPr>
              <a:defRPr sz="3600" b="1">
                <a:solidFill>
                  <a:srgbClr val="0072BB"/>
                </a:solidFill>
                <a:effectLst/>
              </a:defRPr>
            </a:lvl1pPr>
          </a:lstStyle>
          <a:p>
            <a:r>
              <a:rPr lang="en-US"/>
              <a:t>CLICK TO EDIT MASTER TITLE STYLE</a:t>
            </a:r>
          </a:p>
        </p:txBody>
      </p:sp>
      <p:sp>
        <p:nvSpPr>
          <p:cNvPr id="5" name="Slide Number Placeholder 4">
            <a:extLst>
              <a:ext uri="{FF2B5EF4-FFF2-40B4-BE49-F238E27FC236}">
                <a16:creationId xmlns:a16="http://schemas.microsoft.com/office/drawing/2014/main" id="{53383E68-6F40-3623-74DA-3E2C7F33E73C}"/>
              </a:ext>
            </a:extLst>
          </p:cNvPr>
          <p:cNvSpPr>
            <a:spLocks noGrp="1"/>
          </p:cNvSpPr>
          <p:nvPr>
            <p:ph type="sldNum" sz="quarter" idx="12"/>
          </p:nvPr>
        </p:nvSpPr>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sp>
        <p:nvSpPr>
          <p:cNvPr id="4" name="Content Placeholder 14">
            <a:extLst>
              <a:ext uri="{FF2B5EF4-FFF2-40B4-BE49-F238E27FC236}">
                <a16:creationId xmlns:a16="http://schemas.microsoft.com/office/drawing/2014/main" id="{3C42BECB-21C1-B072-F429-F469790C3C15}"/>
              </a:ext>
            </a:extLst>
          </p:cNvPr>
          <p:cNvSpPr>
            <a:spLocks noGrp="1"/>
          </p:cNvSpPr>
          <p:nvPr>
            <p:ph sz="quarter" idx="13"/>
          </p:nvPr>
        </p:nvSpPr>
        <p:spPr>
          <a:xfrm>
            <a:off x="816606" y="1785386"/>
            <a:ext cx="10515600" cy="4188965"/>
          </a:xfrm>
        </p:spPr>
        <p:txBody>
          <a:bodyPr/>
          <a:lstStyle>
            <a:lvl1pPr>
              <a:buClr>
                <a:srgbClr val="C00000"/>
              </a:buClr>
              <a:buFont typeface="Wingdings" panose="05000000000000000000" pitchFamily="2" charset="2"/>
              <a:buChar char="§"/>
              <a:defRPr sz="2400">
                <a:solidFill>
                  <a:schemeClr val="bg2">
                    <a:lumMod val="10000"/>
                  </a:schemeClr>
                </a:solidFill>
              </a:defRPr>
            </a:lvl1pPr>
            <a:lvl2pPr>
              <a:buClr>
                <a:srgbClr val="C00000"/>
              </a:buClr>
              <a:buFontTx/>
              <a:buChar char="-"/>
              <a:defRPr sz="2400">
                <a:solidFill>
                  <a:schemeClr val="bg2">
                    <a:lumMod val="10000"/>
                  </a:schemeClr>
                </a:solidFill>
              </a:defRPr>
            </a:lvl2pPr>
            <a:lvl3pPr>
              <a:buClr>
                <a:srgbClr val="0171BB"/>
              </a:buClr>
              <a:buFont typeface="Wingdings" panose="05000000000000000000" pitchFamily="2" charset="2"/>
              <a:buChar char="§"/>
              <a:defRPr sz="2400">
                <a:solidFill>
                  <a:schemeClr val="bg2">
                    <a:lumMod val="10000"/>
                  </a:schemeClr>
                </a:solidFill>
              </a:defRPr>
            </a:lvl3pPr>
            <a:lvl4pPr>
              <a:buClr>
                <a:srgbClr val="0171BB"/>
              </a:buClr>
              <a:buFont typeface="Wingdings" panose="05000000000000000000" pitchFamily="2" charset="2"/>
              <a:buChar char="§"/>
              <a:defRPr sz="2400">
                <a:solidFill>
                  <a:schemeClr val="bg2">
                    <a:lumMod val="10000"/>
                  </a:schemeClr>
                </a:solidFill>
              </a:defRPr>
            </a:lvl4pPr>
            <a:lvl5pPr>
              <a:buClr>
                <a:srgbClr val="0171BB"/>
              </a:buClr>
              <a:buFont typeface="Wingdings" panose="05000000000000000000" pitchFamily="2" charset="2"/>
              <a:buChar char="§"/>
              <a:defRPr sz="2400">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cxnSp>
        <p:nvCxnSpPr>
          <p:cNvPr id="7" name="Straight Connector 6">
            <a:extLst>
              <a:ext uri="{FF2B5EF4-FFF2-40B4-BE49-F238E27FC236}">
                <a16:creationId xmlns:a16="http://schemas.microsoft.com/office/drawing/2014/main" id="{01C21B8A-5F83-95D5-17F5-02A8FAA1794B}"/>
              </a:ext>
            </a:extLst>
          </p:cNvPr>
          <p:cNvCxnSpPr>
            <a:cxnSpLocks/>
          </p:cNvCxnSpPr>
          <p:nvPr userDrawn="1"/>
        </p:nvCxnSpPr>
        <p:spPr>
          <a:xfrm>
            <a:off x="816606" y="1633314"/>
            <a:ext cx="1024468" cy="0"/>
          </a:xfrm>
          <a:prstGeom prst="line">
            <a:avLst/>
          </a:prstGeom>
          <a:ln w="57150">
            <a:solidFill>
              <a:srgbClr val="C00000"/>
            </a:solidFill>
          </a:ln>
        </p:spPr>
        <p:style>
          <a:lnRef idx="3">
            <a:schemeClr val="dk1"/>
          </a:lnRef>
          <a:fillRef idx="0">
            <a:schemeClr val="dk1"/>
          </a:fillRef>
          <a:effectRef idx="2">
            <a:schemeClr val="dk1"/>
          </a:effectRef>
          <a:fontRef idx="minor">
            <a:schemeClr val="tx1"/>
          </a:fontRef>
        </p:style>
      </p:cxnSp>
      <p:sp>
        <p:nvSpPr>
          <p:cNvPr id="10" name="Text Box 9">
            <a:extLst>
              <a:ext uri="{FF2B5EF4-FFF2-40B4-BE49-F238E27FC236}">
                <a16:creationId xmlns:a16="http://schemas.microsoft.com/office/drawing/2014/main" id="{18E32559-0538-454D-B68A-36C3E55E35E0}"/>
              </a:ext>
            </a:extLst>
          </p:cNvPr>
          <p:cNvSpPr txBox="1">
            <a:spLocks noChangeArrowheads="1"/>
          </p:cNvSpPr>
          <p:nvPr userDrawn="1"/>
        </p:nvSpPr>
        <p:spPr bwMode="auto">
          <a:xfrm>
            <a:off x="5952806" y="6253515"/>
            <a:ext cx="469140" cy="246221"/>
          </a:xfrm>
          <a:prstGeom prst="rect">
            <a:avLst/>
          </a:prstGeom>
          <a:noFill/>
          <a:ln>
            <a:noFill/>
          </a:ln>
        </p:spPr>
        <p:txBody>
          <a:bodyPr wrap="squar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x-none" sz="1000" b="1">
                <a:solidFill>
                  <a:srgbClr val="006699"/>
                </a:solidFill>
                <a:latin typeface="Helvetica" charset="0"/>
              </a:rPr>
              <a:t>1.</a:t>
            </a:r>
            <a:fld id="{A6EDADC4-5648-406C-94CA-EDDB863B04E2}" type="slidenum">
              <a:rPr lang="en-US" altLang="x-none" sz="1000" b="1" smtClean="0">
                <a:solidFill>
                  <a:srgbClr val="006699"/>
                </a:solidFill>
                <a:latin typeface="Helvetica" charset="0"/>
              </a:rPr>
              <a:pPr algn="ctr">
                <a:spcBef>
                  <a:spcPct val="50000"/>
                </a:spcBef>
                <a:defRPr/>
              </a:pPr>
              <a:t>‹#›</a:t>
            </a:fld>
            <a:endParaRPr lang="en-US" altLang="x-none" sz="1000" b="1">
              <a:solidFill>
                <a:srgbClr val="006699"/>
              </a:solidFill>
              <a:latin typeface="Helvetica" charset="0"/>
            </a:endParaRPr>
          </a:p>
        </p:txBody>
      </p:sp>
    </p:spTree>
    <p:extLst>
      <p:ext uri="{BB962C8B-B14F-4D97-AF65-F5344CB8AC3E}">
        <p14:creationId xmlns:p14="http://schemas.microsoft.com/office/powerpoint/2010/main" val="198299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3383E68-6F40-3623-74DA-3E2C7F33E73C}"/>
              </a:ext>
            </a:extLst>
          </p:cNvPr>
          <p:cNvSpPr>
            <a:spLocks noGrp="1"/>
          </p:cNvSpPr>
          <p:nvPr>
            <p:ph type="sldNum" sz="quarter" idx="12"/>
          </p:nvPr>
        </p:nvSpPr>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pic>
        <p:nvPicPr>
          <p:cNvPr id="2" name="Picture 1">
            <a:extLst>
              <a:ext uri="{FF2B5EF4-FFF2-40B4-BE49-F238E27FC236}">
                <a16:creationId xmlns:a16="http://schemas.microsoft.com/office/drawing/2014/main" id="{1D5B8774-1210-7C4B-7F7E-19F2304949D4}"/>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016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4DA77-0714-4226-8456-DE0FB00C8765}"/>
              </a:ext>
            </a:extLst>
          </p:cNvPr>
          <p:cNvSpPr>
            <a:spLocks noGrp="1"/>
          </p:cNvSpPr>
          <p:nvPr>
            <p:ph type="dt" sz="half" idx="10"/>
          </p:nvPr>
        </p:nvSpPr>
        <p:spPr/>
        <p:txBody>
          <a:bodyPr/>
          <a:lstStyle/>
          <a:p>
            <a:fld id="{6582CEF8-D0A2-C345-A9CC-A46B929C074A}" type="datetime1">
              <a:rPr lang="en-US" smtClean="0"/>
              <a:t>8/18/2026</a:t>
            </a:fld>
            <a:endParaRPr lang="en-US"/>
          </a:p>
        </p:txBody>
      </p:sp>
      <p:sp>
        <p:nvSpPr>
          <p:cNvPr id="3" name="Footer Placeholder 2">
            <a:extLst>
              <a:ext uri="{FF2B5EF4-FFF2-40B4-BE49-F238E27FC236}">
                <a16:creationId xmlns:a16="http://schemas.microsoft.com/office/drawing/2014/main" id="{548689CE-C57C-4CCE-B5D7-91A284CB1988}"/>
              </a:ext>
            </a:extLst>
          </p:cNvPr>
          <p:cNvSpPr>
            <a:spLocks noGrp="1"/>
          </p:cNvSpPr>
          <p:nvPr>
            <p:ph type="ftr" sz="quarter" idx="11"/>
          </p:nvPr>
        </p:nvSpPr>
        <p:spPr/>
        <p:txBody>
          <a:body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4" name="Slide Number Placeholder 3">
            <a:extLst>
              <a:ext uri="{FF2B5EF4-FFF2-40B4-BE49-F238E27FC236}">
                <a16:creationId xmlns:a16="http://schemas.microsoft.com/office/drawing/2014/main" id="{4440DF66-3D9B-4E31-B419-8D199F946398}"/>
              </a:ext>
            </a:extLst>
          </p:cNvPr>
          <p:cNvSpPr>
            <a:spLocks noGrp="1"/>
          </p:cNvSpPr>
          <p:nvPr>
            <p:ph type="sldNum" sz="quarter" idx="12"/>
          </p:nvPr>
        </p:nvSpPr>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sp>
        <p:nvSpPr>
          <p:cNvPr id="5" name="Title 4">
            <a:extLst>
              <a:ext uri="{FF2B5EF4-FFF2-40B4-BE49-F238E27FC236}">
                <a16:creationId xmlns:a16="http://schemas.microsoft.com/office/drawing/2014/main" id="{3A0EB426-872D-1F8F-962E-FCE629322699}"/>
              </a:ext>
            </a:extLst>
          </p:cNvPr>
          <p:cNvSpPr>
            <a:spLocks noGrp="1"/>
          </p:cNvSpPr>
          <p:nvPr>
            <p:ph type="title"/>
          </p:nvPr>
        </p:nvSpPr>
        <p:spPr/>
        <p:txBody>
          <a:bodyPr/>
          <a:lstStyle>
            <a:lvl1pPr>
              <a:defRPr>
                <a:solidFill>
                  <a:schemeClr val="bg1">
                    <a:lumMod val="95000"/>
                  </a:schemeClr>
                </a:solidFill>
                <a:latin typeface="Arial" panose="020B0604020202020204" pitchFamily="34" charset="0"/>
                <a:cs typeface="Arial" panose="020B0604020202020204" pitchFamily="34" charset="0"/>
              </a:defRPr>
            </a:lvl1pPr>
          </a:lstStyle>
          <a:p>
            <a:r>
              <a:rPr lang="en-US"/>
              <a:t>Click to edit Master title style</a:t>
            </a:r>
            <a:endParaRPr lang="en-VN"/>
          </a:p>
        </p:txBody>
      </p:sp>
      <p:sp>
        <p:nvSpPr>
          <p:cNvPr id="7" name="Content Placeholder 6">
            <a:extLst>
              <a:ext uri="{FF2B5EF4-FFF2-40B4-BE49-F238E27FC236}">
                <a16:creationId xmlns:a16="http://schemas.microsoft.com/office/drawing/2014/main" id="{D2C69D64-9537-D435-8C41-7DB449246ECC}"/>
              </a:ext>
            </a:extLst>
          </p:cNvPr>
          <p:cNvSpPr>
            <a:spLocks noGrp="1"/>
          </p:cNvSpPr>
          <p:nvPr>
            <p:ph sz="quarter" idx="13"/>
          </p:nvPr>
        </p:nvSpPr>
        <p:spPr>
          <a:xfrm>
            <a:off x="738131" y="2941638"/>
            <a:ext cx="10610908" cy="2874962"/>
          </a:xfrm>
        </p:spPr>
        <p:txBody>
          <a:bodyPr/>
          <a:lstStyle>
            <a:lvl1pPr>
              <a:defRPr>
                <a:solidFill>
                  <a:schemeClr val="bg1">
                    <a:lumMod val="95000"/>
                  </a:schemeClr>
                </a:solidFill>
                <a:latin typeface="Arial" panose="020B0604020202020204" pitchFamily="34" charset="0"/>
                <a:cs typeface="Arial" panose="020B0604020202020204" pitchFamily="34" charset="0"/>
              </a:defRPr>
            </a:lvl1pPr>
            <a:lvl2pPr>
              <a:defRPr>
                <a:solidFill>
                  <a:schemeClr val="bg1">
                    <a:lumMod val="95000"/>
                  </a:schemeClr>
                </a:solidFill>
                <a:latin typeface="Arial" panose="020B0604020202020204" pitchFamily="34" charset="0"/>
                <a:cs typeface="Arial" panose="020B0604020202020204" pitchFamily="34" charset="0"/>
              </a:defRPr>
            </a:lvl2pPr>
            <a:lvl3pPr>
              <a:defRPr>
                <a:solidFill>
                  <a:schemeClr val="bg1">
                    <a:lumMod val="95000"/>
                  </a:schemeClr>
                </a:solidFill>
                <a:latin typeface="Arial" panose="020B0604020202020204" pitchFamily="34" charset="0"/>
                <a:cs typeface="Arial" panose="020B0604020202020204" pitchFamily="34" charset="0"/>
              </a:defRPr>
            </a:lvl3pPr>
            <a:lvl4pPr>
              <a:defRPr>
                <a:solidFill>
                  <a:schemeClr val="bg1">
                    <a:lumMod val="95000"/>
                  </a:schemeClr>
                </a:solidFill>
                <a:latin typeface="Arial" panose="020B0604020202020204" pitchFamily="34" charset="0"/>
                <a:cs typeface="Arial" panose="020B0604020202020204" pitchFamily="34" charset="0"/>
              </a:defRPr>
            </a:lvl4pPr>
            <a:lvl5pPr>
              <a:defRPr>
                <a:solidFill>
                  <a:schemeClr val="bg1">
                    <a:lumMod val="95000"/>
                  </a:schemeClr>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Tree>
    <p:extLst>
      <p:ext uri="{BB962C8B-B14F-4D97-AF65-F5344CB8AC3E}">
        <p14:creationId xmlns:p14="http://schemas.microsoft.com/office/powerpoint/2010/main" val="383865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89433" y="1752148"/>
            <a:ext cx="10515600" cy="606582"/>
          </a:xfrm>
        </p:spPr>
        <p:txBody>
          <a:bodyPr>
            <a:normAutofit/>
          </a:bodyPr>
          <a:lstStyle>
            <a:lvl1pPr>
              <a:defRPr sz="2700">
                <a:solidFill>
                  <a:schemeClr val="bg1">
                    <a:lumMod val="95000"/>
                  </a:schemeClr>
                </a:solidFill>
                <a:latin typeface="Arial" panose="020B0604020202020204" pitchFamily="34" charset="0"/>
                <a:cs typeface="Arial" panose="020B0604020202020204" pitchFamily="34" charset="0"/>
              </a:defRPr>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4" name="スライド番号プレースホルダー 3"/>
          <p:cNvSpPr>
            <a:spLocks noGrp="1"/>
          </p:cNvSpPr>
          <p:nvPr>
            <p:ph type="sldNum" sz="quarter" idx="11"/>
          </p:nvPr>
        </p:nvSpPr>
        <p:spPr>
          <a:xfrm>
            <a:off x="8606027" y="6356353"/>
            <a:ext cx="2743200" cy="365125"/>
          </a:xfrm>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sp>
        <p:nvSpPr>
          <p:cNvPr id="7" name="テキスト プレースホルダー 6"/>
          <p:cNvSpPr>
            <a:spLocks noGrp="1"/>
          </p:cNvSpPr>
          <p:nvPr>
            <p:ph type="body" sz="quarter" idx="13" hasCustomPrompt="1"/>
          </p:nvPr>
        </p:nvSpPr>
        <p:spPr>
          <a:xfrm>
            <a:off x="789433" y="2635765"/>
            <a:ext cx="9553891" cy="336037"/>
          </a:xfrm>
        </p:spPr>
        <p:txBody>
          <a:bodyPr/>
          <a:lstStyle>
            <a:lvl1pPr>
              <a:defRPr i="1" baseline="0">
                <a:solidFill>
                  <a:schemeClr val="bg1">
                    <a:lumMod val="95000"/>
                  </a:schemeClr>
                </a:solidFill>
                <a:latin typeface="Arial" panose="020B0604020202020204" pitchFamily="34" charset="0"/>
                <a:cs typeface="Arial" panose="020B0604020202020204" pitchFamily="34" charset="0"/>
              </a:defRPr>
            </a:lvl1pPr>
          </a:lstStyle>
          <a:p>
            <a:pPr lvl="0"/>
            <a:r>
              <a:rPr kumimoji="1" lang="en-US" altLang="ja-JP" dirty="0"/>
              <a:t>Short description goes here</a:t>
            </a:r>
            <a:endParaRPr kumimoji="1" lang="ja-JP" altLang="en-US" dirty="0"/>
          </a:p>
        </p:txBody>
      </p:sp>
    </p:spTree>
    <p:extLst>
      <p:ext uri="{BB962C8B-B14F-4D97-AF65-F5344CB8AC3E}">
        <p14:creationId xmlns:p14="http://schemas.microsoft.com/office/powerpoint/2010/main" val="297458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E6FFE6-5BB6-4448-B23A-01CF9390BBB5}" type="datetime1">
              <a:rPr lang="en-US" smtClean="0"/>
              <a:t>8/18/2026</a:t>
            </a:fld>
            <a:endParaRPr lang="en-US"/>
          </a:p>
        </p:txBody>
      </p:sp>
      <p:sp>
        <p:nvSpPr>
          <p:cNvPr id="5" name="Footer Placeholder 4"/>
          <p:cNvSpPr>
            <a:spLocks noGrp="1"/>
          </p:cNvSpPr>
          <p:nvPr>
            <p:ph type="ftr" sz="quarter" idx="11"/>
          </p:nvPr>
        </p:nvSpPr>
        <p:spPr/>
        <p:txBody>
          <a:body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6" name="Slide Number Placeholder 5"/>
          <p:cNvSpPr>
            <a:spLocks noGrp="1"/>
          </p:cNvSpPr>
          <p:nvPr>
            <p:ph type="sldNum" sz="quarter" idx="12"/>
          </p:nvPr>
        </p:nvSpPr>
        <p:spPr/>
        <p:txBody>
          <a:bodyPr/>
          <a:lstStyle/>
          <a:p>
            <a:pPr marL="182880">
              <a:lnSpc>
                <a:spcPts val="1425"/>
              </a:lnSpc>
            </a:pPr>
            <a:fld id="{81D60167-4931-47E6-BA6A-407CBD079E47}" type="slidenum">
              <a:rPr lang="en-VN" spc="-50" smtClean="0"/>
              <a:pPr marL="182880">
                <a:lnSpc>
                  <a:spcPts val="1425"/>
                </a:lnSpc>
              </a:pPr>
              <a:t>‹#›</a:t>
            </a:fld>
            <a:endParaRPr lang="en-VN" spc="-50" dirty="0"/>
          </a:p>
        </p:txBody>
      </p:sp>
    </p:spTree>
    <p:extLst>
      <p:ext uri="{BB962C8B-B14F-4D97-AF65-F5344CB8AC3E}">
        <p14:creationId xmlns:p14="http://schemas.microsoft.com/office/powerpoint/2010/main" val="975598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8"/>
            <a:ext cx="2844800" cy="365125"/>
          </a:xfrm>
        </p:spPr>
        <p:txBody>
          <a:bodyPr/>
          <a:lstStyle>
            <a:lvl1pPr>
              <a:defRPr sz="1200" b="1">
                <a:solidFill>
                  <a:srgbClr val="002060"/>
                </a:solidFill>
                <a:latin typeface="Cambria" panose="02040503050406030204" pitchFamily="18" charset="0"/>
              </a:defRPr>
            </a:lvl1pPr>
          </a:lstStyle>
          <a:p>
            <a:pPr marL="182880">
              <a:lnSpc>
                <a:spcPts val="1425"/>
              </a:lnSpc>
            </a:pPr>
            <a:fld id="{81D60167-4931-47E6-BA6A-407CBD079E47}" type="slidenum">
              <a:rPr lang="en-VN" spc="-50" smtClean="0"/>
              <a:pPr marL="182880">
                <a:lnSpc>
                  <a:spcPts val="1425"/>
                </a:lnSpc>
              </a:pPr>
              <a:t>‹#›</a:t>
            </a:fld>
            <a:endParaRPr lang="en-VN" spc="-50" dirty="0"/>
          </a:p>
        </p:txBody>
      </p:sp>
    </p:spTree>
    <p:extLst>
      <p:ext uri="{BB962C8B-B14F-4D97-AF65-F5344CB8AC3E}">
        <p14:creationId xmlns:p14="http://schemas.microsoft.com/office/powerpoint/2010/main" val="211745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1_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mbria Math"/>
                <a:cs typeface="Cambria Math"/>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Arial"/>
                <a:cs typeface="Arial"/>
              </a:defRPr>
            </a:lvl1p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58D1EAD-CCCF-444B-B46F-4117D5C15484}" type="datetime1">
              <a:rPr lang="en-US" smtClean="0"/>
              <a:t>8/18/2026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182880">
              <a:lnSpc>
                <a:spcPts val="1425"/>
              </a:lnSpc>
            </a:pPr>
            <a:fld id="{81D60167-4931-47E6-BA6A-407CBD079E47}" type="slidenum">
              <a:rPr lang="en-US" spc="-50" smtClean="0"/>
              <a:pPr marL="182880">
                <a:lnSpc>
                  <a:spcPts val="1425"/>
                </a:lnSpc>
              </a:pPr>
              <a:t>‹#›</a:t>
            </a:fld>
            <a:endParaRPr lang="en-US" spc="-50" dirty="0"/>
          </a:p>
        </p:txBody>
      </p:sp>
    </p:spTree>
    <p:extLst>
      <p:ext uri="{BB962C8B-B14F-4D97-AF65-F5344CB8AC3E}">
        <p14:creationId xmlns:p14="http://schemas.microsoft.com/office/powerpoint/2010/main" val="1209292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48827" y="64123"/>
            <a:ext cx="4509347" cy="553998"/>
          </a:xfrm>
          <a:prstGeom prst="rect">
            <a:avLst/>
          </a:prstGeom>
        </p:spPr>
        <p:txBody>
          <a:bodyPr wrap="square" lIns="0" tIns="0" rIns="0" bIns="0">
            <a:spAutoFit/>
          </a:bodyPr>
          <a:lstStyle>
            <a:lvl1pPr>
              <a:defRPr sz="4000" b="0" i="0">
                <a:solidFill>
                  <a:schemeClr val="bg1"/>
                </a:solidFill>
                <a:latin typeface="Arial"/>
                <a:cs typeface="Arial"/>
              </a:defRPr>
            </a:lvl1pPr>
          </a:lstStyle>
          <a:p>
            <a:endParaRPr/>
          </a:p>
        </p:txBody>
      </p:sp>
      <p:sp>
        <p:nvSpPr>
          <p:cNvPr id="3" name="Holder 3"/>
          <p:cNvSpPr>
            <a:spLocks noGrp="1"/>
          </p:cNvSpPr>
          <p:nvPr>
            <p:ph type="subTitle" idx="4"/>
          </p:nvPr>
        </p:nvSpPr>
        <p:spPr>
          <a:xfrm>
            <a:off x="1828800" y="3840480"/>
            <a:ext cx="8534400" cy="332399"/>
          </a:xfrm>
          <a:prstGeom prst="rect">
            <a:avLst/>
          </a:prstGeom>
        </p:spPr>
        <p:txBody>
          <a:bodyPr wrap="square" lIns="0" tIns="0" rIns="0" bIns="0">
            <a:spAutoFit/>
          </a:bodyPr>
          <a:lstStyle>
            <a:lvl1pPr>
              <a:defRPr sz="2400" b="0" i="0">
                <a:solidFill>
                  <a:schemeClr val="tx1"/>
                </a:solidFill>
                <a:latin typeface="Cambria Math"/>
                <a:cs typeface="Cambria Math"/>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Arial"/>
                <a:cs typeface="Arial"/>
              </a:defRPr>
            </a:lvl1p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F20FA31-DF0F-1742-AA23-8559ACD0D9C9}" type="datetime1">
              <a:rPr lang="en-US" smtClean="0"/>
              <a:t>8/18/2026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182880">
              <a:lnSpc>
                <a:spcPts val="1425"/>
              </a:lnSpc>
            </a:pPr>
            <a:fld id="{81D60167-4931-47E6-BA6A-407CBD079E47}" type="slidenum">
              <a:rPr lang="en-US" spc="-50" smtClean="0"/>
              <a:pPr marL="182880">
                <a:lnSpc>
                  <a:spcPts val="1425"/>
                </a:lnSpc>
              </a:pPr>
              <a:t>‹#›</a:t>
            </a:fld>
            <a:endParaRPr lang="en-US" spc="-50" dirty="0"/>
          </a:p>
        </p:txBody>
      </p:sp>
    </p:spTree>
    <p:extLst>
      <p:ext uri="{BB962C8B-B14F-4D97-AF65-F5344CB8AC3E}">
        <p14:creationId xmlns:p14="http://schemas.microsoft.com/office/powerpoint/2010/main" val="2515846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9Slide.vn - 2019">
            <a:extLst>
              <a:ext uri="{FF2B5EF4-FFF2-40B4-BE49-F238E27FC236}">
                <a16:creationId xmlns:a16="http://schemas.microsoft.com/office/drawing/2014/main" id="{00B20083-83AD-4F60-A2FE-58C840D007FA}"/>
              </a:ext>
            </a:extLst>
          </p:cNvPr>
          <p:cNvSpPr txBox="1"/>
          <p:nvPr/>
        </p:nvSpPr>
        <p:spPr>
          <a:xfrm>
            <a:off x="5413508" y="-1512332"/>
            <a:ext cx="1364989" cy="276999"/>
          </a:xfrm>
          <a:prstGeom prst="rect">
            <a:avLst/>
          </a:prstGeom>
          <a:noFill/>
        </p:spPr>
        <p:txBody>
          <a:bodyPr vert="horz" wrap="none" lIns="0" tIns="0" rIns="0" bIns="0" rtlCol="0">
            <a:spAutoFit/>
          </a:bodyPr>
          <a:lstStyle/>
          <a:p>
            <a:pPr algn="ctr"/>
            <a:r>
              <a:rPr lang="en-US" sz="1800">
                <a:solidFill>
                  <a:srgbClr val="CFCFCF"/>
                </a:solidFill>
              </a:rPr>
              <a:t>www.9slide.vn</a:t>
            </a:r>
          </a:p>
        </p:txBody>
      </p:sp>
      <p:sp>
        <p:nvSpPr>
          <p:cNvPr id="2" name="Title Placeholder 1">
            <a:extLst>
              <a:ext uri="{FF2B5EF4-FFF2-40B4-BE49-F238E27FC236}">
                <a16:creationId xmlns:a16="http://schemas.microsoft.com/office/drawing/2014/main" id="{76CB0E7E-7BDA-4369-B06E-95E5B313A5C9}"/>
              </a:ext>
            </a:extLst>
          </p:cNvPr>
          <p:cNvSpPr>
            <a:spLocks noGrp="1"/>
          </p:cNvSpPr>
          <p:nvPr>
            <p:ph type="title"/>
          </p:nvPr>
        </p:nvSpPr>
        <p:spPr>
          <a:xfrm>
            <a:off x="833627" y="138320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F2DE87-7D95-4722-9EE5-248D158C7FF7}"/>
              </a:ext>
            </a:extLst>
          </p:cNvPr>
          <p:cNvSpPr>
            <a:spLocks noGrp="1"/>
          </p:cNvSpPr>
          <p:nvPr>
            <p:ph type="body" idx="1"/>
          </p:nvPr>
        </p:nvSpPr>
        <p:spPr>
          <a:xfrm>
            <a:off x="833628" y="3019977"/>
            <a:ext cx="10515600" cy="30327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7D0A038-BC78-4ECC-BEFF-CCB515E4848D}"/>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76CA1C1-DF8C-4B43-AF64-A7E6F64A7B90}" type="datetime1">
              <a:rPr lang="en-US" smtClean="0"/>
              <a:t>8/18/2026</a:t>
            </a:fld>
            <a:endParaRPr lang="en-US"/>
          </a:p>
        </p:txBody>
      </p:sp>
      <p:sp>
        <p:nvSpPr>
          <p:cNvPr id="5" name="Footer Placeholder 4">
            <a:extLst>
              <a:ext uri="{FF2B5EF4-FFF2-40B4-BE49-F238E27FC236}">
                <a16:creationId xmlns:a16="http://schemas.microsoft.com/office/drawing/2014/main" id="{50ECDB14-4F91-4B5C-8ACA-1B5E7E69B7D1}"/>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marL="12700">
              <a:lnSpc>
                <a:spcPts val="1425"/>
              </a:lnSpc>
            </a:pPr>
            <a:r>
              <a:rPr lang="en-US"/>
              <a:t>CTT310:</a:t>
            </a:r>
            <a:r>
              <a:rPr lang="en-US" spc="-50"/>
              <a:t> </a:t>
            </a:r>
            <a:r>
              <a:rPr lang="en-US"/>
              <a:t>Digital</a:t>
            </a:r>
            <a:r>
              <a:rPr lang="en-US" spc="-40"/>
              <a:t> </a:t>
            </a:r>
            <a:r>
              <a:rPr lang="en-US"/>
              <a:t>Image</a:t>
            </a:r>
            <a:r>
              <a:rPr lang="en-US" spc="-45"/>
              <a:t> </a:t>
            </a:r>
            <a:r>
              <a:rPr lang="en-US" spc="-10"/>
              <a:t>Processing</a:t>
            </a:r>
            <a:endParaRPr lang="en-US" spc="-10" dirty="0"/>
          </a:p>
        </p:txBody>
      </p:sp>
      <p:sp>
        <p:nvSpPr>
          <p:cNvPr id="6" name="Slide Number Placeholder 5">
            <a:extLst>
              <a:ext uri="{FF2B5EF4-FFF2-40B4-BE49-F238E27FC236}">
                <a16:creationId xmlns:a16="http://schemas.microsoft.com/office/drawing/2014/main" id="{DB30118F-80C4-4861-A4D3-A50D382E7D56}"/>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182880">
              <a:lnSpc>
                <a:spcPts val="1425"/>
              </a:lnSpc>
            </a:pPr>
            <a:fld id="{81D60167-4931-47E6-BA6A-407CBD079E47}" type="slidenum">
              <a:rPr lang="en-VN" spc="-50" smtClean="0"/>
              <a:pPr marL="182880">
                <a:lnSpc>
                  <a:spcPts val="1425"/>
                </a:lnSpc>
              </a:pPr>
              <a:t>‹#›</a:t>
            </a:fld>
            <a:endParaRPr lang="en-VN" spc="-50" dirty="0"/>
          </a:p>
        </p:txBody>
      </p:sp>
      <p:grpSp>
        <p:nvGrpSpPr>
          <p:cNvPr id="11" name="Group 10">
            <a:extLst>
              <a:ext uri="{FF2B5EF4-FFF2-40B4-BE49-F238E27FC236}">
                <a16:creationId xmlns:a16="http://schemas.microsoft.com/office/drawing/2014/main" id="{CD0CE00B-B040-4546-AF5D-EEF96AA126B0}"/>
              </a:ext>
            </a:extLst>
          </p:cNvPr>
          <p:cNvGrpSpPr>
            <a:grpSpLocks noGrp="1" noSelect="1" noRot="1" noMove="1" noResize="1"/>
          </p:cNvGrpSpPr>
          <p:nvPr>
            <p:custDataLst>
              <p:tags r:id="rId12"/>
            </p:custDataLst>
          </p:nvPr>
        </p:nvGrpSpPr>
        <p:grpSpPr>
          <a:xfrm>
            <a:off x="-2202100" y="-2224222"/>
            <a:ext cx="16596200" cy="11284323"/>
            <a:chOff x="-2202100" y="-2224223"/>
            <a:chExt cx="16596200" cy="11284323"/>
          </a:xfrm>
        </p:grpSpPr>
        <p:sp>
          <p:nvSpPr>
            <p:cNvPr id="12" name="Rectangle 11">
              <a:extLst>
                <a:ext uri="{FF2B5EF4-FFF2-40B4-BE49-F238E27FC236}">
                  <a16:creationId xmlns:a16="http://schemas.microsoft.com/office/drawing/2014/main" id="{AA423BDB-6737-4700-9989-01683A4147DA}"/>
                </a:ext>
              </a:extLst>
            </p:cNvPr>
            <p:cNvSpPr/>
            <p:nvPr/>
          </p:nvSpPr>
          <p:spPr>
            <a:xfrm>
              <a:off x="4851540" y="8494776"/>
              <a:ext cx="2488920" cy="565324"/>
            </a:xfrm>
            <a:prstGeom prst="rect">
              <a:avLst/>
            </a:prstGeom>
            <a:noFill/>
            <a:ln w="215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3" name="TextBox 12">
              <a:extLst>
                <a:ext uri="{FF2B5EF4-FFF2-40B4-BE49-F238E27FC236}">
                  <a16:creationId xmlns:a16="http://schemas.microsoft.com/office/drawing/2014/main" id="{391E50D3-44ED-477F-84FB-1E24BC65ED8F}"/>
                </a:ext>
              </a:extLst>
            </p:cNvPr>
            <p:cNvSpPr txBox="1"/>
            <p:nvPr/>
          </p:nvSpPr>
          <p:spPr>
            <a:xfrm>
              <a:off x="5006988" y="8647176"/>
              <a:ext cx="2178025" cy="260524"/>
            </a:xfrm>
            <a:custGeom>
              <a:avLst/>
              <a:gdLst/>
              <a:ahLst/>
              <a:cxnLst/>
              <a:rect l="l" t="t" r="r" b="b"/>
              <a:pathLst>
                <a:path w="2178025" h="260524">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chemeClr val="bg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025">
                <a:solidFill>
                  <a:schemeClr val="bg1">
                    <a:lumMod val="75000"/>
                  </a:schemeClr>
                </a:solidFill>
                <a:latin typeface="#9Slide02 Noi dung dai" panose="02000000000000000000" pitchFamily="2" charset="0"/>
                <a:ea typeface="#9Slide02 Noi dung dai" panose="02000000000000000000" pitchFamily="2" charset="0"/>
              </a:endParaRPr>
            </a:p>
          </p:txBody>
        </p:sp>
        <p:sp>
          <p:nvSpPr>
            <p:cNvPr id="14" name="Rectangle 13">
              <a:extLst>
                <a:ext uri="{FF2B5EF4-FFF2-40B4-BE49-F238E27FC236}">
                  <a16:creationId xmlns:a16="http://schemas.microsoft.com/office/drawing/2014/main" id="{52465F73-4B27-4C0F-9B02-510C8E083EB6}"/>
                </a:ext>
              </a:extLst>
            </p:cNvPr>
            <p:cNvSpPr/>
            <p:nvPr/>
          </p:nvSpPr>
          <p:spPr>
            <a:xfrm>
              <a:off x="-2202100" y="-2224223"/>
              <a:ext cx="16596200" cy="11284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50" name="9Slide.vn">
            <a:extLst>
              <a:ext uri="{FF2B5EF4-FFF2-40B4-BE49-F238E27FC236}">
                <a16:creationId xmlns:a16="http://schemas.microsoft.com/office/drawing/2014/main" id="{0F30810D-0BA7-48B5-9100-E09C5C296021}"/>
              </a:ext>
            </a:extLst>
          </p:cNvPr>
          <p:cNvSpPr>
            <a:spLocks noSelect="1"/>
          </p:cNvSpPr>
          <p:nvPr>
            <p:custDataLst>
              <p:tags r:id="rId13"/>
            </p:custDataLst>
          </p:nvPr>
        </p:nvSpPr>
        <p:spPr>
          <a:xfrm>
            <a:off x="6091428" y="-8915400"/>
            <a:ext cx="9144" cy="914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9Slide.vn">
            <a:extLst>
              <a:ext uri="{FF2B5EF4-FFF2-40B4-BE49-F238E27FC236}">
                <a16:creationId xmlns:a16="http://schemas.microsoft.com/office/drawing/2014/main" id="{5703AF2A-1D5F-4BD2-8904-9B6C863CB9B3}"/>
              </a:ext>
            </a:extLst>
          </p:cNvPr>
          <p:cNvSpPr>
            <a:spLocks noSelect="1"/>
          </p:cNvSpPr>
          <p:nvPr>
            <p:custDataLst>
              <p:tags r:id="rId14"/>
            </p:custDataLst>
          </p:nvPr>
        </p:nvSpPr>
        <p:spPr>
          <a:xfrm>
            <a:off x="6091428" y="15764256"/>
            <a:ext cx="9144" cy="914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oogle Shape;86;p1">
            <a:extLst>
              <a:ext uri="{FF2B5EF4-FFF2-40B4-BE49-F238E27FC236}">
                <a16:creationId xmlns:a16="http://schemas.microsoft.com/office/drawing/2014/main" id="{312366F2-B7D0-5343-4DEA-2D40ED984EC3}"/>
              </a:ext>
            </a:extLst>
          </p:cNvPr>
          <p:cNvPicPr preferRelativeResize="0"/>
          <p:nvPr/>
        </p:nvPicPr>
        <p:blipFill rotWithShape="1">
          <a:blip r:embed="rId15">
            <a:alphaModFix/>
          </a:blip>
          <a:srcRect/>
          <a:stretch/>
        </p:blipFill>
        <p:spPr>
          <a:xfrm>
            <a:off x="301194" y="183612"/>
            <a:ext cx="4501625" cy="886297"/>
          </a:xfrm>
          <a:prstGeom prst="rect">
            <a:avLst/>
          </a:prstGeom>
          <a:noFill/>
          <a:ln>
            <a:noFill/>
          </a:ln>
        </p:spPr>
      </p:pic>
      <p:pic>
        <p:nvPicPr>
          <p:cNvPr id="15" name="Picture 14">
            <a:extLst>
              <a:ext uri="{FF2B5EF4-FFF2-40B4-BE49-F238E27FC236}">
                <a16:creationId xmlns:a16="http://schemas.microsoft.com/office/drawing/2014/main" id="{49FBE2DB-4A0A-A4CE-92A3-A997D6CE28FA}"/>
              </a:ext>
            </a:extLst>
          </p:cNvPr>
          <p:cNvPicPr>
            <a:picLocks noChangeAspect="1"/>
          </p:cNvPicPr>
          <p:nvPr userDrawn="1"/>
        </p:nvPicPr>
        <p:blipFill>
          <a:blip r:embed="rId16"/>
          <a:stretch>
            <a:fillRect/>
          </a:stretch>
        </p:blipFill>
        <p:spPr>
          <a:xfrm>
            <a:off x="0" y="0"/>
            <a:ext cx="12192000" cy="6858000"/>
          </a:xfrm>
          <a:prstGeom prst="rect">
            <a:avLst/>
          </a:prstGeom>
        </p:spPr>
      </p:pic>
    </p:spTree>
    <p:extLst>
      <p:ext uri="{BB962C8B-B14F-4D97-AF65-F5344CB8AC3E}">
        <p14:creationId xmlns:p14="http://schemas.microsoft.com/office/powerpoint/2010/main" val="30738231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78" r:id="rId5"/>
    <p:sldLayoutId id="2147483679" r:id="rId6"/>
    <p:sldLayoutId id="2147483680" r:id="rId7"/>
    <p:sldLayoutId id="2147483681" r:id="rId8"/>
    <p:sldLayoutId id="2147483682" r:id="rId9"/>
    <p:sldLayoutId id="2147483683"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685789" rtl="0" eaLnBrk="1" latinLnBrk="0" hangingPunct="1">
        <a:lnSpc>
          <a:spcPct val="90000"/>
        </a:lnSpc>
        <a:spcBef>
          <a:spcPct val="0"/>
        </a:spcBef>
        <a:buNone/>
        <a:defRPr sz="3300" kern="1200">
          <a:solidFill>
            <a:schemeClr val="tx2"/>
          </a:solidFill>
          <a:latin typeface="+mj-lt"/>
          <a:ea typeface="+mj-ea"/>
          <a:cs typeface="+mj-cs"/>
        </a:defRPr>
      </a:lvl1pPr>
    </p:titleStyle>
    <p:bodyStyle>
      <a:lvl1pPr marL="171447" indent="-171447" algn="l" defTabSz="685789" rtl="0" eaLnBrk="1" latinLnBrk="0" hangingPunct="1">
        <a:lnSpc>
          <a:spcPct val="90000"/>
        </a:lnSpc>
        <a:spcBef>
          <a:spcPts val="750"/>
        </a:spcBef>
        <a:buFont typeface="Arial" panose="020B0604020202020204" pitchFamily="34" charset="0"/>
        <a:buChar char="•"/>
        <a:defRPr sz="2100" kern="1200">
          <a:solidFill>
            <a:schemeClr val="tx1">
              <a:lumMod val="50000"/>
              <a:lumOff val="50000"/>
            </a:schemeClr>
          </a:solidFill>
          <a:latin typeface="+mn-lt"/>
          <a:ea typeface="+mn-ea"/>
          <a:cs typeface="+mn-cs"/>
        </a:defRPr>
      </a:lvl1pPr>
      <a:lvl2pPr marL="514341" indent="-171447" algn="l" defTabSz="685789" rtl="0" eaLnBrk="1" latinLnBrk="0" hangingPunct="1">
        <a:lnSpc>
          <a:spcPct val="90000"/>
        </a:lnSpc>
        <a:spcBef>
          <a:spcPts val="375"/>
        </a:spcBef>
        <a:buFont typeface="Arial" panose="020B0604020202020204" pitchFamily="34" charset="0"/>
        <a:buChar char="•"/>
        <a:defRPr sz="1800" kern="1200">
          <a:solidFill>
            <a:schemeClr val="tx1">
              <a:lumMod val="50000"/>
              <a:lumOff val="50000"/>
            </a:schemeClr>
          </a:solidFill>
          <a:latin typeface="+mn-lt"/>
          <a:ea typeface="+mn-ea"/>
          <a:cs typeface="+mn-cs"/>
        </a:defRPr>
      </a:lvl2pPr>
      <a:lvl3pPr marL="857236" indent="-171447" algn="l" defTabSz="685789" rtl="0" eaLnBrk="1" latinLnBrk="0" hangingPunct="1">
        <a:lnSpc>
          <a:spcPct val="90000"/>
        </a:lnSpc>
        <a:spcBef>
          <a:spcPts val="375"/>
        </a:spcBef>
        <a:buFont typeface="Arial" panose="020B0604020202020204" pitchFamily="34" charset="0"/>
        <a:buChar char="•"/>
        <a:defRPr sz="1500" kern="1200">
          <a:solidFill>
            <a:schemeClr val="tx1">
              <a:lumMod val="50000"/>
              <a:lumOff val="50000"/>
            </a:schemeClr>
          </a:solidFill>
          <a:latin typeface="+mn-lt"/>
          <a:ea typeface="+mn-ea"/>
          <a:cs typeface="+mn-cs"/>
        </a:defRPr>
      </a:lvl3pPr>
      <a:lvl4pPr marL="1200130" indent="-171447" algn="l" defTabSz="685789" rtl="0" eaLnBrk="1" latinLnBrk="0" hangingPunct="1">
        <a:lnSpc>
          <a:spcPct val="90000"/>
        </a:lnSpc>
        <a:spcBef>
          <a:spcPts val="375"/>
        </a:spcBef>
        <a:buFont typeface="Arial" panose="020B0604020202020204" pitchFamily="34" charset="0"/>
        <a:buChar char="•"/>
        <a:defRPr sz="1350" kern="1200">
          <a:solidFill>
            <a:schemeClr val="tx1">
              <a:lumMod val="50000"/>
              <a:lumOff val="50000"/>
            </a:schemeClr>
          </a:solidFill>
          <a:latin typeface="+mn-lt"/>
          <a:ea typeface="+mn-ea"/>
          <a:cs typeface="+mn-cs"/>
        </a:defRPr>
      </a:lvl4pPr>
      <a:lvl5pPr marL="1543025" indent="-171447" algn="l" defTabSz="685789" rtl="0" eaLnBrk="1" latinLnBrk="0" hangingPunct="1">
        <a:lnSpc>
          <a:spcPct val="90000"/>
        </a:lnSpc>
        <a:spcBef>
          <a:spcPts val="375"/>
        </a:spcBef>
        <a:buFont typeface="Arial" panose="020B0604020202020204" pitchFamily="34" charset="0"/>
        <a:buChar char="•"/>
        <a:defRPr sz="1350" kern="1200">
          <a:solidFill>
            <a:schemeClr val="tx1">
              <a:lumMod val="50000"/>
              <a:lumOff val="50000"/>
            </a:schemeClr>
          </a:solidFill>
          <a:latin typeface="+mn-lt"/>
          <a:ea typeface="+mn-ea"/>
          <a:cs typeface="+mn-cs"/>
        </a:defRPr>
      </a:lvl5pPr>
      <a:lvl6pPr marL="1885919" indent="-171447" algn="l" defTabSz="68578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13" indent="-171447" algn="l" defTabSz="68578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07" indent="-171447" algn="l" defTabSz="68578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01" indent="-171447" algn="l" defTabSz="68578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9" rtl="0" eaLnBrk="1" latinLnBrk="0" hangingPunct="1">
        <a:defRPr sz="1350" kern="1200">
          <a:solidFill>
            <a:schemeClr val="tx1"/>
          </a:solidFill>
          <a:latin typeface="+mn-lt"/>
          <a:ea typeface="+mn-ea"/>
          <a:cs typeface="+mn-cs"/>
        </a:defRPr>
      </a:lvl1pPr>
      <a:lvl2pPr marL="342894" algn="l" defTabSz="685789" rtl="0" eaLnBrk="1" latinLnBrk="0" hangingPunct="1">
        <a:defRPr sz="1350" kern="1200">
          <a:solidFill>
            <a:schemeClr val="tx1"/>
          </a:solidFill>
          <a:latin typeface="+mn-lt"/>
          <a:ea typeface="+mn-ea"/>
          <a:cs typeface="+mn-cs"/>
        </a:defRPr>
      </a:lvl2pPr>
      <a:lvl3pPr marL="685789" algn="l" defTabSz="685789" rtl="0" eaLnBrk="1" latinLnBrk="0" hangingPunct="1">
        <a:defRPr sz="1350" kern="1200">
          <a:solidFill>
            <a:schemeClr val="tx1"/>
          </a:solidFill>
          <a:latin typeface="+mn-lt"/>
          <a:ea typeface="+mn-ea"/>
          <a:cs typeface="+mn-cs"/>
        </a:defRPr>
      </a:lvl3pPr>
      <a:lvl4pPr marL="1028683" algn="l" defTabSz="685789" rtl="0" eaLnBrk="1" latinLnBrk="0" hangingPunct="1">
        <a:defRPr sz="1350" kern="1200">
          <a:solidFill>
            <a:schemeClr val="tx1"/>
          </a:solidFill>
          <a:latin typeface="+mn-lt"/>
          <a:ea typeface="+mn-ea"/>
          <a:cs typeface="+mn-cs"/>
        </a:defRPr>
      </a:lvl4pPr>
      <a:lvl5pPr marL="1371577" algn="l" defTabSz="685789" rtl="0" eaLnBrk="1" latinLnBrk="0" hangingPunct="1">
        <a:defRPr sz="1350" kern="1200">
          <a:solidFill>
            <a:schemeClr val="tx1"/>
          </a:solidFill>
          <a:latin typeface="+mn-lt"/>
          <a:ea typeface="+mn-ea"/>
          <a:cs typeface="+mn-cs"/>
        </a:defRPr>
      </a:lvl5pPr>
      <a:lvl6pPr marL="1714472" algn="l" defTabSz="685789" rtl="0" eaLnBrk="1" latinLnBrk="0" hangingPunct="1">
        <a:defRPr sz="1350" kern="1200">
          <a:solidFill>
            <a:schemeClr val="tx1"/>
          </a:solidFill>
          <a:latin typeface="+mn-lt"/>
          <a:ea typeface="+mn-ea"/>
          <a:cs typeface="+mn-cs"/>
        </a:defRPr>
      </a:lvl6pPr>
      <a:lvl7pPr marL="2057366" algn="l" defTabSz="685789" rtl="0" eaLnBrk="1" latinLnBrk="0" hangingPunct="1">
        <a:defRPr sz="1350" kern="1200">
          <a:solidFill>
            <a:schemeClr val="tx1"/>
          </a:solidFill>
          <a:latin typeface="+mn-lt"/>
          <a:ea typeface="+mn-ea"/>
          <a:cs typeface="+mn-cs"/>
        </a:defRPr>
      </a:lvl7pPr>
      <a:lvl8pPr marL="2400260" algn="l" defTabSz="685789" rtl="0" eaLnBrk="1" latinLnBrk="0" hangingPunct="1">
        <a:defRPr sz="1350" kern="1200">
          <a:solidFill>
            <a:schemeClr val="tx1"/>
          </a:solidFill>
          <a:latin typeface="+mn-lt"/>
          <a:ea typeface="+mn-ea"/>
          <a:cs typeface="+mn-cs"/>
        </a:defRPr>
      </a:lvl8pPr>
      <a:lvl9pPr marL="2743154" algn="l" defTabSz="685789"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Xyn0Oh5jlTc?si=QV7jCljTwb6QNthj"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microsoft.com/office/2007/relationships/hdphoto" Target="../media/hdphoto6.wdp"/></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7.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2" name="TextBox 1">
            <a:extLst>
              <a:ext uri="{FF2B5EF4-FFF2-40B4-BE49-F238E27FC236}">
                <a16:creationId xmlns:a16="http://schemas.microsoft.com/office/drawing/2014/main" id="{D0D9E3AB-5B16-95E4-45A5-C87491E6CF17}"/>
              </a:ext>
            </a:extLst>
          </p:cNvPr>
          <p:cNvSpPr txBox="1"/>
          <p:nvPr/>
        </p:nvSpPr>
        <p:spPr>
          <a:xfrm>
            <a:off x="414201" y="3213100"/>
            <a:ext cx="5848210" cy="861774"/>
          </a:xfrm>
          <a:prstGeom prst="rect">
            <a:avLst/>
          </a:prstGeom>
          <a:noFill/>
        </p:spPr>
        <p:txBody>
          <a:bodyPr wrap="square" lIns="0" tIns="0" rIns="0" bIns="0" rtlCol="0">
            <a:spAutoFit/>
          </a:bodyPr>
          <a:lstStyle/>
          <a:p>
            <a:pPr algn="ctr"/>
            <a:r>
              <a:rPr lang="en-US" sz="2800" b="1">
                <a:solidFill>
                  <a:srgbClr val="FFFF00"/>
                </a:solidFill>
                <a:latin typeface="+mj-lt"/>
                <a:cs typeface="Arial" panose="020B0604020202020204" pitchFamily="34" charset="0"/>
              </a:rPr>
              <a:t>Chương 1</a:t>
            </a:r>
          </a:p>
          <a:p>
            <a:pPr algn="ctr"/>
            <a:r>
              <a:rPr lang="en-US" sz="2800" b="1">
                <a:solidFill>
                  <a:srgbClr val="FFFF00"/>
                </a:solidFill>
                <a:latin typeface="+mj-lt"/>
                <a:cs typeface="Arial" panose="020B0604020202020204" pitchFamily="34" charset="0"/>
              </a:rPr>
              <a:t>TỔNG QUAN VỀ HỆ THỐNG NHÚNG</a:t>
            </a:r>
            <a:endParaRPr lang="en-VN" sz="2800" b="1" dirty="0">
              <a:solidFill>
                <a:srgbClr val="FFFF00"/>
              </a:solidFill>
              <a:latin typeface="+mj-lt"/>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937A1-BC92-44FB-B31D-ED8BA8158D74}"/>
              </a:ext>
            </a:extLst>
          </p:cNvPr>
          <p:cNvSpPr>
            <a:spLocks noGrp="1"/>
          </p:cNvSpPr>
          <p:nvPr>
            <p:ph type="title"/>
          </p:nvPr>
        </p:nvSpPr>
        <p:spPr/>
        <p:txBody>
          <a:bodyPr>
            <a:normAutofit/>
          </a:bodyPr>
          <a:lstStyle/>
          <a:p>
            <a:r>
              <a:rPr lang="en-US"/>
              <a:t>NỘI DUNG</a:t>
            </a:r>
            <a:endParaRPr lang="en-US" b="1" dirty="0">
              <a:solidFill>
                <a:srgbClr val="0072BB"/>
              </a:solidFill>
            </a:endParaRPr>
          </a:p>
        </p:txBody>
      </p:sp>
      <p:sp>
        <p:nvSpPr>
          <p:cNvPr id="4" name="Slide Number Placeholder 3">
            <a:extLst>
              <a:ext uri="{FF2B5EF4-FFF2-40B4-BE49-F238E27FC236}">
                <a16:creationId xmlns:a16="http://schemas.microsoft.com/office/drawing/2014/main" id="{7BCB3FC1-9308-4B79-B52D-CA81A7241C1C}"/>
              </a:ext>
            </a:extLst>
          </p:cNvPr>
          <p:cNvSpPr>
            <a:spLocks noGrp="1"/>
          </p:cNvSpPr>
          <p:nvPr>
            <p:ph type="sldNum" sz="quarter" idx="12"/>
          </p:nvPr>
        </p:nvSpPr>
        <p:spPr/>
        <p:txBody>
          <a:bodyPr/>
          <a:lstStyle/>
          <a:p>
            <a:fld id="{E6459DFB-86F3-43FA-8567-2EA6E426AE90}" type="slidenum">
              <a:rPr lang="ja-JP" altLang="en-US" smtClean="0"/>
              <a:pPr/>
              <a:t>2</a:t>
            </a:fld>
            <a:endParaRPr lang="ja-JP" altLang="en-US"/>
          </a:p>
        </p:txBody>
      </p:sp>
      <p:sp>
        <p:nvSpPr>
          <p:cNvPr id="3" name="Content Placeholder 2">
            <a:extLst>
              <a:ext uri="{FF2B5EF4-FFF2-40B4-BE49-F238E27FC236}">
                <a16:creationId xmlns:a16="http://schemas.microsoft.com/office/drawing/2014/main" id="{3FA8B0D6-234C-7F05-1786-1829A60877F0}"/>
              </a:ext>
            </a:extLst>
          </p:cNvPr>
          <p:cNvSpPr>
            <a:spLocks noGrp="1"/>
          </p:cNvSpPr>
          <p:nvPr>
            <p:ph sz="quarter" idx="13"/>
          </p:nvPr>
        </p:nvSpPr>
        <p:spPr/>
        <p:txBody>
          <a:bodyPr/>
          <a:lstStyle/>
          <a:p>
            <a:r>
              <a:rPr lang="en-US">
                <a:latin typeface="#9Slide02 Noi dung dai"/>
              </a:rPr>
              <a:t>Giới thiệu về hệ thống nhúng</a:t>
            </a:r>
          </a:p>
          <a:p>
            <a:r>
              <a:rPr lang="en-US">
                <a:latin typeface="#9Slide02 Noi dung dai"/>
              </a:rPr>
              <a:t>Lịch sử phát triển của hệ thống nhúng</a:t>
            </a:r>
          </a:p>
          <a:p>
            <a:r>
              <a:rPr lang="en-US">
                <a:latin typeface="#9Slide02 Noi dung dai"/>
              </a:rPr>
              <a:t>Kiến trúc điển hình của hệ thống nhúng</a:t>
            </a:r>
          </a:p>
          <a:p>
            <a:r>
              <a:rPr lang="en-US">
                <a:latin typeface="#9Slide02 Noi dung dai"/>
              </a:rPr>
              <a:t>Đặc điểm của hệ thống nhúng</a:t>
            </a:r>
          </a:p>
          <a:p>
            <a:r>
              <a:rPr lang="en-US">
                <a:latin typeface="#9Slide02 Noi dung dai"/>
              </a:rPr>
              <a:t>Phân loại hệ thống nhúng</a:t>
            </a:r>
          </a:p>
          <a:p>
            <a:r>
              <a:rPr lang="en-US">
                <a:latin typeface="#9Slide02 Noi dung dai"/>
              </a:rPr>
              <a:t>Khuynh hướng, tương lai và thị trường của bộ xử lý nhúng</a:t>
            </a:r>
          </a:p>
          <a:p>
            <a:endParaRPr lang="en-US">
              <a:latin typeface="#9Slide02 Noi dung dai"/>
            </a:endParaRPr>
          </a:p>
        </p:txBody>
      </p:sp>
    </p:spTree>
    <p:extLst>
      <p:ext uri="{BB962C8B-B14F-4D97-AF65-F5344CB8AC3E}">
        <p14:creationId xmlns:p14="http://schemas.microsoft.com/office/powerpoint/2010/main" val="104288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699E-B5EF-02DE-AE93-7812FD0E0461}"/>
              </a:ext>
            </a:extLst>
          </p:cNvPr>
          <p:cNvSpPr>
            <a:spLocks noGrp="1"/>
          </p:cNvSpPr>
          <p:nvPr>
            <p:ph type="title"/>
          </p:nvPr>
        </p:nvSpPr>
        <p:spPr/>
        <p:txBody>
          <a:bodyPr/>
          <a:lstStyle/>
          <a:p>
            <a:r>
              <a:rPr lang="en-US"/>
              <a:t>KHÁI NIỆM HỆ THỐNG NHÚNG</a:t>
            </a:r>
          </a:p>
        </p:txBody>
      </p:sp>
      <p:sp>
        <p:nvSpPr>
          <p:cNvPr id="3" name="Content Placeholder 2">
            <a:extLst>
              <a:ext uri="{FF2B5EF4-FFF2-40B4-BE49-F238E27FC236}">
                <a16:creationId xmlns:a16="http://schemas.microsoft.com/office/drawing/2014/main" id="{DB6F3DD1-D3BF-152A-D46E-411C27EAC2D6}"/>
              </a:ext>
            </a:extLst>
          </p:cNvPr>
          <p:cNvSpPr>
            <a:spLocks noGrp="1"/>
          </p:cNvSpPr>
          <p:nvPr>
            <p:ph sz="quarter" idx="13"/>
          </p:nvPr>
        </p:nvSpPr>
        <p:spPr/>
        <p:txBody>
          <a:bodyPr/>
          <a:lstStyle/>
          <a:p>
            <a:r>
              <a:rPr lang="en-US"/>
              <a:t>Hệ thống nhúng (Embedded System) là:</a:t>
            </a:r>
          </a:p>
          <a:p>
            <a:pPr lvl="1"/>
            <a:r>
              <a:rPr lang="en-US" i="1"/>
              <a:t>Any device that includes a programmable computer but is not itself a general-purpose computer </a:t>
            </a:r>
            <a:r>
              <a:rPr lang="en-US"/>
              <a:t>– </a:t>
            </a:r>
            <a:r>
              <a:rPr lang="en-US" b="1"/>
              <a:t>Wayne Wolf</a:t>
            </a:r>
          </a:p>
          <a:p>
            <a:pPr lvl="1"/>
            <a:r>
              <a:rPr lang="en-US" i="1"/>
              <a:t>An embedded computer system includes a micro-computer with mechanical, chemical and electrical devices attached to it, programmed for a specific dedicated purpose, and packaged as a complete system </a:t>
            </a:r>
            <a:r>
              <a:rPr lang="en-US"/>
              <a:t>– </a:t>
            </a:r>
            <a:r>
              <a:rPr lang="en-US" b="1"/>
              <a:t>Jonathan W. Valvano</a:t>
            </a:r>
          </a:p>
          <a:p>
            <a:pPr lvl="1"/>
            <a:r>
              <a:rPr lang="en-US" i="1"/>
              <a:t>An embedded system is one that has computer-hardware with software embedded in it as one of its most important component </a:t>
            </a:r>
            <a:r>
              <a:rPr lang="en-US"/>
              <a:t>– </a:t>
            </a:r>
            <a:r>
              <a:rPr lang="en-US" b="1"/>
              <a:t>Raj Kamal</a:t>
            </a:r>
          </a:p>
        </p:txBody>
      </p:sp>
      <p:pic>
        <p:nvPicPr>
          <p:cNvPr id="17" name="Picture 16">
            <a:extLst>
              <a:ext uri="{FF2B5EF4-FFF2-40B4-BE49-F238E27FC236}">
                <a16:creationId xmlns:a16="http://schemas.microsoft.com/office/drawing/2014/main" id="{BB571A34-F2BE-0B76-666B-9B012CDA46E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3375099" y="4741953"/>
            <a:ext cx="6058746" cy="1714739"/>
          </a:xfrm>
          <a:prstGeom prst="rect">
            <a:avLst/>
          </a:prstGeom>
        </p:spPr>
      </p:pic>
    </p:spTree>
    <p:extLst>
      <p:ext uri="{BB962C8B-B14F-4D97-AF65-F5344CB8AC3E}">
        <p14:creationId xmlns:p14="http://schemas.microsoft.com/office/powerpoint/2010/main" val="155185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0DFB-4BF7-91BE-2775-7EEC80BA6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69520-2952-DEF0-D822-BEC28D8771EA}"/>
              </a:ext>
            </a:extLst>
          </p:cNvPr>
          <p:cNvSpPr>
            <a:spLocks noGrp="1"/>
          </p:cNvSpPr>
          <p:nvPr>
            <p:ph type="title"/>
          </p:nvPr>
        </p:nvSpPr>
        <p:spPr/>
        <p:txBody>
          <a:bodyPr/>
          <a:lstStyle/>
          <a:p>
            <a:r>
              <a:rPr lang="en-US"/>
              <a:t>KHÁI NIỆM HỆ THỐNG NHÚNG</a:t>
            </a:r>
          </a:p>
        </p:txBody>
      </p:sp>
      <p:sp>
        <p:nvSpPr>
          <p:cNvPr id="3" name="Content Placeholder 2">
            <a:extLst>
              <a:ext uri="{FF2B5EF4-FFF2-40B4-BE49-F238E27FC236}">
                <a16:creationId xmlns:a16="http://schemas.microsoft.com/office/drawing/2014/main" id="{401E6BB8-217C-920A-2FC8-B7326DC5FE47}"/>
              </a:ext>
            </a:extLst>
          </p:cNvPr>
          <p:cNvSpPr>
            <a:spLocks noGrp="1"/>
          </p:cNvSpPr>
          <p:nvPr>
            <p:ph sz="quarter" idx="13"/>
          </p:nvPr>
        </p:nvSpPr>
        <p:spPr/>
        <p:txBody>
          <a:bodyPr/>
          <a:lstStyle/>
          <a:p>
            <a:r>
              <a:rPr lang="en-US"/>
              <a:t>Hệ thống nhúng (Embedded System) là một hệ thống tính toán được </a:t>
            </a:r>
            <a:r>
              <a:rPr lang="en-US" b="1">
                <a:solidFill>
                  <a:srgbClr val="0072BB"/>
                </a:solidFill>
              </a:rPr>
              <a:t>tích hợp </a:t>
            </a:r>
            <a:r>
              <a:rPr lang="en-US"/>
              <a:t>vào trong một sản phẩm hoặc hệ thống lớn hơn để thực hiện </a:t>
            </a:r>
            <a:r>
              <a:rPr lang="en-US" b="1">
                <a:solidFill>
                  <a:srgbClr val="0072BB"/>
                </a:solidFill>
              </a:rPr>
              <a:t>một chức năng </a:t>
            </a:r>
            <a:r>
              <a:rPr lang="en-US"/>
              <a:t>hoặc </a:t>
            </a:r>
            <a:r>
              <a:rPr lang="en-US" b="1">
                <a:solidFill>
                  <a:srgbClr val="0072BB"/>
                </a:solidFill>
              </a:rPr>
              <a:t>nhóm chức năng chuyên biệt</a:t>
            </a:r>
            <a:r>
              <a:rPr lang="en-US"/>
              <a:t>.</a:t>
            </a:r>
          </a:p>
        </p:txBody>
      </p:sp>
      <p:grpSp>
        <p:nvGrpSpPr>
          <p:cNvPr id="6" name="Group 5">
            <a:extLst>
              <a:ext uri="{FF2B5EF4-FFF2-40B4-BE49-F238E27FC236}">
                <a16:creationId xmlns:a16="http://schemas.microsoft.com/office/drawing/2014/main" id="{7D8FA7BD-743E-87D4-5316-B19F22E27E6A}"/>
              </a:ext>
            </a:extLst>
          </p:cNvPr>
          <p:cNvGrpSpPr/>
          <p:nvPr/>
        </p:nvGrpSpPr>
        <p:grpSpPr>
          <a:xfrm>
            <a:off x="859794" y="3153811"/>
            <a:ext cx="10241280" cy="1417320"/>
            <a:chOff x="969326" y="2015292"/>
            <a:chExt cx="10241280" cy="1417320"/>
          </a:xfrm>
        </p:grpSpPr>
        <p:sp>
          <p:nvSpPr>
            <p:cNvPr id="7" name="Shape 3">
              <a:extLst>
                <a:ext uri="{FF2B5EF4-FFF2-40B4-BE49-F238E27FC236}">
                  <a16:creationId xmlns:a16="http://schemas.microsoft.com/office/drawing/2014/main" id="{D7FDD95A-4CCD-B6A8-9A31-8BB1211939E9}"/>
                </a:ext>
              </a:extLst>
            </p:cNvPr>
            <p:cNvSpPr/>
            <p:nvPr/>
          </p:nvSpPr>
          <p:spPr>
            <a:xfrm>
              <a:off x="1015046" y="2015292"/>
              <a:ext cx="2926080" cy="685800"/>
            </a:xfrm>
            <a:prstGeom prst="roundRect">
              <a:avLst>
                <a:gd name="adj" fmla="val 13333"/>
              </a:avLst>
            </a:prstGeom>
            <a:solidFill>
              <a:srgbClr val="0070C0"/>
            </a:solidFill>
            <a:ln w="12700">
              <a:solidFill>
                <a:srgbClr val="0070C0"/>
              </a:solidFill>
              <a:prstDash val="solid"/>
            </a:ln>
          </p:spPr>
          <p:txBody>
            <a:bodyPr/>
            <a:lstStyle/>
            <a:p>
              <a:endParaRPr lang="en-US" sz="4400"/>
            </a:p>
          </p:txBody>
        </p:sp>
        <p:sp>
          <p:nvSpPr>
            <p:cNvPr id="8" name="Text 4">
              <a:extLst>
                <a:ext uri="{FF2B5EF4-FFF2-40B4-BE49-F238E27FC236}">
                  <a16:creationId xmlns:a16="http://schemas.microsoft.com/office/drawing/2014/main" id="{56ED9D59-2DAB-0BBB-5592-31AC0DA71079}"/>
                </a:ext>
              </a:extLst>
            </p:cNvPr>
            <p:cNvSpPr/>
            <p:nvPr/>
          </p:nvSpPr>
          <p:spPr>
            <a:xfrm>
              <a:off x="1015046" y="2097588"/>
              <a:ext cx="2926080" cy="594360"/>
            </a:xfrm>
            <a:prstGeom prst="rect">
              <a:avLst/>
            </a:prstGeom>
            <a:noFill/>
            <a:ln/>
          </p:spPr>
          <p:txBody>
            <a:bodyPr wrap="square" lIns="0" tIns="0" rIns="0" bIns="0" rtlCol="0" anchor="ctr"/>
            <a:lstStyle/>
            <a:p>
              <a:pPr marL="0" indent="0" algn="ctr">
                <a:buNone/>
              </a:pPr>
              <a:r>
                <a:rPr lang="en-US" sz="1800" b="1" dirty="0">
                  <a:solidFill>
                    <a:srgbClr val="FFFFFF"/>
                  </a:solidFill>
                </a:rPr>
                <a:t>EMBEDDED</a:t>
              </a:r>
              <a:endParaRPr lang="en-US" sz="1800" dirty="0"/>
            </a:p>
          </p:txBody>
        </p:sp>
        <p:sp>
          <p:nvSpPr>
            <p:cNvPr id="9" name="Shape 5">
              <a:extLst>
                <a:ext uri="{FF2B5EF4-FFF2-40B4-BE49-F238E27FC236}">
                  <a16:creationId xmlns:a16="http://schemas.microsoft.com/office/drawing/2014/main" id="{6DF9954C-F59E-7C5B-5580-A06723DAFF6A}"/>
                </a:ext>
              </a:extLst>
            </p:cNvPr>
            <p:cNvSpPr/>
            <p:nvPr/>
          </p:nvSpPr>
          <p:spPr>
            <a:xfrm>
              <a:off x="4626926" y="2015292"/>
              <a:ext cx="2926080" cy="685800"/>
            </a:xfrm>
            <a:prstGeom prst="roundRect">
              <a:avLst>
                <a:gd name="adj" fmla="val 13333"/>
              </a:avLst>
            </a:prstGeom>
            <a:solidFill>
              <a:srgbClr val="E67E22"/>
            </a:solidFill>
            <a:ln w="12700">
              <a:solidFill>
                <a:srgbClr val="E67E22"/>
              </a:solidFill>
              <a:prstDash val="solid"/>
            </a:ln>
          </p:spPr>
          <p:txBody>
            <a:bodyPr/>
            <a:lstStyle/>
            <a:p>
              <a:endParaRPr lang="en-US" sz="4400"/>
            </a:p>
          </p:txBody>
        </p:sp>
        <p:sp>
          <p:nvSpPr>
            <p:cNvPr id="10" name="Text 6">
              <a:extLst>
                <a:ext uri="{FF2B5EF4-FFF2-40B4-BE49-F238E27FC236}">
                  <a16:creationId xmlns:a16="http://schemas.microsoft.com/office/drawing/2014/main" id="{0ADA0542-026A-5BE3-20A4-71DBE0FF379C}"/>
                </a:ext>
              </a:extLst>
            </p:cNvPr>
            <p:cNvSpPr/>
            <p:nvPr/>
          </p:nvSpPr>
          <p:spPr>
            <a:xfrm>
              <a:off x="4626926" y="2097588"/>
              <a:ext cx="2926080" cy="594360"/>
            </a:xfrm>
            <a:prstGeom prst="rect">
              <a:avLst/>
            </a:prstGeom>
            <a:noFill/>
            <a:ln/>
          </p:spPr>
          <p:txBody>
            <a:bodyPr wrap="square" lIns="0" tIns="0" rIns="0" bIns="0" rtlCol="0" anchor="ctr"/>
            <a:lstStyle/>
            <a:p>
              <a:pPr marL="0" indent="0" algn="ctr">
                <a:buNone/>
              </a:pPr>
              <a:r>
                <a:rPr lang="en-US" sz="1800" b="1" dirty="0">
                  <a:solidFill>
                    <a:srgbClr val="FFFFFF"/>
                  </a:solidFill>
                </a:rPr>
                <a:t>DEDICATED</a:t>
              </a:r>
              <a:endParaRPr lang="en-US" sz="1800" dirty="0"/>
            </a:p>
          </p:txBody>
        </p:sp>
        <p:sp>
          <p:nvSpPr>
            <p:cNvPr id="11" name="Shape 7">
              <a:extLst>
                <a:ext uri="{FF2B5EF4-FFF2-40B4-BE49-F238E27FC236}">
                  <a16:creationId xmlns:a16="http://schemas.microsoft.com/office/drawing/2014/main" id="{42637D63-400B-3FF6-8DD3-733BE2887725}"/>
                </a:ext>
              </a:extLst>
            </p:cNvPr>
            <p:cNvSpPr/>
            <p:nvPr/>
          </p:nvSpPr>
          <p:spPr>
            <a:xfrm>
              <a:off x="8238806" y="2015292"/>
              <a:ext cx="2926080" cy="685800"/>
            </a:xfrm>
            <a:prstGeom prst="roundRect">
              <a:avLst>
                <a:gd name="adj" fmla="val 13333"/>
              </a:avLst>
            </a:prstGeom>
            <a:solidFill>
              <a:srgbClr val="2E8B57"/>
            </a:solidFill>
            <a:ln w="12700">
              <a:solidFill>
                <a:srgbClr val="2E8B57"/>
              </a:solidFill>
              <a:prstDash val="solid"/>
            </a:ln>
          </p:spPr>
          <p:txBody>
            <a:bodyPr/>
            <a:lstStyle/>
            <a:p>
              <a:endParaRPr lang="en-US" sz="4400"/>
            </a:p>
          </p:txBody>
        </p:sp>
        <p:sp>
          <p:nvSpPr>
            <p:cNvPr id="12" name="Text 8">
              <a:extLst>
                <a:ext uri="{FF2B5EF4-FFF2-40B4-BE49-F238E27FC236}">
                  <a16:creationId xmlns:a16="http://schemas.microsoft.com/office/drawing/2014/main" id="{321CF98D-C1CF-6D88-CAA7-0BF28A85C5BB}"/>
                </a:ext>
              </a:extLst>
            </p:cNvPr>
            <p:cNvSpPr/>
            <p:nvPr/>
          </p:nvSpPr>
          <p:spPr>
            <a:xfrm>
              <a:off x="8238806" y="2097588"/>
              <a:ext cx="2926080" cy="594360"/>
            </a:xfrm>
            <a:prstGeom prst="rect">
              <a:avLst/>
            </a:prstGeom>
            <a:noFill/>
            <a:ln/>
          </p:spPr>
          <p:txBody>
            <a:bodyPr wrap="square" lIns="0" tIns="0" rIns="0" bIns="0" rtlCol="0" anchor="ctr"/>
            <a:lstStyle/>
            <a:p>
              <a:pPr marL="0" indent="0" algn="ctr">
                <a:buNone/>
              </a:pPr>
              <a:r>
                <a:rPr lang="en-US" sz="1800" b="1" dirty="0">
                  <a:solidFill>
                    <a:srgbClr val="FFFFFF"/>
                  </a:solidFill>
                </a:rPr>
                <a:t>INTERACTIVE</a:t>
              </a:r>
              <a:endParaRPr lang="en-US" sz="1800" dirty="0"/>
            </a:p>
          </p:txBody>
        </p:sp>
        <p:sp>
          <p:nvSpPr>
            <p:cNvPr id="13" name="Text 9">
              <a:extLst>
                <a:ext uri="{FF2B5EF4-FFF2-40B4-BE49-F238E27FC236}">
                  <a16:creationId xmlns:a16="http://schemas.microsoft.com/office/drawing/2014/main" id="{74670442-FCE7-68F7-901C-953FB61AA179}"/>
                </a:ext>
              </a:extLst>
            </p:cNvPr>
            <p:cNvSpPr/>
            <p:nvPr/>
          </p:nvSpPr>
          <p:spPr>
            <a:xfrm>
              <a:off x="969326" y="2929692"/>
              <a:ext cx="3017520" cy="502920"/>
            </a:xfrm>
            <a:prstGeom prst="rect">
              <a:avLst/>
            </a:prstGeom>
            <a:noFill/>
            <a:ln/>
          </p:spPr>
          <p:txBody>
            <a:bodyPr wrap="square" lIns="0" tIns="0" rIns="0" bIns="0" rtlCol="0" anchor="ctr"/>
            <a:lstStyle/>
            <a:p>
              <a:pPr marL="0" indent="0" algn="ctr">
                <a:buNone/>
              </a:pPr>
              <a:r>
                <a:rPr lang="en-US" sz="2000" dirty="0">
                  <a:solidFill>
                    <a:srgbClr val="0B1B2E"/>
                  </a:solidFill>
                </a:rPr>
                <a:t>Bộ xử lý nằm bên </a:t>
              </a:r>
              <a:r>
                <a:rPr lang="en-US" sz="2000">
                  <a:solidFill>
                    <a:srgbClr val="0B1B2E"/>
                  </a:solidFill>
                </a:rPr>
                <a:t>trong </a:t>
              </a:r>
            </a:p>
            <a:p>
              <a:pPr marL="0" indent="0" algn="ctr">
                <a:buNone/>
              </a:pPr>
              <a:r>
                <a:rPr lang="en-US" sz="2000">
                  <a:solidFill>
                    <a:srgbClr val="0B1B2E"/>
                  </a:solidFill>
                </a:rPr>
                <a:t>sản </a:t>
              </a:r>
              <a:r>
                <a:rPr lang="en-US" sz="2000" dirty="0">
                  <a:solidFill>
                    <a:srgbClr val="0B1B2E"/>
                  </a:solidFill>
                </a:rPr>
                <a:t>phẩm</a:t>
              </a:r>
              <a:endParaRPr lang="en-US" sz="2000" dirty="0"/>
            </a:p>
          </p:txBody>
        </p:sp>
        <p:sp>
          <p:nvSpPr>
            <p:cNvPr id="14" name="Text 10">
              <a:extLst>
                <a:ext uri="{FF2B5EF4-FFF2-40B4-BE49-F238E27FC236}">
                  <a16:creationId xmlns:a16="http://schemas.microsoft.com/office/drawing/2014/main" id="{9B32E8D3-C341-D91B-9839-06C50AE5FFF8}"/>
                </a:ext>
              </a:extLst>
            </p:cNvPr>
            <p:cNvSpPr/>
            <p:nvPr/>
          </p:nvSpPr>
          <p:spPr>
            <a:xfrm>
              <a:off x="4822345" y="2929692"/>
              <a:ext cx="2535242" cy="502920"/>
            </a:xfrm>
            <a:prstGeom prst="rect">
              <a:avLst/>
            </a:prstGeom>
            <a:noFill/>
            <a:ln/>
          </p:spPr>
          <p:txBody>
            <a:bodyPr wrap="square" lIns="0" tIns="0" rIns="0" bIns="0" rtlCol="0" anchor="ctr"/>
            <a:lstStyle/>
            <a:p>
              <a:pPr marL="0" indent="0" algn="ctr">
                <a:buNone/>
              </a:pPr>
              <a:r>
                <a:rPr lang="en-US" sz="2000" dirty="0">
                  <a:solidFill>
                    <a:srgbClr val="0B1B2E"/>
                  </a:solidFill>
                </a:rPr>
                <a:t>Thiết kế cho chức năng cụ thể</a:t>
              </a:r>
              <a:endParaRPr lang="en-US" sz="2000" dirty="0"/>
            </a:p>
          </p:txBody>
        </p:sp>
        <p:sp>
          <p:nvSpPr>
            <p:cNvPr id="15" name="Text 11">
              <a:extLst>
                <a:ext uri="{FF2B5EF4-FFF2-40B4-BE49-F238E27FC236}">
                  <a16:creationId xmlns:a16="http://schemas.microsoft.com/office/drawing/2014/main" id="{3D10693D-2F61-001E-17DF-CAD8F90DCC3B}"/>
                </a:ext>
              </a:extLst>
            </p:cNvPr>
            <p:cNvSpPr/>
            <p:nvPr/>
          </p:nvSpPr>
          <p:spPr>
            <a:xfrm>
              <a:off x="8193086" y="2929692"/>
              <a:ext cx="3017520" cy="502920"/>
            </a:xfrm>
            <a:prstGeom prst="rect">
              <a:avLst/>
            </a:prstGeom>
            <a:noFill/>
            <a:ln/>
          </p:spPr>
          <p:txBody>
            <a:bodyPr wrap="square" lIns="0" tIns="0" rIns="0" bIns="0" rtlCol="0" anchor="ctr"/>
            <a:lstStyle/>
            <a:p>
              <a:pPr marL="0" indent="0" algn="ctr">
                <a:buNone/>
              </a:pPr>
              <a:r>
                <a:rPr lang="en-US" sz="2000" dirty="0">
                  <a:solidFill>
                    <a:srgbClr val="0B1B2E"/>
                  </a:solidFill>
                </a:rPr>
                <a:t>Đọc dữ liệu và tác động ra môi trường</a:t>
              </a:r>
              <a:endParaRPr lang="en-US" sz="2000" dirty="0"/>
            </a:p>
          </p:txBody>
        </p:sp>
      </p:grpSp>
      <p:sp>
        <p:nvSpPr>
          <p:cNvPr id="4" name="Rectangle 3">
            <a:extLst>
              <a:ext uri="{FF2B5EF4-FFF2-40B4-BE49-F238E27FC236}">
                <a16:creationId xmlns:a16="http://schemas.microsoft.com/office/drawing/2014/main" id="{4C75EC73-156C-11C0-9D7E-21CFDDA260CE}"/>
              </a:ext>
            </a:extLst>
          </p:cNvPr>
          <p:cNvSpPr/>
          <p:nvPr/>
        </p:nvSpPr>
        <p:spPr>
          <a:xfrm>
            <a:off x="953766" y="5243513"/>
            <a:ext cx="10241280" cy="6858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171BB"/>
                </a:solidFill>
              </a:rPr>
              <a:t>Laptop có phải là một hệ thống nhúng?</a:t>
            </a:r>
          </a:p>
        </p:txBody>
      </p:sp>
    </p:spTree>
    <p:extLst>
      <p:ext uri="{BB962C8B-B14F-4D97-AF65-F5344CB8AC3E}">
        <p14:creationId xmlns:p14="http://schemas.microsoft.com/office/powerpoint/2010/main" val="214768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B4F4E-CA7C-E2E1-AF97-7EB0A236DC34}"/>
              </a:ext>
            </a:extLst>
          </p:cNvPr>
          <p:cNvSpPr>
            <a:spLocks noGrp="1"/>
          </p:cNvSpPr>
          <p:nvPr>
            <p:ph type="title"/>
          </p:nvPr>
        </p:nvSpPr>
        <p:spPr>
          <a:xfrm>
            <a:off x="695005" y="689729"/>
            <a:ext cx="11251571" cy="1325563"/>
          </a:xfrm>
        </p:spPr>
        <p:txBody>
          <a:bodyPr/>
          <a:lstStyle/>
          <a:p>
            <a:r>
              <a:rPr lang="en-US"/>
              <a:t>EMBEDDED SYSTEM VS GENERAL PURPOSE COMPUTER</a:t>
            </a:r>
          </a:p>
        </p:txBody>
      </p:sp>
      <p:pic>
        <p:nvPicPr>
          <p:cNvPr id="5" name="Content Placeholder 4">
            <a:extLst>
              <a:ext uri="{FF2B5EF4-FFF2-40B4-BE49-F238E27FC236}">
                <a16:creationId xmlns:a16="http://schemas.microsoft.com/office/drawing/2014/main" id="{FDB3245C-9A96-FFC7-AE75-EE6BB5B35928}"/>
              </a:ext>
            </a:extLst>
          </p:cNvPr>
          <p:cNvPicPr>
            <a:picLocks noGrp="1" noChangeAspect="1"/>
          </p:cNvPicPr>
          <p:nvPr>
            <p:ph sz="quarter" idx="13"/>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098808" y="1701466"/>
            <a:ext cx="9994383" cy="4799346"/>
          </a:xfrm>
          <a:prstGeom prst="rect">
            <a:avLst/>
          </a:prstGeom>
        </p:spPr>
      </p:pic>
    </p:spTree>
    <p:extLst>
      <p:ext uri="{BB962C8B-B14F-4D97-AF65-F5344CB8AC3E}">
        <p14:creationId xmlns:p14="http://schemas.microsoft.com/office/powerpoint/2010/main" val="2374299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621F0-9BF6-4F37-8114-5389730C7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05784-6F0C-E8CC-25F6-09B193760130}"/>
              </a:ext>
            </a:extLst>
          </p:cNvPr>
          <p:cNvSpPr>
            <a:spLocks noGrp="1"/>
          </p:cNvSpPr>
          <p:nvPr>
            <p:ph type="title"/>
          </p:nvPr>
        </p:nvSpPr>
        <p:spPr>
          <a:xfrm>
            <a:off x="695005" y="689729"/>
            <a:ext cx="11251571" cy="1325563"/>
          </a:xfrm>
        </p:spPr>
        <p:txBody>
          <a:bodyPr/>
          <a:lstStyle/>
          <a:p>
            <a:r>
              <a:rPr lang="en-US"/>
              <a:t>EMBEDDED SYSTEM VS GENERAL PURPOSE COMPUTER</a:t>
            </a:r>
          </a:p>
        </p:txBody>
      </p:sp>
      <p:pic>
        <p:nvPicPr>
          <p:cNvPr id="7" name="Content Placeholder 6">
            <a:extLst>
              <a:ext uri="{FF2B5EF4-FFF2-40B4-BE49-F238E27FC236}">
                <a16:creationId xmlns:a16="http://schemas.microsoft.com/office/drawing/2014/main" id="{13D16165-F0DF-3455-30A7-A36DFDF6CB55}"/>
              </a:ext>
            </a:extLst>
          </p:cNvPr>
          <p:cNvPicPr>
            <a:picLocks noGrp="1" noChangeAspect="1"/>
          </p:cNvPicPr>
          <p:nvPr>
            <p:ph sz="quarter" idx="13"/>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185863" y="1738076"/>
            <a:ext cx="10021012" cy="3315433"/>
          </a:xfrm>
          <a:prstGeom prst="rect">
            <a:avLst/>
          </a:prstGeom>
        </p:spPr>
      </p:pic>
      <p:sp>
        <p:nvSpPr>
          <p:cNvPr id="9" name="Rectangle 8">
            <a:extLst>
              <a:ext uri="{FF2B5EF4-FFF2-40B4-BE49-F238E27FC236}">
                <a16:creationId xmlns:a16="http://schemas.microsoft.com/office/drawing/2014/main" id="{B5A26F7F-8E91-D0C7-1A65-A2E432CD8143}"/>
              </a:ext>
            </a:extLst>
          </p:cNvPr>
          <p:cNvSpPr/>
          <p:nvPr/>
        </p:nvSpPr>
        <p:spPr>
          <a:xfrm>
            <a:off x="953766" y="5243513"/>
            <a:ext cx="10241280" cy="6858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171BB"/>
                </a:solidFill>
              </a:rPr>
              <a:t>Kể tên các thiết bị có hệ thống nhúng mà em biết?</a:t>
            </a:r>
          </a:p>
        </p:txBody>
      </p:sp>
    </p:spTree>
    <p:extLst>
      <p:ext uri="{BB962C8B-B14F-4D97-AF65-F5344CB8AC3E}">
        <p14:creationId xmlns:p14="http://schemas.microsoft.com/office/powerpoint/2010/main" val="156413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F38EA-5CDA-7A50-5CEF-8C9125FBDBB6}"/>
              </a:ext>
            </a:extLst>
          </p:cNvPr>
          <p:cNvSpPr>
            <a:spLocks noGrp="1"/>
          </p:cNvSpPr>
          <p:nvPr>
            <p:ph type="title"/>
          </p:nvPr>
        </p:nvSpPr>
        <p:spPr/>
        <p:txBody>
          <a:bodyPr/>
          <a:lstStyle/>
          <a:p>
            <a:r>
              <a:rPr lang="en-US"/>
              <a:t>MỘT SỐ VÍ DỤ THỰC TẾ</a:t>
            </a:r>
          </a:p>
        </p:txBody>
      </p:sp>
      <p:sp>
        <p:nvSpPr>
          <p:cNvPr id="3" name="Content Placeholder 2">
            <a:extLst>
              <a:ext uri="{FF2B5EF4-FFF2-40B4-BE49-F238E27FC236}">
                <a16:creationId xmlns:a16="http://schemas.microsoft.com/office/drawing/2014/main" id="{DFE99B92-C0DC-2C77-CC25-7548EF8340D9}"/>
              </a:ext>
            </a:extLst>
          </p:cNvPr>
          <p:cNvSpPr>
            <a:spLocks noGrp="1"/>
          </p:cNvSpPr>
          <p:nvPr>
            <p:ph sz="quarter" idx="13"/>
          </p:nvPr>
        </p:nvSpPr>
        <p:spPr>
          <a:xfrm>
            <a:off x="816606" y="1785386"/>
            <a:ext cx="5955669" cy="4188965"/>
          </a:xfrm>
        </p:spPr>
        <p:txBody>
          <a:bodyPr/>
          <a:lstStyle/>
          <a:p>
            <a:r>
              <a:rPr lang="en-US"/>
              <a:t>Gia dụng: lò vi sóng, máy giặt, điều hoà, nồi cơm điện tử, TV thông minh</a:t>
            </a:r>
          </a:p>
          <a:p>
            <a:r>
              <a:rPr lang="en-US"/>
              <a:t>Y tế: máy đo nhịp tim, theo dõi bệnh nhân, thiết bị cấy ghép có cảm biến</a:t>
            </a:r>
          </a:p>
          <a:p>
            <a:r>
              <a:rPr lang="en-US"/>
              <a:t>Ô tô: ABS, túi khí, kiểm soát hành trình thích ứng, cảnh báo va chạm</a:t>
            </a:r>
          </a:p>
          <a:p>
            <a:r>
              <a:rPr lang="en-US"/>
              <a:t>Công nghiệp: PLC, Robot công nghiệp, hệ thống quan trắc</a:t>
            </a:r>
          </a:p>
          <a:p>
            <a:r>
              <a:rPr lang="en-US"/>
              <a:t>Viễn thông &amp; IoT: router, GPS, cảm biến nhà thông minh</a:t>
            </a:r>
          </a:p>
          <a:p>
            <a:endParaRPr lang="en-US"/>
          </a:p>
        </p:txBody>
      </p:sp>
      <p:pic>
        <p:nvPicPr>
          <p:cNvPr id="18" name="Picture 17">
            <a:extLst>
              <a:ext uri="{FF2B5EF4-FFF2-40B4-BE49-F238E27FC236}">
                <a16:creationId xmlns:a16="http://schemas.microsoft.com/office/drawing/2014/main" id="{8B097502-6C90-A8F7-4B02-CC178D22C0DC}"/>
              </a:ext>
            </a:extLst>
          </p:cNvPr>
          <p:cNvPicPr>
            <a:picLocks noChangeAspect="1"/>
          </p:cNvPicPr>
          <p:nvPr/>
        </p:nvPicPr>
        <p:blipFill>
          <a:blip r:embed="rId3"/>
          <a:stretch>
            <a:fillRect/>
          </a:stretch>
        </p:blipFill>
        <p:spPr>
          <a:xfrm>
            <a:off x="6772274" y="1899138"/>
            <a:ext cx="5337813" cy="2943571"/>
          </a:xfrm>
          <a:prstGeom prst="rect">
            <a:avLst/>
          </a:prstGeom>
        </p:spPr>
      </p:pic>
    </p:spTree>
    <p:extLst>
      <p:ext uri="{BB962C8B-B14F-4D97-AF65-F5344CB8AC3E}">
        <p14:creationId xmlns:p14="http://schemas.microsoft.com/office/powerpoint/2010/main" val="299676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DB538-FB50-51CC-7B0A-68301A7CB9C7}"/>
              </a:ext>
            </a:extLst>
          </p:cNvPr>
          <p:cNvSpPr>
            <a:spLocks noGrp="1"/>
          </p:cNvSpPr>
          <p:nvPr>
            <p:ph type="title"/>
          </p:nvPr>
        </p:nvSpPr>
        <p:spPr/>
        <p:txBody>
          <a:bodyPr/>
          <a:lstStyle/>
          <a:p>
            <a:endParaRPr lang="en-US"/>
          </a:p>
        </p:txBody>
      </p:sp>
      <p:pic>
        <p:nvPicPr>
          <p:cNvPr id="4" name="Content Placeholder 3" descr="examples of embedded systems, embedded systems examples, embedded systems real life examples, real life embedded systems examples">
            <a:extLst>
              <a:ext uri="{FF2B5EF4-FFF2-40B4-BE49-F238E27FC236}">
                <a16:creationId xmlns:a16="http://schemas.microsoft.com/office/drawing/2014/main" id="{FD1E472B-5F1B-81AD-7B35-597A0AF3EFE5}"/>
              </a:ext>
            </a:extLst>
          </p:cNvPr>
          <p:cNvPicPr>
            <a:picLocks noGrp="1" noChangeAspect="1"/>
          </p:cNvPicPr>
          <p:nvPr>
            <p:ph sz="quarter" idx="13"/>
          </p:nvPr>
        </p:nvPicPr>
        <p:blipFill>
          <a:blip r:embed="rId2"/>
          <a:stretch>
            <a:fillRect/>
          </a:stretch>
        </p:blipFill>
        <p:spPr>
          <a:xfrm>
            <a:off x="293077" y="0"/>
            <a:ext cx="11605846" cy="6883773"/>
          </a:xfrm>
          <a:prstGeom prst="rect">
            <a:avLst/>
          </a:prstGeom>
        </p:spPr>
      </p:pic>
    </p:spTree>
    <p:extLst>
      <p:ext uri="{BB962C8B-B14F-4D97-AF65-F5344CB8AC3E}">
        <p14:creationId xmlns:p14="http://schemas.microsoft.com/office/powerpoint/2010/main" val="47244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95AE-6BB7-6AB6-36E5-1A83F30D0C48}"/>
              </a:ext>
            </a:extLst>
          </p:cNvPr>
          <p:cNvSpPr>
            <a:spLocks noGrp="1"/>
          </p:cNvSpPr>
          <p:nvPr>
            <p:ph type="title"/>
          </p:nvPr>
        </p:nvSpPr>
        <p:spPr/>
        <p:txBody>
          <a:bodyPr/>
          <a:lstStyle/>
          <a:p>
            <a:r>
              <a:rPr lang="en-US"/>
              <a:t>Embedded System Example</a:t>
            </a:r>
          </a:p>
        </p:txBody>
      </p:sp>
      <p:pic>
        <p:nvPicPr>
          <p:cNvPr id="5" name="Picture 4">
            <a:extLst>
              <a:ext uri="{FF2B5EF4-FFF2-40B4-BE49-F238E27FC236}">
                <a16:creationId xmlns:a16="http://schemas.microsoft.com/office/drawing/2014/main" id="{3DD79A80-72D3-C391-F76F-EAF6A4F1971B}"/>
              </a:ext>
            </a:extLst>
          </p:cNvPr>
          <p:cNvPicPr>
            <a:picLocks noChangeAspect="1"/>
          </p:cNvPicPr>
          <p:nvPr/>
        </p:nvPicPr>
        <p:blipFill>
          <a:blip r:embed="rId3"/>
          <a:stretch>
            <a:fillRect/>
          </a:stretch>
        </p:blipFill>
        <p:spPr>
          <a:xfrm>
            <a:off x="1872065" y="2015292"/>
            <a:ext cx="8254845" cy="3590742"/>
          </a:xfrm>
          <a:prstGeom prst="rect">
            <a:avLst/>
          </a:prstGeom>
        </p:spPr>
      </p:pic>
    </p:spTree>
    <p:extLst>
      <p:ext uri="{BB962C8B-B14F-4D97-AF65-F5344CB8AC3E}">
        <p14:creationId xmlns:p14="http://schemas.microsoft.com/office/powerpoint/2010/main" val="740599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5416CE-B559-2E3F-ED67-87BEB3A67D6A}"/>
              </a:ext>
            </a:extLst>
          </p:cNvPr>
          <p:cNvSpPr>
            <a:spLocks noGrp="1"/>
          </p:cNvSpPr>
          <p:nvPr>
            <p:ph type="title"/>
          </p:nvPr>
        </p:nvSpPr>
        <p:spPr>
          <a:xfrm>
            <a:off x="695325" y="688975"/>
            <a:ext cx="10515600" cy="1325563"/>
          </a:xfrm>
        </p:spPr>
        <p:txBody>
          <a:bodyPr/>
          <a:lstStyle/>
          <a:p>
            <a:r>
              <a:rPr lang="en-US"/>
              <a:t>Embedded System Example</a:t>
            </a:r>
          </a:p>
        </p:txBody>
      </p:sp>
      <p:pic>
        <p:nvPicPr>
          <p:cNvPr id="6" name="Picture 5">
            <a:extLst>
              <a:ext uri="{FF2B5EF4-FFF2-40B4-BE49-F238E27FC236}">
                <a16:creationId xmlns:a16="http://schemas.microsoft.com/office/drawing/2014/main" id="{02658AD1-775D-FA50-55E3-8E5D555D668B}"/>
              </a:ext>
            </a:extLst>
          </p:cNvPr>
          <p:cNvPicPr>
            <a:picLocks noChangeAspect="1"/>
          </p:cNvPicPr>
          <p:nvPr/>
        </p:nvPicPr>
        <p:blipFill>
          <a:blip r:embed="rId3"/>
          <a:stretch>
            <a:fillRect/>
          </a:stretch>
        </p:blipFill>
        <p:spPr>
          <a:xfrm>
            <a:off x="1794991" y="1735521"/>
            <a:ext cx="8316268" cy="4288694"/>
          </a:xfrm>
          <a:prstGeom prst="rect">
            <a:avLst/>
          </a:prstGeom>
        </p:spPr>
      </p:pic>
    </p:spTree>
    <p:extLst>
      <p:ext uri="{BB962C8B-B14F-4D97-AF65-F5344CB8AC3E}">
        <p14:creationId xmlns:p14="http://schemas.microsoft.com/office/powerpoint/2010/main" val="1319678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7896D-74C9-581A-2318-4CD0A14F0376}"/>
              </a:ext>
            </a:extLst>
          </p:cNvPr>
          <p:cNvSpPr>
            <a:spLocks noGrp="1"/>
          </p:cNvSpPr>
          <p:nvPr>
            <p:ph type="title"/>
          </p:nvPr>
        </p:nvSpPr>
        <p:spPr/>
        <p:txBody>
          <a:bodyPr/>
          <a:lstStyle/>
          <a:p>
            <a:r>
              <a:rPr lang="en-US"/>
              <a:t>Embedded System Example</a:t>
            </a:r>
          </a:p>
        </p:txBody>
      </p:sp>
      <p:sp>
        <p:nvSpPr>
          <p:cNvPr id="3" name="Content Placeholder 2">
            <a:extLst>
              <a:ext uri="{FF2B5EF4-FFF2-40B4-BE49-F238E27FC236}">
                <a16:creationId xmlns:a16="http://schemas.microsoft.com/office/drawing/2014/main" id="{7CA34F38-9CCD-8C89-6F11-56875602BCC3}"/>
              </a:ext>
            </a:extLst>
          </p:cNvPr>
          <p:cNvSpPr>
            <a:spLocks noGrp="1"/>
          </p:cNvSpPr>
          <p:nvPr>
            <p:ph sz="quarter" idx="13"/>
          </p:nvPr>
        </p:nvSpPr>
        <p:spPr/>
        <p:txBody>
          <a:bodyPr/>
          <a:lstStyle/>
          <a:p>
            <a:r>
              <a:rPr lang="en-US"/>
              <a:t>The Derbot Vehicle</a:t>
            </a:r>
          </a:p>
          <a:p>
            <a:pPr lvl="1"/>
            <a:r>
              <a:rPr lang="en-US"/>
              <a:t>Two microswitch bump detector</a:t>
            </a:r>
          </a:p>
          <a:p>
            <a:pPr lvl="1"/>
            <a:r>
              <a:rPr lang="en-US"/>
              <a:t>An untrasound detector</a:t>
            </a:r>
          </a:p>
          <a:p>
            <a:pPr lvl="1"/>
            <a:r>
              <a:rPr lang="en-US"/>
              <a:t>Two light sensors</a:t>
            </a:r>
          </a:p>
          <a:p>
            <a:pPr lvl="1"/>
            <a:r>
              <a:rPr lang="en-US"/>
              <a:t>A servo actuator</a:t>
            </a:r>
          </a:p>
          <a:p>
            <a:r>
              <a:rPr lang="en-US"/>
              <a:t>Derbot is powered from six AA Alkaline cells</a:t>
            </a:r>
          </a:p>
        </p:txBody>
      </p:sp>
      <p:pic>
        <p:nvPicPr>
          <p:cNvPr id="5" name="Picture 4">
            <a:extLst>
              <a:ext uri="{FF2B5EF4-FFF2-40B4-BE49-F238E27FC236}">
                <a16:creationId xmlns:a16="http://schemas.microsoft.com/office/drawing/2014/main" id="{5C23FFE2-8CF3-A76D-2423-E6AFB7961C1E}"/>
              </a:ext>
            </a:extLst>
          </p:cNvPr>
          <p:cNvPicPr>
            <a:picLocks noChangeAspect="1"/>
          </p:cNvPicPr>
          <p:nvPr/>
        </p:nvPicPr>
        <p:blipFill>
          <a:blip r:embed="rId2"/>
          <a:stretch>
            <a:fillRect/>
          </a:stretch>
        </p:blipFill>
        <p:spPr>
          <a:xfrm>
            <a:off x="6712458" y="1436407"/>
            <a:ext cx="5273519" cy="4188965"/>
          </a:xfrm>
          <a:prstGeom prst="rect">
            <a:avLst/>
          </a:prstGeom>
        </p:spPr>
      </p:pic>
    </p:spTree>
    <p:extLst>
      <p:ext uri="{BB962C8B-B14F-4D97-AF65-F5344CB8AC3E}">
        <p14:creationId xmlns:p14="http://schemas.microsoft.com/office/powerpoint/2010/main" val="1722896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F807B-9001-A802-CCDB-EB0891E9DD89}"/>
              </a:ext>
            </a:extLst>
          </p:cNvPr>
          <p:cNvSpPr>
            <a:spLocks noGrp="1"/>
          </p:cNvSpPr>
          <p:nvPr>
            <p:ph type="title"/>
          </p:nvPr>
        </p:nvSpPr>
        <p:spPr/>
        <p:txBody>
          <a:bodyPr/>
          <a:lstStyle/>
          <a:p>
            <a:r>
              <a:rPr lang="en-US"/>
              <a:t>Embedded System Example</a:t>
            </a:r>
          </a:p>
        </p:txBody>
      </p:sp>
      <p:sp>
        <p:nvSpPr>
          <p:cNvPr id="3" name="Content Placeholder 2">
            <a:extLst>
              <a:ext uri="{FF2B5EF4-FFF2-40B4-BE49-F238E27FC236}">
                <a16:creationId xmlns:a16="http://schemas.microsoft.com/office/drawing/2014/main" id="{B0CB06CC-7007-FD0F-88FB-27A7CB489034}"/>
              </a:ext>
            </a:extLst>
          </p:cNvPr>
          <p:cNvSpPr>
            <a:spLocks noGrp="1"/>
          </p:cNvSpPr>
          <p:nvPr>
            <p:ph sz="quarter" idx="13"/>
          </p:nvPr>
        </p:nvSpPr>
        <p:spPr>
          <a:xfrm>
            <a:off x="816606" y="1785386"/>
            <a:ext cx="5977894" cy="4188965"/>
          </a:xfrm>
        </p:spPr>
        <p:txBody>
          <a:bodyPr/>
          <a:lstStyle/>
          <a:p>
            <a:r>
              <a:rPr lang="en-US"/>
              <a:t>The Derbot Vehicle</a:t>
            </a:r>
          </a:p>
          <a:p>
            <a:pPr lvl="1"/>
            <a:r>
              <a:rPr lang="en-US"/>
              <a:t>Operates as an embedded system</a:t>
            </a:r>
          </a:p>
          <a:p>
            <a:pPr lvl="1"/>
            <a:r>
              <a:rPr lang="en-US"/>
              <a:t>Readimg in values from its diverse sensors and computing outputs to its actuators</a:t>
            </a:r>
          </a:p>
        </p:txBody>
      </p:sp>
      <p:pic>
        <p:nvPicPr>
          <p:cNvPr id="5" name="Picture 4">
            <a:extLst>
              <a:ext uri="{FF2B5EF4-FFF2-40B4-BE49-F238E27FC236}">
                <a16:creationId xmlns:a16="http://schemas.microsoft.com/office/drawing/2014/main" id="{50F5B3D8-AAAA-18FD-C602-E455D6337D5E}"/>
              </a:ext>
            </a:extLst>
          </p:cNvPr>
          <p:cNvPicPr>
            <a:picLocks noChangeAspect="1"/>
          </p:cNvPicPr>
          <p:nvPr/>
        </p:nvPicPr>
        <p:blipFill>
          <a:blip r:embed="rId2"/>
          <a:stretch>
            <a:fillRect/>
          </a:stretch>
        </p:blipFill>
        <p:spPr>
          <a:xfrm>
            <a:off x="7027512" y="689729"/>
            <a:ext cx="5020376" cy="5544324"/>
          </a:xfrm>
          <a:prstGeom prst="rect">
            <a:avLst/>
          </a:prstGeom>
        </p:spPr>
      </p:pic>
    </p:spTree>
    <p:extLst>
      <p:ext uri="{BB962C8B-B14F-4D97-AF65-F5344CB8AC3E}">
        <p14:creationId xmlns:p14="http://schemas.microsoft.com/office/powerpoint/2010/main" val="10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0EDEC-9459-684B-3B7A-E0C7542C56D1}"/>
              </a:ext>
            </a:extLst>
          </p:cNvPr>
          <p:cNvSpPr>
            <a:spLocks noGrp="1"/>
          </p:cNvSpPr>
          <p:nvPr>
            <p:ph type="title"/>
          </p:nvPr>
        </p:nvSpPr>
        <p:spPr/>
        <p:txBody>
          <a:bodyPr/>
          <a:lstStyle/>
          <a:p>
            <a:r>
              <a:rPr lang="en-US"/>
              <a:t>LỊCH SỬ PHÁT TRIỂN CỦA HỆ THỐNG NHÚNG</a:t>
            </a:r>
          </a:p>
        </p:txBody>
      </p:sp>
      <p:sp>
        <p:nvSpPr>
          <p:cNvPr id="3" name="Content Placeholder 2">
            <a:extLst>
              <a:ext uri="{FF2B5EF4-FFF2-40B4-BE49-F238E27FC236}">
                <a16:creationId xmlns:a16="http://schemas.microsoft.com/office/drawing/2014/main" id="{F967A6ED-6A8C-6FB0-9182-9452034CE86C}"/>
              </a:ext>
            </a:extLst>
          </p:cNvPr>
          <p:cNvSpPr>
            <a:spLocks noGrp="1"/>
          </p:cNvSpPr>
          <p:nvPr>
            <p:ph sz="quarter" idx="13"/>
          </p:nvPr>
        </p:nvSpPr>
        <p:spPr>
          <a:xfrm>
            <a:off x="816606" y="1785386"/>
            <a:ext cx="8255957" cy="4188965"/>
          </a:xfrm>
        </p:spPr>
        <p:txBody>
          <a:bodyPr>
            <a:normAutofit fontScale="92500" lnSpcReduction="10000"/>
          </a:bodyPr>
          <a:lstStyle/>
          <a:p>
            <a:r>
              <a:rPr lang="en-US"/>
              <a:t>The first recognized embedded system in the Apollo Guidance Computer (AGC) developed by Charles Stark Draper, MIT Instrumentation laboratory, in 1960s</a:t>
            </a:r>
          </a:p>
          <a:p>
            <a:r>
              <a:rPr lang="en-US"/>
              <a:t>It has two modules: command module (CM) and Lunar Excursion Module (LEM)</a:t>
            </a:r>
          </a:p>
          <a:p>
            <a:r>
              <a:rPr lang="en-US"/>
              <a:t>RAM size 256, 1K, 2K words</a:t>
            </a:r>
          </a:p>
          <a:p>
            <a:r>
              <a:rPr lang="en-US"/>
              <a:t>ROM size 4K, 10K, 36K words</a:t>
            </a:r>
          </a:p>
          <a:p>
            <a:r>
              <a:rPr lang="en-US"/>
              <a:t>Clock frequency is 1.024 MHz</a:t>
            </a:r>
          </a:p>
          <a:p>
            <a:r>
              <a:rPr lang="en-US"/>
              <a:t>It uses 5000 number of ICs such as 3 input NOR gates designed with RTL logic</a:t>
            </a:r>
          </a:p>
          <a:p>
            <a:r>
              <a:rPr lang="en-US"/>
              <a:t>User interface is DSKY (Display/Keyboard)</a:t>
            </a:r>
          </a:p>
          <a:p>
            <a:r>
              <a:rPr lang="en-US"/>
              <a:t>More (</a:t>
            </a:r>
            <a:r>
              <a:rPr lang="en-US">
                <a:hlinkClick r:id="rId3"/>
              </a:rPr>
              <a:t>https://youtu.be/Xyn0Oh5jlTc?si=QV7jCljTwb6QNthj</a:t>
            </a:r>
            <a:r>
              <a:rPr lang="en-US"/>
              <a:t>)</a:t>
            </a:r>
          </a:p>
        </p:txBody>
      </p:sp>
      <p:pic>
        <p:nvPicPr>
          <p:cNvPr id="4" name="Picture 3" descr="Discover 21 Computer and computer history ideas | 1930s ...">
            <a:extLst>
              <a:ext uri="{FF2B5EF4-FFF2-40B4-BE49-F238E27FC236}">
                <a16:creationId xmlns:a16="http://schemas.microsoft.com/office/drawing/2014/main" id="{324AED4B-2CB5-678B-0AB4-7EC9C0ED2C4E}"/>
              </a:ext>
            </a:extLst>
          </p:cNvPr>
          <p:cNvPicPr>
            <a:picLocks noChangeAspect="1"/>
          </p:cNvPicPr>
          <p:nvPr/>
        </p:nvPicPr>
        <p:blipFill>
          <a:blip r:embed="rId4"/>
          <a:stretch>
            <a:fillRect/>
          </a:stretch>
        </p:blipFill>
        <p:spPr>
          <a:xfrm>
            <a:off x="9014928" y="2015292"/>
            <a:ext cx="3177072" cy="3486702"/>
          </a:xfrm>
          <a:prstGeom prst="rect">
            <a:avLst/>
          </a:prstGeom>
        </p:spPr>
      </p:pic>
    </p:spTree>
    <p:extLst>
      <p:ext uri="{BB962C8B-B14F-4D97-AF65-F5344CB8AC3E}">
        <p14:creationId xmlns:p14="http://schemas.microsoft.com/office/powerpoint/2010/main" val="1300467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F8BA8-954D-5630-CFE8-73C5E325211A}"/>
              </a:ext>
            </a:extLst>
          </p:cNvPr>
          <p:cNvSpPr>
            <a:spLocks noGrp="1"/>
          </p:cNvSpPr>
          <p:nvPr>
            <p:ph type="title"/>
          </p:nvPr>
        </p:nvSpPr>
        <p:spPr/>
        <p:txBody>
          <a:bodyPr/>
          <a:lstStyle/>
          <a:p>
            <a:r>
              <a:rPr lang="en-US"/>
              <a:t>ĐẶC ĐIỂM CỦA HỆ THỐNG NHÚNG</a:t>
            </a:r>
          </a:p>
        </p:txBody>
      </p:sp>
      <p:sp>
        <p:nvSpPr>
          <p:cNvPr id="3" name="Content Placeholder 2">
            <a:extLst>
              <a:ext uri="{FF2B5EF4-FFF2-40B4-BE49-F238E27FC236}">
                <a16:creationId xmlns:a16="http://schemas.microsoft.com/office/drawing/2014/main" id="{433C403F-F0D3-E3F2-0B9C-AE944DA6CE44}"/>
              </a:ext>
            </a:extLst>
          </p:cNvPr>
          <p:cNvSpPr>
            <a:spLocks noGrp="1"/>
          </p:cNvSpPr>
          <p:nvPr>
            <p:ph sz="quarter" idx="13"/>
          </p:nvPr>
        </p:nvSpPr>
        <p:spPr/>
        <p:txBody>
          <a:bodyPr/>
          <a:lstStyle/>
          <a:p>
            <a:r>
              <a:rPr lang="en-US"/>
              <a:t>Hệ thống nhúng là hệ thống chuyên dụng</a:t>
            </a:r>
          </a:p>
          <a:p>
            <a:r>
              <a:rPr lang="en-US"/>
              <a:t>Hệ thống nhúng phải thoả mãn các ràng buộc</a:t>
            </a:r>
          </a:p>
          <a:p>
            <a:r>
              <a:rPr lang="en-US"/>
              <a:t>Chuyên dụng và tương tác với thế giới thực</a:t>
            </a:r>
          </a:p>
          <a:p>
            <a:r>
              <a:rPr lang="en-US"/>
              <a:t>Yêu cầu chất lượng, ổn định và độ tin cậy cao</a:t>
            </a:r>
          </a:p>
          <a:p>
            <a:r>
              <a:rPr lang="en-US"/>
              <a:t>Đảm bảo được tính bảo mật truyền thông</a:t>
            </a:r>
          </a:p>
        </p:txBody>
      </p:sp>
    </p:spTree>
    <p:extLst>
      <p:ext uri="{BB962C8B-B14F-4D97-AF65-F5344CB8AC3E}">
        <p14:creationId xmlns:p14="http://schemas.microsoft.com/office/powerpoint/2010/main" val="803604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17756-DA2F-B9A1-40C6-CC10297F3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4383D-3365-98B9-C913-8CBB103D1D4A}"/>
              </a:ext>
            </a:extLst>
          </p:cNvPr>
          <p:cNvSpPr>
            <a:spLocks noGrp="1"/>
          </p:cNvSpPr>
          <p:nvPr>
            <p:ph type="title"/>
          </p:nvPr>
        </p:nvSpPr>
        <p:spPr/>
        <p:txBody>
          <a:bodyPr/>
          <a:lstStyle/>
          <a:p>
            <a:r>
              <a:rPr lang="en-US"/>
              <a:t>ĐẶC ĐIỂM CỦA HỆ THỐNG NHÚNG</a:t>
            </a:r>
          </a:p>
        </p:txBody>
      </p:sp>
      <p:sp>
        <p:nvSpPr>
          <p:cNvPr id="3" name="Content Placeholder 2">
            <a:extLst>
              <a:ext uri="{FF2B5EF4-FFF2-40B4-BE49-F238E27FC236}">
                <a16:creationId xmlns:a16="http://schemas.microsoft.com/office/drawing/2014/main" id="{321FACFB-695F-5909-E335-F087494B1A9D}"/>
              </a:ext>
            </a:extLst>
          </p:cNvPr>
          <p:cNvSpPr>
            <a:spLocks noGrp="1"/>
          </p:cNvSpPr>
          <p:nvPr>
            <p:ph sz="quarter" idx="13"/>
          </p:nvPr>
        </p:nvSpPr>
        <p:spPr/>
        <p:txBody>
          <a:bodyPr/>
          <a:lstStyle/>
          <a:p>
            <a:r>
              <a:rPr lang="en-US"/>
              <a:t>Hệ thống nhúng là hệ thống chuyên dụng</a:t>
            </a:r>
          </a:p>
          <a:p>
            <a:pPr lvl="1"/>
            <a:r>
              <a:rPr lang="en-US"/>
              <a:t>Hệ thống nhúng thường không tồn tại như một máy tính độc lập, mà được tích hợp vào bên trong một thiết bị hoặc hệ thống mẹ</a:t>
            </a:r>
          </a:p>
          <a:p>
            <a:pPr lvl="1"/>
            <a:endParaRPr lang="en-US"/>
          </a:p>
          <a:p>
            <a:pPr lvl="1"/>
            <a:endParaRPr lang="en-US"/>
          </a:p>
          <a:p>
            <a:pPr lvl="1"/>
            <a:endParaRPr lang="en-US"/>
          </a:p>
          <a:p>
            <a:pPr lvl="1"/>
            <a:endParaRPr lang="en-US"/>
          </a:p>
          <a:p>
            <a:pPr lvl="1"/>
            <a:endParaRPr lang="en-US"/>
          </a:p>
          <a:p>
            <a:pPr lvl="1"/>
            <a:endParaRPr lang="en-US"/>
          </a:p>
          <a:p>
            <a:pPr lvl="1"/>
            <a:r>
              <a:rPr lang="en-US"/>
              <a:t>Ví dụ: bộ điều khiển trong máy giặt không phải là sản phẩm riêng biệt, nó được nhúng để đọc cảm biến, xử lý chương trình giặt và điều khiển motor/van nước</a:t>
            </a:r>
          </a:p>
        </p:txBody>
      </p:sp>
      <p:grpSp>
        <p:nvGrpSpPr>
          <p:cNvPr id="20" name="Group 19">
            <a:extLst>
              <a:ext uri="{FF2B5EF4-FFF2-40B4-BE49-F238E27FC236}">
                <a16:creationId xmlns:a16="http://schemas.microsoft.com/office/drawing/2014/main" id="{104F5497-D752-3A51-73E8-23A761CA67EB}"/>
              </a:ext>
            </a:extLst>
          </p:cNvPr>
          <p:cNvGrpSpPr/>
          <p:nvPr/>
        </p:nvGrpSpPr>
        <p:grpSpPr>
          <a:xfrm>
            <a:off x="859794" y="3110949"/>
            <a:ext cx="10287000" cy="1645920"/>
            <a:chOff x="859794" y="3110949"/>
            <a:chExt cx="10287000" cy="1645920"/>
          </a:xfrm>
        </p:grpSpPr>
        <p:sp>
          <p:nvSpPr>
            <p:cNvPr id="5" name="Shape 12">
              <a:extLst>
                <a:ext uri="{FF2B5EF4-FFF2-40B4-BE49-F238E27FC236}">
                  <a16:creationId xmlns:a16="http://schemas.microsoft.com/office/drawing/2014/main" id="{02072E05-7D00-7060-D3AC-7A6A79F53385}"/>
                </a:ext>
              </a:extLst>
            </p:cNvPr>
            <p:cNvSpPr/>
            <p:nvPr/>
          </p:nvSpPr>
          <p:spPr>
            <a:xfrm>
              <a:off x="859794" y="3385269"/>
              <a:ext cx="2743200" cy="1097280"/>
            </a:xfrm>
            <a:prstGeom prst="roundRect">
              <a:avLst>
                <a:gd name="adj" fmla="val 6667"/>
              </a:avLst>
            </a:prstGeom>
            <a:solidFill>
              <a:srgbClr val="E9EEF5"/>
            </a:solidFill>
            <a:ln w="12700">
              <a:solidFill>
                <a:srgbClr val="B9C6D4"/>
              </a:solidFill>
              <a:prstDash val="solid"/>
            </a:ln>
          </p:spPr>
          <p:txBody>
            <a:bodyPr/>
            <a:lstStyle/>
            <a:p>
              <a:endParaRPr lang="en-US"/>
            </a:p>
          </p:txBody>
        </p:sp>
        <p:sp>
          <p:nvSpPr>
            <p:cNvPr id="7" name="Text 13">
              <a:extLst>
                <a:ext uri="{FF2B5EF4-FFF2-40B4-BE49-F238E27FC236}">
                  <a16:creationId xmlns:a16="http://schemas.microsoft.com/office/drawing/2014/main" id="{A9DA3126-364C-4406-4285-C59B86DA5B88}"/>
                </a:ext>
              </a:extLst>
            </p:cNvPr>
            <p:cNvSpPr/>
            <p:nvPr/>
          </p:nvSpPr>
          <p:spPr>
            <a:xfrm>
              <a:off x="996954" y="3641301"/>
              <a:ext cx="2468880" cy="502920"/>
            </a:xfrm>
            <a:prstGeom prst="rect">
              <a:avLst/>
            </a:prstGeom>
            <a:noFill/>
            <a:ln/>
          </p:spPr>
          <p:txBody>
            <a:bodyPr wrap="square" lIns="0" tIns="0" rIns="0" bIns="0" rtlCol="0" anchor="ctr"/>
            <a:lstStyle/>
            <a:p>
              <a:pPr marL="0" indent="0" algn="ctr">
                <a:buNone/>
              </a:pPr>
              <a:r>
                <a:rPr lang="en-US" sz="1500" b="1" dirty="0">
                  <a:solidFill>
                    <a:srgbClr val="06172D"/>
                  </a:solidFill>
                </a:rPr>
                <a:t>Thiết bị mẹ</a:t>
              </a:r>
              <a:endParaRPr lang="en-US" sz="1500" dirty="0"/>
            </a:p>
            <a:p>
              <a:pPr marL="0" indent="0" algn="ctr">
                <a:buNone/>
              </a:pPr>
              <a:r>
                <a:rPr lang="en-US" sz="1500" b="1" dirty="0">
                  <a:solidFill>
                    <a:srgbClr val="06172D"/>
                  </a:solidFill>
                </a:rPr>
                <a:t>VD: ô tô, máy giặt, robot</a:t>
              </a:r>
              <a:endParaRPr lang="en-US" sz="1500" dirty="0"/>
            </a:p>
          </p:txBody>
        </p:sp>
        <p:sp>
          <p:nvSpPr>
            <p:cNvPr id="9" name="Shape 14">
              <a:extLst>
                <a:ext uri="{FF2B5EF4-FFF2-40B4-BE49-F238E27FC236}">
                  <a16:creationId xmlns:a16="http://schemas.microsoft.com/office/drawing/2014/main" id="{D644A6C7-E380-2009-D122-BBBEBEC05BD4}"/>
                </a:ext>
              </a:extLst>
            </p:cNvPr>
            <p:cNvSpPr/>
            <p:nvPr/>
          </p:nvSpPr>
          <p:spPr>
            <a:xfrm>
              <a:off x="4014474" y="3751029"/>
              <a:ext cx="640080" cy="411480"/>
            </a:xfrm>
            <a:prstGeom prst="chevron">
              <a:avLst/>
            </a:prstGeom>
            <a:solidFill>
              <a:srgbClr val="0070B8"/>
            </a:solidFill>
            <a:ln w="12700">
              <a:solidFill>
                <a:srgbClr val="0070B8"/>
              </a:solidFill>
              <a:prstDash val="solid"/>
            </a:ln>
          </p:spPr>
          <p:txBody>
            <a:bodyPr/>
            <a:lstStyle/>
            <a:p>
              <a:endParaRPr lang="en-US"/>
            </a:p>
          </p:txBody>
        </p:sp>
        <p:sp>
          <p:nvSpPr>
            <p:cNvPr id="11" name="Shape 15">
              <a:extLst>
                <a:ext uri="{FF2B5EF4-FFF2-40B4-BE49-F238E27FC236}">
                  <a16:creationId xmlns:a16="http://schemas.microsoft.com/office/drawing/2014/main" id="{9E44A662-4AED-D339-CF03-BBB6FC8F05CC}"/>
                </a:ext>
              </a:extLst>
            </p:cNvPr>
            <p:cNvSpPr/>
            <p:nvPr/>
          </p:nvSpPr>
          <p:spPr>
            <a:xfrm>
              <a:off x="5066034" y="3110949"/>
              <a:ext cx="2743200" cy="1645920"/>
            </a:xfrm>
            <a:prstGeom prst="roundRect">
              <a:avLst>
                <a:gd name="adj" fmla="val 4444"/>
              </a:avLst>
            </a:prstGeom>
            <a:solidFill>
              <a:srgbClr val="DFF1FB"/>
            </a:solidFill>
            <a:ln w="15240">
              <a:solidFill>
                <a:srgbClr val="0070B8"/>
              </a:solidFill>
              <a:prstDash val="solid"/>
            </a:ln>
          </p:spPr>
          <p:txBody>
            <a:bodyPr/>
            <a:lstStyle/>
            <a:p>
              <a:endParaRPr lang="en-US"/>
            </a:p>
          </p:txBody>
        </p:sp>
        <p:sp>
          <p:nvSpPr>
            <p:cNvPr id="13" name="Text 16">
              <a:extLst>
                <a:ext uri="{FF2B5EF4-FFF2-40B4-BE49-F238E27FC236}">
                  <a16:creationId xmlns:a16="http://schemas.microsoft.com/office/drawing/2014/main" id="{C2EB67B3-3550-5EC4-61A4-3FCF3B63ACB9}"/>
                </a:ext>
              </a:extLst>
            </p:cNvPr>
            <p:cNvSpPr/>
            <p:nvPr/>
          </p:nvSpPr>
          <p:spPr>
            <a:xfrm>
              <a:off x="5230626" y="3568149"/>
              <a:ext cx="2423160" cy="594360"/>
            </a:xfrm>
            <a:prstGeom prst="rect">
              <a:avLst/>
            </a:prstGeom>
            <a:noFill/>
            <a:ln/>
          </p:spPr>
          <p:txBody>
            <a:bodyPr wrap="square" lIns="0" tIns="0" rIns="0" bIns="0" rtlCol="0" anchor="ctr"/>
            <a:lstStyle/>
            <a:p>
              <a:pPr marL="0" indent="0" algn="ctr">
                <a:buNone/>
              </a:pPr>
              <a:r>
                <a:rPr lang="en-US" sz="1600" b="1" dirty="0">
                  <a:solidFill>
                    <a:srgbClr val="0070B8"/>
                  </a:solidFill>
                </a:rPr>
                <a:t>Hệ thống nhúng</a:t>
              </a:r>
              <a:endParaRPr lang="en-US" sz="1600" dirty="0"/>
            </a:p>
            <a:p>
              <a:pPr marL="0" indent="0" algn="ctr">
                <a:buNone/>
              </a:pPr>
              <a:r>
                <a:rPr lang="en-US" sz="1600" b="1" dirty="0">
                  <a:solidFill>
                    <a:srgbClr val="0070B8"/>
                  </a:solidFill>
                </a:rPr>
                <a:t>Bộ điều khiển chuyên dụng</a:t>
              </a:r>
              <a:endParaRPr lang="en-US" sz="1600" dirty="0"/>
            </a:p>
          </p:txBody>
        </p:sp>
        <p:sp>
          <p:nvSpPr>
            <p:cNvPr id="15" name="Shape 17">
              <a:extLst>
                <a:ext uri="{FF2B5EF4-FFF2-40B4-BE49-F238E27FC236}">
                  <a16:creationId xmlns:a16="http://schemas.microsoft.com/office/drawing/2014/main" id="{16830870-5FE7-B292-E7F9-F24C60B69215}"/>
                </a:ext>
              </a:extLst>
            </p:cNvPr>
            <p:cNvSpPr/>
            <p:nvPr/>
          </p:nvSpPr>
          <p:spPr>
            <a:xfrm>
              <a:off x="8220714" y="3751029"/>
              <a:ext cx="640080" cy="411480"/>
            </a:xfrm>
            <a:prstGeom prst="chevron">
              <a:avLst/>
            </a:prstGeom>
            <a:solidFill>
              <a:srgbClr val="D00000"/>
            </a:solidFill>
            <a:ln w="12700">
              <a:solidFill>
                <a:srgbClr val="D00000"/>
              </a:solidFill>
              <a:prstDash val="solid"/>
            </a:ln>
          </p:spPr>
          <p:txBody>
            <a:bodyPr/>
            <a:lstStyle/>
            <a:p>
              <a:endParaRPr lang="en-US"/>
            </a:p>
          </p:txBody>
        </p:sp>
        <p:sp>
          <p:nvSpPr>
            <p:cNvPr id="17" name="Shape 18">
              <a:extLst>
                <a:ext uri="{FF2B5EF4-FFF2-40B4-BE49-F238E27FC236}">
                  <a16:creationId xmlns:a16="http://schemas.microsoft.com/office/drawing/2014/main" id="{E6FD6BD2-98FF-EC64-8157-CEA2AB38033B}"/>
                </a:ext>
              </a:extLst>
            </p:cNvPr>
            <p:cNvSpPr/>
            <p:nvPr/>
          </p:nvSpPr>
          <p:spPr>
            <a:xfrm>
              <a:off x="9226554" y="3385269"/>
              <a:ext cx="1920240" cy="1097280"/>
            </a:xfrm>
            <a:prstGeom prst="roundRect">
              <a:avLst>
                <a:gd name="adj" fmla="val 6667"/>
              </a:avLst>
            </a:prstGeom>
            <a:solidFill>
              <a:srgbClr val="FDF1F1"/>
            </a:solidFill>
            <a:ln w="12700">
              <a:solidFill>
                <a:srgbClr val="F3C7C7"/>
              </a:solidFill>
              <a:prstDash val="solid"/>
            </a:ln>
          </p:spPr>
          <p:txBody>
            <a:bodyPr/>
            <a:lstStyle/>
            <a:p>
              <a:endParaRPr lang="en-US"/>
            </a:p>
          </p:txBody>
        </p:sp>
        <p:sp>
          <p:nvSpPr>
            <p:cNvPr id="19" name="Text 19">
              <a:extLst>
                <a:ext uri="{FF2B5EF4-FFF2-40B4-BE49-F238E27FC236}">
                  <a16:creationId xmlns:a16="http://schemas.microsoft.com/office/drawing/2014/main" id="{433E42A7-38CF-A4AE-0589-4C60BDB9B7B3}"/>
                </a:ext>
              </a:extLst>
            </p:cNvPr>
            <p:cNvSpPr/>
            <p:nvPr/>
          </p:nvSpPr>
          <p:spPr>
            <a:xfrm>
              <a:off x="9409434" y="3668733"/>
              <a:ext cx="1554480" cy="438912"/>
            </a:xfrm>
            <a:prstGeom prst="rect">
              <a:avLst/>
            </a:prstGeom>
            <a:noFill/>
            <a:ln/>
          </p:spPr>
          <p:txBody>
            <a:bodyPr wrap="square" lIns="0" tIns="0" rIns="0" bIns="0" rtlCol="0" anchor="ctr"/>
            <a:lstStyle/>
            <a:p>
              <a:pPr marL="0" indent="0" algn="ctr">
                <a:buNone/>
              </a:pPr>
              <a:r>
                <a:rPr lang="en-US" sz="1500" b="1" dirty="0">
                  <a:solidFill>
                    <a:srgbClr val="D00000"/>
                  </a:solidFill>
                </a:rPr>
                <a:t>Chức năng</a:t>
              </a:r>
              <a:endParaRPr lang="en-US" sz="1500" dirty="0"/>
            </a:p>
            <a:p>
              <a:pPr marL="0" indent="0" algn="ctr">
                <a:buNone/>
              </a:pPr>
              <a:r>
                <a:rPr lang="en-US" sz="1500" b="1" dirty="0">
                  <a:solidFill>
                    <a:srgbClr val="D00000"/>
                  </a:solidFill>
                </a:rPr>
                <a:t>cụ thể</a:t>
              </a:r>
              <a:endParaRPr lang="en-US" sz="1500" dirty="0"/>
            </a:p>
          </p:txBody>
        </p:sp>
      </p:grpSp>
    </p:spTree>
    <p:extLst>
      <p:ext uri="{BB962C8B-B14F-4D97-AF65-F5344CB8AC3E}">
        <p14:creationId xmlns:p14="http://schemas.microsoft.com/office/powerpoint/2010/main" val="315427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6E9FE-A5A4-1EFF-0A86-5DD5D0F55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67CE1-56D9-0E3B-D937-F3B49C8FD4B6}"/>
              </a:ext>
            </a:extLst>
          </p:cNvPr>
          <p:cNvSpPr>
            <a:spLocks noGrp="1"/>
          </p:cNvSpPr>
          <p:nvPr>
            <p:ph type="title"/>
          </p:nvPr>
        </p:nvSpPr>
        <p:spPr/>
        <p:txBody>
          <a:bodyPr/>
          <a:lstStyle/>
          <a:p>
            <a:r>
              <a:rPr lang="en-US"/>
              <a:t>ĐẶC ĐIỂM CỦA HỆ THỐNG NHÚNG</a:t>
            </a:r>
          </a:p>
        </p:txBody>
      </p:sp>
      <p:sp>
        <p:nvSpPr>
          <p:cNvPr id="3" name="Content Placeholder 2">
            <a:extLst>
              <a:ext uri="{FF2B5EF4-FFF2-40B4-BE49-F238E27FC236}">
                <a16:creationId xmlns:a16="http://schemas.microsoft.com/office/drawing/2014/main" id="{4AAA6601-0186-4948-5353-6E8171519196}"/>
              </a:ext>
            </a:extLst>
          </p:cNvPr>
          <p:cNvSpPr>
            <a:spLocks noGrp="1"/>
          </p:cNvSpPr>
          <p:nvPr>
            <p:ph sz="quarter" idx="13"/>
          </p:nvPr>
        </p:nvSpPr>
        <p:spPr/>
        <p:txBody>
          <a:bodyPr/>
          <a:lstStyle/>
          <a:p>
            <a:r>
              <a:rPr lang="en-US"/>
              <a:t>Hệ thống nhúng phải thoả mãn các ràng buộc</a:t>
            </a:r>
          </a:p>
          <a:p>
            <a:pPr lvl="1"/>
            <a:r>
              <a:rPr lang="en-US"/>
              <a:t>Hệ thống nhúng thường phải hoạt động trong các ràng buộc chặt chẽ về phần cứng, phần mềm, điện năng và chi phí</a:t>
            </a:r>
          </a:p>
        </p:txBody>
      </p:sp>
      <p:grpSp>
        <p:nvGrpSpPr>
          <p:cNvPr id="34" name="Group 33">
            <a:extLst>
              <a:ext uri="{FF2B5EF4-FFF2-40B4-BE49-F238E27FC236}">
                <a16:creationId xmlns:a16="http://schemas.microsoft.com/office/drawing/2014/main" id="{61548BDD-CB52-CBE1-541B-173F6EE916AA}"/>
              </a:ext>
            </a:extLst>
          </p:cNvPr>
          <p:cNvGrpSpPr/>
          <p:nvPr/>
        </p:nvGrpSpPr>
        <p:grpSpPr>
          <a:xfrm>
            <a:off x="859794" y="3110949"/>
            <a:ext cx="10652760" cy="2651760"/>
            <a:chOff x="868680" y="2651760"/>
            <a:chExt cx="10652760" cy="2651760"/>
          </a:xfrm>
        </p:grpSpPr>
        <p:sp>
          <p:nvSpPr>
            <p:cNvPr id="5" name="Shape 12">
              <a:extLst>
                <a:ext uri="{FF2B5EF4-FFF2-40B4-BE49-F238E27FC236}">
                  <a16:creationId xmlns:a16="http://schemas.microsoft.com/office/drawing/2014/main" id="{8825D2DC-E978-0E8D-78DE-79D512152672}"/>
                </a:ext>
              </a:extLst>
            </p:cNvPr>
            <p:cNvSpPr/>
            <p:nvPr/>
          </p:nvSpPr>
          <p:spPr>
            <a:xfrm>
              <a:off x="868680" y="2651760"/>
              <a:ext cx="3246120" cy="1051560"/>
            </a:xfrm>
            <a:prstGeom prst="roundRect">
              <a:avLst>
                <a:gd name="adj" fmla="val 6957"/>
              </a:avLst>
            </a:prstGeom>
            <a:solidFill>
              <a:srgbClr val="E8F2FA"/>
            </a:solidFill>
            <a:ln w="12700">
              <a:solidFill>
                <a:srgbClr val="D7DDE4"/>
              </a:solidFill>
              <a:prstDash val="solid"/>
            </a:ln>
          </p:spPr>
          <p:txBody>
            <a:bodyPr/>
            <a:lstStyle/>
            <a:p>
              <a:pPr algn="ctr"/>
              <a:endParaRPr lang="en-US" sz="1800"/>
            </a:p>
          </p:txBody>
        </p:sp>
        <p:sp>
          <p:nvSpPr>
            <p:cNvPr id="7" name="Text 13">
              <a:extLst>
                <a:ext uri="{FF2B5EF4-FFF2-40B4-BE49-F238E27FC236}">
                  <a16:creationId xmlns:a16="http://schemas.microsoft.com/office/drawing/2014/main" id="{34E79D4A-36D6-0BB5-9925-C250C4BF683F}"/>
                </a:ext>
              </a:extLst>
            </p:cNvPr>
            <p:cNvSpPr/>
            <p:nvPr/>
          </p:nvSpPr>
          <p:spPr>
            <a:xfrm>
              <a:off x="1033272" y="2798064"/>
              <a:ext cx="2926080" cy="219456"/>
            </a:xfrm>
            <a:prstGeom prst="rect">
              <a:avLst/>
            </a:prstGeom>
            <a:noFill/>
            <a:ln/>
          </p:spPr>
          <p:txBody>
            <a:bodyPr wrap="square" lIns="0" tIns="0" rIns="0" bIns="0" rtlCol="0" anchor="ctr"/>
            <a:lstStyle/>
            <a:p>
              <a:pPr marL="0" indent="0" algn="ctr">
                <a:buNone/>
              </a:pPr>
              <a:r>
                <a:rPr lang="en-US" sz="1800" b="1" dirty="0">
                  <a:solidFill>
                    <a:srgbClr val="0070B8"/>
                  </a:solidFill>
                </a:rPr>
                <a:t>CPU / tốc độ xử lý</a:t>
              </a:r>
              <a:endParaRPr lang="en-US" sz="1800" dirty="0"/>
            </a:p>
          </p:txBody>
        </p:sp>
        <p:sp>
          <p:nvSpPr>
            <p:cNvPr id="9" name="Text 14">
              <a:extLst>
                <a:ext uri="{FF2B5EF4-FFF2-40B4-BE49-F238E27FC236}">
                  <a16:creationId xmlns:a16="http://schemas.microsoft.com/office/drawing/2014/main" id="{E2D179DE-34CD-3C05-7077-87571F2EB8BA}"/>
                </a:ext>
              </a:extLst>
            </p:cNvPr>
            <p:cNvSpPr/>
            <p:nvPr/>
          </p:nvSpPr>
          <p:spPr>
            <a:xfrm>
              <a:off x="1033272" y="3090672"/>
              <a:ext cx="2926080" cy="411480"/>
            </a:xfrm>
            <a:prstGeom prst="rect">
              <a:avLst/>
            </a:prstGeom>
            <a:noFill/>
            <a:ln/>
          </p:spPr>
          <p:txBody>
            <a:bodyPr wrap="square" lIns="0" tIns="0" rIns="0" bIns="0" rtlCol="0" anchor="ctr">
              <a:noAutofit/>
            </a:bodyPr>
            <a:lstStyle/>
            <a:p>
              <a:pPr marL="0" indent="0" algn="ctr">
                <a:buNone/>
              </a:pPr>
              <a:r>
                <a:rPr lang="en-US" sz="1800" dirty="0">
                  <a:solidFill>
                    <a:srgbClr val="06172D"/>
                  </a:solidFill>
                </a:rPr>
                <a:t>Không phải lúc nào cũng cần bộ xử lý mạnh nhất</a:t>
              </a:r>
              <a:endParaRPr lang="en-US" sz="1800" dirty="0"/>
            </a:p>
          </p:txBody>
        </p:sp>
        <p:sp>
          <p:nvSpPr>
            <p:cNvPr id="11" name="Shape 15">
              <a:extLst>
                <a:ext uri="{FF2B5EF4-FFF2-40B4-BE49-F238E27FC236}">
                  <a16:creationId xmlns:a16="http://schemas.microsoft.com/office/drawing/2014/main" id="{7D71F5AC-A8A7-5F86-3713-F11F6A6E973B}"/>
                </a:ext>
              </a:extLst>
            </p:cNvPr>
            <p:cNvSpPr/>
            <p:nvPr/>
          </p:nvSpPr>
          <p:spPr>
            <a:xfrm>
              <a:off x="4572000" y="2651760"/>
              <a:ext cx="3246120" cy="1051560"/>
            </a:xfrm>
            <a:prstGeom prst="roundRect">
              <a:avLst>
                <a:gd name="adj" fmla="val 6957"/>
              </a:avLst>
            </a:prstGeom>
            <a:solidFill>
              <a:srgbClr val="FFF7E8"/>
            </a:solidFill>
            <a:ln w="12700">
              <a:solidFill>
                <a:srgbClr val="D7DDE4"/>
              </a:solidFill>
              <a:prstDash val="solid"/>
            </a:ln>
          </p:spPr>
          <p:txBody>
            <a:bodyPr/>
            <a:lstStyle/>
            <a:p>
              <a:pPr algn="ctr"/>
              <a:endParaRPr lang="en-US" sz="1800"/>
            </a:p>
          </p:txBody>
        </p:sp>
        <p:sp>
          <p:nvSpPr>
            <p:cNvPr id="13" name="Text 16">
              <a:extLst>
                <a:ext uri="{FF2B5EF4-FFF2-40B4-BE49-F238E27FC236}">
                  <a16:creationId xmlns:a16="http://schemas.microsoft.com/office/drawing/2014/main" id="{BFC60EBB-2591-FFAA-5F15-F21E9FC1CF1C}"/>
                </a:ext>
              </a:extLst>
            </p:cNvPr>
            <p:cNvSpPr/>
            <p:nvPr/>
          </p:nvSpPr>
          <p:spPr>
            <a:xfrm>
              <a:off x="4736592" y="2798064"/>
              <a:ext cx="2926080" cy="219456"/>
            </a:xfrm>
            <a:prstGeom prst="rect">
              <a:avLst/>
            </a:prstGeom>
            <a:noFill/>
            <a:ln/>
          </p:spPr>
          <p:txBody>
            <a:bodyPr wrap="square" lIns="0" tIns="0" rIns="0" bIns="0" rtlCol="0" anchor="ctr"/>
            <a:lstStyle/>
            <a:p>
              <a:pPr marL="0" indent="0" algn="ctr">
                <a:buNone/>
              </a:pPr>
              <a:r>
                <a:rPr lang="en-US" sz="1800" b="1" dirty="0">
                  <a:solidFill>
                    <a:srgbClr val="0070B8"/>
                  </a:solidFill>
                </a:rPr>
                <a:t>Bộ nhớ</a:t>
              </a:r>
              <a:endParaRPr lang="en-US" sz="1800" dirty="0"/>
            </a:p>
          </p:txBody>
        </p:sp>
        <p:sp>
          <p:nvSpPr>
            <p:cNvPr id="15" name="Text 17">
              <a:extLst>
                <a:ext uri="{FF2B5EF4-FFF2-40B4-BE49-F238E27FC236}">
                  <a16:creationId xmlns:a16="http://schemas.microsoft.com/office/drawing/2014/main" id="{E1908E93-F0EF-394C-56F8-379B84056EE4}"/>
                </a:ext>
              </a:extLst>
            </p:cNvPr>
            <p:cNvSpPr/>
            <p:nvPr/>
          </p:nvSpPr>
          <p:spPr>
            <a:xfrm>
              <a:off x="4736592" y="3090672"/>
              <a:ext cx="2926080" cy="411480"/>
            </a:xfrm>
            <a:prstGeom prst="rect">
              <a:avLst/>
            </a:prstGeom>
            <a:noFill/>
            <a:ln/>
          </p:spPr>
          <p:txBody>
            <a:bodyPr wrap="square" lIns="0" tIns="0" rIns="0" bIns="0" rtlCol="0" anchor="ctr">
              <a:noAutofit/>
            </a:bodyPr>
            <a:lstStyle/>
            <a:p>
              <a:pPr marL="0" indent="0" algn="ctr">
                <a:buNone/>
              </a:pPr>
              <a:r>
                <a:rPr lang="en-US" sz="1800" dirty="0">
                  <a:solidFill>
                    <a:srgbClr val="06172D"/>
                  </a:solidFill>
                </a:rPr>
                <a:t>RAM/Flash nhỏ nên chương trình phải gọn</a:t>
              </a:r>
              <a:endParaRPr lang="en-US" sz="1800" dirty="0"/>
            </a:p>
          </p:txBody>
        </p:sp>
        <p:sp>
          <p:nvSpPr>
            <p:cNvPr id="17" name="Shape 18">
              <a:extLst>
                <a:ext uri="{FF2B5EF4-FFF2-40B4-BE49-F238E27FC236}">
                  <a16:creationId xmlns:a16="http://schemas.microsoft.com/office/drawing/2014/main" id="{1D21B3AF-FEFC-8EAA-437E-FE01DA31E216}"/>
                </a:ext>
              </a:extLst>
            </p:cNvPr>
            <p:cNvSpPr/>
            <p:nvPr/>
          </p:nvSpPr>
          <p:spPr>
            <a:xfrm>
              <a:off x="8275320" y="2651760"/>
              <a:ext cx="3246120" cy="1051560"/>
            </a:xfrm>
            <a:prstGeom prst="roundRect">
              <a:avLst>
                <a:gd name="adj" fmla="val 6957"/>
              </a:avLst>
            </a:prstGeom>
            <a:solidFill>
              <a:srgbClr val="EAF7EA"/>
            </a:solidFill>
            <a:ln w="12700">
              <a:solidFill>
                <a:srgbClr val="D7DDE4"/>
              </a:solidFill>
              <a:prstDash val="solid"/>
            </a:ln>
          </p:spPr>
          <p:txBody>
            <a:bodyPr/>
            <a:lstStyle/>
            <a:p>
              <a:pPr algn="ctr"/>
              <a:endParaRPr lang="en-US" sz="1800"/>
            </a:p>
          </p:txBody>
        </p:sp>
        <p:sp>
          <p:nvSpPr>
            <p:cNvPr id="19" name="Text 19">
              <a:extLst>
                <a:ext uri="{FF2B5EF4-FFF2-40B4-BE49-F238E27FC236}">
                  <a16:creationId xmlns:a16="http://schemas.microsoft.com/office/drawing/2014/main" id="{E9067045-9DB6-983F-B30C-FBE143A49883}"/>
                </a:ext>
              </a:extLst>
            </p:cNvPr>
            <p:cNvSpPr/>
            <p:nvPr/>
          </p:nvSpPr>
          <p:spPr>
            <a:xfrm>
              <a:off x="8439912" y="2798064"/>
              <a:ext cx="2926080" cy="219456"/>
            </a:xfrm>
            <a:prstGeom prst="rect">
              <a:avLst/>
            </a:prstGeom>
            <a:noFill/>
            <a:ln/>
          </p:spPr>
          <p:txBody>
            <a:bodyPr wrap="square" lIns="0" tIns="0" rIns="0" bIns="0" rtlCol="0" anchor="ctr"/>
            <a:lstStyle/>
            <a:p>
              <a:pPr marL="0" indent="0" algn="ctr">
                <a:buNone/>
              </a:pPr>
              <a:r>
                <a:rPr lang="en-US" sz="1800" b="1" dirty="0">
                  <a:solidFill>
                    <a:srgbClr val="0070B8"/>
                  </a:solidFill>
                </a:rPr>
                <a:t>Năng lượng</a:t>
              </a:r>
              <a:endParaRPr lang="en-US" sz="1800" dirty="0"/>
            </a:p>
          </p:txBody>
        </p:sp>
        <p:sp>
          <p:nvSpPr>
            <p:cNvPr id="21" name="Text 20">
              <a:extLst>
                <a:ext uri="{FF2B5EF4-FFF2-40B4-BE49-F238E27FC236}">
                  <a16:creationId xmlns:a16="http://schemas.microsoft.com/office/drawing/2014/main" id="{467B5752-F5D4-17D4-4BE6-CCCFAA1C2412}"/>
                </a:ext>
              </a:extLst>
            </p:cNvPr>
            <p:cNvSpPr/>
            <p:nvPr/>
          </p:nvSpPr>
          <p:spPr>
            <a:xfrm>
              <a:off x="8439912" y="3090672"/>
              <a:ext cx="2926080" cy="411480"/>
            </a:xfrm>
            <a:prstGeom prst="rect">
              <a:avLst/>
            </a:prstGeom>
            <a:noFill/>
            <a:ln/>
          </p:spPr>
          <p:txBody>
            <a:bodyPr wrap="square" lIns="0" tIns="0" rIns="0" bIns="0" rtlCol="0" anchor="ctr">
              <a:noAutofit/>
            </a:bodyPr>
            <a:lstStyle/>
            <a:p>
              <a:pPr marL="0" indent="0" algn="ctr">
                <a:buNone/>
              </a:pPr>
              <a:r>
                <a:rPr lang="en-US" sz="1800" dirty="0">
                  <a:solidFill>
                    <a:srgbClr val="06172D"/>
                  </a:solidFill>
                </a:rPr>
                <a:t>Thiết bị chạy pin cần tiêu thụ thấp</a:t>
              </a:r>
              <a:endParaRPr lang="en-US" sz="1800" dirty="0"/>
            </a:p>
          </p:txBody>
        </p:sp>
        <p:sp>
          <p:nvSpPr>
            <p:cNvPr id="23" name="Shape 21">
              <a:extLst>
                <a:ext uri="{FF2B5EF4-FFF2-40B4-BE49-F238E27FC236}">
                  <a16:creationId xmlns:a16="http://schemas.microsoft.com/office/drawing/2014/main" id="{67736B3A-6436-4837-08DF-8A500038040D}"/>
                </a:ext>
              </a:extLst>
            </p:cNvPr>
            <p:cNvSpPr/>
            <p:nvPr/>
          </p:nvSpPr>
          <p:spPr>
            <a:xfrm>
              <a:off x="2697480" y="4251960"/>
              <a:ext cx="3246120" cy="1051560"/>
            </a:xfrm>
            <a:prstGeom prst="roundRect">
              <a:avLst>
                <a:gd name="adj" fmla="val 6957"/>
              </a:avLst>
            </a:prstGeom>
            <a:solidFill>
              <a:srgbClr val="FBECEC"/>
            </a:solidFill>
            <a:ln w="12700">
              <a:solidFill>
                <a:srgbClr val="D7DDE4"/>
              </a:solidFill>
              <a:prstDash val="solid"/>
            </a:ln>
          </p:spPr>
          <p:txBody>
            <a:bodyPr/>
            <a:lstStyle/>
            <a:p>
              <a:pPr algn="ctr"/>
              <a:endParaRPr lang="en-US" sz="1800"/>
            </a:p>
          </p:txBody>
        </p:sp>
        <p:sp>
          <p:nvSpPr>
            <p:cNvPr id="25" name="Text 22">
              <a:extLst>
                <a:ext uri="{FF2B5EF4-FFF2-40B4-BE49-F238E27FC236}">
                  <a16:creationId xmlns:a16="http://schemas.microsoft.com/office/drawing/2014/main" id="{CB8CDBE3-E5C9-FFD1-4BEB-1F55B0769496}"/>
                </a:ext>
              </a:extLst>
            </p:cNvPr>
            <p:cNvSpPr/>
            <p:nvPr/>
          </p:nvSpPr>
          <p:spPr>
            <a:xfrm>
              <a:off x="2862072" y="4398264"/>
              <a:ext cx="2926080" cy="219456"/>
            </a:xfrm>
            <a:prstGeom prst="rect">
              <a:avLst/>
            </a:prstGeom>
            <a:noFill/>
            <a:ln/>
          </p:spPr>
          <p:txBody>
            <a:bodyPr wrap="square" lIns="0" tIns="0" rIns="0" bIns="0" rtlCol="0" anchor="ctr"/>
            <a:lstStyle/>
            <a:p>
              <a:pPr marL="0" indent="0" algn="ctr">
                <a:buNone/>
              </a:pPr>
              <a:r>
                <a:rPr lang="en-US" sz="1800" b="1" dirty="0">
                  <a:solidFill>
                    <a:srgbClr val="0070B8"/>
                  </a:solidFill>
                </a:rPr>
                <a:t>Phần cứng</a:t>
              </a:r>
              <a:endParaRPr lang="en-US" sz="1800" dirty="0"/>
            </a:p>
          </p:txBody>
        </p:sp>
        <p:sp>
          <p:nvSpPr>
            <p:cNvPr id="27" name="Text 23">
              <a:extLst>
                <a:ext uri="{FF2B5EF4-FFF2-40B4-BE49-F238E27FC236}">
                  <a16:creationId xmlns:a16="http://schemas.microsoft.com/office/drawing/2014/main" id="{42A55054-DFFD-F576-D3D9-602D16132AF0}"/>
                </a:ext>
              </a:extLst>
            </p:cNvPr>
            <p:cNvSpPr/>
            <p:nvPr/>
          </p:nvSpPr>
          <p:spPr>
            <a:xfrm>
              <a:off x="2862072" y="4690872"/>
              <a:ext cx="2926080" cy="411480"/>
            </a:xfrm>
            <a:prstGeom prst="rect">
              <a:avLst/>
            </a:prstGeom>
            <a:noFill/>
            <a:ln/>
          </p:spPr>
          <p:txBody>
            <a:bodyPr wrap="square" lIns="0" tIns="0" rIns="0" bIns="0" rtlCol="0" anchor="ctr">
              <a:noAutofit/>
            </a:bodyPr>
            <a:lstStyle/>
            <a:p>
              <a:pPr marL="0" indent="0" algn="ctr">
                <a:buNone/>
              </a:pPr>
              <a:r>
                <a:rPr lang="en-US" sz="1800" dirty="0">
                  <a:solidFill>
                    <a:srgbClr val="06172D"/>
                  </a:solidFill>
                </a:rPr>
                <a:t>Số chân I/O, ADC, UART, SPI… có giới hạn</a:t>
              </a:r>
              <a:endParaRPr lang="en-US" sz="1800" dirty="0"/>
            </a:p>
          </p:txBody>
        </p:sp>
        <p:sp>
          <p:nvSpPr>
            <p:cNvPr id="29" name="Shape 24">
              <a:extLst>
                <a:ext uri="{FF2B5EF4-FFF2-40B4-BE49-F238E27FC236}">
                  <a16:creationId xmlns:a16="http://schemas.microsoft.com/office/drawing/2014/main" id="{30AF4075-FE16-EA6F-AEDF-87CE01AD873E}"/>
                </a:ext>
              </a:extLst>
            </p:cNvPr>
            <p:cNvSpPr/>
            <p:nvPr/>
          </p:nvSpPr>
          <p:spPr>
            <a:xfrm>
              <a:off x="6400800" y="4251960"/>
              <a:ext cx="3246120" cy="1051560"/>
            </a:xfrm>
            <a:prstGeom prst="roundRect">
              <a:avLst>
                <a:gd name="adj" fmla="val 6957"/>
              </a:avLst>
            </a:prstGeom>
            <a:solidFill>
              <a:srgbClr val="F3EEFA"/>
            </a:solidFill>
            <a:ln w="12700">
              <a:solidFill>
                <a:srgbClr val="D7DDE4"/>
              </a:solidFill>
              <a:prstDash val="solid"/>
            </a:ln>
          </p:spPr>
          <p:txBody>
            <a:bodyPr/>
            <a:lstStyle/>
            <a:p>
              <a:pPr algn="ctr"/>
              <a:endParaRPr lang="en-US" sz="1800"/>
            </a:p>
          </p:txBody>
        </p:sp>
        <p:sp>
          <p:nvSpPr>
            <p:cNvPr id="31" name="Text 25">
              <a:extLst>
                <a:ext uri="{FF2B5EF4-FFF2-40B4-BE49-F238E27FC236}">
                  <a16:creationId xmlns:a16="http://schemas.microsoft.com/office/drawing/2014/main" id="{393BDC0D-98A7-9B3E-A523-7D79F44E6277}"/>
                </a:ext>
              </a:extLst>
            </p:cNvPr>
            <p:cNvSpPr/>
            <p:nvPr/>
          </p:nvSpPr>
          <p:spPr>
            <a:xfrm>
              <a:off x="6565392" y="4398264"/>
              <a:ext cx="2926080" cy="219456"/>
            </a:xfrm>
            <a:prstGeom prst="rect">
              <a:avLst/>
            </a:prstGeom>
            <a:noFill/>
            <a:ln/>
          </p:spPr>
          <p:txBody>
            <a:bodyPr wrap="square" lIns="0" tIns="0" rIns="0" bIns="0" rtlCol="0" anchor="ctr"/>
            <a:lstStyle/>
            <a:p>
              <a:pPr marL="0" indent="0" algn="ctr">
                <a:buNone/>
              </a:pPr>
              <a:r>
                <a:rPr lang="en-US" sz="1800" b="1" dirty="0">
                  <a:solidFill>
                    <a:srgbClr val="0070B8"/>
                  </a:solidFill>
                </a:rPr>
                <a:t>Phần mềm</a:t>
              </a:r>
              <a:endParaRPr lang="en-US" sz="1800" dirty="0"/>
            </a:p>
          </p:txBody>
        </p:sp>
        <p:sp>
          <p:nvSpPr>
            <p:cNvPr id="33" name="Text 26">
              <a:extLst>
                <a:ext uri="{FF2B5EF4-FFF2-40B4-BE49-F238E27FC236}">
                  <a16:creationId xmlns:a16="http://schemas.microsoft.com/office/drawing/2014/main" id="{339EB36B-AD01-61C8-E4B3-A05D26AC0546}"/>
                </a:ext>
              </a:extLst>
            </p:cNvPr>
            <p:cNvSpPr/>
            <p:nvPr/>
          </p:nvSpPr>
          <p:spPr>
            <a:xfrm>
              <a:off x="6565392" y="4690872"/>
              <a:ext cx="2926080" cy="411480"/>
            </a:xfrm>
            <a:prstGeom prst="rect">
              <a:avLst/>
            </a:prstGeom>
            <a:noFill/>
            <a:ln/>
          </p:spPr>
          <p:txBody>
            <a:bodyPr wrap="square" lIns="0" tIns="0" rIns="0" bIns="0" rtlCol="0" anchor="ctr">
              <a:noAutofit/>
            </a:bodyPr>
            <a:lstStyle/>
            <a:p>
              <a:pPr marL="0" indent="0" algn="ctr">
                <a:buNone/>
              </a:pPr>
              <a:r>
                <a:rPr lang="en-US" sz="1800" dirty="0">
                  <a:solidFill>
                    <a:srgbClr val="06172D"/>
                  </a:solidFill>
                </a:rPr>
                <a:t>Firmware thường chỉ chứa chức năng cần thiết</a:t>
              </a:r>
              <a:endParaRPr lang="en-US" sz="1800" dirty="0"/>
            </a:p>
          </p:txBody>
        </p:sp>
      </p:grpSp>
    </p:spTree>
    <p:extLst>
      <p:ext uri="{BB962C8B-B14F-4D97-AF65-F5344CB8AC3E}">
        <p14:creationId xmlns:p14="http://schemas.microsoft.com/office/powerpoint/2010/main" val="170636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2F306-CCD4-DAD1-B43D-BB265D226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DE91E-18CB-BF93-97E1-F8CEB2FBF70E}"/>
              </a:ext>
            </a:extLst>
          </p:cNvPr>
          <p:cNvSpPr>
            <a:spLocks noGrp="1"/>
          </p:cNvSpPr>
          <p:nvPr>
            <p:ph type="title"/>
          </p:nvPr>
        </p:nvSpPr>
        <p:spPr/>
        <p:txBody>
          <a:bodyPr/>
          <a:lstStyle/>
          <a:p>
            <a:r>
              <a:rPr lang="en-US"/>
              <a:t>ĐẶC ĐIỂM CỦA HỆ THỐNG NHÚNG</a:t>
            </a:r>
          </a:p>
        </p:txBody>
      </p:sp>
      <p:sp>
        <p:nvSpPr>
          <p:cNvPr id="3" name="Content Placeholder 2">
            <a:extLst>
              <a:ext uri="{FF2B5EF4-FFF2-40B4-BE49-F238E27FC236}">
                <a16:creationId xmlns:a16="http://schemas.microsoft.com/office/drawing/2014/main" id="{CCCA91E3-FA8B-8B59-118F-4DB993049E0F}"/>
              </a:ext>
            </a:extLst>
          </p:cNvPr>
          <p:cNvSpPr>
            <a:spLocks noGrp="1"/>
          </p:cNvSpPr>
          <p:nvPr>
            <p:ph sz="quarter" idx="13"/>
          </p:nvPr>
        </p:nvSpPr>
        <p:spPr/>
        <p:txBody>
          <a:bodyPr>
            <a:normAutofit fontScale="92500" lnSpcReduction="10000"/>
          </a:bodyPr>
          <a:lstStyle/>
          <a:p>
            <a:r>
              <a:rPr lang="en-US" b="1"/>
              <a:t>Chuyên dụng và tương tác với thế giới thực</a:t>
            </a:r>
          </a:p>
          <a:p>
            <a:pPr lvl="1"/>
            <a:r>
              <a:rPr lang="en-US"/>
              <a:t>Hệ thống nhúng được thiết kế để thực hiện một chức năng chuyên biệt và thường phải cảm nhận – xử lý – tác động trong môi trường thật</a:t>
            </a:r>
          </a:p>
          <a:p>
            <a:pPr lvl="1"/>
            <a:endParaRPr lang="en-US"/>
          </a:p>
          <a:p>
            <a:pPr lvl="1"/>
            <a:endParaRPr lang="en-US"/>
          </a:p>
          <a:p>
            <a:pPr lvl="1"/>
            <a:endParaRPr lang="en-US"/>
          </a:p>
          <a:p>
            <a:pPr lvl="1"/>
            <a:endParaRPr lang="en-US"/>
          </a:p>
          <a:p>
            <a:pPr lvl="1"/>
            <a:endParaRPr lang="en-US"/>
          </a:p>
          <a:p>
            <a:pPr lvl="1"/>
            <a:r>
              <a:rPr lang="en-US"/>
              <a:t>Ví dụ tương tác:</a:t>
            </a:r>
          </a:p>
          <a:p>
            <a:pPr lvl="2"/>
            <a:r>
              <a:rPr lang="en-US"/>
              <a:t>Cảm biến nhiệt độ </a:t>
            </a:r>
            <a:r>
              <a:rPr lang="en-US">
                <a:sym typeface="Wingdings" panose="05000000000000000000" pitchFamily="2" charset="2"/>
              </a:rPr>
              <a:t> điều khiển quạt hoặc máy nén</a:t>
            </a:r>
          </a:p>
          <a:p>
            <a:pPr lvl="2"/>
            <a:r>
              <a:rPr lang="en-US">
                <a:sym typeface="Wingdings" panose="05000000000000000000" pitchFamily="2" charset="2"/>
              </a:rPr>
              <a:t>Cảm biến khói  kích hoạt còi báo động</a:t>
            </a:r>
          </a:p>
          <a:p>
            <a:pPr lvl="2"/>
            <a:r>
              <a:rPr lang="en-US"/>
              <a:t>Nút nhấn/công tắc </a:t>
            </a:r>
            <a:r>
              <a:rPr lang="en-US">
                <a:sym typeface="Wingdings" panose="05000000000000000000" pitchFamily="2" charset="2"/>
              </a:rPr>
              <a:t> thay đổi trạng thái hệ thống</a:t>
            </a:r>
          </a:p>
          <a:p>
            <a:pPr lvl="2"/>
            <a:r>
              <a:rPr lang="en-US">
                <a:sym typeface="Wingdings" panose="05000000000000000000" pitchFamily="2" charset="2"/>
              </a:rPr>
              <a:t>Tốc độ tương tác phải đáp ứng thời gian thực trong các hệ quan trọng</a:t>
            </a:r>
            <a:endParaRPr lang="en-US"/>
          </a:p>
        </p:txBody>
      </p:sp>
      <p:grpSp>
        <p:nvGrpSpPr>
          <p:cNvPr id="26" name="Group 25">
            <a:extLst>
              <a:ext uri="{FF2B5EF4-FFF2-40B4-BE49-F238E27FC236}">
                <a16:creationId xmlns:a16="http://schemas.microsoft.com/office/drawing/2014/main" id="{9EFADDAE-5DB9-BFEB-B547-1162AF9697A5}"/>
              </a:ext>
            </a:extLst>
          </p:cNvPr>
          <p:cNvGrpSpPr/>
          <p:nvPr/>
        </p:nvGrpSpPr>
        <p:grpSpPr>
          <a:xfrm>
            <a:off x="983926" y="3194068"/>
            <a:ext cx="10469880" cy="685800"/>
            <a:chOff x="960120" y="2834640"/>
            <a:chExt cx="10469880" cy="685800"/>
          </a:xfrm>
        </p:grpSpPr>
        <p:sp>
          <p:nvSpPr>
            <p:cNvPr id="5" name="Shape 12">
              <a:extLst>
                <a:ext uri="{FF2B5EF4-FFF2-40B4-BE49-F238E27FC236}">
                  <a16:creationId xmlns:a16="http://schemas.microsoft.com/office/drawing/2014/main" id="{385B6DED-274D-8F78-262A-A195D5A8123F}"/>
                </a:ext>
              </a:extLst>
            </p:cNvPr>
            <p:cNvSpPr/>
            <p:nvPr/>
          </p:nvSpPr>
          <p:spPr>
            <a:xfrm>
              <a:off x="960120" y="2834640"/>
              <a:ext cx="1828800" cy="685800"/>
            </a:xfrm>
            <a:prstGeom prst="roundRect">
              <a:avLst>
                <a:gd name="adj" fmla="val 9333"/>
              </a:avLst>
            </a:prstGeom>
            <a:solidFill>
              <a:srgbClr val="0070B8"/>
            </a:solidFill>
            <a:ln w="12700">
              <a:solidFill>
                <a:srgbClr val="0070B8"/>
              </a:solidFill>
              <a:prstDash val="solid"/>
            </a:ln>
          </p:spPr>
          <p:txBody>
            <a:bodyPr/>
            <a:lstStyle/>
            <a:p>
              <a:endParaRPr lang="en-US" sz="2000"/>
            </a:p>
          </p:txBody>
        </p:sp>
        <p:sp>
          <p:nvSpPr>
            <p:cNvPr id="7" name="Text 13">
              <a:extLst>
                <a:ext uri="{FF2B5EF4-FFF2-40B4-BE49-F238E27FC236}">
                  <a16:creationId xmlns:a16="http://schemas.microsoft.com/office/drawing/2014/main" id="{9B38D4A4-25E8-A6DB-95F0-3559AA205FA4}"/>
                </a:ext>
              </a:extLst>
            </p:cNvPr>
            <p:cNvSpPr/>
            <p:nvPr/>
          </p:nvSpPr>
          <p:spPr>
            <a:xfrm>
              <a:off x="1005840" y="2907792"/>
              <a:ext cx="1737360" cy="539496"/>
            </a:xfrm>
            <a:prstGeom prst="rect">
              <a:avLst/>
            </a:prstGeom>
            <a:noFill/>
            <a:ln/>
          </p:spPr>
          <p:txBody>
            <a:bodyPr wrap="square" lIns="381" tIns="381" rIns="381" bIns="381" rtlCol="0" anchor="ctr"/>
            <a:lstStyle/>
            <a:p>
              <a:pPr marL="0" indent="0" algn="ctr">
                <a:buNone/>
              </a:pPr>
              <a:r>
                <a:rPr lang="en-US" sz="2000" b="1" dirty="0">
                  <a:solidFill>
                    <a:srgbClr val="FFFFFF"/>
                  </a:solidFill>
                </a:rPr>
                <a:t>Cảm biến</a:t>
              </a:r>
              <a:endParaRPr lang="en-US" sz="2000" dirty="0"/>
            </a:p>
            <a:p>
              <a:pPr marL="0" indent="0" algn="ctr">
                <a:buNone/>
              </a:pPr>
              <a:r>
                <a:rPr lang="en-US" sz="2000" b="1" dirty="0">
                  <a:solidFill>
                    <a:srgbClr val="FFFFFF"/>
                  </a:solidFill>
                </a:rPr>
                <a:t>Input</a:t>
              </a:r>
              <a:endParaRPr lang="en-US" sz="2000" dirty="0"/>
            </a:p>
          </p:txBody>
        </p:sp>
        <p:sp>
          <p:nvSpPr>
            <p:cNvPr id="9" name="Shape 14">
              <a:extLst>
                <a:ext uri="{FF2B5EF4-FFF2-40B4-BE49-F238E27FC236}">
                  <a16:creationId xmlns:a16="http://schemas.microsoft.com/office/drawing/2014/main" id="{E0B42E6F-F9A1-7895-CEAB-98879219970C}"/>
                </a:ext>
              </a:extLst>
            </p:cNvPr>
            <p:cNvSpPr/>
            <p:nvPr/>
          </p:nvSpPr>
          <p:spPr>
            <a:xfrm>
              <a:off x="3063240" y="2971800"/>
              <a:ext cx="594360" cy="411480"/>
            </a:xfrm>
            <a:prstGeom prst="chevron">
              <a:avLst/>
            </a:prstGeom>
            <a:solidFill>
              <a:srgbClr val="5E6A77"/>
            </a:solidFill>
            <a:ln w="12700">
              <a:solidFill>
                <a:srgbClr val="5E6A77"/>
              </a:solidFill>
              <a:prstDash val="solid"/>
            </a:ln>
          </p:spPr>
          <p:txBody>
            <a:bodyPr/>
            <a:lstStyle/>
            <a:p>
              <a:endParaRPr lang="en-US" sz="2000"/>
            </a:p>
          </p:txBody>
        </p:sp>
        <p:sp>
          <p:nvSpPr>
            <p:cNvPr id="11" name="Shape 15">
              <a:extLst>
                <a:ext uri="{FF2B5EF4-FFF2-40B4-BE49-F238E27FC236}">
                  <a16:creationId xmlns:a16="http://schemas.microsoft.com/office/drawing/2014/main" id="{3863B066-EDF7-D085-3CE0-4FB5D75E1A1D}"/>
                </a:ext>
              </a:extLst>
            </p:cNvPr>
            <p:cNvSpPr/>
            <p:nvPr/>
          </p:nvSpPr>
          <p:spPr>
            <a:xfrm>
              <a:off x="3886200" y="2834640"/>
              <a:ext cx="2011680" cy="685800"/>
            </a:xfrm>
            <a:prstGeom prst="roundRect">
              <a:avLst>
                <a:gd name="adj" fmla="val 9333"/>
              </a:avLst>
            </a:prstGeom>
            <a:solidFill>
              <a:srgbClr val="0E87C9"/>
            </a:solidFill>
            <a:ln w="12700">
              <a:solidFill>
                <a:srgbClr val="0E87C9"/>
              </a:solidFill>
              <a:prstDash val="solid"/>
            </a:ln>
          </p:spPr>
          <p:txBody>
            <a:bodyPr/>
            <a:lstStyle/>
            <a:p>
              <a:endParaRPr lang="en-US" sz="2000"/>
            </a:p>
          </p:txBody>
        </p:sp>
        <p:sp>
          <p:nvSpPr>
            <p:cNvPr id="13" name="Text 16">
              <a:extLst>
                <a:ext uri="{FF2B5EF4-FFF2-40B4-BE49-F238E27FC236}">
                  <a16:creationId xmlns:a16="http://schemas.microsoft.com/office/drawing/2014/main" id="{3D1D5C43-96C0-8EB7-FEDD-56191639DEAA}"/>
                </a:ext>
              </a:extLst>
            </p:cNvPr>
            <p:cNvSpPr/>
            <p:nvPr/>
          </p:nvSpPr>
          <p:spPr>
            <a:xfrm>
              <a:off x="3931920" y="2907792"/>
              <a:ext cx="1920240" cy="539496"/>
            </a:xfrm>
            <a:prstGeom prst="rect">
              <a:avLst/>
            </a:prstGeom>
            <a:noFill/>
            <a:ln/>
          </p:spPr>
          <p:txBody>
            <a:bodyPr wrap="square" lIns="381" tIns="381" rIns="381" bIns="381" rtlCol="0" anchor="ctr"/>
            <a:lstStyle/>
            <a:p>
              <a:pPr marL="0" indent="0" algn="ctr">
                <a:buNone/>
              </a:pPr>
              <a:r>
                <a:rPr lang="en-US" sz="2000" b="1" dirty="0">
                  <a:solidFill>
                    <a:srgbClr val="FFFFFF"/>
                  </a:solidFill>
                </a:rPr>
                <a:t>Bộ xử lý</a:t>
              </a:r>
              <a:endParaRPr lang="en-US" sz="2000" dirty="0"/>
            </a:p>
            <a:p>
              <a:pPr marL="0" indent="0" algn="ctr">
                <a:buNone/>
              </a:pPr>
              <a:r>
                <a:rPr lang="en-US" sz="2000" b="1" dirty="0">
                  <a:solidFill>
                    <a:srgbClr val="FFFFFF"/>
                  </a:solidFill>
                </a:rPr>
                <a:t>MCU/MPU</a:t>
              </a:r>
              <a:endParaRPr lang="en-US" sz="2000" dirty="0"/>
            </a:p>
          </p:txBody>
        </p:sp>
        <p:sp>
          <p:nvSpPr>
            <p:cNvPr id="15" name="Shape 17">
              <a:extLst>
                <a:ext uri="{FF2B5EF4-FFF2-40B4-BE49-F238E27FC236}">
                  <a16:creationId xmlns:a16="http://schemas.microsoft.com/office/drawing/2014/main" id="{C0F2945A-23DD-7D29-1CA4-D732F31D9723}"/>
                </a:ext>
              </a:extLst>
            </p:cNvPr>
            <p:cNvSpPr/>
            <p:nvPr/>
          </p:nvSpPr>
          <p:spPr>
            <a:xfrm>
              <a:off x="6172200" y="2971800"/>
              <a:ext cx="594360" cy="411480"/>
            </a:xfrm>
            <a:prstGeom prst="chevron">
              <a:avLst/>
            </a:prstGeom>
            <a:solidFill>
              <a:srgbClr val="5E6A77"/>
            </a:solidFill>
            <a:ln w="12700">
              <a:solidFill>
                <a:srgbClr val="5E6A77"/>
              </a:solidFill>
              <a:prstDash val="solid"/>
            </a:ln>
          </p:spPr>
          <p:txBody>
            <a:bodyPr/>
            <a:lstStyle/>
            <a:p>
              <a:endParaRPr lang="en-US" sz="2000"/>
            </a:p>
          </p:txBody>
        </p:sp>
        <p:sp>
          <p:nvSpPr>
            <p:cNvPr id="17" name="Shape 18">
              <a:extLst>
                <a:ext uri="{FF2B5EF4-FFF2-40B4-BE49-F238E27FC236}">
                  <a16:creationId xmlns:a16="http://schemas.microsoft.com/office/drawing/2014/main" id="{737EB0B8-FB54-FDE6-039B-50C014B23080}"/>
                </a:ext>
              </a:extLst>
            </p:cNvPr>
            <p:cNvSpPr/>
            <p:nvPr/>
          </p:nvSpPr>
          <p:spPr>
            <a:xfrm>
              <a:off x="6995160" y="2834640"/>
              <a:ext cx="1920240" cy="685800"/>
            </a:xfrm>
            <a:prstGeom prst="roundRect">
              <a:avLst>
                <a:gd name="adj" fmla="val 9333"/>
              </a:avLst>
            </a:prstGeom>
            <a:solidFill>
              <a:srgbClr val="009688"/>
            </a:solidFill>
            <a:ln w="12700">
              <a:solidFill>
                <a:srgbClr val="009688"/>
              </a:solidFill>
              <a:prstDash val="solid"/>
            </a:ln>
          </p:spPr>
          <p:txBody>
            <a:bodyPr/>
            <a:lstStyle/>
            <a:p>
              <a:endParaRPr lang="en-US" sz="2000"/>
            </a:p>
          </p:txBody>
        </p:sp>
        <p:sp>
          <p:nvSpPr>
            <p:cNvPr id="19" name="Text 19">
              <a:extLst>
                <a:ext uri="{FF2B5EF4-FFF2-40B4-BE49-F238E27FC236}">
                  <a16:creationId xmlns:a16="http://schemas.microsoft.com/office/drawing/2014/main" id="{0323AFEE-0061-00A8-F887-5B03FB9148F0}"/>
                </a:ext>
              </a:extLst>
            </p:cNvPr>
            <p:cNvSpPr/>
            <p:nvPr/>
          </p:nvSpPr>
          <p:spPr>
            <a:xfrm>
              <a:off x="7040880" y="2907792"/>
              <a:ext cx="1828800" cy="539496"/>
            </a:xfrm>
            <a:prstGeom prst="rect">
              <a:avLst/>
            </a:prstGeom>
            <a:noFill/>
            <a:ln/>
          </p:spPr>
          <p:txBody>
            <a:bodyPr wrap="square" lIns="381" tIns="381" rIns="381" bIns="381" rtlCol="0" anchor="ctr"/>
            <a:lstStyle/>
            <a:p>
              <a:pPr marL="0" indent="0" algn="ctr">
                <a:buNone/>
              </a:pPr>
              <a:r>
                <a:rPr lang="en-US" sz="2000" b="1" dirty="0">
                  <a:solidFill>
                    <a:srgbClr val="FFFFFF"/>
                  </a:solidFill>
                </a:rPr>
                <a:t>Cơ cấu</a:t>
              </a:r>
              <a:endParaRPr lang="en-US" sz="2000" dirty="0"/>
            </a:p>
            <a:p>
              <a:pPr marL="0" indent="0" algn="ctr">
                <a:buNone/>
              </a:pPr>
              <a:r>
                <a:rPr lang="en-US" sz="2000" b="1" dirty="0">
                  <a:solidFill>
                    <a:srgbClr val="FFFFFF"/>
                  </a:solidFill>
                </a:rPr>
                <a:t>chấp hành</a:t>
              </a:r>
              <a:endParaRPr lang="en-US" sz="2000" dirty="0"/>
            </a:p>
          </p:txBody>
        </p:sp>
        <p:sp>
          <p:nvSpPr>
            <p:cNvPr id="21" name="Shape 20">
              <a:extLst>
                <a:ext uri="{FF2B5EF4-FFF2-40B4-BE49-F238E27FC236}">
                  <a16:creationId xmlns:a16="http://schemas.microsoft.com/office/drawing/2014/main" id="{CADE66FC-459C-5C7B-CB24-05DDF19452B1}"/>
                </a:ext>
              </a:extLst>
            </p:cNvPr>
            <p:cNvSpPr/>
            <p:nvPr/>
          </p:nvSpPr>
          <p:spPr>
            <a:xfrm>
              <a:off x="9189720" y="2971800"/>
              <a:ext cx="594360" cy="411480"/>
            </a:xfrm>
            <a:prstGeom prst="chevron">
              <a:avLst/>
            </a:prstGeom>
            <a:solidFill>
              <a:srgbClr val="5E6A77"/>
            </a:solidFill>
            <a:ln w="12700">
              <a:solidFill>
                <a:srgbClr val="5E6A77"/>
              </a:solidFill>
              <a:prstDash val="solid"/>
            </a:ln>
          </p:spPr>
          <p:txBody>
            <a:bodyPr/>
            <a:lstStyle/>
            <a:p>
              <a:endParaRPr lang="en-US" sz="2000"/>
            </a:p>
          </p:txBody>
        </p:sp>
        <p:sp>
          <p:nvSpPr>
            <p:cNvPr id="23" name="Shape 21">
              <a:extLst>
                <a:ext uri="{FF2B5EF4-FFF2-40B4-BE49-F238E27FC236}">
                  <a16:creationId xmlns:a16="http://schemas.microsoft.com/office/drawing/2014/main" id="{595ADF69-6FD9-8EF6-C3D2-5D51F9316454}"/>
                </a:ext>
              </a:extLst>
            </p:cNvPr>
            <p:cNvSpPr/>
            <p:nvPr/>
          </p:nvSpPr>
          <p:spPr>
            <a:xfrm>
              <a:off x="10012680" y="2834640"/>
              <a:ext cx="1417320" cy="685800"/>
            </a:xfrm>
            <a:prstGeom prst="roundRect">
              <a:avLst>
                <a:gd name="adj" fmla="val 9333"/>
              </a:avLst>
            </a:prstGeom>
            <a:solidFill>
              <a:srgbClr val="D00000"/>
            </a:solidFill>
            <a:ln w="12700">
              <a:solidFill>
                <a:srgbClr val="D00000"/>
              </a:solidFill>
              <a:prstDash val="solid"/>
            </a:ln>
          </p:spPr>
          <p:txBody>
            <a:bodyPr/>
            <a:lstStyle/>
            <a:p>
              <a:endParaRPr lang="en-US" sz="2000"/>
            </a:p>
          </p:txBody>
        </p:sp>
        <p:sp>
          <p:nvSpPr>
            <p:cNvPr id="25" name="Text 22">
              <a:extLst>
                <a:ext uri="{FF2B5EF4-FFF2-40B4-BE49-F238E27FC236}">
                  <a16:creationId xmlns:a16="http://schemas.microsoft.com/office/drawing/2014/main" id="{2FFDBE84-73E8-948E-09A2-1EAEB9BDF27A}"/>
                </a:ext>
              </a:extLst>
            </p:cNvPr>
            <p:cNvSpPr/>
            <p:nvPr/>
          </p:nvSpPr>
          <p:spPr>
            <a:xfrm>
              <a:off x="10058400" y="2907792"/>
              <a:ext cx="1325880" cy="539496"/>
            </a:xfrm>
            <a:prstGeom prst="rect">
              <a:avLst/>
            </a:prstGeom>
            <a:noFill/>
            <a:ln/>
          </p:spPr>
          <p:txBody>
            <a:bodyPr wrap="square" lIns="381" tIns="381" rIns="381" bIns="381" rtlCol="0" anchor="ctr"/>
            <a:lstStyle/>
            <a:p>
              <a:pPr marL="0" indent="0" algn="ctr">
                <a:buNone/>
              </a:pPr>
              <a:r>
                <a:rPr lang="en-US" sz="2000" b="1" dirty="0">
                  <a:solidFill>
                    <a:srgbClr val="FFFFFF"/>
                  </a:solidFill>
                </a:rPr>
                <a:t>Môi trường</a:t>
              </a:r>
              <a:endParaRPr lang="en-US" sz="2000" dirty="0"/>
            </a:p>
            <a:p>
              <a:pPr marL="0" indent="0" algn="ctr">
                <a:buNone/>
              </a:pPr>
              <a:r>
                <a:rPr lang="en-US" sz="2000" b="1" dirty="0">
                  <a:solidFill>
                    <a:srgbClr val="FFFFFF"/>
                  </a:solidFill>
                </a:rPr>
                <a:t>thật</a:t>
              </a:r>
              <a:endParaRPr lang="en-US" sz="2000" dirty="0"/>
            </a:p>
          </p:txBody>
        </p:sp>
      </p:grpSp>
    </p:spTree>
    <p:extLst>
      <p:ext uri="{BB962C8B-B14F-4D97-AF65-F5344CB8AC3E}">
        <p14:creationId xmlns:p14="http://schemas.microsoft.com/office/powerpoint/2010/main" val="324607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C3744-0446-514C-5B81-6FA82DB6C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83B72-E753-DFBA-AC53-F56501F63039}"/>
              </a:ext>
            </a:extLst>
          </p:cNvPr>
          <p:cNvSpPr>
            <a:spLocks noGrp="1"/>
          </p:cNvSpPr>
          <p:nvPr>
            <p:ph type="title"/>
          </p:nvPr>
        </p:nvSpPr>
        <p:spPr/>
        <p:txBody>
          <a:bodyPr/>
          <a:lstStyle/>
          <a:p>
            <a:r>
              <a:rPr lang="en-US"/>
              <a:t>ĐẶC ĐIỂM CỦA HỆ THỐNG NHÚNG</a:t>
            </a:r>
          </a:p>
        </p:txBody>
      </p:sp>
      <p:sp>
        <p:nvSpPr>
          <p:cNvPr id="3" name="Content Placeholder 2">
            <a:extLst>
              <a:ext uri="{FF2B5EF4-FFF2-40B4-BE49-F238E27FC236}">
                <a16:creationId xmlns:a16="http://schemas.microsoft.com/office/drawing/2014/main" id="{EE68CC2B-4469-4094-7111-E1D1B2051EC9}"/>
              </a:ext>
            </a:extLst>
          </p:cNvPr>
          <p:cNvSpPr>
            <a:spLocks noGrp="1"/>
          </p:cNvSpPr>
          <p:nvPr>
            <p:ph sz="quarter" idx="13"/>
          </p:nvPr>
        </p:nvSpPr>
        <p:spPr/>
        <p:txBody>
          <a:bodyPr/>
          <a:lstStyle/>
          <a:p>
            <a:r>
              <a:rPr lang="en-US" b="1"/>
              <a:t>Yêu cầu chất lượng, ổn định và độ tin cậy cao</a:t>
            </a:r>
          </a:p>
          <a:p>
            <a:pPr lvl="1"/>
            <a:r>
              <a:rPr lang="en-US"/>
              <a:t>Nhiều thiết bị nhúng hoạt động trong môi trường thực, nên lỗi có thể gây hậu quả nghiêm trọng hoặc chi phí sửa chữa rất cao</a:t>
            </a:r>
          </a:p>
        </p:txBody>
      </p:sp>
      <p:grpSp>
        <p:nvGrpSpPr>
          <p:cNvPr id="16" name="Group 15">
            <a:extLst>
              <a:ext uri="{FF2B5EF4-FFF2-40B4-BE49-F238E27FC236}">
                <a16:creationId xmlns:a16="http://schemas.microsoft.com/office/drawing/2014/main" id="{5E18AB47-EAE0-CE94-1E6F-30F00499235D}"/>
              </a:ext>
            </a:extLst>
          </p:cNvPr>
          <p:cNvGrpSpPr/>
          <p:nvPr/>
        </p:nvGrpSpPr>
        <p:grpSpPr>
          <a:xfrm>
            <a:off x="859794" y="3110949"/>
            <a:ext cx="10469880" cy="2606040"/>
            <a:chOff x="868680" y="2697480"/>
            <a:chExt cx="10469880" cy="2606040"/>
          </a:xfrm>
        </p:grpSpPr>
        <p:sp>
          <p:nvSpPr>
            <p:cNvPr id="5" name="Shape 12">
              <a:extLst>
                <a:ext uri="{FF2B5EF4-FFF2-40B4-BE49-F238E27FC236}">
                  <a16:creationId xmlns:a16="http://schemas.microsoft.com/office/drawing/2014/main" id="{C39DF329-C487-6EE4-F3C6-0988659B13D1}"/>
                </a:ext>
              </a:extLst>
            </p:cNvPr>
            <p:cNvSpPr/>
            <p:nvPr/>
          </p:nvSpPr>
          <p:spPr>
            <a:xfrm>
              <a:off x="868680" y="2697480"/>
              <a:ext cx="5074920" cy="2606040"/>
            </a:xfrm>
            <a:prstGeom prst="roundRect">
              <a:avLst>
                <a:gd name="adj" fmla="val 2807"/>
              </a:avLst>
            </a:prstGeom>
            <a:solidFill>
              <a:srgbClr val="FDF1F1"/>
            </a:solidFill>
            <a:ln w="12700">
              <a:solidFill>
                <a:srgbClr val="F2C0C0"/>
              </a:solidFill>
              <a:prstDash val="solid"/>
            </a:ln>
          </p:spPr>
          <p:txBody>
            <a:bodyPr/>
            <a:lstStyle/>
            <a:p>
              <a:endParaRPr lang="en-US" sz="2000"/>
            </a:p>
          </p:txBody>
        </p:sp>
        <p:sp>
          <p:nvSpPr>
            <p:cNvPr id="7" name="Text 13">
              <a:extLst>
                <a:ext uri="{FF2B5EF4-FFF2-40B4-BE49-F238E27FC236}">
                  <a16:creationId xmlns:a16="http://schemas.microsoft.com/office/drawing/2014/main" id="{8A589A1A-50CE-BDCC-493F-2617B93AFD80}"/>
                </a:ext>
              </a:extLst>
            </p:cNvPr>
            <p:cNvSpPr/>
            <p:nvPr/>
          </p:nvSpPr>
          <p:spPr>
            <a:xfrm>
              <a:off x="1097280" y="2926080"/>
              <a:ext cx="4617720" cy="228600"/>
            </a:xfrm>
            <a:prstGeom prst="rect">
              <a:avLst/>
            </a:prstGeom>
            <a:noFill/>
            <a:ln/>
          </p:spPr>
          <p:txBody>
            <a:bodyPr wrap="square" lIns="0" tIns="0" rIns="0" bIns="0" rtlCol="0" anchor="ctr"/>
            <a:lstStyle/>
            <a:p>
              <a:pPr marL="0" indent="0">
                <a:buNone/>
              </a:pPr>
              <a:r>
                <a:rPr lang="en-US" sz="2000" b="1" dirty="0">
                  <a:solidFill>
                    <a:srgbClr val="D00000"/>
                  </a:solidFill>
                </a:rPr>
                <a:t>Nếu hệ thống lỗi…</a:t>
              </a:r>
              <a:endParaRPr lang="en-US" sz="2000" dirty="0"/>
            </a:p>
          </p:txBody>
        </p:sp>
        <p:sp>
          <p:nvSpPr>
            <p:cNvPr id="9" name="Text 14">
              <a:extLst>
                <a:ext uri="{FF2B5EF4-FFF2-40B4-BE49-F238E27FC236}">
                  <a16:creationId xmlns:a16="http://schemas.microsoft.com/office/drawing/2014/main" id="{C2115E27-82D8-7A8D-90D9-0FDC6BECC25D}"/>
                </a:ext>
              </a:extLst>
            </p:cNvPr>
            <p:cNvSpPr/>
            <p:nvPr/>
          </p:nvSpPr>
          <p:spPr>
            <a:xfrm>
              <a:off x="1143000" y="3337560"/>
              <a:ext cx="4480560" cy="1417320"/>
            </a:xfrm>
            <a:prstGeom prst="rect">
              <a:avLst/>
            </a:prstGeom>
            <a:noFill/>
            <a:ln/>
          </p:spPr>
          <p:txBody>
            <a:bodyPr wrap="square" lIns="635" tIns="635" rIns="635" bIns="635" rtlCol="0" anchor="ctr">
              <a:noAutofit/>
            </a:bodyPr>
            <a:lstStyle/>
            <a:p>
              <a:r>
                <a:rPr lang="en-US" sz="2000" dirty="0">
                  <a:solidFill>
                    <a:srgbClr val="111111"/>
                  </a:solidFill>
                </a:rPr>
                <a:t>Hệ điều khiển máy bay / tên lửa / lò phản ứng có thể gây tai nạn nghiêm trọng.</a:t>
              </a:r>
              <a:endParaRPr lang="en-US" sz="2000" dirty="0"/>
            </a:p>
            <a:p>
              <a:r>
                <a:rPr lang="en-US" sz="2000" dirty="0">
                  <a:solidFill>
                    <a:srgbClr val="111111"/>
                  </a:solidFill>
                </a:rPr>
                <a:t>Một số hệ sau khi triển khai rất khó hoặc không thể sửa trực tiếp.</a:t>
              </a:r>
              <a:endParaRPr lang="en-US" sz="2000" dirty="0"/>
            </a:p>
            <a:p>
              <a:r>
                <a:rPr lang="en-US" sz="2000" dirty="0">
                  <a:solidFill>
                    <a:srgbClr val="111111"/>
                  </a:solidFill>
                </a:rPr>
                <a:t>Thu hồi sản phẩm hoặc thay linh kiện hàng loạt gây chi phí lớn.</a:t>
              </a:r>
              <a:endParaRPr lang="en-US" sz="2000" dirty="0"/>
            </a:p>
          </p:txBody>
        </p:sp>
        <p:sp>
          <p:nvSpPr>
            <p:cNvPr id="11" name="Shape 15">
              <a:extLst>
                <a:ext uri="{FF2B5EF4-FFF2-40B4-BE49-F238E27FC236}">
                  <a16:creationId xmlns:a16="http://schemas.microsoft.com/office/drawing/2014/main" id="{B6E887AD-435F-BEF3-E513-1A3D83EEC7CF}"/>
                </a:ext>
              </a:extLst>
            </p:cNvPr>
            <p:cNvSpPr/>
            <p:nvPr/>
          </p:nvSpPr>
          <p:spPr>
            <a:xfrm>
              <a:off x="6263640" y="2697480"/>
              <a:ext cx="5074920" cy="2606040"/>
            </a:xfrm>
            <a:prstGeom prst="roundRect">
              <a:avLst>
                <a:gd name="adj" fmla="val 2807"/>
              </a:avLst>
            </a:prstGeom>
            <a:solidFill>
              <a:srgbClr val="EAF7EA"/>
            </a:solidFill>
            <a:ln w="12700">
              <a:solidFill>
                <a:srgbClr val="BBDDBB"/>
              </a:solidFill>
              <a:prstDash val="solid"/>
            </a:ln>
          </p:spPr>
          <p:txBody>
            <a:bodyPr/>
            <a:lstStyle/>
            <a:p>
              <a:endParaRPr lang="en-US" sz="2000"/>
            </a:p>
          </p:txBody>
        </p:sp>
        <p:sp>
          <p:nvSpPr>
            <p:cNvPr id="13" name="Text 16">
              <a:extLst>
                <a:ext uri="{FF2B5EF4-FFF2-40B4-BE49-F238E27FC236}">
                  <a16:creationId xmlns:a16="http://schemas.microsoft.com/office/drawing/2014/main" id="{DD566A66-0E48-1CFE-B4F4-DC33D558A913}"/>
                </a:ext>
              </a:extLst>
            </p:cNvPr>
            <p:cNvSpPr/>
            <p:nvPr/>
          </p:nvSpPr>
          <p:spPr>
            <a:xfrm>
              <a:off x="6492240" y="2926080"/>
              <a:ext cx="4617720" cy="228600"/>
            </a:xfrm>
            <a:prstGeom prst="rect">
              <a:avLst/>
            </a:prstGeom>
            <a:noFill/>
            <a:ln/>
          </p:spPr>
          <p:txBody>
            <a:bodyPr wrap="square" lIns="0" tIns="0" rIns="0" bIns="0" rtlCol="0" anchor="ctr"/>
            <a:lstStyle/>
            <a:p>
              <a:pPr marL="0" indent="0">
                <a:buNone/>
              </a:pPr>
              <a:r>
                <a:rPr lang="en-US" sz="2000" b="1" dirty="0">
                  <a:solidFill>
                    <a:srgbClr val="0A7F45"/>
                  </a:solidFill>
                </a:rPr>
                <a:t>Vì vậy cần…</a:t>
              </a:r>
              <a:endParaRPr lang="en-US" sz="2000" dirty="0"/>
            </a:p>
          </p:txBody>
        </p:sp>
        <p:sp>
          <p:nvSpPr>
            <p:cNvPr id="15" name="Text 17">
              <a:extLst>
                <a:ext uri="{FF2B5EF4-FFF2-40B4-BE49-F238E27FC236}">
                  <a16:creationId xmlns:a16="http://schemas.microsoft.com/office/drawing/2014/main" id="{DF1BAED2-8D8E-BE26-F854-F2D227F7780C}"/>
                </a:ext>
              </a:extLst>
            </p:cNvPr>
            <p:cNvSpPr/>
            <p:nvPr/>
          </p:nvSpPr>
          <p:spPr>
            <a:xfrm>
              <a:off x="6537960" y="3337560"/>
              <a:ext cx="4480560" cy="1417320"/>
            </a:xfrm>
            <a:prstGeom prst="rect">
              <a:avLst/>
            </a:prstGeom>
            <a:noFill/>
            <a:ln/>
          </p:spPr>
          <p:txBody>
            <a:bodyPr wrap="square" lIns="635" tIns="635" rIns="635" bIns="635" rtlCol="0" anchor="ctr">
              <a:noAutofit/>
            </a:bodyPr>
            <a:lstStyle/>
            <a:p>
              <a:r>
                <a:rPr lang="en-US" sz="2000" dirty="0">
                  <a:solidFill>
                    <a:srgbClr val="111111"/>
                  </a:solidFill>
                </a:rPr>
                <a:t>Thiết kế cẩn thận ngay từ đầu: yêu cầu, đặc tả, kiểm thử.</a:t>
              </a:r>
              <a:endParaRPr lang="en-US" sz="2000" dirty="0"/>
            </a:p>
            <a:p>
              <a:r>
                <a:rPr lang="en-US" sz="2000" dirty="0">
                  <a:solidFill>
                    <a:srgbClr val="111111"/>
                  </a:solidFill>
                </a:rPr>
                <a:t>Kiểm tra – kiểm thử nghiêm ngặt trước khi triển khai.</a:t>
              </a:r>
              <a:endParaRPr lang="en-US" sz="2000" dirty="0"/>
            </a:p>
            <a:p>
              <a:r>
                <a:rPr lang="en-US" sz="2000" dirty="0">
                  <a:solidFill>
                    <a:srgbClr val="111111"/>
                  </a:solidFill>
                </a:rPr>
                <a:t>Với hệ yêu cầu độ active cao: dự phòng, backup hoặc cơ chế an toàn.</a:t>
              </a:r>
              <a:endParaRPr lang="en-US" sz="2000" dirty="0"/>
            </a:p>
          </p:txBody>
        </p:sp>
      </p:grpSp>
    </p:spTree>
    <p:extLst>
      <p:ext uri="{BB962C8B-B14F-4D97-AF65-F5344CB8AC3E}">
        <p14:creationId xmlns:p14="http://schemas.microsoft.com/office/powerpoint/2010/main" val="59421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D8BBE-806B-2B88-94FD-157F9275DFE6}"/>
              </a:ext>
            </a:extLst>
          </p:cNvPr>
          <p:cNvSpPr>
            <a:spLocks noGrp="1"/>
          </p:cNvSpPr>
          <p:nvPr>
            <p:ph type="title"/>
          </p:nvPr>
        </p:nvSpPr>
        <p:spPr/>
        <p:txBody>
          <a:bodyPr/>
          <a:lstStyle/>
          <a:p>
            <a:r>
              <a:rPr lang="en-US"/>
              <a:t>An Embedded System Example</a:t>
            </a:r>
          </a:p>
        </p:txBody>
      </p:sp>
      <p:sp>
        <p:nvSpPr>
          <p:cNvPr id="3" name="Content Placeholder 2">
            <a:extLst>
              <a:ext uri="{FF2B5EF4-FFF2-40B4-BE49-F238E27FC236}">
                <a16:creationId xmlns:a16="http://schemas.microsoft.com/office/drawing/2014/main" id="{57DBF583-3CFD-C231-647A-3285FBA046F9}"/>
              </a:ext>
            </a:extLst>
          </p:cNvPr>
          <p:cNvSpPr>
            <a:spLocks noGrp="1"/>
          </p:cNvSpPr>
          <p:nvPr>
            <p:ph sz="quarter" idx="13"/>
          </p:nvPr>
        </p:nvSpPr>
        <p:spPr/>
        <p:txBody>
          <a:bodyPr/>
          <a:lstStyle/>
          <a:p>
            <a:r>
              <a:rPr lang="en-US"/>
              <a:t>A digital camera</a:t>
            </a:r>
          </a:p>
          <a:p>
            <a:endParaRPr lang="en-US"/>
          </a:p>
          <a:p>
            <a:endParaRPr lang="en-US"/>
          </a:p>
          <a:p>
            <a:endParaRPr lang="en-US"/>
          </a:p>
          <a:p>
            <a:endParaRPr lang="en-US"/>
          </a:p>
          <a:p>
            <a:endParaRPr lang="en-US"/>
          </a:p>
          <a:p>
            <a:r>
              <a:rPr lang="en-US"/>
              <a:t>Single-functioned – always a digital camera</a:t>
            </a:r>
          </a:p>
          <a:p>
            <a:r>
              <a:rPr lang="en-US"/>
              <a:t>Tightly-constrained – Low cost, low power, small, fast</a:t>
            </a:r>
          </a:p>
          <a:p>
            <a:r>
              <a:rPr lang="en-US"/>
              <a:t>Reactive and real-time: needs to respond to the pressing of buttons by a user</a:t>
            </a:r>
          </a:p>
        </p:txBody>
      </p:sp>
      <p:pic>
        <p:nvPicPr>
          <p:cNvPr id="5" name="Picture 4">
            <a:extLst>
              <a:ext uri="{FF2B5EF4-FFF2-40B4-BE49-F238E27FC236}">
                <a16:creationId xmlns:a16="http://schemas.microsoft.com/office/drawing/2014/main" id="{16E7DCFD-0716-488E-4EEA-58FCEA114F6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3554027" y="1604782"/>
            <a:ext cx="6009073" cy="2812536"/>
          </a:xfrm>
          <a:prstGeom prst="rect">
            <a:avLst/>
          </a:prstGeom>
        </p:spPr>
      </p:pic>
    </p:spTree>
    <p:extLst>
      <p:ext uri="{BB962C8B-B14F-4D97-AF65-F5344CB8AC3E}">
        <p14:creationId xmlns:p14="http://schemas.microsoft.com/office/powerpoint/2010/main" val="29656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FE914-51FB-3497-7757-765E9C15E761}"/>
              </a:ext>
            </a:extLst>
          </p:cNvPr>
          <p:cNvSpPr>
            <a:spLocks noGrp="1"/>
          </p:cNvSpPr>
          <p:nvPr>
            <p:ph type="title"/>
          </p:nvPr>
        </p:nvSpPr>
        <p:spPr/>
        <p:txBody>
          <a:bodyPr/>
          <a:lstStyle/>
          <a:p>
            <a:r>
              <a:rPr lang="en-US"/>
              <a:t>Kiến trúc điển hình của Hệ thống nhúng</a:t>
            </a:r>
          </a:p>
        </p:txBody>
      </p:sp>
      <p:pic>
        <p:nvPicPr>
          <p:cNvPr id="7" name="Content Placeholder 6">
            <a:extLst>
              <a:ext uri="{FF2B5EF4-FFF2-40B4-BE49-F238E27FC236}">
                <a16:creationId xmlns:a16="http://schemas.microsoft.com/office/drawing/2014/main" id="{3222319B-3059-A9EF-4B7C-CF82F4B0FA23}"/>
              </a:ext>
            </a:extLst>
          </p:cNvPr>
          <p:cNvPicPr>
            <a:picLocks noGrp="1" noChangeAspect="1"/>
          </p:cNvPicPr>
          <p:nvPr>
            <p:ph sz="quarter" idx="13"/>
          </p:nvPr>
        </p:nvPicPr>
        <p:blipFill>
          <a:blip r:embed="rId2"/>
          <a:stretch>
            <a:fillRect/>
          </a:stretch>
        </p:blipFill>
        <p:spPr>
          <a:xfrm>
            <a:off x="695006" y="2328204"/>
            <a:ext cx="10960623" cy="2641114"/>
          </a:xfrm>
          <a:prstGeom prst="rect">
            <a:avLst/>
          </a:prstGeom>
        </p:spPr>
      </p:pic>
    </p:spTree>
    <p:extLst>
      <p:ext uri="{BB962C8B-B14F-4D97-AF65-F5344CB8AC3E}">
        <p14:creationId xmlns:p14="http://schemas.microsoft.com/office/powerpoint/2010/main" val="231053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74B4-733B-C448-2493-F31034DB9AA6}"/>
              </a:ext>
            </a:extLst>
          </p:cNvPr>
          <p:cNvSpPr>
            <a:spLocks noGrp="1"/>
          </p:cNvSpPr>
          <p:nvPr>
            <p:ph type="title"/>
          </p:nvPr>
        </p:nvSpPr>
        <p:spPr/>
        <p:txBody>
          <a:bodyPr/>
          <a:lstStyle/>
          <a:p>
            <a:r>
              <a:rPr lang="en-US"/>
              <a:t>Kiến trúc điển hình của Hệ thống nhúng</a:t>
            </a:r>
          </a:p>
        </p:txBody>
      </p:sp>
      <p:sp>
        <p:nvSpPr>
          <p:cNvPr id="3" name="Content Placeholder 2">
            <a:extLst>
              <a:ext uri="{FF2B5EF4-FFF2-40B4-BE49-F238E27FC236}">
                <a16:creationId xmlns:a16="http://schemas.microsoft.com/office/drawing/2014/main" id="{80F58211-6A16-9CDD-313D-D141D933BB16}"/>
              </a:ext>
            </a:extLst>
          </p:cNvPr>
          <p:cNvSpPr>
            <a:spLocks noGrp="1"/>
          </p:cNvSpPr>
          <p:nvPr>
            <p:ph sz="quarter" idx="13"/>
          </p:nvPr>
        </p:nvSpPr>
        <p:spPr>
          <a:xfrm>
            <a:off x="816606" y="3429000"/>
            <a:ext cx="10515600" cy="2545351"/>
          </a:xfrm>
        </p:spPr>
        <p:txBody>
          <a:bodyPr/>
          <a:lstStyle/>
          <a:p>
            <a:r>
              <a:rPr lang="en-US"/>
              <a:t>Application software (Optional)</a:t>
            </a:r>
          </a:p>
          <a:p>
            <a:pPr lvl="1"/>
            <a:r>
              <a:rPr lang="en-US"/>
              <a:t>Application programs, GUI, control programs,…</a:t>
            </a:r>
          </a:p>
          <a:p>
            <a:r>
              <a:rPr lang="en-US"/>
              <a:t>System software (Optional)</a:t>
            </a:r>
          </a:p>
          <a:p>
            <a:pPr lvl="1"/>
            <a:r>
              <a:rPr lang="en-US"/>
              <a:t>Operating System, System drivers, System library</a:t>
            </a:r>
          </a:p>
          <a:p>
            <a:r>
              <a:rPr lang="en-US"/>
              <a:t>Hardware (Required)</a:t>
            </a:r>
          </a:p>
          <a:p>
            <a:pPr lvl="1"/>
            <a:r>
              <a:rPr lang="en-US"/>
              <a:t>Processors, memory, peripherals, input/output devices, PCB…</a:t>
            </a:r>
          </a:p>
        </p:txBody>
      </p:sp>
      <p:pic>
        <p:nvPicPr>
          <p:cNvPr id="5" name="Picture 4">
            <a:extLst>
              <a:ext uri="{FF2B5EF4-FFF2-40B4-BE49-F238E27FC236}">
                <a16:creationId xmlns:a16="http://schemas.microsoft.com/office/drawing/2014/main" id="{21A8C074-8D64-86FE-6A5E-216C8743148E}"/>
              </a:ext>
            </a:extLst>
          </p:cNvPr>
          <p:cNvPicPr>
            <a:picLocks noChangeAspect="1"/>
          </p:cNvPicPr>
          <p:nvPr/>
        </p:nvPicPr>
        <p:blipFill>
          <a:blip r:embed="rId3"/>
          <a:stretch>
            <a:fillRect/>
          </a:stretch>
        </p:blipFill>
        <p:spPr>
          <a:xfrm>
            <a:off x="4098391" y="1636625"/>
            <a:ext cx="3995218" cy="1792375"/>
          </a:xfrm>
          <a:prstGeom prst="rect">
            <a:avLst/>
          </a:prstGeom>
        </p:spPr>
      </p:pic>
    </p:spTree>
    <p:extLst>
      <p:ext uri="{BB962C8B-B14F-4D97-AF65-F5344CB8AC3E}">
        <p14:creationId xmlns:p14="http://schemas.microsoft.com/office/powerpoint/2010/main" val="3750281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DC63B-F53A-4799-81DC-A01BD059C09C}"/>
              </a:ext>
            </a:extLst>
          </p:cNvPr>
          <p:cNvSpPr>
            <a:spLocks noGrp="1"/>
          </p:cNvSpPr>
          <p:nvPr>
            <p:ph type="title"/>
          </p:nvPr>
        </p:nvSpPr>
        <p:spPr/>
        <p:txBody>
          <a:bodyPr/>
          <a:lstStyle/>
          <a:p>
            <a:r>
              <a:rPr lang="en-US"/>
              <a:t>Embedded System Components</a:t>
            </a:r>
          </a:p>
        </p:txBody>
      </p:sp>
      <p:sp>
        <p:nvSpPr>
          <p:cNvPr id="3" name="Content Placeholder 2">
            <a:extLst>
              <a:ext uri="{FF2B5EF4-FFF2-40B4-BE49-F238E27FC236}">
                <a16:creationId xmlns:a16="http://schemas.microsoft.com/office/drawing/2014/main" id="{FC6DC0B6-726E-70A9-32B4-C72E4B0D865A}"/>
              </a:ext>
            </a:extLst>
          </p:cNvPr>
          <p:cNvSpPr>
            <a:spLocks noGrp="1"/>
          </p:cNvSpPr>
          <p:nvPr>
            <p:ph sz="quarter" idx="13"/>
          </p:nvPr>
        </p:nvSpPr>
        <p:spPr>
          <a:xfrm>
            <a:off x="695006" y="4359520"/>
            <a:ext cx="10515600" cy="1808751"/>
          </a:xfrm>
        </p:spPr>
        <p:txBody>
          <a:bodyPr/>
          <a:lstStyle/>
          <a:p>
            <a:r>
              <a:rPr lang="en-US"/>
              <a:t>Embedded processor is a heart of the embedded system:</a:t>
            </a:r>
          </a:p>
          <a:p>
            <a:pPr lvl="1"/>
            <a:r>
              <a:rPr lang="en-US"/>
              <a:t>micro-processor: 8086, ARM7, ARM9,…</a:t>
            </a:r>
          </a:p>
          <a:p>
            <a:pPr lvl="1"/>
            <a:r>
              <a:rPr lang="en-US"/>
              <a:t>micro-controller: 8051, ARM Cortex-M, PIC16F, 68HC11,…</a:t>
            </a:r>
          </a:p>
        </p:txBody>
      </p:sp>
      <p:pic>
        <p:nvPicPr>
          <p:cNvPr id="5" name="Picture 4">
            <a:extLst>
              <a:ext uri="{FF2B5EF4-FFF2-40B4-BE49-F238E27FC236}">
                <a16:creationId xmlns:a16="http://schemas.microsoft.com/office/drawing/2014/main" id="{413D8DE3-67C5-2EF8-611A-F4F2A4CC46E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855495" y="1596867"/>
            <a:ext cx="7050505" cy="2676268"/>
          </a:xfrm>
          <a:prstGeom prst="rect">
            <a:avLst/>
          </a:prstGeom>
        </p:spPr>
      </p:pic>
    </p:spTree>
    <p:extLst>
      <p:ext uri="{BB962C8B-B14F-4D97-AF65-F5344CB8AC3E}">
        <p14:creationId xmlns:p14="http://schemas.microsoft.com/office/powerpoint/2010/main" val="1370820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5643-6614-BB12-9E5E-446F10415B8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77685F7-7BE6-61CA-DF81-241FDB04664E}"/>
              </a:ext>
            </a:extLst>
          </p:cNvPr>
          <p:cNvPicPr>
            <a:picLocks noGrp="1" noChangeAspect="1"/>
          </p:cNvPicPr>
          <p:nvPr>
            <p:ph sz="quarter" idx="13"/>
          </p:nvPr>
        </p:nvPicPr>
        <p:blipFill>
          <a:blip r:embed="rId2"/>
          <a:stretch>
            <a:fillRect/>
          </a:stretch>
        </p:blipFill>
        <p:spPr>
          <a:xfrm>
            <a:off x="1135466" y="1814073"/>
            <a:ext cx="9921068" cy="4622248"/>
          </a:xfrm>
          <a:prstGeom prst="rect">
            <a:avLst/>
          </a:prstGeom>
        </p:spPr>
      </p:pic>
    </p:spTree>
    <p:extLst>
      <p:ext uri="{BB962C8B-B14F-4D97-AF65-F5344CB8AC3E}">
        <p14:creationId xmlns:p14="http://schemas.microsoft.com/office/powerpoint/2010/main" val="631625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20F70-D9F9-0E4D-A674-E45ADC567526}"/>
              </a:ext>
            </a:extLst>
          </p:cNvPr>
          <p:cNvSpPr>
            <a:spLocks noGrp="1"/>
          </p:cNvSpPr>
          <p:nvPr>
            <p:ph type="title"/>
          </p:nvPr>
        </p:nvSpPr>
        <p:spPr/>
        <p:txBody>
          <a:bodyPr/>
          <a:lstStyle/>
          <a:p>
            <a:r>
              <a:rPr lang="en-US"/>
              <a:t>Embedded System Features</a:t>
            </a:r>
          </a:p>
        </p:txBody>
      </p:sp>
      <p:sp>
        <p:nvSpPr>
          <p:cNvPr id="3" name="Content Placeholder 2">
            <a:extLst>
              <a:ext uri="{FF2B5EF4-FFF2-40B4-BE49-F238E27FC236}">
                <a16:creationId xmlns:a16="http://schemas.microsoft.com/office/drawing/2014/main" id="{AA58815C-9404-276F-6938-925E07628B26}"/>
              </a:ext>
            </a:extLst>
          </p:cNvPr>
          <p:cNvSpPr>
            <a:spLocks noGrp="1"/>
          </p:cNvSpPr>
          <p:nvPr>
            <p:ph sz="quarter" idx="13"/>
          </p:nvPr>
        </p:nvSpPr>
        <p:spPr>
          <a:xfrm>
            <a:off x="816606" y="1785386"/>
            <a:ext cx="10515600" cy="4382885"/>
          </a:xfrm>
        </p:spPr>
        <p:txBody>
          <a:bodyPr>
            <a:normAutofit/>
          </a:bodyPr>
          <a:lstStyle/>
          <a:p>
            <a:r>
              <a:rPr lang="en-US"/>
              <a:t>Memory</a:t>
            </a:r>
          </a:p>
          <a:p>
            <a:pPr lvl="1"/>
            <a:r>
              <a:rPr lang="en-US"/>
              <a:t>ROM: embedded program</a:t>
            </a:r>
          </a:p>
          <a:p>
            <a:pPr lvl="1"/>
            <a:r>
              <a:rPr lang="en-US"/>
              <a:t>RAM: processing data</a:t>
            </a:r>
          </a:p>
          <a:p>
            <a:r>
              <a:rPr lang="en-US"/>
              <a:t>Embedded Program</a:t>
            </a:r>
          </a:p>
          <a:p>
            <a:pPr lvl="1"/>
            <a:r>
              <a:rPr lang="en-US"/>
              <a:t>OS/non-OS supported</a:t>
            </a:r>
          </a:p>
          <a:p>
            <a:pPr lvl="1"/>
            <a:r>
              <a:rPr lang="en-US"/>
              <a:t>Realtime/non-realtime</a:t>
            </a:r>
          </a:p>
          <a:p>
            <a:pPr lvl="1"/>
            <a:r>
              <a:rPr lang="en-US"/>
              <a:t>Timer, interrupt, serial port….</a:t>
            </a:r>
          </a:p>
          <a:p>
            <a:r>
              <a:rPr lang="en-US"/>
              <a:t>Clock</a:t>
            </a:r>
          </a:p>
          <a:p>
            <a:pPr lvl="1"/>
            <a:r>
              <a:rPr lang="en-US"/>
              <a:t>crystal</a:t>
            </a:r>
          </a:p>
          <a:p>
            <a:r>
              <a:rPr lang="en-US"/>
              <a:t>Power</a:t>
            </a:r>
          </a:p>
          <a:p>
            <a:pPr lvl="1"/>
            <a:r>
              <a:rPr lang="en-US"/>
              <a:t>+5V/+3.3V/+2.5V</a:t>
            </a:r>
          </a:p>
        </p:txBody>
      </p:sp>
    </p:spTree>
    <p:extLst>
      <p:ext uri="{BB962C8B-B14F-4D97-AF65-F5344CB8AC3E}">
        <p14:creationId xmlns:p14="http://schemas.microsoft.com/office/powerpoint/2010/main" val="135836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4A36-BB76-F28A-A8CE-CF0FBB50F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A93EE-CCA9-DA3C-7B05-1D48155E7DA6}"/>
              </a:ext>
            </a:extLst>
          </p:cNvPr>
          <p:cNvSpPr>
            <a:spLocks noGrp="1"/>
          </p:cNvSpPr>
          <p:nvPr>
            <p:ph type="title"/>
          </p:nvPr>
        </p:nvSpPr>
        <p:spPr/>
        <p:txBody>
          <a:bodyPr/>
          <a:lstStyle/>
          <a:p>
            <a:r>
              <a:rPr lang="en-US"/>
              <a:t>Embedded System Features</a:t>
            </a:r>
          </a:p>
        </p:txBody>
      </p:sp>
      <p:sp>
        <p:nvSpPr>
          <p:cNvPr id="3" name="Content Placeholder 2">
            <a:extLst>
              <a:ext uri="{FF2B5EF4-FFF2-40B4-BE49-F238E27FC236}">
                <a16:creationId xmlns:a16="http://schemas.microsoft.com/office/drawing/2014/main" id="{C588E616-F2BB-1421-46C8-A183CCBD1E2D}"/>
              </a:ext>
            </a:extLst>
          </p:cNvPr>
          <p:cNvSpPr>
            <a:spLocks noGrp="1"/>
          </p:cNvSpPr>
          <p:nvPr>
            <p:ph sz="quarter" idx="13"/>
          </p:nvPr>
        </p:nvSpPr>
        <p:spPr>
          <a:xfrm>
            <a:off x="816606" y="1785386"/>
            <a:ext cx="10515600" cy="4382885"/>
          </a:xfrm>
        </p:spPr>
        <p:txBody>
          <a:bodyPr>
            <a:normAutofit/>
          </a:bodyPr>
          <a:lstStyle/>
          <a:p>
            <a:r>
              <a:rPr lang="en-US"/>
              <a:t>Peripherals:</a:t>
            </a:r>
          </a:p>
        </p:txBody>
      </p:sp>
      <p:graphicFrame>
        <p:nvGraphicFramePr>
          <p:cNvPr id="7" name="Table 6">
            <a:extLst>
              <a:ext uri="{FF2B5EF4-FFF2-40B4-BE49-F238E27FC236}">
                <a16:creationId xmlns:a16="http://schemas.microsoft.com/office/drawing/2014/main" id="{725FBB08-5ABB-1C7E-3B76-B683E9A9F161}"/>
              </a:ext>
            </a:extLst>
          </p:cNvPr>
          <p:cNvGraphicFramePr>
            <a:graphicFrameLocks noGrp="1"/>
          </p:cNvGraphicFramePr>
          <p:nvPr>
            <p:extLst>
              <p:ext uri="{D42A27DB-BD31-4B8C-83A1-F6EECF244321}">
                <p14:modId xmlns:p14="http://schemas.microsoft.com/office/powerpoint/2010/main" val="2029282428"/>
              </p:ext>
            </p:extLst>
          </p:nvPr>
        </p:nvGraphicFramePr>
        <p:xfrm>
          <a:off x="859794" y="2254442"/>
          <a:ext cx="10515600" cy="3901440"/>
        </p:xfrm>
        <a:graphic>
          <a:graphicData uri="http://schemas.openxmlformats.org/drawingml/2006/table">
            <a:tbl>
              <a:tblPr>
                <a:tableStyleId>{244958F2-2C8F-48F7-AD29-E23EF3F93446}</a:tableStyleId>
              </a:tblPr>
              <a:tblGrid>
                <a:gridCol w="2106317">
                  <a:extLst>
                    <a:ext uri="{9D8B030D-6E8A-4147-A177-3AD203B41FA5}">
                      <a16:colId xmlns:a16="http://schemas.microsoft.com/office/drawing/2014/main" val="3949181274"/>
                    </a:ext>
                  </a:extLst>
                </a:gridCol>
                <a:gridCol w="2843846">
                  <a:extLst>
                    <a:ext uri="{9D8B030D-6E8A-4147-A177-3AD203B41FA5}">
                      <a16:colId xmlns:a16="http://schemas.microsoft.com/office/drawing/2014/main" val="2686784403"/>
                    </a:ext>
                  </a:extLst>
                </a:gridCol>
                <a:gridCol w="2936537">
                  <a:extLst>
                    <a:ext uri="{9D8B030D-6E8A-4147-A177-3AD203B41FA5}">
                      <a16:colId xmlns:a16="http://schemas.microsoft.com/office/drawing/2014/main" val="4195421043"/>
                    </a:ext>
                  </a:extLst>
                </a:gridCol>
                <a:gridCol w="2628900">
                  <a:extLst>
                    <a:ext uri="{9D8B030D-6E8A-4147-A177-3AD203B41FA5}">
                      <a16:colId xmlns:a16="http://schemas.microsoft.com/office/drawing/2014/main" val="1740879295"/>
                    </a:ext>
                  </a:extLst>
                </a:gridCol>
              </a:tblGrid>
              <a:tr h="0">
                <a:tc>
                  <a:txBody>
                    <a:bodyPr/>
                    <a:lstStyle/>
                    <a:p>
                      <a:pPr algn="ctr">
                        <a:buNone/>
                      </a:pPr>
                      <a:r>
                        <a:rPr lang="en-US" sz="2000" b="1">
                          <a:latin typeface="+mn-lt"/>
                        </a:rPr>
                        <a:t>Thành phần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000" b="1">
                          <a:latin typeface="+mn-lt"/>
                        </a:rPr>
                        <a:t>Tên đầy đủ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000" b="1">
                          <a:latin typeface="+mn-lt"/>
                        </a:rPr>
                        <a:t>Chức năng chính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000" b="1">
                          <a:latin typeface="+mn-lt"/>
                        </a:rPr>
                        <a:t>Ví dụ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815530691"/>
                  </a:ext>
                </a:extLst>
              </a:tr>
              <a:tr h="0">
                <a:tc>
                  <a:txBody>
                    <a:bodyPr/>
                    <a:lstStyle/>
                    <a:p>
                      <a:pPr>
                        <a:buNone/>
                      </a:pPr>
                      <a:r>
                        <a:rPr lang="en-US" sz="2000" b="1">
                          <a:latin typeface="+mn-lt"/>
                        </a:rPr>
                        <a:t>I/O Port</a:t>
                      </a:r>
                      <a:endParaRPr lang="en-US" sz="2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Input/Output 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Đọc hoặc xuất tín hiệu số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Đọc nút nhấn, bật/tắt 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246005"/>
                  </a:ext>
                </a:extLst>
              </a:tr>
              <a:tr h="0">
                <a:tc>
                  <a:txBody>
                    <a:bodyPr/>
                    <a:lstStyle/>
                    <a:p>
                      <a:pPr>
                        <a:buNone/>
                      </a:pPr>
                      <a:r>
                        <a:rPr lang="en-US" sz="2000" b="1">
                          <a:latin typeface="+mn-lt"/>
                        </a:rPr>
                        <a:t>UART</a:t>
                      </a:r>
                      <a:endParaRPr lang="en-US" sz="2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Universal Asynchronous Receiver/Transmitter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Truyền dữ liệu nối tiếp không đồng bộ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MCU giao tiếp với máy tính, GPS, Bluetooth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3704254"/>
                  </a:ext>
                </a:extLst>
              </a:tr>
              <a:tr h="0">
                <a:tc>
                  <a:txBody>
                    <a:bodyPr/>
                    <a:lstStyle/>
                    <a:p>
                      <a:pPr>
                        <a:buNone/>
                      </a:pPr>
                      <a:r>
                        <a:rPr lang="en-US" sz="2000" b="1">
                          <a:latin typeface="+mn-lt"/>
                        </a:rPr>
                        <a:t>I²C</a:t>
                      </a:r>
                      <a:endParaRPr lang="en-US" sz="2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Inter-Integrated Circuit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Giao tiếp nối tiếp giữa nhiều IC chỉ với 2 dây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Cảm biến nhiệt độ, OLED, RTC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6696948"/>
                  </a:ext>
                </a:extLst>
              </a:tr>
              <a:tr h="0">
                <a:tc>
                  <a:txBody>
                    <a:bodyPr/>
                    <a:lstStyle/>
                    <a:p>
                      <a:pPr>
                        <a:buNone/>
                      </a:pPr>
                      <a:r>
                        <a:rPr lang="en-US" sz="2000" b="1">
                          <a:latin typeface="+mn-lt"/>
                        </a:rPr>
                        <a:t>ADC</a:t>
                      </a:r>
                      <a:endParaRPr lang="en-US" sz="2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Analog-to-Digital Converter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Chuyển tín hiệu analog thành dữ liệu số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Đọc cảm biến ánh sáng, biến trở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591001"/>
                  </a:ext>
                </a:extLst>
              </a:tr>
              <a:tr h="0">
                <a:tc>
                  <a:txBody>
                    <a:bodyPr/>
                    <a:lstStyle/>
                    <a:p>
                      <a:pPr>
                        <a:buNone/>
                      </a:pPr>
                      <a:r>
                        <a:rPr lang="en-US" sz="2000" b="1">
                          <a:latin typeface="+mn-lt"/>
                        </a:rPr>
                        <a:t>PWM</a:t>
                      </a:r>
                      <a:endParaRPr lang="en-US" sz="2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Pulse Width Modulation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Điều khiển công suất/tín hiệu bằng độ rộng xung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latin typeface="+mn-lt"/>
                        </a:rPr>
                        <a:t>Điều chỉnh độ sáng LED, tốc độ motor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9035695"/>
                  </a:ext>
                </a:extLst>
              </a:tr>
            </a:tbl>
          </a:graphicData>
        </a:graphic>
      </p:graphicFrame>
    </p:spTree>
    <p:extLst>
      <p:ext uri="{BB962C8B-B14F-4D97-AF65-F5344CB8AC3E}">
        <p14:creationId xmlns:p14="http://schemas.microsoft.com/office/powerpoint/2010/main" val="5684174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DAC3B-EFE4-5930-B739-B7064E748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A2D02-09FC-3835-A676-41A4CB9E9605}"/>
              </a:ext>
            </a:extLst>
          </p:cNvPr>
          <p:cNvSpPr>
            <a:spLocks noGrp="1"/>
          </p:cNvSpPr>
          <p:nvPr>
            <p:ph type="title"/>
          </p:nvPr>
        </p:nvSpPr>
        <p:spPr/>
        <p:txBody>
          <a:bodyPr/>
          <a:lstStyle/>
          <a:p>
            <a:r>
              <a:rPr lang="en-US"/>
              <a:t>Embedded System Features</a:t>
            </a:r>
          </a:p>
        </p:txBody>
      </p:sp>
      <p:sp>
        <p:nvSpPr>
          <p:cNvPr id="3" name="Content Placeholder 2">
            <a:extLst>
              <a:ext uri="{FF2B5EF4-FFF2-40B4-BE49-F238E27FC236}">
                <a16:creationId xmlns:a16="http://schemas.microsoft.com/office/drawing/2014/main" id="{39ECF0A6-E315-8BB7-637D-AB786A5FA1B6}"/>
              </a:ext>
            </a:extLst>
          </p:cNvPr>
          <p:cNvSpPr>
            <a:spLocks noGrp="1"/>
          </p:cNvSpPr>
          <p:nvPr>
            <p:ph sz="quarter" idx="13"/>
          </p:nvPr>
        </p:nvSpPr>
        <p:spPr>
          <a:xfrm>
            <a:off x="816606" y="1785386"/>
            <a:ext cx="10515600" cy="4382885"/>
          </a:xfrm>
        </p:spPr>
        <p:txBody>
          <a:bodyPr>
            <a:normAutofit/>
          </a:bodyPr>
          <a:lstStyle/>
          <a:p>
            <a:r>
              <a:rPr lang="en-US"/>
              <a:t>User interface</a:t>
            </a:r>
          </a:p>
          <a:p>
            <a:pPr lvl="1"/>
            <a:r>
              <a:rPr lang="en-US"/>
              <a:t>Button/ keypad/ Switch</a:t>
            </a:r>
          </a:p>
          <a:p>
            <a:pPr lvl="1"/>
            <a:r>
              <a:rPr lang="en-US"/>
              <a:t>LCD/ 7-segment LED/ LED indicator</a:t>
            </a:r>
          </a:p>
          <a:p>
            <a:r>
              <a:rPr lang="en-US"/>
              <a:t>Sensors:</a:t>
            </a:r>
          </a:p>
          <a:p>
            <a:pPr lvl="1"/>
            <a:r>
              <a:rPr lang="en-US"/>
              <a:t>Temperature, light, ultrasound, pressure,….</a:t>
            </a:r>
          </a:p>
          <a:p>
            <a:r>
              <a:rPr lang="en-US"/>
              <a:t>Actuators:</a:t>
            </a:r>
          </a:p>
          <a:p>
            <a:pPr lvl="1"/>
            <a:r>
              <a:rPr lang="en-US"/>
              <a:t>Motor, solenoid, relay,….</a:t>
            </a:r>
          </a:p>
        </p:txBody>
      </p:sp>
    </p:spTree>
    <p:extLst>
      <p:ext uri="{BB962C8B-B14F-4D97-AF65-F5344CB8AC3E}">
        <p14:creationId xmlns:p14="http://schemas.microsoft.com/office/powerpoint/2010/main" val="2849857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5AA52-3307-9774-E9B4-9A3F3F77B604}"/>
              </a:ext>
            </a:extLst>
          </p:cNvPr>
          <p:cNvSpPr>
            <a:spLocks noGrp="1"/>
          </p:cNvSpPr>
          <p:nvPr>
            <p:ph type="title"/>
          </p:nvPr>
        </p:nvSpPr>
        <p:spPr/>
        <p:txBody>
          <a:bodyPr/>
          <a:lstStyle/>
          <a:p>
            <a:r>
              <a:rPr lang="en-US"/>
              <a:t>Classification of Embedded System</a:t>
            </a:r>
          </a:p>
        </p:txBody>
      </p:sp>
      <p:sp>
        <p:nvSpPr>
          <p:cNvPr id="3" name="Content Placeholder 2">
            <a:extLst>
              <a:ext uri="{FF2B5EF4-FFF2-40B4-BE49-F238E27FC236}">
                <a16:creationId xmlns:a16="http://schemas.microsoft.com/office/drawing/2014/main" id="{1C6BAF9F-192E-227F-CBFC-89A5B7C73589}"/>
              </a:ext>
            </a:extLst>
          </p:cNvPr>
          <p:cNvSpPr>
            <a:spLocks noGrp="1"/>
          </p:cNvSpPr>
          <p:nvPr>
            <p:ph sz="quarter" idx="13"/>
          </p:nvPr>
        </p:nvSpPr>
        <p:spPr/>
        <p:txBody>
          <a:bodyPr/>
          <a:lstStyle/>
          <a:p>
            <a:r>
              <a:rPr lang="en-US"/>
              <a:t>Theo hiệu năng &amp; độ phức tạp</a:t>
            </a:r>
          </a:p>
          <a:p>
            <a:pPr lvl="1"/>
            <a:r>
              <a:rPr lang="en-US"/>
              <a:t>Small Scale Embedded System</a:t>
            </a:r>
          </a:p>
          <a:p>
            <a:pPr lvl="1"/>
            <a:r>
              <a:rPr lang="en-US"/>
              <a:t>Medium Scale Embedded System</a:t>
            </a:r>
          </a:p>
          <a:p>
            <a:pPr lvl="1"/>
            <a:r>
              <a:rPr lang="en-US"/>
              <a:t>Large-Scale/Sophisticated Embedded System</a:t>
            </a:r>
          </a:p>
          <a:p>
            <a:r>
              <a:rPr lang="en-US"/>
              <a:t>Theo yêu cầu thời gian thực</a:t>
            </a:r>
          </a:p>
          <a:p>
            <a:pPr lvl="1"/>
            <a:r>
              <a:rPr lang="en-US"/>
              <a:t>Hard Real-Time</a:t>
            </a:r>
          </a:p>
          <a:p>
            <a:pPr lvl="1"/>
            <a:r>
              <a:rPr lang="en-US"/>
              <a:t>Soft Real-Time</a:t>
            </a:r>
          </a:p>
        </p:txBody>
      </p:sp>
    </p:spTree>
    <p:extLst>
      <p:ext uri="{BB962C8B-B14F-4D97-AF65-F5344CB8AC3E}">
        <p14:creationId xmlns:p14="http://schemas.microsoft.com/office/powerpoint/2010/main" val="309740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D6AA2-8DB8-BF16-E9EC-500110235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74520-A8AF-7E62-C550-AFE5D34C5BD2}"/>
              </a:ext>
            </a:extLst>
          </p:cNvPr>
          <p:cNvSpPr>
            <a:spLocks noGrp="1"/>
          </p:cNvSpPr>
          <p:nvPr>
            <p:ph type="title"/>
          </p:nvPr>
        </p:nvSpPr>
        <p:spPr/>
        <p:txBody>
          <a:bodyPr/>
          <a:lstStyle/>
          <a:p>
            <a:r>
              <a:rPr lang="en-US"/>
              <a:t>Classification of Embedded System</a:t>
            </a:r>
          </a:p>
        </p:txBody>
      </p:sp>
      <p:sp>
        <p:nvSpPr>
          <p:cNvPr id="3" name="Content Placeholder 2">
            <a:extLst>
              <a:ext uri="{FF2B5EF4-FFF2-40B4-BE49-F238E27FC236}">
                <a16:creationId xmlns:a16="http://schemas.microsoft.com/office/drawing/2014/main" id="{03CDC336-80CC-65DF-4097-B154D82575E0}"/>
              </a:ext>
            </a:extLst>
          </p:cNvPr>
          <p:cNvSpPr>
            <a:spLocks noGrp="1"/>
          </p:cNvSpPr>
          <p:nvPr>
            <p:ph sz="quarter" idx="13"/>
          </p:nvPr>
        </p:nvSpPr>
        <p:spPr/>
        <p:txBody>
          <a:bodyPr/>
          <a:lstStyle/>
          <a:p>
            <a:r>
              <a:rPr lang="en-US"/>
              <a:t>Theo hiệu năng &amp; độ phức tạp</a:t>
            </a:r>
          </a:p>
          <a:p>
            <a:pPr lvl="1"/>
            <a:r>
              <a:rPr lang="en-US"/>
              <a:t>Small Scale Embedded System</a:t>
            </a:r>
          </a:p>
          <a:p>
            <a:pPr lvl="2"/>
            <a:r>
              <a:rPr lang="en-US"/>
              <a:t>Vi điều khiển 8/16-bit, không có hệ điều hành, chương trình đơn giản</a:t>
            </a:r>
          </a:p>
        </p:txBody>
      </p:sp>
      <p:pic>
        <p:nvPicPr>
          <p:cNvPr id="5" name="Picture 4">
            <a:extLst>
              <a:ext uri="{FF2B5EF4-FFF2-40B4-BE49-F238E27FC236}">
                <a16:creationId xmlns:a16="http://schemas.microsoft.com/office/drawing/2014/main" id="{0A02D2E7-9D13-71DF-7D49-2465DA1B8C82}"/>
              </a:ext>
            </a:extLst>
          </p:cNvPr>
          <p:cNvPicPr>
            <a:picLocks noChangeAspect="1"/>
          </p:cNvPicPr>
          <p:nvPr/>
        </p:nvPicPr>
        <p:blipFill>
          <a:blip r:embed="rId2"/>
          <a:stretch>
            <a:fillRect/>
          </a:stretch>
        </p:blipFill>
        <p:spPr>
          <a:xfrm>
            <a:off x="3318792" y="2987921"/>
            <a:ext cx="5554416" cy="3180350"/>
          </a:xfrm>
          <a:prstGeom prst="rect">
            <a:avLst/>
          </a:prstGeom>
        </p:spPr>
      </p:pic>
    </p:spTree>
    <p:extLst>
      <p:ext uri="{BB962C8B-B14F-4D97-AF65-F5344CB8AC3E}">
        <p14:creationId xmlns:p14="http://schemas.microsoft.com/office/powerpoint/2010/main" val="891508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8EF78-3797-2713-E377-AA8EB997A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CC0E4-4254-8783-5DBF-7B71E984B310}"/>
              </a:ext>
            </a:extLst>
          </p:cNvPr>
          <p:cNvSpPr>
            <a:spLocks noGrp="1"/>
          </p:cNvSpPr>
          <p:nvPr>
            <p:ph type="title"/>
          </p:nvPr>
        </p:nvSpPr>
        <p:spPr/>
        <p:txBody>
          <a:bodyPr/>
          <a:lstStyle/>
          <a:p>
            <a:r>
              <a:rPr lang="en-US"/>
              <a:t>Classification of Embedded System</a:t>
            </a:r>
          </a:p>
        </p:txBody>
      </p:sp>
      <p:sp>
        <p:nvSpPr>
          <p:cNvPr id="3" name="Content Placeholder 2">
            <a:extLst>
              <a:ext uri="{FF2B5EF4-FFF2-40B4-BE49-F238E27FC236}">
                <a16:creationId xmlns:a16="http://schemas.microsoft.com/office/drawing/2014/main" id="{CABE7B2F-A0BA-AF97-CA3C-B387B717EDF8}"/>
              </a:ext>
            </a:extLst>
          </p:cNvPr>
          <p:cNvSpPr>
            <a:spLocks noGrp="1"/>
          </p:cNvSpPr>
          <p:nvPr>
            <p:ph sz="quarter" idx="13"/>
          </p:nvPr>
        </p:nvSpPr>
        <p:spPr/>
        <p:txBody>
          <a:bodyPr/>
          <a:lstStyle/>
          <a:p>
            <a:r>
              <a:rPr lang="en-US"/>
              <a:t>Theo hiệu năng &amp; độ phức tạp</a:t>
            </a:r>
          </a:p>
          <a:p>
            <a:pPr lvl="1"/>
            <a:r>
              <a:rPr lang="en-US"/>
              <a:t>Medium Scale Embedded System</a:t>
            </a:r>
          </a:p>
          <a:p>
            <a:pPr lvl="2"/>
            <a:r>
              <a:rPr lang="en-US"/>
              <a:t>Vi điều khiển 16/32-bit, có thể tích hợp RTOS nhỏ gọn</a:t>
            </a:r>
          </a:p>
        </p:txBody>
      </p:sp>
      <p:pic>
        <p:nvPicPr>
          <p:cNvPr id="8" name="Picture 7">
            <a:extLst>
              <a:ext uri="{FF2B5EF4-FFF2-40B4-BE49-F238E27FC236}">
                <a16:creationId xmlns:a16="http://schemas.microsoft.com/office/drawing/2014/main" id="{1584207D-0477-BE5F-6901-601797A5DE51}"/>
              </a:ext>
            </a:extLst>
          </p:cNvPr>
          <p:cNvPicPr>
            <a:picLocks noChangeAspect="1"/>
          </p:cNvPicPr>
          <p:nvPr/>
        </p:nvPicPr>
        <p:blipFill>
          <a:blip r:embed="rId2"/>
          <a:stretch>
            <a:fillRect/>
          </a:stretch>
        </p:blipFill>
        <p:spPr>
          <a:xfrm>
            <a:off x="2011151" y="3256556"/>
            <a:ext cx="8447924" cy="2717795"/>
          </a:xfrm>
          <a:prstGeom prst="rect">
            <a:avLst/>
          </a:prstGeom>
        </p:spPr>
      </p:pic>
    </p:spTree>
    <p:extLst>
      <p:ext uri="{BB962C8B-B14F-4D97-AF65-F5344CB8AC3E}">
        <p14:creationId xmlns:p14="http://schemas.microsoft.com/office/powerpoint/2010/main" val="1277983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5833-1E19-9259-3E05-EE7392270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8EF1C-7CCA-7E0E-DE82-C03EF3824973}"/>
              </a:ext>
            </a:extLst>
          </p:cNvPr>
          <p:cNvSpPr>
            <a:spLocks noGrp="1"/>
          </p:cNvSpPr>
          <p:nvPr>
            <p:ph type="title"/>
          </p:nvPr>
        </p:nvSpPr>
        <p:spPr/>
        <p:txBody>
          <a:bodyPr/>
          <a:lstStyle/>
          <a:p>
            <a:r>
              <a:rPr lang="en-US"/>
              <a:t>Classification of Embedded System</a:t>
            </a:r>
          </a:p>
        </p:txBody>
      </p:sp>
      <p:sp>
        <p:nvSpPr>
          <p:cNvPr id="3" name="Content Placeholder 2">
            <a:extLst>
              <a:ext uri="{FF2B5EF4-FFF2-40B4-BE49-F238E27FC236}">
                <a16:creationId xmlns:a16="http://schemas.microsoft.com/office/drawing/2014/main" id="{A843B46D-BE8C-8684-873F-9B2CF9099FFD}"/>
              </a:ext>
            </a:extLst>
          </p:cNvPr>
          <p:cNvSpPr>
            <a:spLocks noGrp="1"/>
          </p:cNvSpPr>
          <p:nvPr>
            <p:ph sz="quarter" idx="13"/>
          </p:nvPr>
        </p:nvSpPr>
        <p:spPr/>
        <p:txBody>
          <a:bodyPr/>
          <a:lstStyle/>
          <a:p>
            <a:r>
              <a:rPr lang="en-US"/>
              <a:t>Theo hiệu năng &amp; độ phức tạp</a:t>
            </a:r>
          </a:p>
          <a:p>
            <a:pPr lvl="1"/>
            <a:r>
              <a:rPr lang="en-US"/>
              <a:t>Large-scale/Sophisticated Embedded System</a:t>
            </a:r>
          </a:p>
          <a:p>
            <a:pPr lvl="2"/>
            <a:r>
              <a:rPr lang="en-US"/>
              <a:t>Vi xử lý 32/64-bit hiệu năng cao, chạy hệ điều hành đầy đủ (Embedded Linux, Android)</a:t>
            </a:r>
          </a:p>
        </p:txBody>
      </p:sp>
      <p:pic>
        <p:nvPicPr>
          <p:cNvPr id="4" name="Picture 3">
            <a:extLst>
              <a:ext uri="{FF2B5EF4-FFF2-40B4-BE49-F238E27FC236}">
                <a16:creationId xmlns:a16="http://schemas.microsoft.com/office/drawing/2014/main" id="{53DFB914-E86E-0DC8-6A06-893D843A31AD}"/>
              </a:ext>
            </a:extLst>
          </p:cNvPr>
          <p:cNvPicPr>
            <a:picLocks noChangeAspect="1"/>
          </p:cNvPicPr>
          <p:nvPr/>
        </p:nvPicPr>
        <p:blipFill>
          <a:blip r:embed="rId3"/>
          <a:stretch>
            <a:fillRect/>
          </a:stretch>
        </p:blipFill>
        <p:spPr>
          <a:xfrm>
            <a:off x="7405142" y="3110949"/>
            <a:ext cx="4243537" cy="3335155"/>
          </a:xfrm>
          <a:prstGeom prst="rect">
            <a:avLst/>
          </a:prstGeom>
        </p:spPr>
      </p:pic>
      <p:pic>
        <p:nvPicPr>
          <p:cNvPr id="7" name="Picture 6">
            <a:extLst>
              <a:ext uri="{FF2B5EF4-FFF2-40B4-BE49-F238E27FC236}">
                <a16:creationId xmlns:a16="http://schemas.microsoft.com/office/drawing/2014/main" id="{FD9FE86F-25D3-EBD0-5416-D2CFC1980AEF}"/>
              </a:ext>
            </a:extLst>
          </p:cNvPr>
          <p:cNvPicPr>
            <a:picLocks noChangeAspect="1"/>
          </p:cNvPicPr>
          <p:nvPr/>
        </p:nvPicPr>
        <p:blipFill>
          <a:blip r:embed="rId4"/>
          <a:stretch>
            <a:fillRect/>
          </a:stretch>
        </p:blipFill>
        <p:spPr>
          <a:xfrm>
            <a:off x="913078" y="3429000"/>
            <a:ext cx="5182922" cy="2985484"/>
          </a:xfrm>
          <a:prstGeom prst="rect">
            <a:avLst/>
          </a:prstGeom>
        </p:spPr>
      </p:pic>
    </p:spTree>
    <p:extLst>
      <p:ext uri="{BB962C8B-B14F-4D97-AF65-F5344CB8AC3E}">
        <p14:creationId xmlns:p14="http://schemas.microsoft.com/office/powerpoint/2010/main" val="89885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5EC4-1586-6255-74E8-B07F3B5E6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2D5D0-31B6-FFA9-F76C-977B7AE29BEF}"/>
              </a:ext>
            </a:extLst>
          </p:cNvPr>
          <p:cNvSpPr>
            <a:spLocks noGrp="1"/>
          </p:cNvSpPr>
          <p:nvPr>
            <p:ph type="title"/>
          </p:nvPr>
        </p:nvSpPr>
        <p:spPr/>
        <p:txBody>
          <a:bodyPr/>
          <a:lstStyle/>
          <a:p>
            <a:r>
              <a:rPr lang="en-US"/>
              <a:t>Classification of Embedded System</a:t>
            </a:r>
          </a:p>
        </p:txBody>
      </p:sp>
      <p:sp>
        <p:nvSpPr>
          <p:cNvPr id="3" name="Content Placeholder 2">
            <a:extLst>
              <a:ext uri="{FF2B5EF4-FFF2-40B4-BE49-F238E27FC236}">
                <a16:creationId xmlns:a16="http://schemas.microsoft.com/office/drawing/2014/main" id="{426B0161-D978-1BD5-C02F-114165F60561}"/>
              </a:ext>
            </a:extLst>
          </p:cNvPr>
          <p:cNvSpPr>
            <a:spLocks noGrp="1"/>
          </p:cNvSpPr>
          <p:nvPr>
            <p:ph sz="quarter" idx="13"/>
          </p:nvPr>
        </p:nvSpPr>
        <p:spPr/>
        <p:txBody>
          <a:bodyPr/>
          <a:lstStyle/>
          <a:p>
            <a:r>
              <a:rPr lang="en-US"/>
              <a:t>Theo yêu cầu thời gian thực</a:t>
            </a:r>
          </a:p>
          <a:p>
            <a:pPr lvl="1"/>
            <a:r>
              <a:rPr lang="en-US"/>
              <a:t>Hard Real-time</a:t>
            </a:r>
          </a:p>
          <a:p>
            <a:pPr lvl="2"/>
            <a:r>
              <a:rPr lang="en-US"/>
              <a:t>Trễ hạn (deadline) là bắt buộc tuyệt đối, vi phạm gây hậu quả nghiêm trọng (VD: túi khí ô tô, hệ thống điều khiển máy bay,…)</a:t>
            </a:r>
          </a:p>
          <a:p>
            <a:pPr lvl="1"/>
            <a:r>
              <a:rPr lang="en-US"/>
              <a:t>Soft Real-Time</a:t>
            </a:r>
          </a:p>
          <a:p>
            <a:pPr lvl="2"/>
            <a:r>
              <a:rPr lang="en-US"/>
              <a:t>Trễ hạn có thể chấp nhận sai lệch nhỏ mà không gây hậu quả nghiêm trọng (VD: hệ thống streaming video,…)</a:t>
            </a:r>
          </a:p>
          <a:p>
            <a:pPr lvl="2"/>
            <a:endParaRPr lang="en-US"/>
          </a:p>
        </p:txBody>
      </p:sp>
    </p:spTree>
    <p:extLst>
      <p:ext uri="{BB962C8B-B14F-4D97-AF65-F5344CB8AC3E}">
        <p14:creationId xmlns:p14="http://schemas.microsoft.com/office/powerpoint/2010/main" val="364269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4F963-EBFF-DD92-B0BB-4413E6C745DC}"/>
              </a:ext>
            </a:extLst>
          </p:cNvPr>
          <p:cNvSpPr>
            <a:spLocks noGrp="1"/>
          </p:cNvSpPr>
          <p:nvPr>
            <p:ph type="title"/>
          </p:nvPr>
        </p:nvSpPr>
        <p:spPr/>
        <p:txBody>
          <a:bodyPr/>
          <a:lstStyle/>
          <a:p>
            <a:r>
              <a:rPr lang="en-US"/>
              <a:t>Phạm vi ứng dụng của Hệ thống nhúng</a:t>
            </a:r>
          </a:p>
        </p:txBody>
      </p:sp>
      <p:pic>
        <p:nvPicPr>
          <p:cNvPr id="4" name="Content Placeholder 3">
            <a:extLst>
              <a:ext uri="{FF2B5EF4-FFF2-40B4-BE49-F238E27FC236}">
                <a16:creationId xmlns:a16="http://schemas.microsoft.com/office/drawing/2014/main" id="{8817CD3A-A349-D84F-055E-5ED9890F1713}"/>
              </a:ext>
            </a:extLst>
          </p:cNvPr>
          <p:cNvPicPr>
            <a:picLocks noGrp="1" noChangeAspect="1"/>
          </p:cNvPicPr>
          <p:nvPr>
            <p:ph sz="quarter" idx="13"/>
          </p:nvPr>
        </p:nvPicPr>
        <p:blipFill>
          <a:blip r:embed="rId3"/>
          <a:stretch>
            <a:fillRect/>
          </a:stretch>
        </p:blipFill>
        <p:spPr>
          <a:xfrm>
            <a:off x="553157" y="88018"/>
            <a:ext cx="10799298" cy="6181566"/>
          </a:xfrm>
          <a:prstGeom prst="rect">
            <a:avLst/>
          </a:prstGeom>
        </p:spPr>
      </p:pic>
    </p:spTree>
    <p:extLst>
      <p:ext uri="{BB962C8B-B14F-4D97-AF65-F5344CB8AC3E}">
        <p14:creationId xmlns:p14="http://schemas.microsoft.com/office/powerpoint/2010/main" val="406061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E3B9B-41C8-4BF2-599E-6648C776D683}"/>
              </a:ext>
            </a:extLst>
          </p:cNvPr>
          <p:cNvSpPr>
            <a:spLocks noGrp="1"/>
          </p:cNvSpPr>
          <p:nvPr>
            <p:ph type="title"/>
          </p:nvPr>
        </p:nvSpPr>
        <p:spPr/>
        <p:txBody>
          <a:bodyPr/>
          <a:lstStyle/>
          <a:p>
            <a:r>
              <a:rPr lang="en-US"/>
              <a:t>Embedded System Requirements</a:t>
            </a:r>
          </a:p>
        </p:txBody>
      </p:sp>
      <p:sp>
        <p:nvSpPr>
          <p:cNvPr id="3" name="Content Placeholder 2">
            <a:extLst>
              <a:ext uri="{FF2B5EF4-FFF2-40B4-BE49-F238E27FC236}">
                <a16:creationId xmlns:a16="http://schemas.microsoft.com/office/drawing/2014/main" id="{AC9C8136-B4E1-DDE7-2155-434BA3BB582A}"/>
              </a:ext>
            </a:extLst>
          </p:cNvPr>
          <p:cNvSpPr>
            <a:spLocks noGrp="1"/>
          </p:cNvSpPr>
          <p:nvPr>
            <p:ph sz="quarter" idx="13"/>
          </p:nvPr>
        </p:nvSpPr>
        <p:spPr/>
        <p:txBody>
          <a:bodyPr/>
          <a:lstStyle/>
          <a:p>
            <a:r>
              <a:rPr lang="en-US"/>
              <a:t>5 basic requirements for an embedded system</a:t>
            </a:r>
          </a:p>
        </p:txBody>
      </p:sp>
      <p:pic>
        <p:nvPicPr>
          <p:cNvPr id="5" name="Picture 4">
            <a:extLst>
              <a:ext uri="{FF2B5EF4-FFF2-40B4-BE49-F238E27FC236}">
                <a16:creationId xmlns:a16="http://schemas.microsoft.com/office/drawing/2014/main" id="{857DA3C8-3983-BAB0-E41B-BDA0D8BF14B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3774932" y="2209442"/>
            <a:ext cx="4642135" cy="3958829"/>
          </a:xfrm>
          <a:prstGeom prst="rect">
            <a:avLst/>
          </a:prstGeom>
        </p:spPr>
      </p:pic>
    </p:spTree>
    <p:extLst>
      <p:ext uri="{BB962C8B-B14F-4D97-AF65-F5344CB8AC3E}">
        <p14:creationId xmlns:p14="http://schemas.microsoft.com/office/powerpoint/2010/main" val="201308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3F9ED-B103-86A0-168D-286FA0AFD1E6}"/>
              </a:ext>
            </a:extLst>
          </p:cNvPr>
          <p:cNvSpPr>
            <a:spLocks noGrp="1"/>
          </p:cNvSpPr>
          <p:nvPr>
            <p:ph type="title"/>
          </p:nvPr>
        </p:nvSpPr>
        <p:spPr/>
        <p:txBody>
          <a:bodyPr/>
          <a:lstStyle/>
          <a:p>
            <a:r>
              <a:rPr lang="en-US"/>
              <a:t>Embedded System Quality</a:t>
            </a:r>
          </a:p>
        </p:txBody>
      </p:sp>
      <p:sp>
        <p:nvSpPr>
          <p:cNvPr id="3" name="Content Placeholder 2">
            <a:extLst>
              <a:ext uri="{FF2B5EF4-FFF2-40B4-BE49-F238E27FC236}">
                <a16:creationId xmlns:a16="http://schemas.microsoft.com/office/drawing/2014/main" id="{D333E0C5-674D-1C52-B75D-5457F2F2C4CD}"/>
              </a:ext>
            </a:extLst>
          </p:cNvPr>
          <p:cNvSpPr>
            <a:spLocks noGrp="1"/>
          </p:cNvSpPr>
          <p:nvPr>
            <p:ph sz="quarter" idx="13"/>
          </p:nvPr>
        </p:nvSpPr>
        <p:spPr/>
        <p:txBody>
          <a:bodyPr/>
          <a:lstStyle/>
          <a:p>
            <a:r>
              <a:rPr lang="en-US"/>
              <a:t>8 basic dimensions of quality</a:t>
            </a:r>
          </a:p>
          <a:p>
            <a:pPr marL="800094" lvl="1" indent="-457200">
              <a:buAutoNum type="arabicPeriod"/>
            </a:pPr>
            <a:r>
              <a:rPr lang="en-US"/>
              <a:t>Performance: The primary operating characteristics of a product</a:t>
            </a:r>
          </a:p>
          <a:p>
            <a:pPr marL="800094" lvl="1" indent="-457200">
              <a:buAutoNum type="arabicPeriod"/>
            </a:pPr>
            <a:r>
              <a:rPr lang="en-US"/>
              <a:t>Feature: Those characteristics that supplement a product’s basic functions</a:t>
            </a:r>
          </a:p>
          <a:p>
            <a:pPr marL="800094" lvl="1" indent="-457200">
              <a:buAutoNum type="arabicPeriod"/>
            </a:pPr>
            <a:r>
              <a:rPr lang="en-US"/>
              <a:t>Reliability: The probability of a product malfunctioning</a:t>
            </a:r>
          </a:p>
          <a:p>
            <a:pPr marL="800094" lvl="1" indent="-457200">
              <a:buAutoNum type="arabicPeriod"/>
            </a:pPr>
            <a:r>
              <a:rPr lang="en-US"/>
              <a:t>Durability: A measure of the amount of use one gets from a product before it breaks down</a:t>
            </a:r>
          </a:p>
          <a:p>
            <a:pPr marL="800094" lvl="1" indent="-457200">
              <a:buAutoNum type="arabicPeriod"/>
            </a:pPr>
            <a:r>
              <a:rPr lang="en-US"/>
              <a:t>Serviceability: Ease and time to repair after breakdown</a:t>
            </a:r>
          </a:p>
          <a:p>
            <a:pPr marL="800094" lvl="1" indent="-457200">
              <a:buAutoNum type="arabicPeriod"/>
            </a:pPr>
            <a:r>
              <a:rPr lang="en-US"/>
              <a:t>Conformance: the degree to meet standards</a:t>
            </a:r>
          </a:p>
          <a:p>
            <a:pPr marL="800094" lvl="1" indent="-457200">
              <a:buAutoNum type="arabicPeriod"/>
            </a:pPr>
            <a:r>
              <a:rPr lang="en-US"/>
              <a:t>Aesthetics: How a product looks</a:t>
            </a:r>
          </a:p>
          <a:p>
            <a:pPr marL="800094" lvl="1" indent="-457200">
              <a:buAutoNum type="arabicPeriod"/>
            </a:pPr>
            <a:r>
              <a:rPr lang="en-US"/>
              <a:t>Perceived quality: This dimension is associated with reputation</a:t>
            </a:r>
          </a:p>
        </p:txBody>
      </p:sp>
    </p:spTree>
    <p:extLst>
      <p:ext uri="{BB962C8B-B14F-4D97-AF65-F5344CB8AC3E}">
        <p14:creationId xmlns:p14="http://schemas.microsoft.com/office/powerpoint/2010/main" val="428478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4C7BD-FC24-D69D-2787-596A2749BA08}"/>
              </a:ext>
            </a:extLst>
          </p:cNvPr>
          <p:cNvSpPr>
            <a:spLocks noGrp="1"/>
          </p:cNvSpPr>
          <p:nvPr>
            <p:ph type="title"/>
          </p:nvPr>
        </p:nvSpPr>
        <p:spPr/>
        <p:txBody>
          <a:bodyPr/>
          <a:lstStyle/>
          <a:p>
            <a:r>
              <a:rPr lang="en-US"/>
              <a:t>Các khuynh hướng trong Hệ thống nhúng</a:t>
            </a:r>
          </a:p>
        </p:txBody>
      </p:sp>
      <p:sp>
        <p:nvSpPr>
          <p:cNvPr id="3" name="Content Placeholder 2">
            <a:extLst>
              <a:ext uri="{FF2B5EF4-FFF2-40B4-BE49-F238E27FC236}">
                <a16:creationId xmlns:a16="http://schemas.microsoft.com/office/drawing/2014/main" id="{9490D512-C92C-FF88-28F6-F50A7134D513}"/>
              </a:ext>
            </a:extLst>
          </p:cNvPr>
          <p:cNvSpPr>
            <a:spLocks noGrp="1"/>
          </p:cNvSpPr>
          <p:nvPr>
            <p:ph sz="quarter" idx="13"/>
          </p:nvPr>
        </p:nvSpPr>
        <p:spPr/>
        <p:txBody>
          <a:bodyPr/>
          <a:lstStyle/>
          <a:p>
            <a:r>
              <a:rPr lang="en-US"/>
              <a:t>Communication &amp; IoT</a:t>
            </a:r>
          </a:p>
          <a:p>
            <a:pPr lvl="1"/>
            <a:r>
              <a:rPr lang="en-US">
                <a:solidFill>
                  <a:srgbClr val="001529"/>
                </a:solidFill>
                <a:ea typeface="Arial" pitchFamily="34" charset="-122"/>
                <a:cs typeface="Arial" pitchFamily="34" charset="-120"/>
              </a:rPr>
              <a:t>Hệ thống nhúng đang chuyển từ thiết bị điều khiển độc lập sang hệ thống kết nối và thông minh.</a:t>
            </a:r>
            <a:endParaRPr lang="en-US"/>
          </a:p>
          <a:p>
            <a:endParaRPr lang="en-US"/>
          </a:p>
          <a:p>
            <a:pPr marL="0" indent="0">
              <a:buNone/>
            </a:pPr>
            <a:endParaRPr lang="en-US"/>
          </a:p>
        </p:txBody>
      </p:sp>
      <p:pic>
        <p:nvPicPr>
          <p:cNvPr id="5" name="Picture 4">
            <a:extLst>
              <a:ext uri="{FF2B5EF4-FFF2-40B4-BE49-F238E27FC236}">
                <a16:creationId xmlns:a16="http://schemas.microsoft.com/office/drawing/2014/main" id="{0C29C919-6D8D-E181-5892-19341A594747}"/>
              </a:ext>
            </a:extLst>
          </p:cNvPr>
          <p:cNvPicPr>
            <a:picLocks noChangeAspect="1"/>
          </p:cNvPicPr>
          <p:nvPr/>
        </p:nvPicPr>
        <p:blipFill>
          <a:blip r:embed="rId3"/>
          <a:stretch>
            <a:fillRect/>
          </a:stretch>
        </p:blipFill>
        <p:spPr>
          <a:xfrm>
            <a:off x="4698931" y="2705397"/>
            <a:ext cx="6062856" cy="3732257"/>
          </a:xfrm>
          <a:prstGeom prst="rect">
            <a:avLst/>
          </a:prstGeom>
        </p:spPr>
      </p:pic>
    </p:spTree>
    <p:extLst>
      <p:ext uri="{BB962C8B-B14F-4D97-AF65-F5344CB8AC3E}">
        <p14:creationId xmlns:p14="http://schemas.microsoft.com/office/powerpoint/2010/main" val="89068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7B696-7372-E958-9AE4-5A2F7615E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3DE4B-A8C8-B6A9-E4ED-FF78B3361ACF}"/>
              </a:ext>
            </a:extLst>
          </p:cNvPr>
          <p:cNvSpPr>
            <a:spLocks noGrp="1"/>
          </p:cNvSpPr>
          <p:nvPr>
            <p:ph type="title"/>
          </p:nvPr>
        </p:nvSpPr>
        <p:spPr/>
        <p:txBody>
          <a:bodyPr/>
          <a:lstStyle/>
          <a:p>
            <a:r>
              <a:rPr lang="en-US"/>
              <a:t>Các khuynh hướng trong Hệ thống nhúng</a:t>
            </a:r>
          </a:p>
        </p:txBody>
      </p:sp>
      <p:sp>
        <p:nvSpPr>
          <p:cNvPr id="3" name="Content Placeholder 2">
            <a:extLst>
              <a:ext uri="{FF2B5EF4-FFF2-40B4-BE49-F238E27FC236}">
                <a16:creationId xmlns:a16="http://schemas.microsoft.com/office/drawing/2014/main" id="{F2270CAF-D430-E145-1FC7-A078957351AE}"/>
              </a:ext>
            </a:extLst>
          </p:cNvPr>
          <p:cNvSpPr>
            <a:spLocks noGrp="1"/>
          </p:cNvSpPr>
          <p:nvPr>
            <p:ph sz="quarter" idx="13"/>
          </p:nvPr>
        </p:nvSpPr>
        <p:spPr/>
        <p:txBody>
          <a:bodyPr/>
          <a:lstStyle/>
          <a:p>
            <a:r>
              <a:rPr lang="en-US"/>
              <a:t>Edge Computing &amp; Edge AI</a:t>
            </a:r>
          </a:p>
          <a:p>
            <a:pPr lvl="1"/>
            <a:r>
              <a:rPr lang="en-US"/>
              <a:t>Giúp xử lý cục bộ, giảm độ trễ và tăng quyền riêng tư</a:t>
            </a:r>
          </a:p>
          <a:p>
            <a:endParaRPr lang="en-US"/>
          </a:p>
          <a:p>
            <a:pPr marL="0" indent="0">
              <a:buNone/>
            </a:pPr>
            <a:endParaRPr lang="en-US"/>
          </a:p>
        </p:txBody>
      </p:sp>
      <p:pic>
        <p:nvPicPr>
          <p:cNvPr id="4" name="Picture 3" descr="Key Considerations for Real-Time Object Recognition on Edge Computing  Devices">
            <a:extLst>
              <a:ext uri="{FF2B5EF4-FFF2-40B4-BE49-F238E27FC236}">
                <a16:creationId xmlns:a16="http://schemas.microsoft.com/office/drawing/2014/main" id="{DA7CBA34-C028-A5DB-1FCD-A126F700ABD0}"/>
              </a:ext>
            </a:extLst>
          </p:cNvPr>
          <p:cNvPicPr>
            <a:picLocks noChangeAspect="1"/>
          </p:cNvPicPr>
          <p:nvPr/>
        </p:nvPicPr>
        <p:blipFill>
          <a:blip r:embed="rId3"/>
          <a:stretch>
            <a:fillRect/>
          </a:stretch>
        </p:blipFill>
        <p:spPr>
          <a:xfrm>
            <a:off x="444492" y="2663405"/>
            <a:ext cx="6948879" cy="4194595"/>
          </a:xfrm>
          <a:prstGeom prst="rect">
            <a:avLst/>
          </a:prstGeom>
        </p:spPr>
      </p:pic>
      <p:pic>
        <p:nvPicPr>
          <p:cNvPr id="5" name="Picture 4" descr="Harness the Power of Edge Devices for Real-Time AI">
            <a:extLst>
              <a:ext uri="{FF2B5EF4-FFF2-40B4-BE49-F238E27FC236}">
                <a16:creationId xmlns:a16="http://schemas.microsoft.com/office/drawing/2014/main" id="{BE80B08F-421F-9AAB-AD77-92F9CBC03908}"/>
              </a:ext>
            </a:extLst>
          </p:cNvPr>
          <p:cNvPicPr>
            <a:picLocks noChangeAspect="1"/>
          </p:cNvPicPr>
          <p:nvPr/>
        </p:nvPicPr>
        <p:blipFill>
          <a:blip r:embed="rId4"/>
          <a:stretch>
            <a:fillRect/>
          </a:stretch>
        </p:blipFill>
        <p:spPr>
          <a:xfrm>
            <a:off x="7673987" y="2558050"/>
            <a:ext cx="3676769" cy="4299950"/>
          </a:xfrm>
          <a:prstGeom prst="rect">
            <a:avLst/>
          </a:prstGeom>
        </p:spPr>
      </p:pic>
    </p:spTree>
    <p:extLst>
      <p:ext uri="{BB962C8B-B14F-4D97-AF65-F5344CB8AC3E}">
        <p14:creationId xmlns:p14="http://schemas.microsoft.com/office/powerpoint/2010/main" val="3101033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4160A-7A0A-7574-B6CC-C760D6874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778D2-E45E-2FD3-6C1E-C9621B39BF12}"/>
              </a:ext>
            </a:extLst>
          </p:cNvPr>
          <p:cNvSpPr>
            <a:spLocks noGrp="1"/>
          </p:cNvSpPr>
          <p:nvPr>
            <p:ph type="title"/>
          </p:nvPr>
        </p:nvSpPr>
        <p:spPr/>
        <p:txBody>
          <a:bodyPr/>
          <a:lstStyle/>
          <a:p>
            <a:r>
              <a:rPr lang="en-US"/>
              <a:t>Các khuynh hướng trong Hệ thống nhúng</a:t>
            </a:r>
          </a:p>
        </p:txBody>
      </p:sp>
      <p:sp>
        <p:nvSpPr>
          <p:cNvPr id="3" name="Content Placeholder 2">
            <a:extLst>
              <a:ext uri="{FF2B5EF4-FFF2-40B4-BE49-F238E27FC236}">
                <a16:creationId xmlns:a16="http://schemas.microsoft.com/office/drawing/2014/main" id="{FDA33576-314B-ED80-0317-C5889B91682C}"/>
              </a:ext>
            </a:extLst>
          </p:cNvPr>
          <p:cNvSpPr>
            <a:spLocks noGrp="1"/>
          </p:cNvSpPr>
          <p:nvPr>
            <p:ph sz="quarter" idx="13"/>
          </p:nvPr>
        </p:nvSpPr>
        <p:spPr/>
        <p:txBody>
          <a:bodyPr/>
          <a:lstStyle/>
          <a:p>
            <a:r>
              <a:rPr lang="en-US"/>
              <a:t>Low-power, Security &amp; Software-defined</a:t>
            </a:r>
          </a:p>
          <a:p>
            <a:pPr lvl="1"/>
            <a:r>
              <a:rPr lang="en-US"/>
              <a:t>Trở thành yêu cầu mặc định của thiết kế nhúng hiện đại</a:t>
            </a:r>
          </a:p>
          <a:p>
            <a:r>
              <a:rPr lang="en-US"/>
              <a:t>Giảm giá thành – hiệu năng cao, đảm nhiệm khối lượng công việc lớn</a:t>
            </a:r>
          </a:p>
          <a:p>
            <a:r>
              <a:rPr lang="en-US"/>
              <a:t>Phần mềm ngày càng phức tạp hơn</a:t>
            </a:r>
          </a:p>
          <a:p>
            <a:endParaRPr lang="en-US"/>
          </a:p>
          <a:p>
            <a:pPr marL="0" indent="0">
              <a:buNone/>
            </a:pPr>
            <a:endParaRPr lang="en-US"/>
          </a:p>
        </p:txBody>
      </p:sp>
    </p:spTree>
    <p:extLst>
      <p:ext uri="{BB962C8B-B14F-4D97-AF65-F5344CB8AC3E}">
        <p14:creationId xmlns:p14="http://schemas.microsoft.com/office/powerpoint/2010/main" val="7363219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D18D-E64E-7672-8B11-A30349DEF308}"/>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49DE6C98-20C5-2A5F-6702-8F2E45813045}"/>
              </a:ext>
            </a:extLst>
          </p:cNvPr>
          <p:cNvSpPr>
            <a:spLocks noGrp="1"/>
          </p:cNvSpPr>
          <p:nvPr>
            <p:ph sz="quarter" idx="13"/>
          </p:nvPr>
        </p:nvSpPr>
        <p:spPr>
          <a:xfrm>
            <a:off x="816606" y="1785386"/>
            <a:ext cx="10515600" cy="4643549"/>
          </a:xfrm>
        </p:spPr>
        <p:txBody>
          <a:bodyPr>
            <a:normAutofit lnSpcReduction="10000"/>
          </a:bodyPr>
          <a:lstStyle/>
          <a:p>
            <a:r>
              <a:rPr lang="en-US"/>
              <a:t>Chọn một thiết bị hoặc hệ thống thực tế có sử dụng hệ thống nhúng. Phân tích hệ thống theo các nội dung sau:</a:t>
            </a:r>
          </a:p>
          <a:p>
            <a:pPr lvl="1"/>
            <a:r>
              <a:rPr lang="en-US"/>
              <a:t>Trình bày chức năng chính của hệ thống. </a:t>
            </a:r>
          </a:p>
          <a:p>
            <a:pPr lvl="1"/>
            <a:r>
              <a:rPr lang="en-US"/>
              <a:t>Giải thích tại sao hệ thống được xem là một hệ thống nhúng. </a:t>
            </a:r>
          </a:p>
          <a:p>
            <a:pPr lvl="1"/>
            <a:r>
              <a:rPr lang="en-US"/>
              <a:t>Xác định các Input, bộ phận Processing và Output của hệ thống. </a:t>
            </a:r>
          </a:p>
          <a:p>
            <a:pPr lvl="1"/>
            <a:r>
              <a:rPr lang="en-US"/>
              <a:t>Vẽ sơ đồ khối thể hiện luồng </a:t>
            </a:r>
            <a:r>
              <a:rPr lang="en-US" b="1"/>
              <a:t>Input → Processing → Output</a:t>
            </a:r>
            <a:r>
              <a:rPr lang="en-US"/>
              <a:t> và tương tác với môi trường. </a:t>
            </a:r>
          </a:p>
          <a:p>
            <a:pPr lvl="1"/>
            <a:r>
              <a:rPr lang="en-US"/>
              <a:t>Mô tả quá trình hoạt động của hệ thống Phân tích ít nhất 4 ràng buộc thiết kế như chi phí, năng lượng, bộ nhớ, tốc độ, kích thước, độ tin cậy. </a:t>
            </a:r>
          </a:p>
          <a:p>
            <a:pPr lvl="1"/>
            <a:r>
              <a:rPr lang="en-US"/>
              <a:t>Xác định hệ thống có yêu cầu thời gian thực hay không. Nếu có, hãy phân loại Hard/Firm/Soft Real-Time và giải thích hậu quả nếu trễ deadline. </a:t>
            </a:r>
          </a:p>
          <a:p>
            <a:pPr lvl="1"/>
            <a:r>
              <a:rPr lang="en-US"/>
              <a:t>Phân loại hệ thống theo Small-scale, Medium-scale hoặc Large/Complex-scale. </a:t>
            </a:r>
          </a:p>
          <a:p>
            <a:r>
              <a:rPr lang="en-US" b="1"/>
              <a:t>Không yêu cầu lựa chọn MCU hoặc thiết kế mạch điện cụ thể.</a:t>
            </a:r>
            <a:endParaRPr lang="en-US"/>
          </a:p>
          <a:p>
            <a:endParaRPr lang="en-US"/>
          </a:p>
        </p:txBody>
      </p:sp>
    </p:spTree>
    <p:extLst>
      <p:ext uri="{BB962C8B-B14F-4D97-AF65-F5344CB8AC3E}">
        <p14:creationId xmlns:p14="http://schemas.microsoft.com/office/powerpoint/2010/main" val="375283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FEB2-2455-2CC8-9191-BE246BCF1AFE}"/>
              </a:ext>
            </a:extLst>
          </p:cNvPr>
          <p:cNvSpPr>
            <a:spLocks noGrp="1"/>
          </p:cNvSpPr>
          <p:nvPr>
            <p:ph type="title"/>
          </p:nvPr>
        </p:nvSpPr>
        <p:spPr/>
        <p:txBody>
          <a:bodyPr/>
          <a:lstStyle/>
          <a:p>
            <a:r>
              <a:rPr lang="en-US"/>
              <a:t>BÀI TẬP</a:t>
            </a:r>
          </a:p>
        </p:txBody>
      </p:sp>
      <p:pic>
        <p:nvPicPr>
          <p:cNvPr id="5" name="Content Placeholder 4">
            <a:extLst>
              <a:ext uri="{FF2B5EF4-FFF2-40B4-BE49-F238E27FC236}">
                <a16:creationId xmlns:a16="http://schemas.microsoft.com/office/drawing/2014/main" id="{F8963C7D-B475-85ED-BFF3-604E50CAFD80}"/>
              </a:ext>
            </a:extLst>
          </p:cNvPr>
          <p:cNvPicPr>
            <a:picLocks noGrp="1" noChangeAspect="1"/>
          </p:cNvPicPr>
          <p:nvPr>
            <p:ph sz="quarter" idx="13"/>
          </p:nvPr>
        </p:nvPicPr>
        <p:blipFill>
          <a:blip r:embed="rId2"/>
          <a:stretch>
            <a:fillRect/>
          </a:stretch>
        </p:blipFill>
        <p:spPr>
          <a:xfrm>
            <a:off x="695005" y="1723787"/>
            <a:ext cx="10961459" cy="3270244"/>
          </a:xfrm>
          <a:prstGeom prst="rect">
            <a:avLst/>
          </a:prstGeom>
        </p:spPr>
      </p:pic>
    </p:spTree>
    <p:extLst>
      <p:ext uri="{BB962C8B-B14F-4D97-AF65-F5344CB8AC3E}">
        <p14:creationId xmlns:p14="http://schemas.microsoft.com/office/powerpoint/2010/main" val="700967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62ACE7-71B0-58B8-2EA1-8D25FB551AF3}"/>
              </a:ext>
            </a:extLst>
          </p:cNvPr>
          <p:cNvSpPr txBox="1"/>
          <p:nvPr/>
        </p:nvSpPr>
        <p:spPr>
          <a:xfrm>
            <a:off x="-397613" y="3179067"/>
            <a:ext cx="7469293" cy="1477328"/>
          </a:xfrm>
          <a:prstGeom prst="rect">
            <a:avLst/>
          </a:prstGeom>
          <a:noFill/>
        </p:spPr>
        <p:txBody>
          <a:bodyPr wrap="square" lIns="0" tIns="0" rIns="0" bIns="0" rtlCol="0">
            <a:spAutoFit/>
          </a:bodyPr>
          <a:lstStyle/>
          <a:p>
            <a:pPr algn="ctr"/>
            <a:r>
              <a:rPr lang="en-VN" sz="9600" b="1" dirty="0">
                <a:solidFill>
                  <a:srgbClr val="FFFF00"/>
                </a:solidFill>
              </a:rPr>
              <a:t>THANK YOU</a:t>
            </a:r>
          </a:p>
        </p:txBody>
      </p:sp>
    </p:spTree>
    <p:extLst>
      <p:ext uri="{BB962C8B-B14F-4D97-AF65-F5344CB8AC3E}">
        <p14:creationId xmlns:p14="http://schemas.microsoft.com/office/powerpoint/2010/main" val="81471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HAPE_LOCKS" val="959"/>
</p:tagLst>
</file>

<file path=ppt/tags/tag2.xml><?xml version="1.0" encoding="utf-8"?>
<p:tagLst xmlns:a="http://schemas.openxmlformats.org/drawingml/2006/main" xmlns:r="http://schemas.openxmlformats.org/officeDocument/2006/relationships" xmlns:p="http://schemas.openxmlformats.org/presentationml/2006/main">
  <p:tag name="SHAPE_LOCKS" val="16"/>
</p:tagLst>
</file>

<file path=ppt/tags/tag3.xml><?xml version="1.0" encoding="utf-8"?>
<p:tagLst xmlns:a="http://schemas.openxmlformats.org/drawingml/2006/main" xmlns:r="http://schemas.openxmlformats.org/officeDocument/2006/relationships" xmlns:p="http://schemas.openxmlformats.org/presentationml/2006/main">
  <p:tag name="SHAPE_LOCKS" val="16"/>
</p:tagLst>
</file>

<file path=ppt/theme/theme1.xml><?xml version="1.0" encoding="utf-8"?>
<a:theme xmlns:a="http://schemas.openxmlformats.org/drawingml/2006/main" name="ORG_hcmute_ppt_theme_org">
  <a:themeElements>
    <a:clrScheme name="test 3">
      <a:dk1>
        <a:srgbClr val="0432FF"/>
      </a:dk1>
      <a:lt1>
        <a:srgbClr val="FFFFFF"/>
      </a:lt1>
      <a:dk2>
        <a:srgbClr val="FF2600"/>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9Slide Fonts">
      <a:majorFont>
        <a:latin typeface="#9Slide02 Tieu de dai"/>
        <a:ea typeface=""/>
        <a:cs typeface=""/>
      </a:majorFont>
      <a:minorFont>
        <a:latin typeface="#9Slide02 Noi dung da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mtClean="0">
            <a:solidFill>
              <a:schemeClr val="tx1">
                <a:lumMod val="50000"/>
                <a:lumOff val="50000"/>
              </a:schemeClr>
            </a:solidFill>
          </a:defRPr>
        </a:defPPr>
      </a:lstStyle>
    </a:txDef>
  </a:objectDefaults>
  <a:extraClrSchemeLst/>
  <a:extLst>
    <a:ext uri="{05A4C25C-085E-4340-85A3-A5531E510DB2}">
      <thm15:themeFamily xmlns:thm15="http://schemas.microsoft.com/office/thememl/2012/main" name="ORG_hcmute_ppt_theme_org" id="{2477FB3C-AD1D-3440-80DD-EBA5E9F4D7DB}" vid="{F33E8537-68F2-B64D-991D-63FA5B34BD0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hcmue_trilism_theme3</Template>
  <TotalTime>2816</TotalTime>
  <Words>3058</Words>
  <Application>Microsoft Office PowerPoint</Application>
  <PresentationFormat>Widescreen</PresentationFormat>
  <Paragraphs>326</Paragraphs>
  <Slides>40</Slides>
  <Notes>25</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Cambria Math</vt:lpstr>
      <vt:lpstr>#9Slide02 Noi dung dai</vt:lpstr>
      <vt:lpstr>Helvetica</vt:lpstr>
      <vt:lpstr>Wingdings</vt:lpstr>
      <vt:lpstr>Cambria</vt:lpstr>
      <vt:lpstr>#9Slide02 Tieu de dai</vt:lpstr>
      <vt:lpstr>Arial</vt:lpstr>
      <vt:lpstr>ORG_hcmute_ppt_theme_org</vt:lpstr>
      <vt:lpstr>PowerPoint Presentation</vt:lpstr>
      <vt:lpstr>NỘI DUNG</vt:lpstr>
      <vt:lpstr>KHÁI NIỆM HỆ THỐNG NHÚNG</vt:lpstr>
      <vt:lpstr>KHÁI NIỆM HỆ THỐNG NHÚNG</vt:lpstr>
      <vt:lpstr>EMBEDDED SYSTEM VS GENERAL PURPOSE COMPUTER</vt:lpstr>
      <vt:lpstr>EMBEDDED SYSTEM VS GENERAL PURPOSE COMPUTER</vt:lpstr>
      <vt:lpstr>MỘT SỐ VÍ DỤ THỰC TẾ</vt:lpstr>
      <vt:lpstr>PowerPoint Presentation</vt:lpstr>
      <vt:lpstr>Embedded System Example</vt:lpstr>
      <vt:lpstr>Embedded System Example</vt:lpstr>
      <vt:lpstr>Embedded System Example</vt:lpstr>
      <vt:lpstr>Embedded System Example</vt:lpstr>
      <vt:lpstr>LỊCH SỬ PHÁT TRIỂN CỦA HỆ THỐNG NHÚNG</vt:lpstr>
      <vt:lpstr>ĐẶC ĐIỂM CỦA HỆ THỐNG NHÚNG</vt:lpstr>
      <vt:lpstr>ĐẶC ĐIỂM CỦA HỆ THỐNG NHÚNG</vt:lpstr>
      <vt:lpstr>ĐẶC ĐIỂM CỦA HỆ THỐNG NHÚNG</vt:lpstr>
      <vt:lpstr>ĐẶC ĐIỂM CỦA HỆ THỐNG NHÚNG</vt:lpstr>
      <vt:lpstr>ĐẶC ĐIỂM CỦA HỆ THỐNG NHÚNG</vt:lpstr>
      <vt:lpstr>An Embedded System Example</vt:lpstr>
      <vt:lpstr>Kiến trúc điển hình của Hệ thống nhúng</vt:lpstr>
      <vt:lpstr>Kiến trúc điển hình của Hệ thống nhúng</vt:lpstr>
      <vt:lpstr>Embedded System Components</vt:lpstr>
      <vt:lpstr>PowerPoint Presentation</vt:lpstr>
      <vt:lpstr>Embedded System Features</vt:lpstr>
      <vt:lpstr>Embedded System Features</vt:lpstr>
      <vt:lpstr>Embedded System Features</vt:lpstr>
      <vt:lpstr>Classification of Embedded System</vt:lpstr>
      <vt:lpstr>Classification of Embedded System</vt:lpstr>
      <vt:lpstr>Classification of Embedded System</vt:lpstr>
      <vt:lpstr>Classification of Embedded System</vt:lpstr>
      <vt:lpstr>Classification of Embedded System</vt:lpstr>
      <vt:lpstr>Phạm vi ứng dụng của Hệ thống nhúng</vt:lpstr>
      <vt:lpstr>Embedded System Requirements</vt:lpstr>
      <vt:lpstr>Embedded System Quality</vt:lpstr>
      <vt:lpstr>Các khuynh hướng trong Hệ thống nhúng</vt:lpstr>
      <vt:lpstr>Các khuynh hướng trong Hệ thống nhúng</vt:lpstr>
      <vt:lpstr>Các khuynh hướng trong Hệ thống nhúng</vt:lpstr>
      <vt:lpstr>Bài tập</vt:lpstr>
      <vt:lpstr>BÀI TẬP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Vo Le Phuc Hau Khoa CNTT</cp:lastModifiedBy>
  <cp:revision>41</cp:revision>
  <dcterms:created xsi:type="dcterms:W3CDTF">2008-09-15T02:19:56Z</dcterms:created>
  <dcterms:modified xsi:type="dcterms:W3CDTF">2026-08-18T03:05:11Z</dcterms:modified>
</cp:coreProperties>
</file>