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Hệ thống giám sát chất lượng không khí mini</a:t>
            </a:r>
          </a:p>
          <a:p>
            <a:endParaRPr/>
          </a:p>
          <a:p>
            <a:r>
              <a:t>TRƯỜNG ĐẠI HỌC CÔNG NGHỆ KỸ THUẬT TP. HỒ CHÍ MINH</a:t>
            </a:r>
          </a:p>
          <a:p>
            <a:endParaRPr/>
          </a:p>
          <a:p>
            <a:r>
              <a:t>KHOA CÔNG NGHỆ THÔNG TIN</a:t>
            </a:r>
          </a:p>
          <a:p>
            <a:endParaRPr/>
          </a:p>
          <a:p>
            <a:r>
              <a:t>BÁO CÁO ĐỒ ÁN CUỐI KÌ</a:t>
            </a:r>
          </a:p>
          <a:p>
            <a:endParaRPr/>
          </a:p>
          <a:p>
            <a:r>
              <a:t>HỆ THỐNG GIÁM SÁT CHẤT LƯỢNG KHÔNG KHÍ MINI</a:t>
            </a:r>
          </a:p>
          <a:p>
            <a:endParaRPr/>
          </a:p>
          <a:p>
            <a:r>
              <a:t>Môn học: Hệ thống nhúng</a:t>
            </a:r>
          </a:p>
          <a:p>
            <a:endParaRPr/>
          </a:p>
          <a:p>
            <a:r>
              <a:t>GVHD: ThS. Võ Lê Phúc Hậu</a:t>
            </a:r>
          </a:p>
          <a:p>
            <a:endParaRPr/>
          </a:p>
          <a:p>
            <a:r>
              <a:t>NHÓM 11</a:t>
            </a:r>
          </a:p>
          <a:p>
            <a:endParaRPr/>
          </a:p>
          <a:p>
            <a:r>
              <a:t>Họ và tên | Mã số sinh viên</a:t>
            </a:r>
          </a:p>
          <a:p>
            <a:r>
              <a:t>Trang Sĩ Hoàng | 24162035</a:t>
            </a:r>
          </a:p>
          <a:p>
            <a:r>
              <a:t>Vũ Trọng Hưng | 24162053</a:t>
            </a:r>
          </a:p>
          <a:p>
            <a:r>
              <a:t>Võ Văn Trường Kha | 24162054</a:t>
            </a:r>
          </a:p>
          <a:p>
            <a:endParaRPr/>
          </a:p>
          <a:p>
            <a:r>
              <a:t>TP. HỒ CHÍ MINH, THÁNG 10 NĂM 2026</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Thành viên và phân công nhiệm vụ</a:t>
            </a:r>
          </a:p>
          <a:p>
            <a:endParaRPr/>
          </a:p>
          <a:p>
            <a:r>
              <a:t>BẢNG PHÂN CÔNG NHIỆM VỤ</a:t>
            </a:r>
          </a:p>
          <a:p>
            <a:endParaRPr/>
          </a:p>
          <a:p>
            <a:r>
              <a:t>Phân công nhiệm vụ của các thành viên Nhóm 11 trong quá trình thực hiện đồ án.</a:t>
            </a:r>
          </a:p>
          <a:p>
            <a:endParaRPr/>
          </a:p>
          <a:p>
            <a:r>
              <a:t>STT | Họ và tên | MSSV | Nhiệm vụ được phân công</a:t>
            </a:r>
          </a:p>
          <a:p>
            <a:r>
              <a:t>1 | Trang Sĩ Hoàng | 24162035 | Lập trình hệ thống và nạp code cho ESP32-S3.</a:t>
            </a:r>
          </a:p>
          <a:p>
            <a:r>
              <a:t>2 | Vũ Trọng Hưng | 24162053 | Thực hiện báo cáo; hỗ trợ phần cứng và phần mềm.</a:t>
            </a:r>
          </a:p>
          <a:p>
            <a:r>
              <a:t>3 | Võ Văn Trường Kha | 24162054 | Nối mạch và lắp ráp các cảm biến.</a:t>
            </a:r>
          </a:p>
          <a:p>
            <a:endParaRPr/>
          </a:p>
          <a:p>
            <a:r>
              <a:t>TÓM TẮT</a:t>
            </a:r>
          </a:p>
          <a:p>
            <a:endParaRPr/>
          </a:p>
          <a:p>
            <a:r>
              <a:t>Đồ án xây dựng mô hình giám sát không khí sử dụng ESP32-S3, MQ-2, cảm biến bụi quang và DHT22. Phiên bản cập nhật giữ LCD 1602 và Serial, đồng thời bổ sung dashboard web qua Wi-Fi, giao diện localhost trên laptop và thông báo tự động bằng bot Telegram. Dữ liệu được lấy trung bình, lọc số và kiểm tra tính hợp lệ trước khi hiển thị.</a:t>
            </a:r>
          </a:p>
          <a:p>
            <a:endParaRPr/>
          </a:p>
          <a:p>
            <a:r>
              <a:t>Chương trình áp dụng hai ngưỡng bật/tắt và thời gian xác nhận để hạn chế dao động trạng thái. Relay điều khiển đồng thời quạt và còi khi có cảnh báo gas, nhiệt độ cao hoặc lệnh thử T. Bụi cao, độ ẩm cao và lỗi cảm biến được thông báo trên web và Telegram, nhưng không tự tạo yêu cầu relay. Gas và bụi vẫn là số đếm ADC tương đối, chưa quy đổi thành ppm hoặc µg/m³.</a:t>
            </a:r>
          </a:p>
          <a:p>
            <a:endParaRPr/>
          </a:p>
          <a:p>
            <a:r>
              <a:t>Báo cáo được cập nhật theo thư mục AirMonitor_ESP32S3_BUI1500_180s. MQ-2 chờ làm nóng 180 giây; mỗi lượt đọc dùng 8 mẫu gas và 4 xung bụi, hiệu chỉnh dùng 20 lượt gas và 15 lượt bụi. Báo cáo trình bày phần cứng, phần mềm mạng, cách vận hành và kiểm thử, đồng thời phân biệt quan sát thực tế với những phép thử chưa hoàn tất.</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Nội dung báo cáo</a:t>
            </a:r>
          </a:p>
          <a:p>
            <a:endParaRPr/>
          </a:p>
          <a:p>
            <a:r>
              <a:t>TÓM TẮT</a:t>
            </a:r>
          </a:p>
          <a:p>
            <a:endParaRPr/>
          </a:p>
          <a:p>
            <a:r>
              <a:t>Đồ án xây dựng mô hình giám sát không khí sử dụng ESP32-S3, MQ-2, cảm biến bụi quang và DHT22. Phiên bản cập nhật giữ LCD 1602 và Serial, đồng thời bổ sung dashboard web qua Wi-Fi, giao diện localhost trên laptop và thông báo tự động bằng bot Telegram. Dữ liệu được lấy trung bình, lọc số và kiểm tra tính hợp lệ trước khi hiển thị.</a:t>
            </a:r>
          </a:p>
          <a:p>
            <a:endParaRPr/>
          </a:p>
          <a:p>
            <a:r>
              <a:t>Chương trình áp dụng hai ngưỡng bật/tắt và thời gian xác nhận để hạn chế dao động trạng thái. Relay điều khiển đồng thời quạt và còi khi có cảnh báo gas, nhiệt độ cao hoặc lệnh thử T. Bụi cao, độ ẩm cao và lỗi cảm biến được thông báo trên web và Telegram, nhưng không tự tạo yêu cầu relay. Gas và bụi vẫn là số đếm ADC tương đối, chưa quy đổi thành ppm hoặc µg/m³.</a:t>
            </a:r>
          </a:p>
          <a:p>
            <a:endParaRPr/>
          </a:p>
          <a:p>
            <a:r>
              <a:t>Báo cáo được cập nhật theo thư mục AirMonitor_ESP32S3_BUI1500_180s. MQ-2 chờ làm nóng 180 giây; mỗi lượt đọc dùng 8 mẫu gas và 4 xung bụi, hiệu chỉnh dùng 20 lượt gas và 15 lượt bụi. Báo cáo trình bày phần cứng, phần mềm mạng, cách vận hành và kiểm thử, đồng thời phân biệt quan sát thực tế với những phép thử chưa hoàn tất.</a:t>
            </a:r>
          </a:p>
          <a:p>
            <a:endParaRPr/>
          </a:p>
          <a:p>
            <a:r>
              <a:t>1 TỔNG QUAN ĐỀ TÀI</a:t>
            </a:r>
          </a:p>
          <a:p>
            <a:endParaRPr/>
          </a:p>
          <a:p>
            <a:r>
              <a:t>1.1 Lý do lựa chọn đề tài</a:t>
            </a:r>
          </a:p>
          <a:p>
            <a:endParaRPr/>
          </a:p>
          <a:p>
            <a:r>
              <a:t>Trong không gian sinh hoạt và học tập, nhiệt độ, độ ẩm, bụi và sự xuất hiện của khí dễ cháy là những yếu tố cần được theo dõi. Một mô hình đo tại chỗ giúp người sử dụng quan sát sự thay đổi của môi trường, đồng thời tạo điều kiện thực hành giao tiếp cảm biến, xử lý tín hiệu và điều khiển thiết bị ngoại vi.</a:t>
            </a:r>
          </a:p>
          <a:p>
            <a:endParaRPr/>
          </a:p>
          <a:p>
            <a:r>
              <a:t>Đề tài tập trung vào việc xây dựng một hệ thống nhúng có thể vận hành liên tục, hiển thị rõ trạng thái và phản ứng theo ngưỡng được thiết lập. Phạm vi ứng dụng là mô hình học tập và trình diễn chức năng; việc suy ra chất lượng không khí theo tiêu chuẩn cần có bước hiệu chuẩn và đối chiếu riêng.</a:t>
            </a:r>
          </a:p>
          <a:p>
            <a:endParaRPr/>
          </a:p>
          <a:p>
            <a:r>
              <a:t>1.2 Mục tiêu và yêu cầu</a:t>
            </a:r>
          </a:p>
          <a:p>
            <a:endParaRPr/>
          </a:p>
          <a:p>
            <a:r>
              <a:t>Hệ thống thu thập nhiệt độ, độ ẩm và hai tín hiệu analog; hiển thị LCD; kiểm tra lỗi; điều khiển quạt, còi theo điều kiện đã định. Web cập nhật gần thời gian thực để xem số đo, biểu đồ, ngưỡng và trạng thái trên điện thoại/laptop. Telegram gửi thông báo khi trạng thái cảnh báo thay đổi và khi hết cảnh báo. Serial hỗ trợ chẩn đoán, thử relay và thử Telegram mà không cần tạo khí thử.</a:t>
            </a:r>
          </a:p>
          <a:p>
            <a:endParaRPr/>
          </a:p>
          <a:p>
            <a:r>
              <a:t>1.3 Sơ đồ khối hệ thống</a:t>
            </a:r>
          </a:p>
          <a:p>
            <a:endParaRPr/>
          </a:p>
          <a:p>
            <a:r>
              <a:t>Hình 1 Sơ đồ khối hệ thống sau khi tích hợp web và Telegram</a:t>
            </a:r>
          </a:p>
          <a:p>
            <a:endParaRPr/>
          </a:p>
          <a:p>
            <a:r>
              <a:t>ESP32-S3 nhận hai ngõ analog qua mạch chia áp và dữ liệu số từ DHT22. Bộ xử lý cập nhật LCD qua I2C, điều khiển relay qua GPIO6 và xuất chẩn đoán qua Serial. Qua Wi-Fi, ESP32 phục vụ web nội bộ và gửi Telegram qua Internet. Laptop chạy máy chủ localhost để chuyển tiếp dashboard và API từ ESP32; đường localhost hiện dùng Wi-Fi, không chiếm cổng USB Serial.</a:t>
            </a:r>
          </a:p>
          <a:p>
            <a:endParaRPr/>
          </a:p>
          <a:p>
            <a:r>
              <a:t>1.4 Phạm vi của phiên bản hiện tại</a:t>
            </a:r>
          </a:p>
          <a:p>
            <a:endParaRPr/>
          </a:p>
          <a:p>
            <a:r>
              <a:t>Phiên bản hiện tại có Wi-Fi AP+STA, web HTTP nội bộ, API JSON, đồng bộ giờ NTP và Telegram qua HTTPS. Dashboard có biểu đồ tối đa 5 phút và nhật ký 30 sự kiện trong phiên mở trang; lịch sử này mất khi tải lại hoặc đóng trang. Chưa ghi lịch sử bền vững vào Flash/thẻ nhớ, chưa có RTC riêng và chưa tính AQI. Bot hiện thực hiện thông báo tự động, chưa xử lý hội thoại hay lệnh điều khiển từ Telegram.</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Bài toán, mục tiêu và phạm vi</a:t>
            </a:r>
          </a:p>
          <a:p>
            <a:endParaRPr/>
          </a:p>
          <a:p>
            <a:r>
              <a:t>1 TỔNG QUAN ĐỀ TÀI</a:t>
            </a:r>
          </a:p>
          <a:p>
            <a:endParaRPr/>
          </a:p>
          <a:p>
            <a:r>
              <a:t>1.1 Lý do lựa chọn đề tài</a:t>
            </a:r>
          </a:p>
          <a:p>
            <a:endParaRPr/>
          </a:p>
          <a:p>
            <a:r>
              <a:t>Trong không gian sinh hoạt và học tập, nhiệt độ, độ ẩm, bụi và sự xuất hiện của khí dễ cháy là những yếu tố cần được theo dõi. Một mô hình đo tại chỗ giúp người sử dụng quan sát sự thay đổi của môi trường, đồng thời tạo điều kiện thực hành giao tiếp cảm biến, xử lý tín hiệu và điều khiển thiết bị ngoại vi.</a:t>
            </a:r>
          </a:p>
          <a:p>
            <a:endParaRPr/>
          </a:p>
          <a:p>
            <a:r>
              <a:t>Đề tài tập trung vào việc xây dựng một hệ thống nhúng có thể vận hành liên tục, hiển thị rõ trạng thái và phản ứng theo ngưỡng được thiết lập. Phạm vi ứng dụng là mô hình học tập và trình diễn chức năng; việc suy ra chất lượng không khí theo tiêu chuẩn cần có bước hiệu chuẩn và đối chiếu riêng.</a:t>
            </a:r>
          </a:p>
          <a:p>
            <a:endParaRPr/>
          </a:p>
          <a:p>
            <a:r>
              <a:t>1.2 Mục tiêu và yêu cầu</a:t>
            </a:r>
          </a:p>
          <a:p>
            <a:endParaRPr/>
          </a:p>
          <a:p>
            <a:r>
              <a:t>Hệ thống thu thập nhiệt độ, độ ẩm và hai tín hiệu analog; hiển thị LCD; kiểm tra lỗi; điều khiển quạt, còi theo điều kiện đã định. Web cập nhật gần thời gian thực để xem số đo, biểu đồ, ngưỡng và trạng thái trên điện thoại/laptop. Telegram gửi thông báo khi trạng thái cảnh báo thay đổi và khi hết cảnh báo. Serial hỗ trợ chẩn đoán, thử relay và thử Telegram mà không cần tạo khí thử.</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Kiến trúc tổng thể hệ thống</a:t>
            </a:r>
          </a:p>
          <a:p>
            <a:endParaRPr/>
          </a:p>
          <a:p>
            <a:r>
              <a:t>1.3 Sơ đồ khối hệ thống</a:t>
            </a:r>
          </a:p>
          <a:p>
            <a:endParaRPr/>
          </a:p>
          <a:p>
            <a:r>
              <a:t>Hình 1 Sơ đồ khối hệ thống sau khi tích hợp web và Telegram</a:t>
            </a:r>
          </a:p>
          <a:p>
            <a:endParaRPr/>
          </a:p>
          <a:p>
            <a:r>
              <a:t>ESP32-S3 nhận hai ngõ analog qua mạch chia áp và dữ liệu số từ DHT22. Bộ xử lý cập nhật LCD qua I2C, điều khiển relay qua GPIO6 và xuất chẩn đoán qua Serial. Qua Wi-Fi, ESP32 phục vụ web nội bộ và gửi Telegram qua Internet. Laptop chạy máy chủ localhost để chuyển tiếp dashboard và API từ ESP32; đường localhost hiện dùng Wi-Fi, không chiếm cổng USB Serial.</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Phạm vi phiên bản BUI1500_180s</a:t>
            </a:r>
          </a:p>
          <a:p>
            <a:endParaRPr/>
          </a:p>
          <a:p>
            <a:r>
              <a:t>1.4 Phạm vi của phiên bản hiện tại</a:t>
            </a:r>
          </a:p>
          <a:p>
            <a:endParaRPr/>
          </a:p>
          <a:p>
            <a:r>
              <a:t>Phiên bản hiện tại có Wi-Fi AP+STA, web HTTP nội bộ, API JSON, đồng bộ giờ NTP và Telegram qua HTTPS. Dashboard có biểu đồ tối đa 5 phút và nhật ký 30 sự kiện trong phiên mở trang; lịch sử này mất khi tải lại hoặc đóng trang. Chưa ghi lịch sử bền vững vào Flash/thẻ nhớ, chưa có RTC riêng và chưa tính AQI. Bot hiện thực hiện thông báo tự động, chưa xử lý hội thoại hay lệnh điều khiển từ Telegram.</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Bộ điều khiển và cảm biến</a:t>
            </a:r>
          </a:p>
          <a:p>
            <a:endParaRPr/>
          </a:p>
          <a:p>
            <a:r>
              <a:t>2 CƠ SỞ KỸ THUẬT VÀ LINH KIỆN</a:t>
            </a:r>
          </a:p>
          <a:p>
            <a:endParaRPr/>
          </a:p>
          <a:p>
            <a:r>
              <a:t>2.1 Bộ điều khiển và cảm biến</a:t>
            </a:r>
          </a:p>
          <a:p>
            <a:endParaRPr/>
          </a:p>
          <a:p>
            <a:r>
              <a:t>ESP32-S3 đảm nhiệm ADC, GPIO, I2C, USB Serial và kết nối Wi-Fi. ADC được cấu hình 12 bit, tương ứng số nguyên 0–4095 [1]. Dữ liệu ADC phụ thuộc cảm biến, bộ chia áp và đặc tính bộ chuyển đổi nên không dùng trực tiếp như đơn vị nồng độ. Kết nối mạng được triển khai bằng các thư viện của Arduino-ESP32 [10].</a:t>
            </a:r>
          </a:p>
          <a:p>
            <a:endParaRPr/>
          </a:p>
          <a:p>
            <a:r>
              <a:t>MQ-2 phản ứng với khói và một số khí dễ cháy. Mô hình sử dụng ngõ AO của module, so sánh mức tín hiệu với nền trong không khí sạch. MQ-2 không chọn lọc riêng một loại khí; vì vậy dòng chữ CO KHI GAS là trạng thái phát hiện tăng tín hiệu, chưa phải phép nhận dạng hóa học [2].</a:t>
            </a:r>
          </a:p>
          <a:p>
            <a:endParaRPr/>
          </a:p>
          <a:p>
            <a:r>
              <a:t>Trong phương án thiết kế, nhóm ghi cảm biến bụi là GP2Y1014AU0F (ngõ ra analog). Một số thông tin mua linh kiện của nhóm lại ghi GP2Y1010AU0F. Đây là hai mã khác nhau trong cùng họ cảm biến Sharp, vì vậy phải xác nhận mã in trên cảm biến thực tế trước khi chốt tên linh kiện và thông số sai số [3], [9]. ESP32 điều khiển LED phát và lấy mẫu điện áp theo chu kỳ xung.</a:t>
            </a:r>
          </a:p>
          <a:p>
            <a:endParaRPr/>
          </a:p>
          <a:p>
            <a:r>
              <a:t>DHT22 đo nhiệt độ và độ ẩm, giao tiếp bằng giao thức số riêng trên một chân dữ liệu. Chu kỳ đọc 2,5 giây của chương trình phù hợp với yêu cầu không đọc nhanh hơn khoảng 2 giây của loại cảm biến này. Chân dữ liệu cần điện trở kéo lên nếu module chưa có sẵn [4].</a:t>
            </a:r>
          </a:p>
          <a:p>
            <a:endParaRPr/>
          </a:p>
          <a:p>
            <a:r>
              <a:t>2.3 Hình ảnh minh họa linh kiện</a:t>
            </a:r>
          </a:p>
          <a:p>
            <a:endParaRPr/>
          </a:p>
          <a:p>
            <a:r>
              <a:t>Các ảnh dưới minh họa cảm biến, quạt và ba linh kiện được bổ sung vào báo cáo: board ESP32-S3, relay 1 kênh 5 V, LCD 1602 kèm mạch I2C. Ảnh minh họa không thay thế việc đối chiếu mã, chân và điện áp của linh kiện thực tế.</a:t>
            </a:r>
          </a:p>
          <a:p>
            <a:endParaRPr/>
          </a:p>
          <a:p>
            <a:r>
              <a:t>Hình 2 Cảm biến bụi quang và module DHT22</a:t>
            </a:r>
          </a:p>
          <a:p>
            <a:endParaRPr/>
          </a:p>
          <a:p>
            <a:r>
              <a:t>Hình 4 Board phát triển ESP32-S3 minh họa</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Danh mục phần cứng: khối chức năng</a:t>
            </a:r>
          </a:p>
          <a:p>
            <a:endParaRPr/>
          </a:p>
          <a:p>
            <a:r>
              <a:t>2.2 Danh mục phần cứng</a:t>
            </a:r>
          </a:p>
          <a:p>
            <a:endParaRPr/>
          </a:p>
          <a:p>
            <a:r>
              <a:t>Thiết bị | Số lượng | Vai trò</a:t>
            </a:r>
          </a:p>
          <a:p>
            <a:r>
              <a:t>ESP32-S3 DevKit | 1 | Xử lý, điều khiển và phục vụ mạng Wi-Fi</a:t>
            </a:r>
          </a:p>
          <a:p>
            <a:r>
              <a:t>Module MQ-2 | 1 | Theo dõi biến thiên tín hiệu gas</a:t>
            </a:r>
          </a:p>
          <a:p>
            <a:r>
              <a:t>GP2Y1014AU0F và cáp | 1 | Theo dõi tín hiệu bụi</a:t>
            </a:r>
          </a:p>
          <a:p>
            <a:r>
              <a:t>DHT22 hoặc AM2302 | 1 | Đo nhiệt độ và độ ẩm</a:t>
            </a:r>
          </a:p>
          <a:p>
            <a:r>
              <a:t>LCD 1602 kèm I2C | 1 | Hiển thị 2 dòng, mỗi dòng 16 ký tự</a:t>
            </a:r>
          </a:p>
          <a:p>
            <a:r>
              <a:t>Relay 1 kênh 5 V | 1 | Đóng cắt nguồn tải</a:t>
            </a:r>
          </a:p>
          <a:p>
            <a:r>
              <a:t>Quạt DC 4 × 4 cm và còi active 5 V | Mỗi loại 1 | Thông gió và cảnh báo âm thanh</a:t>
            </a:r>
          </a:p>
          <a:p>
            <a:r>
              <a:t>Điện trở chia áp 2,2 kΩ | 4 | Hai bộ chia áp cho hai ngõ analog</a:t>
            </a:r>
          </a:p>
          <a:p>
            <a:r>
              <a:t>Điện trở và tụ LED bụi | 1 bộ | Theo mạch ứng dụng của cảm biến</a:t>
            </a:r>
          </a:p>
          <a:p>
            <a:r>
              <a:t>Breadboard, dây và nguồn | 1 bộ | Lắp ráp và cấp nguồn cho mô hình</a:t>
            </a:r>
          </a:p>
          <a:p>
            <a:r>
              <a:t>Router/hotspot Wi-Fi 2,4 GHz | 1 mạng | Hạ tầng mạng; cần Internet để gửi Telegram</a:t>
            </a:r>
          </a:p>
          <a:p>
            <a:r>
              <a:t>Laptop và điện thoại | Theo nhu cầu | Mở dashboard; laptop chạy localhost nếu sử dụng</a:t>
            </a:r>
          </a:p>
          <a:p>
            <a:endParaRPr/>
          </a:p>
          <a:p>
            <a:r>
              <a:t>LCD được khai báo địa chỉ I2C 0x27. Còi active có bộ tạo âm tích hợp, nên được cấp nguồn khi relay đóng; chương trình hiện tại không tạo âm PWM và không có chân điều khiển còi độc lập.</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Danh mục phần cứng: tải và phụ trợ</a:t>
            </a:r>
          </a:p>
          <a:p>
            <a:endParaRPr/>
          </a:p>
          <a:p>
            <a:r>
              <a:t>2.2 Danh mục phần cứng</a:t>
            </a:r>
          </a:p>
          <a:p>
            <a:endParaRPr/>
          </a:p>
          <a:p>
            <a:r>
              <a:t>Thiết bị | Số lượng | Vai trò</a:t>
            </a:r>
          </a:p>
          <a:p>
            <a:r>
              <a:t>ESP32-S3 DevKit | 1 | Xử lý, điều khiển và phục vụ mạng Wi-Fi</a:t>
            </a:r>
          </a:p>
          <a:p>
            <a:r>
              <a:t>Module MQ-2 | 1 | Theo dõi biến thiên tín hiệu gas</a:t>
            </a:r>
          </a:p>
          <a:p>
            <a:r>
              <a:t>GP2Y1014AU0F và cáp | 1 | Theo dõi tín hiệu bụi</a:t>
            </a:r>
          </a:p>
          <a:p>
            <a:r>
              <a:t>DHT22 hoặc AM2302 | 1 | Đo nhiệt độ và độ ẩm</a:t>
            </a:r>
          </a:p>
          <a:p>
            <a:r>
              <a:t>LCD 1602 kèm I2C | 1 | Hiển thị 2 dòng, mỗi dòng 16 ký tự</a:t>
            </a:r>
          </a:p>
          <a:p>
            <a:r>
              <a:t>Relay 1 kênh 5 V | 1 | Đóng cắt nguồn tải</a:t>
            </a:r>
          </a:p>
          <a:p>
            <a:r>
              <a:t>Quạt DC 4 × 4 cm và còi active 5 V | Mỗi loại 1 | Thông gió và cảnh báo âm thanh</a:t>
            </a:r>
          </a:p>
          <a:p>
            <a:r>
              <a:t>Điện trở chia áp 2,2 kΩ | 4 | Hai bộ chia áp cho hai ngõ analog</a:t>
            </a:r>
          </a:p>
          <a:p>
            <a:r>
              <a:t>Điện trở và tụ LED bụi | 1 bộ | Theo mạch ứng dụng của cảm biến</a:t>
            </a:r>
          </a:p>
          <a:p>
            <a:r>
              <a:t>Breadboard, dây và nguồn | 1 bộ | Lắp ráp và cấp nguồn cho mô hình</a:t>
            </a:r>
          </a:p>
          <a:p>
            <a:r>
              <a:t>Router/hotspot Wi-Fi 2,4 GHz | 1 mạng | Hạ tầng mạng; cần Internet để gửi Telegram</a:t>
            </a:r>
          </a:p>
          <a:p>
            <a:r>
              <a:t>Laptop và điện thoại | Theo nhu cầu | Mở dashboard; laptop chạy localhost nếu sử dụng</a:t>
            </a:r>
          </a:p>
          <a:p>
            <a:endParaRPr/>
          </a:p>
          <a:p>
            <a:r>
              <a:t>LCD được khai báo địa chỉ I2C 0x27. Còi active có bộ tạo âm tích hợp, nên được cấp nguồn khi relay đóng; chương trình hiện tại không tạo âm PWM và không có chân điều khiển còi độc lập.</a:t>
            </a:r>
          </a:p>
          <a:p>
            <a:endParaRPr/>
          </a:p>
          <a:p>
            <a:r>
              <a:t>Hình 3 Quạt DC kích thước khung 4 × 4 cm</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Phân bổ chân ESP32-S3</a:t>
            </a:r>
          </a:p>
          <a:p>
            <a:endParaRPr/>
          </a:p>
          <a:p>
            <a:r>
              <a:t>Relay trong ảnh có lựa chọn mức kích HIGH/LOW. Cấu hình đang dùng trong chương trình là HIGH bật và LOW tắt; vị trí jumper và đấu nối thực tế phải tương ứng với cấu hình này.</a:t>
            </a:r>
          </a:p>
          <a:p>
            <a:endParaRPr/>
          </a:p>
          <a:p>
            <a:r>
              <a:t>3 THIẾT KẾ PHẦN CỨNG VÀ KẾT NỐI</a:t>
            </a:r>
          </a:p>
          <a:p>
            <a:endParaRPr/>
          </a:p>
          <a:p>
            <a:r>
              <a:t>3.1 Phân bổ chân theo mã nguồn</a:t>
            </a:r>
          </a:p>
          <a:p>
            <a:endParaRPr/>
          </a:p>
          <a:p>
            <a:r>
              <a:t>Khối hoặc tín hiệu | Chân ESP32-S3 | Đấu nối</a:t>
            </a:r>
          </a:p>
          <a:p>
            <a:r>
              <a:t>DHT22 DATA | GPIO4 | VCC 3,3 V, GND chung; DATA kéo lên 3,3 V</a:t>
            </a:r>
          </a:p>
          <a:p>
            <a:r>
              <a:t>MQ-2 AO | GPIO2 | Qua bộ chia áp 2,2 kΩ và 2,2 kΩ</a:t>
            </a:r>
          </a:p>
          <a:p>
            <a:r>
              <a:t>GP2Y Vo | GPIO1 | Qua bộ chia áp 2,2 kΩ và 2,2 kΩ</a:t>
            </a:r>
          </a:p>
          <a:p>
            <a:r>
              <a:t>GP2Y LED | GPIO7 | Chân điều khiển LED, tác động mức LOW</a:t>
            </a:r>
          </a:p>
          <a:p>
            <a:r>
              <a:t>Relay IN | GPIO6 | HIGH bật, LOW tắt theo cấu hình code</a:t>
            </a:r>
          </a:p>
          <a:p>
            <a:r>
              <a:t>LCD SDA | GPIO8 | Đường dữ liệu I2C</a:t>
            </a:r>
          </a:p>
          <a:p>
            <a:r>
              <a:t>LCD SCL | GPIO9 | Đường xung I2C</a:t>
            </a:r>
          </a:p>
          <a:p>
            <a:r>
              <a:t>Còi và quạt | Không có GPIO riêng | Mắc song song ở phía tải qua tiếp điểm relay</a:t>
            </a:r>
          </a:p>
          <a:p>
            <a:endParaRPr/>
          </a:p>
          <a:p>
            <a:r>
              <a:t>Hình 7 Khai báo chân GPIO, mức kích relay và ngưỡng nhiệt độ, độ ẩm</a:t>
            </a:r>
          </a:p>
          <a:p>
            <a:endParaRPr/>
          </a:p>
          <a:p>
            <a:r>
              <a:t>3.4 Cấu hình mạch thống nhất với chương trình</a:t>
            </a:r>
          </a:p>
          <a:p>
            <a:endParaRPr/>
          </a:p>
          <a:p>
            <a:r>
              <a:t>GPIO5 không sử dụng. Quạt và còi dùng chung relay; LCD cấp 3,3 V. ESP32-S3 cấp nguồn bằng USB-C; các khối 5 V dùng nguồn riêng với GND chung. Không lấy 5 V từ chân ESP32 chưa kiểm chứng. Sơ đồ sau mô tả chân chức năng.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Mạch analog và cấp nguồn</a:t>
            </a:r>
          </a:p>
          <a:p>
            <a:endParaRPr/>
          </a:p>
          <a:p>
            <a:r>
              <a:t>3.2 Mạch analog và nguồn</a:t>
            </a:r>
          </a:p>
          <a:p>
            <a:endParaRPr/>
          </a:p>
          <a:p>
            <a:r>
              <a:t>Mỗi ngõ AO hoặc Vo đi qua một điện trở 2,2 kΩ nối tiếp đến nút ADC; từ nút này đặt điện trở 2,2 kΩ xuống GND. Với hai điện trở bằng nhau, điện áp tại nút ADC bằng một nửa điện áp ngõ ra cảm biến. Ví dụ tín hiệu 5 V tạo khoảng 2,5 V tại ADC theo bộ chia lý tưởng. Tất cả GND của ESP32, cảm biến và nguồn tải phải có điểm tham chiếu chung.</a:t>
            </a:r>
          </a:p>
          <a:p>
            <a:endParaRPr/>
          </a:p>
          <a:p>
            <a:r>
              <a:t>MQ-2, cảm biến bụi và relay/tải cần nguồn 5 V ổn định, GND nối chung với ESP32-S3. Mạch LED bụi dùng điện trở 150 Ω và tụ 220 µF theo mạch tham khảo [3]; trong quá trình thử, nhóm đã đề cập điện trở 180 Ω nên cần đối chiếu giá trị đang lắp và ảnh hưởng tới độ nhạy. Chân 2 (LED-GND) và 4 (S-GND) nối GND, chân 3 (LED) nối GPIO7. Phải xác nhận chân 1 V-LED trên giắc, không chỉ dựa vào màu dây.</a:t>
            </a:r>
          </a:p>
          <a:p>
            <a:endParaRPr/>
          </a:p>
          <a:p>
            <a:r>
              <a:t>3.4 Cấu hình mạch thống nhất với chương trình</a:t>
            </a:r>
          </a:p>
          <a:p>
            <a:endParaRPr/>
          </a:p>
          <a:p>
            <a:r>
              <a:t>GPIO5 không sử dụng. Quạt và còi dùng chung relay; LCD cấp 3,3 V. ESP32-S3 cấp nguồn bằng USB-C; các khối 5 V dùng nguồn riêng với GND chung. Không lấy 5 V từ chân ESP32 chưa kiểm chứng. Sơ đồ sau mô tả chân chức năng.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LCD và tải qua relay</a:t>
            </a:r>
          </a:p>
          <a:p>
            <a:endParaRPr/>
          </a:p>
          <a:p>
            <a:r>
              <a:t>LCD được khai báo địa chỉ I2C 0x27. Còi active có bộ tạo âm tích hợp, nên được cấp nguồn khi relay đóng; chương trình hiện tại không tạo âm PWM và không có chân điều khiển còi độc lập.</a:t>
            </a:r>
          </a:p>
          <a:p>
            <a:endParaRPr/>
          </a:p>
          <a:p>
            <a:r>
              <a:t>2.3 Hình ảnh minh họa linh kiện</a:t>
            </a:r>
          </a:p>
          <a:p>
            <a:endParaRPr/>
          </a:p>
          <a:p>
            <a:r>
              <a:t>Các ảnh dưới minh họa cảm biến, quạt và ba linh kiện được bổ sung vào báo cáo: board ESP32-S3, relay 1 kênh 5 V, LCD 1602 kèm mạch I2C. Ảnh minh họa không thay thế việc đối chiếu mã, chân và điện áp của linh kiện thực tế.</a:t>
            </a:r>
          </a:p>
          <a:p>
            <a:endParaRPr/>
          </a:p>
          <a:p>
            <a:r>
              <a:t>Hình 2 Cảm biến bụi quang và module DHT22</a:t>
            </a:r>
          </a:p>
          <a:p>
            <a:endParaRPr/>
          </a:p>
          <a:p>
            <a:r>
              <a:t>Hình 3 Quạt DC kích thước khung 4 × 4 cm</a:t>
            </a:r>
          </a:p>
          <a:p>
            <a:endParaRPr/>
          </a:p>
          <a:p>
            <a:r>
              <a:t>Hình 4 Board phát triển ESP32-S3 minh họa</a:t>
            </a:r>
          </a:p>
          <a:p>
            <a:endParaRPr/>
          </a:p>
          <a:p>
            <a:r>
              <a:t>Hình 5 Module relay 1 kênh 5 V có jumper chọn mức kích</a:t>
            </a:r>
          </a:p>
          <a:p>
            <a:endParaRPr/>
          </a:p>
          <a:p>
            <a:r>
              <a:t>Hình 6 LCD 1602 và mạch chuyển giao tiếp I2C</a:t>
            </a:r>
          </a:p>
          <a:p>
            <a:endParaRPr/>
          </a:p>
          <a:p>
            <a:r>
              <a:t>Relay trong ảnh có lựa chọn mức kích HIGH/LOW. Cấu hình đang dùng trong chương trình là HIGH bật và LOW tắt; vị trí jumper và đấu nối thực tế phải tương ứng với cấu hình này.</a:t>
            </a:r>
          </a:p>
          <a:p>
            <a:endParaRPr/>
          </a:p>
          <a:p>
            <a:r>
              <a:t>3.3 Cấu hình LCD và tải relay</a:t>
            </a:r>
          </a:p>
          <a:p>
            <a:endParaRPr/>
          </a:p>
          <a:p>
            <a:r>
              <a:t>Chú thích mã nguồn sử dụng LCD I2C ở nguồn 3,3 V. Đây là cấu hình cần kiểm tra khả năng hoạt động thực tế của module, đặc biệt độ tương phản. Nếu cấp LCD ở 5 V, phải kiểm tra điện áp kéo lên SDA/SCL và dùng chuyển mức phù hợp để phía ESP32 vẫn ở mức logic 3,3 V.</a:t>
            </a:r>
          </a:p>
          <a:p>
            <a:endParaRPr/>
          </a:p>
          <a:p>
            <a:r>
              <a:t>Đấu tải theo chú thích code: COM nhận +5 V; NO nối cực dương quạt và còi; cực âm hai tải nối GND. Chân NC không sử dụng. Relay chỉ đóng cắt nguồn tải; cần chọn nguồn đáp ứng dòng quạt, còi và các cảm biến khi cùng hoạt động.</a:t>
            </a:r>
          </a:p>
          <a:p>
            <a:endParaRPr/>
          </a:p>
          <a:p>
            <a:r>
              <a:t>3.4 Cấu hình mạch thống nhất với chương trình</a:t>
            </a:r>
          </a:p>
          <a:p>
            <a:endParaRPr/>
          </a:p>
          <a:p>
            <a:r>
              <a:t>GPIO5 không sử dụng. Quạt và còi dùng chung relay; LCD cấp 3,3 V. ESP32-S3 cấp nguồn bằng USB-C; các khối 5 V dùng nguồn riêng với GND chung. Không lấy 5 V từ chân ESP32 chưa kiểm chứng. Sơ đồ sau mô tả chân chức năng.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Sơ đồ đấu nối theo mã nguồn</a:t>
            </a:r>
          </a:p>
          <a:p>
            <a:endParaRPr/>
          </a:p>
          <a:p>
            <a:r>
              <a:t>3.4 Cấu hình mạch thống nhất với chương trình</a:t>
            </a:r>
          </a:p>
          <a:p>
            <a:endParaRPr/>
          </a:p>
          <a:p>
            <a:r>
              <a:t>GPIO5 không sử dụng. Quạt và còi dùng chung relay; LCD cấp 3,3 V. ESP32-S3 cấp nguồn bằng USB-C; các khối 5 V dùng nguồn riêng với GND chung. Không lấy 5 V từ chân ESP32 chưa kiểm chứng. Sơ đồ sau mô tả chân chức năng.</a:t>
            </a:r>
          </a:p>
          <a:p>
            <a:endParaRPr/>
          </a:p>
          <a:p>
            <a:r>
              <a:t>3.5 Sơ đồ đấu nối theo mã nguồn</a:t>
            </a:r>
          </a:p>
          <a:p>
            <a:endParaRPr/>
          </a:p>
          <a:p>
            <a:r>
              <a:t>Các nhãn dây trùng tên nối cùng net. Sơ đồ biểu diễn chân chức năng; tra nhãn GPIO trên board khi lắp mạch.</a:t>
            </a:r>
          </a:p>
          <a:p>
            <a:endParaRPr/>
          </a:p>
          <a:p>
            <a:r>
              <a:t>Hình 8 Sơ đồ kết nối phần cứng theo mã nguồn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Khởi động và lấy nền cảm biến</a:t>
            </a:r>
          </a:p>
          <a:p>
            <a:endParaRPr/>
          </a:p>
          <a:p>
            <a:r>
              <a:t>4 THU THẬP DỮ LIỆU VÀ HIỆU CHỈNH</a:t>
            </a:r>
          </a:p>
          <a:p>
            <a:endParaRPr/>
          </a:p>
          <a:p>
            <a:r>
              <a:t>4.1 Trình tự khởi động</a:t>
            </a:r>
          </a:p>
          <a:p>
            <a:endParaRPr/>
          </a:p>
          <a:p>
            <a:r>
              <a:t>Trong setup(), relay được đặt OFF trước khi chân chuyển sang OUTPUT; chân LED bụi được đặt HIGH. Chương trình mở Serial 115200 baud, đặt ADC 12 bit, khởi tạo DHT22 và LCD. beginAirNetwork() tạo các tác vụ web và Telegram trước khi chờ làm nóng MQ-2, nhờ đó có thể xem tiến trình trên web ngay trong giai đoạn khởi động.</a:t>
            </a:r>
          </a:p>
          <a:p>
            <a:endParaRPr/>
          </a:p>
          <a:p>
            <a:r>
              <a:t>Hình 9 Khởi tạo đầu ra relay, ADC, DHT22 và LCD</a:t>
            </a:r>
          </a:p>
          <a:p>
            <a:endParaRPr/>
          </a:p>
          <a:p>
            <a:r>
              <a:t>MQ-2 chờ 180 giây. Trong thời gian này DHT22 vẫn được đọc, trạng thái được công bố cho web, lệnh N thử Telegram và J lấy JSON vẫn được xử lý. Sau đó chương trình lấy nền gas, nền bụi rồi chuyển sang ready. Tổng thời gian khởi động còn gồm lấy mẫu và hiển thị. DHT chưa có mẫu ngay khi bật nguồn không được coi là lỗi kéo dài; sau 30 giây không có dữ liệu hợp lệ, bản cập nhật phát cảnh báo lỗi DHT cả khi MQ-2 còn làm nóng.</a:t>
            </a:r>
          </a:p>
          <a:p>
            <a:endParaRPr/>
          </a:p>
          <a:p>
            <a:r>
              <a:t>Thời gian chờ 180 giây (3 phút) là cấu hình trình diễn, không tương đương quá trình ổn định cảm biến theo điều kiện kiểm tra của nhà sản xuất. Tài liệu MQ-2 nêu thời gian làm nóng sơ bộ không dưới 48 giờ trong điều kiện thử; cần phân biệt yêu cầu này với bộ đếm khởi động nhanh của mô hình [2].</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Đọc, hiệu chỉnh và lọc gas</a:t>
            </a:r>
          </a:p>
          <a:p>
            <a:endParaRPr/>
          </a:p>
          <a:p>
            <a:r>
              <a:t>4.2 Đọc và xử lý tín hiệu gas</a:t>
            </a:r>
          </a:p>
          <a:p>
            <a:endParaRPr/>
          </a:p>
          <a:p>
            <a:r>
              <a:t>readGas() lấy 8 mẫu ADC, chờ 2 ms sau mỗi mẫu rồi tính trung bình nguyên. calibrateGas() thực hiện 20 lượt đọc để xác định gasBase. Nền hợp lệ trong khoảng 25–3800. So với bản trước dùng 20 mẫu/lượt và 80 lượt hiệu chỉnh, số mẫu đã giảm để rút ngắn thời gian lấy nền; đổi lại độ dao động có thể tăng.</a:t>
            </a:r>
          </a:p>
          <a:p>
            <a:endParaRPr/>
          </a:p>
          <a:p>
            <a:r>
              <a:t>const int GAS_SAMPLES = 8;</a:t>
            </a:r>
          </a:p>
          <a:p>
            <a:r>
              <a:t>const int GAS_CALIBRATION_SAMPLES = 20;</a:t>
            </a:r>
          </a:p>
          <a:p>
            <a:endParaRPr/>
          </a:p>
          <a:p>
            <a:r>
              <a:t>int readGas() {</a:t>
            </a:r>
          </a:p>
          <a:p>
            <a:r>
              <a:t>  long sum = 0;</a:t>
            </a:r>
          </a:p>
          <a:p>
            <a:r>
              <a:t>  for (int i = 0; i &lt; GAS_SAMPLES; ++i) {</a:t>
            </a:r>
          </a:p>
          <a:p>
            <a:r>
              <a:t>    sum += analogRead(PIN_GAS);</a:t>
            </a:r>
          </a:p>
          <a:p>
            <a:r>
              <a:t>    delay(2);</a:t>
            </a:r>
          </a:p>
          <a:p>
            <a:r>
              <a:t>  }</a:t>
            </a:r>
          </a:p>
          <a:p>
            <a:r>
              <a:t>  return (int)(sum / GAS_SAMPLES);</a:t>
            </a:r>
          </a:p>
          <a:p>
            <a:r>
              <a:t>}</a:t>
            </a:r>
          </a:p>
          <a:p>
            <a:endParaRPr/>
          </a:p>
          <a:p>
            <a:r>
              <a:t>Hình 10 Hàm đọc gas với 8 mẫu ADC trong phiên bản cập nhật</a:t>
            </a:r>
          </a:p>
          <a:p>
            <a:endParaRPr/>
          </a:p>
          <a:p>
            <a:r>
              <a:t>Trong quá trình vận hành, mẫu hợp lệ cập nhật bộ lọc: gasAvg mới bằng 0,80 lần gasAvg trước cộng 0,20 lần gasRaw. Cách lọc này giảm dao động nhanh nhưng cũng làm chậm đáp ứng so với tín hiệu tức thời. Ngưỡng gas được xác định tương đối theo mức nền, không phải ngưỡng ppm.</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Lấy mẫu xung và lọc bụi</a:t>
            </a:r>
          </a:p>
          <a:p>
            <a:endParaRPr/>
          </a:p>
          <a:p>
            <a:r>
              <a:t>4.3 Đọc và xử lý tín hiệu bụi</a:t>
            </a:r>
          </a:p>
          <a:p>
            <a:endParaRPr/>
          </a:p>
          <a:p>
            <a:r>
              <a:t>Mỗi xung đo kéo GPIO7 xuống LOW, chờ 280 µs rồi đọc ADC. LED trở lại HIGH sau ít nhất 320 µs tính từ đầu xung; chu kỳ được giữ ít nhất 10 ms. readDust() lấy trung bình 4 xung, mất xấp xỉ 40 ms chưa kể chi phí xử lý, thay cho 8 xung ở bản trước.</a:t>
            </a:r>
          </a:p>
          <a:p>
            <a:endParaRPr/>
          </a:p>
          <a:p>
            <a:r>
              <a:t>calibrateDust() thu 15 kết quả readDust(), tính nền và độ lệch chuẩn mẫu. Nền hợp lệ trong khoảng 40–3800. Bộ lọc dùng dustAvg mới = 0,65 × giá trị trước + 0,35 × dustRaw. Cảnh báo bật khi dustAvg &gt; 1500 liên tục 0,5 giây và xóa khi dustAvg ≤ 1450 liên tục 0,5 giây. Hai ngưỡng cố định không tự thay đổi theo dustBase sau hiệu chỉnh.</a:t>
            </a:r>
          </a:p>
          <a:p>
            <a:endParaRPr/>
          </a:p>
          <a:p>
            <a:r>
              <a:t>const int DUST_SAMPLES = 4;</a:t>
            </a:r>
          </a:p>
          <a:p>
            <a:r>
              <a:t>const int DUST_CALIBRATION_SAMPLES = 15;</a:t>
            </a:r>
          </a:p>
          <a:p>
            <a:endParaRPr/>
          </a:p>
          <a:p>
            <a:r>
              <a:t>int readDustPulse() {</a:t>
            </a:r>
          </a:p>
          <a:p>
            <a:r>
              <a:t>  uint32_t start = micros();</a:t>
            </a:r>
          </a:p>
          <a:p>
            <a:r>
              <a:t>  digitalWrite(PIN_DUST_LED, LOW);</a:t>
            </a:r>
          </a:p>
          <a:p>
            <a:r>
              <a:t>  delayMicroseconds(280);</a:t>
            </a:r>
          </a:p>
          <a:p>
            <a:r>
              <a:t>  int value = analogRead(PIN_DUST);</a:t>
            </a:r>
          </a:p>
          <a:p>
            <a:r>
              <a:t>  while ((uint32_t)(micros() - start) &lt; 320UL) { }</a:t>
            </a:r>
          </a:p>
          <a:p>
            <a:r>
              <a:t>  digitalWrite(PIN_DUST_LED, HIGH);</a:t>
            </a:r>
          </a:p>
          <a:p>
            <a:r>
              <a:t>  while ((uint32_t)(micros() - start) &lt; 10000UL) {</a:t>
            </a:r>
          </a:p>
          <a:p>
            <a:r>
              <a:t>    delayMicroseconds(100);</a:t>
            </a:r>
          </a:p>
          <a:p>
            <a:r>
              <a:t>  }</a:t>
            </a:r>
          </a:p>
          <a:p>
            <a:r>
              <a:t>  return value;</a:t>
            </a:r>
          </a:p>
          <a:p>
            <a:r>
              <a:t>}</a:t>
            </a:r>
          </a:p>
          <a:p>
            <a:endParaRPr/>
          </a:p>
          <a:p>
            <a:r>
              <a:t>int readDust() {</a:t>
            </a:r>
          </a:p>
          <a:p>
            <a:r>
              <a:t>  long sum = 0;</a:t>
            </a:r>
          </a:p>
          <a:p>
            <a:r>
              <a:t>  for (int i = 0; i &lt; DUST_SAMPLES; ++i) sum += readDustPulse();</a:t>
            </a:r>
          </a:p>
          <a:p>
            <a:r>
              <a:t>  return (int)(sum / DUST_SAMPLES);</a:t>
            </a:r>
          </a:p>
          <a:p>
            <a:r>
              <a:t>}</a:t>
            </a:r>
          </a:p>
          <a:p>
            <a:endParaRPr/>
          </a:p>
          <a:p>
            <a:r>
              <a:t>Hình 11 Điều khiển xung LED và lấy trung bình 4 xung đo bụi</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DHT22 và hạn sử dụng dữ liệu</a:t>
            </a:r>
          </a:p>
          <a:p>
            <a:endParaRPr/>
          </a:p>
          <a:p>
            <a:r>
              <a:t>MQ-2 chờ 180 giây. Trong thời gian này DHT22 vẫn được đọc, trạng thái được công bố cho web, lệnh N thử Telegram và J lấy JSON vẫn được xử lý. Sau đó chương trình lấy nền gas, nền bụi rồi chuyển sang ready. Tổng thời gian khởi động còn gồm lấy mẫu và hiển thị. DHT chưa có mẫu ngay khi bật nguồn không được coi là lỗi kéo dài; sau 30 giây không có dữ liệu hợp lệ, bản cập nhật phát cảnh báo lỗi DHT cả khi MQ-2 còn làm nóng.</a:t>
            </a:r>
          </a:p>
          <a:p>
            <a:endParaRPr/>
          </a:p>
          <a:p>
            <a:r>
              <a:t>Thời gian chờ 180 giây (3 phút) là cấu hình trình diễn, không tương đương quá trình ổn định cảm biến theo điều kiện kiểm tra của nhà sản xuất. Tài liệu MQ-2 nêu thời gian làm nóng sơ bộ không dưới 48 giờ trong điều kiện thử; cần phân biệt yêu cầu này với bộ đếm khởi động nhanh của mô hình [2].</a:t>
            </a:r>
          </a:p>
          <a:p>
            <a:endParaRPr/>
          </a:p>
          <a:p>
            <a:r>
              <a:t>4.4 Đọc DHT22 và giữ dữ liệu hợp lệ</a:t>
            </a:r>
          </a:p>
          <a:p>
            <a:endParaRPr/>
          </a:p>
          <a:p>
            <a:r>
              <a:t>DHT22 được hỏi mỗi 2500 ms. Chương trình chấp nhận nhiệt độ lớn hơn −40 °C và nhỏ hơn 80 °C, độ ẩm từ 0 đến 100%, đồng thời loại giá trị NaN. Một lần đọc lỗi không xóa ngay dữ liệu tốt; dữ liệu cũ chỉ bị xem là hết hạn nếu quá 30 giây không có mẫu hợp lệ.</a:t>
            </a:r>
          </a:p>
          <a:p>
            <a:endParaRPr/>
          </a:p>
          <a:p>
            <a:r>
              <a:t>Hình 12 Đọc DHT22, kiểm tra dữ liệu và giữ mẫu hợp lệ gần nhất</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Ngưỡng bật và xóa cảnh báo</a:t>
            </a:r>
          </a:p>
          <a:p>
            <a:endParaRPr/>
          </a:p>
          <a:p>
            <a:r>
              <a:t>5 NGƯỠNG CẢNH BÁO VÀ ĐIỀU KHIỂN</a:t>
            </a:r>
          </a:p>
          <a:p>
            <a:endParaRPr/>
          </a:p>
          <a:p>
            <a:r>
              <a:t>5.1 Ngưỡng bật và ngưỡng tắt</a:t>
            </a:r>
          </a:p>
          <a:p>
            <a:endParaRPr/>
          </a:p>
          <a:p>
            <a:r>
              <a:t>Đại lượng | Điều kiện bật | Điều kiện xóa</a:t>
            </a:r>
          </a:p>
          <a:p>
            <a:r>
              <a:t>Gas | gasAvg ≥ gasOn trong 1,8 s | gasAvg ≤ gasOff trong 5 s</a:t>
            </a:r>
          </a:p>
          <a:p>
            <a:r>
              <a:t>Bụi | dustAvg &gt; 1500 trong 0,5 s | dustAvg ≤ 1450 trong 0,5 s</a:t>
            </a:r>
          </a:p>
          <a:p>
            <a:r>
              <a:t>Nhiệt độ | T ≥ 35 °C, mẫu DHT hợp lệ | T ≤ 33 °C, mẫu DHT hợp lệ</a:t>
            </a:r>
          </a:p>
          <a:p>
            <a:r>
              <a:t>Độ ẩm | H ≥ 80%, mẫu DHT hợp lệ | H ≤ 76%, mẫu DHT hợp lệ</a:t>
            </a:r>
          </a:p>
          <a:p>
            <a:endParaRPr/>
          </a:p>
          <a:p>
            <a:r>
              <a:t>Ngưỡng gasOn được tính bằng gasBase cộng mức lớn hơn giữa 30% gasBase và 250. Ngưỡng gasOff bằng gasBase cộng mức lớn hơn giữa 12% gasBase và 120. Hai ngưỡng được giới hạn trong miền ADC; nếu cần, ngưỡng tắt được hạ thấp để luôn nhỏ hơn ngưỡng bật.</a:t>
            </a:r>
          </a:p>
          <a:p>
            <a:endParaRPr/>
          </a:p>
          <a:p>
            <a:r>
              <a:t>Ví dụ tính toán: khi gasBase bằng 1000, ngưỡng bật là 1300 và ngưỡng tắt là 1120. Đây là ví dụ diễn giải công thức, không phải số liệu đo. Hysteresis giúp giữ trạng thái khi tín hiệu nằm giữa hai ngưỡng, còn thời gian xác nhận loại bớt các lần vượt ngưỡng ngắn.</a:t>
            </a:r>
          </a:p>
          <a:p>
            <a:endParaRPr/>
          </a:p>
          <a:p>
            <a:r>
              <a:t>Hình 13 Tính ngưỡng bật và tắt gas dựa trên nền đo</a:t>
            </a:r>
          </a:p>
          <a:p>
            <a:endParaRPr/>
          </a:p>
          <a:p>
            <a:r>
              <a:t>const int DUST_THRESHOLD_ON = 1500;</a:t>
            </a:r>
          </a:p>
          <a:p>
            <a:r>
              <a:t>const int DUST_THRESHOLD_OFF = 1450;</a:t>
            </a:r>
          </a:p>
          <a:p>
            <a:r>
              <a:t>const uint32_t GAS_ON_DELAY = 1800UL;</a:t>
            </a:r>
          </a:p>
          <a:p>
            <a:r>
              <a:t>const uint32_t GAS_OFF_DELAY = 5000UL;</a:t>
            </a:r>
          </a:p>
          <a:p>
            <a:r>
              <a:t>const uint32_t DUST_ON_DELAY = 500UL;</a:t>
            </a:r>
          </a:p>
          <a:p>
            <a:r>
              <a:t>const uint32_t DUST_OFF_DELAY = 500UL;</a:t>
            </a:r>
          </a:p>
          <a:p>
            <a:endParaRPr/>
          </a:p>
          <a:p>
            <a:r>
              <a:t>Hình 14 Ngưỡng bụi cố định và thời gian xác nhận cảnh báo</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Công thức ngưỡng gas theo nền</a:t>
            </a:r>
          </a:p>
          <a:p>
            <a:endParaRPr/>
          </a:p>
          <a:p>
            <a:r>
              <a:t>Ngưỡng gasOn được tính bằng gasBase cộng mức lớn hơn giữa 30% gasBase và 250. Ngưỡng gasOff bằng gasBase cộng mức lớn hơn giữa 12% gasBase và 120. Hai ngưỡng được giới hạn trong miền ADC; nếu cần, ngưỡng tắt được hạ thấp để luôn nhỏ hơn ngưỡng bật.</a:t>
            </a:r>
          </a:p>
          <a:p>
            <a:endParaRPr/>
          </a:p>
          <a:p>
            <a:r>
              <a:t>Ví dụ tính toán: khi gasBase bằng 1000, ngưỡng bật là 1300 và ngưỡng tắt là 1120. Đây là ví dụ diễn giải công thức, không phải số liệu đo. Hysteresis giúp giữ trạng thái khi tín hiệu nằm giữa hai ngưỡng, còn thời gian xác nhận loại bớt các lần vượt ngưỡng ngắn.</a:t>
            </a:r>
          </a:p>
          <a:p>
            <a:endParaRPr/>
          </a:p>
          <a:p>
            <a:r>
              <a:t>Hình 13 Tính ngưỡng bật và tắt gas dựa trên nền đo</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Logic relay và bài thử T</a:t>
            </a:r>
          </a:p>
          <a:p>
            <a:endParaRPr/>
          </a:p>
          <a:p>
            <a:r>
              <a:t>5.2 Logic relay và còi</a:t>
            </a:r>
          </a:p>
          <a:p>
            <a:endParaRPr/>
          </a:p>
          <a:p>
            <a:r>
              <a:t>relayRequested = gasDanger || tempDanger || testRelayActive;</a:t>
            </a:r>
          </a:p>
          <a:p>
            <a:endParaRPr/>
          </a:p>
          <a:p>
            <a:r>
              <a:t>Khi có yêu cầu, relay bật và ghi thời điểm bắt đầu. Khi yêu cầu không còn, relay chỉ tắt nếu đã qua ít nhất 10 giây kể từ lần bật. Như vậy đây là thời gian bật tối thiểu tính từ lúc kích, không phải luôn chờ thêm 10 giây sau khi cảnh báo đã hết.</a:t>
            </a:r>
          </a:p>
          <a:p>
            <a:endParaRPr/>
          </a:p>
          <a:p>
            <a:r>
              <a:t>Bụi cao và độ ẩm cao không trực tiếp tạo yêu cầu relay. Nếu quạt và còi cùng được mắc qua tiếp điểm NO, cả hai cùng bật hoặc tắt theo relay. Lệnh T tạo yêu cầu kiểm tra trong khoảng 10 giây; một cảnh báo gas hoặc nhiệt độ có thể làm thời gian hoạt động kéo dài hơn bài kiểm tra.</a:t>
            </a:r>
          </a:p>
          <a:p>
            <a:endParaRPr/>
          </a:p>
          <a:p>
            <a:r>
              <a:t>Hình 15 Yêu cầu relay và thời gian bật tối thiểu 10 giây</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LCD và thứ tự ưu tiên trạng thái</a:t>
            </a:r>
          </a:p>
          <a:p>
            <a:endParaRPr/>
          </a:p>
          <a:p>
            <a:r>
              <a:t>5.3 Hiển thị trạng thái và thứ tự ưu tiên</a:t>
            </a:r>
          </a:p>
          <a:p>
            <a:endParaRPr/>
          </a:p>
          <a:p>
            <a:r>
              <a:t>qualityText() ưu tiên: thử relay khi không có cảnh báo gas/nhiệt độ; gas cao; nhiệt độ cao; lỗi MQ-2; lỗi bụi; lỗi DHT22; bụi cao; độ ẩm cao; trong lành; bình thường. LCD chỉ hiển thị một thông báo ưu tiên. Web và Telegram dùng mặt nạ cảnh báo gồm nhiều bit nên có thể thể hiện đồng thời nhiều vấn đề.</a:t>
            </a:r>
          </a:p>
          <a:p>
            <a:endParaRPr/>
          </a:p>
          <a:p>
            <a:r>
              <a:t>TRONG LANH chỉ xuất hiện khi nhiệt độ trong 21–32 °C, độ ẩm 40–70%, dustAvg không vượt dustBase + 30 sau giới hạn ADC, và gasAvg không vượt gasOff. Đây là quy tắc hiển thị của mô hình, không phải chứng nhận không khí đạt chuẩn môi trường.</a:t>
            </a:r>
          </a:p>
          <a:p>
            <a:endParaRPr/>
          </a:p>
          <a:p>
            <a:r>
              <a:t>Hình 16 Thứ tự ưu tiên thông báo trong hàm qualityText</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hàm đo và xác nhận dữ liệu</a:t>
            </a:r>
          </a:p>
          <a:p>
            <a:endParaRPr/>
          </a:p>
          <a:p>
            <a:r>
              <a:t>6 TỔ CHỨC PHẦN MỀM VÀ THỜI GIAN THỰC</a:t>
            </a:r>
          </a:p>
          <a:p>
            <a:endParaRPr/>
          </a:p>
          <a:p>
            <a:r>
              <a:t>6.1 Cấu trúc chương trình</a:t>
            </a:r>
          </a:p>
          <a:p>
            <a:endParaRPr/>
          </a:p>
          <a:p>
            <a:r>
              <a:t>Nhóm hàm | Nhiệm vụ chính</a:t>
            </a:r>
          </a:p>
          <a:p>
            <a:r>
              <a:t>setup và loop | Khởi tạo và điều phối các bước xử lý</a:t>
            </a:r>
          </a:p>
          <a:p>
            <a:r>
              <a:t>readGas và readDustPulse | Đọc ADC gas và điều khiển xung cảm biến bụi</a:t>
            </a:r>
          </a:p>
          <a:p>
            <a:r>
              <a:t>calibrateGas và calibrateDust | Xác định nền và kiểm tra điều kiện hiệu chỉnh</a:t>
            </a:r>
          </a:p>
          <a:p>
            <a:r>
              <a:t>pollDHT và dhtOK | Đọc DHT và kiểm tra hạn sử dụng của dữ liệu</a:t>
            </a:r>
          </a:p>
          <a:p>
            <a:r>
              <a:t>updateGasHealth và updateDustHealth | Nhận biết tín hiệu sát biên và cập nhật lọc</a:t>
            </a:r>
          </a:p>
          <a:p>
            <a:r>
              <a:t>updateFlag | Xác nhận điều kiện bật hoặc xóa theo thời gian</a:t>
            </a:r>
          </a:p>
          <a:p>
            <a:r>
              <a:t>qualityText và updateLCD | Chọn thông báo và luân phiên trang dữ liệu</a:t>
            </a:r>
          </a:p>
          <a:p>
            <a:r>
              <a:t>handleSerialCommand và setRelay | Nhận lệnh kiểm tra và điều khiển đầu ra</a:t>
            </a:r>
          </a:p>
          <a:p>
            <a:r>
              <a:t>publishAirSnapshot | Công bố bản chụp dữ liệu; bảo vệ sao chép bằng vùng khóa ngắn</a:t>
            </a:r>
          </a:p>
          <a:p>
            <a:r>
              <a:t>webTask và statusJson | Phục vụ dashboard/API và cập nhật kết nối Wi-Fi</a:t>
            </a:r>
          </a:p>
          <a:p>
            <a:r>
              <a:t>telegramTask và NotificationPolicy | Gửi HTTPS theo thay đổi cảnh báo, nhắc và thử lại</a:t>
            </a:r>
          </a:p>
          <a:p>
            <a:r>
              <a:t>localhost_server.py | Chuyển tiếp web/API từ ESP32 đến localhost của laptop</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hàm hiển thị và kết nối</a:t>
            </a:r>
          </a:p>
          <a:p>
            <a:endParaRPr/>
          </a:p>
          <a:p>
            <a:r>
              <a:t>6 TỔ CHỨC PHẦN MỀM VÀ THỜI GIAN THỰC</a:t>
            </a:r>
          </a:p>
          <a:p>
            <a:endParaRPr/>
          </a:p>
          <a:p>
            <a:r>
              <a:t>6.1 Cấu trúc chương trình</a:t>
            </a:r>
          </a:p>
          <a:p>
            <a:endParaRPr/>
          </a:p>
          <a:p>
            <a:r>
              <a:t>Nhóm hàm | Nhiệm vụ chính</a:t>
            </a:r>
          </a:p>
          <a:p>
            <a:r>
              <a:t>setup và loop | Khởi tạo và điều phối các bước xử lý</a:t>
            </a:r>
          </a:p>
          <a:p>
            <a:r>
              <a:t>readGas và readDustPulse | Đọc ADC gas và điều khiển xung cảm biến bụi</a:t>
            </a:r>
          </a:p>
          <a:p>
            <a:r>
              <a:t>calibrateGas và calibrateDust | Xác định nền và kiểm tra điều kiện hiệu chỉnh</a:t>
            </a:r>
          </a:p>
          <a:p>
            <a:r>
              <a:t>pollDHT và dhtOK | Đọc DHT và kiểm tra hạn sử dụng của dữ liệu</a:t>
            </a:r>
          </a:p>
          <a:p>
            <a:r>
              <a:t>updateGasHealth và updateDustHealth | Nhận biết tín hiệu sát biên và cập nhật lọc</a:t>
            </a:r>
          </a:p>
          <a:p>
            <a:r>
              <a:t>updateFlag | Xác nhận điều kiện bật hoặc xóa theo thời gian</a:t>
            </a:r>
          </a:p>
          <a:p>
            <a:r>
              <a:t>qualityText và updateLCD | Chọn thông báo và luân phiên trang dữ liệu</a:t>
            </a:r>
          </a:p>
          <a:p>
            <a:r>
              <a:t>handleSerialCommand và setRelay | Nhận lệnh kiểm tra và điều khiển đầu ra</a:t>
            </a:r>
          </a:p>
          <a:p>
            <a:r>
              <a:t>publishAirSnapshot | Công bố bản chụp dữ liệu; bảo vệ sao chép bằng vùng khóa ngắn</a:t>
            </a:r>
          </a:p>
          <a:p>
            <a:r>
              <a:t>webTask và statusJson | Phục vụ dashboard/API và cập nhật kết nối Wi-Fi</a:t>
            </a:r>
          </a:p>
          <a:p>
            <a:r>
              <a:t>telegramTask và NotificationPolicy | Gửi HTTPS theo thay đổi cảnh báo, nhắc và thử lại</a:t>
            </a:r>
          </a:p>
          <a:p>
            <a:r>
              <a:t>localhost_server.py | Chuyển tiếp web/API từ ESP32 đến localhost của laptop</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Luồng đo và tác vụ mạng đồng thời</a:t>
            </a:r>
          </a:p>
          <a:p>
            <a:endParaRPr/>
          </a:p>
          <a:p>
            <a:r>
              <a:t>6.2 Luồng xử lý trong vòng lặp</a:t>
            </a:r>
          </a:p>
          <a:p>
            <a:endParaRPr/>
          </a:p>
          <a:p>
            <a:r>
              <a:t>Vòng lặp cảm biến xử lý Serial, đọc DHT khi đến hạn, kiểm tra bài thử relay, đọc gas/bụi, cập nhật sức khỏe và bộ lọc, xác nhận cảnh báo, quyết định relay, cập nhật LCD/Serial rồi công bố AirSnapshot. Phần đo và điều khiển chạy ở lõi 1 theo cấu hình Arduino đang dùng. Hai tác vụ webTask và telegramTask được ghim vào lõi 0; chỉ dữ liệu cố định trong bản chụp trạng thái được chia sẻ qua vùng khóa ngắn.</a:t>
            </a:r>
          </a:p>
          <a:p>
            <a:endParaRPr/>
          </a:p>
          <a:p>
            <a:r>
              <a:t>6.6 Kết nối mạng và trao đổi trạng thái</a:t>
            </a:r>
          </a:p>
          <a:p>
            <a:endParaRPr/>
          </a:p>
          <a:p>
            <a:r>
              <a:t>ESP32 chạy AP+STA: phát điểm truy cập AirMonitor-xxxx để xem web trực tiếp và đồng thời kết nối Wi-Fi 2,4 GHz có Internet. Điểm AP chỉ phục vụ nội bộ, không tự cung cấp đường Internet cho Telegram. NTP đồng bộ giờ để kiểm tra chứng chỉ TLS bằng bộ CA tích hợp của ESP32 core 3.3.12.</a:t>
            </a:r>
          </a:p>
          <a:p>
            <a:endParaRPr/>
          </a:p>
          <a:p>
            <a:r>
              <a:t>publishAirSnapshot() sao chép một cấu trúc kích thước cố định trong vùng khóa ngắn. Tác vụ mạng đọc bản sao và thực hiện HTTP bên ngoài vùng khóa. Gửi Telegram có giới hạn thời gian kết nối/đọc; mất Wi-Fi không đặt điều kiện dừng đọc cảm biến hoặc đổi lệnh relay. Log NETWORK định kỳ khoảng 15 giây hỗ trợ phân biệt lỗi Wi-Fi, NTP và Telegram.</a:t>
            </a:r>
          </a:p>
          <a:p>
            <a:endParaRPr/>
          </a:p>
          <a:p>
            <a:r>
              <a:t>6.7 Lưu đồ chương trình sau khi mở rộng</a:t>
            </a:r>
          </a:p>
          <a:p>
            <a:endParaRPr/>
          </a:p>
          <a:p>
            <a:r>
              <a:t>Lưu đồ dưới thể hiện hai nhánh xử lý đồng thời. Vòng đo đưa ra quyết định tại thiết bị, còn nhánh mạng chỉ công bố và gửi bản chụp trạng thái. Máy chủ localhost chuyển tiếp dữ liệu từ ESP32 và không thay thế chức năng gửi Telegram.</a:t>
            </a:r>
          </a:p>
          <a:p>
            <a:endParaRPr/>
          </a:p>
          <a:p>
            <a:r>
              <a:t>Hình 17 Lưu đồ đo, điều khiển, web và Telegram</a:t>
            </a:r>
          </a:p>
          <a:p>
            <a:endParaRPr/>
          </a:p>
          <a:p>
            <a:r>
              <a:t>8.3 Thời gian thực và xử lý đồng thời</a:t>
            </a:r>
          </a:p>
          <a:p>
            <a:endParaRPr/>
          </a:p>
          <a:p>
            <a:r>
              <a:t>Đây là mô hình soft real-time. millis() điều phối chu kỳ đo/hiển thị, trong khi FreeRTOS tách phục vụ web và gửi HTTPS khỏi đường điều khiển relay. Tác vụ mạng chỉ đọc bản chụp trạng thái, không trực tiếp thay đổi đầu ra. Việc tách tác vụ giảm ảnh hưởng của chờ mạng, nhưng vẫn cần đo độ trễ và tài nguyên trên phần cứng; các hằng số thời gian không phải cam kết đáp ứng cứng.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Chu kỳ đo, hiển thị và chẩn đoán</a:t>
            </a:r>
          </a:p>
          <a:p>
            <a:endParaRPr/>
          </a:p>
          <a:p>
            <a:r>
              <a:t>6.3 Chu kỳ và độ trễ</a:t>
            </a:r>
          </a:p>
          <a:p>
            <a:endParaRPr/>
          </a:p>
          <a:p>
            <a:r>
              <a:t>Tác vụ | Thông số trong chương trình</a:t>
            </a:r>
          </a:p>
          <a:p>
            <a:r>
              <a:t>Đọc DHT22 | 2500 ms giữa các lần hỏi</a:t>
            </a:r>
          </a:p>
          <a:p>
            <a:r>
              <a:t>Làm mới nội dung LCD | Khoảng 400 ms khi vòng lặp cho phép</a:t>
            </a:r>
          </a:p>
          <a:p>
            <a:r>
              <a:t>Chuyển trang dữ liệu LCD | 2500 ms</a:t>
            </a:r>
          </a:p>
          <a:p>
            <a:r>
              <a:t>Xuất bản tin Serial | Khoảng 1000 ms khi vòng lặp cho phép</a:t>
            </a:r>
          </a:p>
          <a:p>
            <a:r>
              <a:t>Xác nhận analog sát biên | 5000 ms liên tục</a:t>
            </a:r>
          </a:p>
          <a:p>
            <a:r>
              <a:t>Hết hạn dữ liệu DHT22 | 30000 ms không có mẫu tốt</a:t>
            </a:r>
          </a:p>
          <a:p>
            <a:r>
              <a:t>Web gọi API | Khoảng 1000 ms; lỗi hoặc dữ liệu cũ được hiển thị riêng</a:t>
            </a:r>
          </a:p>
          <a:p>
            <a:r>
              <a:t>Đọc gas / bụi | 8 mẫu × 2 ms / 4 xung × ít nhất 10 ms</a:t>
            </a:r>
          </a:p>
          <a:p>
            <a:r>
              <a:t>Giữ relay / thử T | Tối thiểu 10000 ms từ lúc bật / thử khoảng 10000 ms</a:t>
            </a:r>
          </a:p>
          <a:p>
            <a:r>
              <a:t>Nhắc Telegram | 300000 ms nếu cảnh báo vẫn tồn tại</a:t>
            </a:r>
          </a:p>
          <a:p>
            <a:r>
              <a:t>Thử lại gửi tự động | Từ 30000 ms, tăng tới 300000 ms; tôn trọng retry_after</a:t>
            </a:r>
          </a:p>
          <a:p>
            <a:r>
              <a:t>Chẩn đoán mạng | Khoảng 15000 ms giữa các log NETWORK</a:t>
            </a:r>
          </a:p>
          <a:p>
            <a:endParaRPr/>
          </a:p>
          <a:p>
            <a:r>
              <a:t>Các phép đọc vẫn có thời gian chờ chặn: khoảng 8 × 2 = 16 ms cho gas và 4 × 10 = 40 ms cho bụi. Vòng lặp còn delay(25), thao tác DHT và cập nhật hiển thị, nên chu kỳ thực tế lớn hơn tổng 56 ms đọc analog. Riêng phần thu 15 lượt nền bụi mất khoảng 0,6 giây, chưa kể bước đọc bổ sung và chi phí khác. Đây là ước lượng từ mã nguồn, không phải độ trễ đã đo. Giảm mẫu không làm thay đổi bộ đếm làm nóng 180 giây.</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Chu kỳ mạng và thời gian đáp ứng</a:t>
            </a:r>
          </a:p>
          <a:p>
            <a:endParaRPr/>
          </a:p>
          <a:p>
            <a:r>
              <a:t>6.3 Chu kỳ và độ trễ</a:t>
            </a:r>
          </a:p>
          <a:p>
            <a:endParaRPr/>
          </a:p>
          <a:p>
            <a:r>
              <a:t>Tác vụ | Thông số trong chương trình</a:t>
            </a:r>
          </a:p>
          <a:p>
            <a:r>
              <a:t>Đọc DHT22 | 2500 ms giữa các lần hỏi</a:t>
            </a:r>
          </a:p>
          <a:p>
            <a:r>
              <a:t>Làm mới nội dung LCD | Khoảng 400 ms khi vòng lặp cho phép</a:t>
            </a:r>
          </a:p>
          <a:p>
            <a:r>
              <a:t>Chuyển trang dữ liệu LCD | 2500 ms</a:t>
            </a:r>
          </a:p>
          <a:p>
            <a:r>
              <a:t>Xuất bản tin Serial | Khoảng 1000 ms khi vòng lặp cho phép</a:t>
            </a:r>
          </a:p>
          <a:p>
            <a:r>
              <a:t>Xác nhận analog sát biên | 5000 ms liên tục</a:t>
            </a:r>
          </a:p>
          <a:p>
            <a:r>
              <a:t>Hết hạn dữ liệu DHT22 | 30000 ms không có mẫu tốt</a:t>
            </a:r>
          </a:p>
          <a:p>
            <a:r>
              <a:t>Web gọi API | Khoảng 1000 ms; lỗi hoặc dữ liệu cũ được hiển thị riêng</a:t>
            </a:r>
          </a:p>
          <a:p>
            <a:r>
              <a:t>Đọc gas / bụi | 8 mẫu × 2 ms / 4 xung × ít nhất 10 ms</a:t>
            </a:r>
          </a:p>
          <a:p>
            <a:r>
              <a:t>Giữ relay / thử T | Tối thiểu 10000 ms từ lúc bật / thử khoảng 10000 ms</a:t>
            </a:r>
          </a:p>
          <a:p>
            <a:r>
              <a:t>Nhắc Telegram | 300000 ms nếu cảnh báo vẫn tồn tại</a:t>
            </a:r>
          </a:p>
          <a:p>
            <a:r>
              <a:t>Thử lại gửi tự động | Từ 30000 ms, tăng tới 300000 ms; tôn trọng retry_after</a:t>
            </a:r>
          </a:p>
          <a:p>
            <a:r>
              <a:t>Chẩn đoán mạng | Khoảng 15000 ms giữa các log NETWORK</a:t>
            </a:r>
          </a:p>
          <a:p>
            <a:endParaRPr/>
          </a:p>
          <a:p>
            <a:r>
              <a:t>Các phép đọc vẫn có thời gian chờ chặn: khoảng 8 × 2 = 16 ms cho gas và 4 × 10 = 40 ms cho bụi. Vòng lặp còn delay(25), thao tác DHT và cập nhật hiển thị, nên chu kỳ thực tế lớn hơn tổng 56 ms đọc analog. Riêng phần thu 15 lượt nền bụi mất khoảng 0,6 giây, chưa kể bước đọc bổ sung và chi phí khác. Đây là ước lượng từ mã nguồn, không phải độ trễ đã đo. Giảm mẫu không làm thay đổi bộ đếm làm nóng 180 giây.</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Dashboard web theo dõi trạng thái</a:t>
            </a:r>
          </a:p>
          <a:p>
            <a:endParaRPr/>
          </a:p>
          <a:p>
            <a:r>
              <a:t>6.4 Web theo dõi và cảnh báo trên trình duyệt</a:t>
            </a:r>
          </a:p>
          <a:p>
            <a:endParaRPr/>
          </a:p>
          <a:p>
            <a:r>
              <a:t>WebServer của ESP32 phục vụ dashboard tiếng Việt và GET /api/status. Trình duyệt gọi API khoảng mỗi giây để lấy số đo, ngưỡng, relay, sức khỏe cảm biến, giai đoạn warming/calibration/ready và kết quả gửi Telegram. Dữ liệu cảm biến không hợp lệ được trả null thay vì tạo giá trị giả.</a:t>
            </a:r>
          </a:p>
          <a:p>
            <a:endParaRPr/>
          </a:p>
          <a:p>
            <a:r>
              <a:t>Dashboard vẽ bốn biểu đồ trong tối đa 5 phút và giữ 30 sự kiện của phiên mở trang. Khi dữ liệu quá cũ, giao diện báo mất kết nối và không tiếp tục khẳng định trạng thái relay/số đo. Nút Bật âm báo cho phép phát tiếng khi có cảnh báo mới và nhắc mỗi 30 giây khi cảnh báo còn; âm thanh phụ thuộc quyền trình duyệt và trang đang hoạt động. Đây không phải thông báo nền độc lập khi đóng trang.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Thông báo Telegram tự động</a:t>
            </a:r>
          </a:p>
          <a:p>
            <a:endParaRPr/>
          </a:p>
          <a:p>
            <a:r>
              <a:t>6.5 Thông báo tự động bằng Telegram</a:t>
            </a:r>
          </a:p>
          <a:p>
            <a:endParaRPr/>
          </a:p>
          <a:p>
            <a:r>
              <a:t>ESP32 gửi tin trực tiếp tới Telegram Bot API bằng HTTPS sendMessage [11], không cần laptop hoặc web luôn mở. Tin gồm cảnh báo đang có, số đo hợp lệ, trạng thái relay, giai đoạn và địa chỉ web LAN. Bảy bit trạng thái lần lượt thể hiện gas, bụi, nhiệt độ, độ ẩm và lỗi MQ-2, bụi, DHT22.</a:t>
            </a:r>
          </a:p>
          <a:p>
            <a:endParaRPr/>
          </a:p>
          <a:p>
            <a:r>
              <a:t>Sau khi ready, bot gửi trạng thái đầu tiên. Những lần sau gửi khi tập cảnh báo thay đổi, khi tất cả cảnh báo đã hết và nhắc mỗi 5 phút nếu vẫn còn cảnh báo. Bản cập nhật cũng cho phép thông báo lỗi DHT kéo dài quá 30 giây trước ready. Lệnh N yêu cầu gửi thử; bot chưa có chức năng nhận và trả lời lệnh hội thoại.</a:t>
            </a:r>
          </a:p>
          <a:p>
            <a:endParaRPr/>
          </a:p>
          <a:p>
            <a:r>
              <a:t>Chính sách giới hạn các lần gửi tự động: cách nhau ít nhất 5 giây sau lần gửi thành công; khi thất bại, chờ từ 30 giây và tăng dần tới 5 phút. HTTP 429 được xử lý theo retry_after nếu thời gian máy chủ yêu cầu dài hơn. Khi mất mạng, hệ thống không lưu đầy đủ hàng đợi mọi sự kiện; khi kết nối lại gửi theo trạng thái hiện tại.</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AP+STA, NTP và bản chụp trạng thái</a:t>
            </a:r>
          </a:p>
          <a:p>
            <a:endParaRPr/>
          </a:p>
          <a:p>
            <a:r>
              <a:t>6.6 Kết nối mạng và trao đổi trạng thái</a:t>
            </a:r>
          </a:p>
          <a:p>
            <a:endParaRPr/>
          </a:p>
          <a:p>
            <a:r>
              <a:t>ESP32 chạy AP+STA: phát điểm truy cập AirMonitor-xxxx để xem web trực tiếp và đồng thời kết nối Wi-Fi 2,4 GHz có Internet. Điểm AP chỉ phục vụ nội bộ, không tự cung cấp đường Internet cho Telegram. NTP đồng bộ giờ để kiểm tra chứng chỉ TLS bằng bộ CA tích hợp của ESP32 core 3.3.12.</a:t>
            </a:r>
          </a:p>
          <a:p>
            <a:endParaRPr/>
          </a:p>
          <a:p>
            <a:r>
              <a:t>publishAirSnapshot() sao chép một cấu trúc kích thước cố định trong vùng khóa ngắn. Tác vụ mạng đọc bản sao và thực hiện HTTP bên ngoài vùng khóa. Gửi Telegram có giới hạn thời gian kết nối/đọc; mất Wi-Fi không đặt điều kiện dừng đọc cảm biến hoặc đổi lệnh relay. Log NETWORK định kỳ khoảng 15 giây hỗ trợ phân biệt lỗi Wi-Fi, NTP và Telegram.</a:t>
            </a:r>
          </a:p>
          <a:p>
            <a:endParaRPr/>
          </a:p>
          <a:p>
            <a:r>
              <a:t>6.7 Lưu đồ chương trình sau khi mở rộng</a:t>
            </a:r>
          </a:p>
          <a:p>
            <a:endParaRPr/>
          </a:p>
          <a:p>
            <a:r>
              <a:t>Lưu đồ dưới thể hiện hai nhánh xử lý đồng thời. Vòng đo đưa ra quyết định tại thiết bị, còn nhánh mạng chỉ công bố và gửi bản chụp trạng thái. Máy chủ localhost chuyển tiếp dữ liệu từ ESP32 và không thay thế chức năng gửi Telegram.</a:t>
            </a:r>
          </a:p>
          <a:p>
            <a:endParaRPr/>
          </a:p>
          <a:p>
            <a:r>
              <a:t>Hình 17 Lưu đồ đo, điều khiển, web và Telegram</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Môi trường Arduino IDE và mã nguồn</a:t>
            </a:r>
          </a:p>
          <a:p>
            <a:endParaRPr/>
          </a:p>
          <a:p>
            <a:r>
              <a:t>7 CÀI ĐẶT VÀ VẬN HÀNH</a:t>
            </a:r>
          </a:p>
          <a:p>
            <a:endParaRPr/>
          </a:p>
          <a:p>
            <a:r>
              <a:t>7.1 Chuẩn bị môi trường Arduino IDE</a:t>
            </a:r>
          </a:p>
          <a:p>
            <a:endParaRPr/>
          </a:p>
          <a:p>
            <a:r>
              <a:t>Môi trường dùng Arduino IDE với gói esp32 của Espressif Systems 3.3.12. Cấu hình đã dùng để biên dịch: ESP32S3 Dev Module; Flash 16 MB; QIO 80 MHz; OPI PSRAM; phân vùng 16M Flash (2MB APP/12.5MB FATFS); USB Mode Hardware CDC and JTAG; USB CDC On Boot Enabled. Khi dùng board khác, dung lượng Flash/PSRAM phải khớp phần cứng [5].</a:t>
            </a:r>
          </a:p>
          <a:p>
            <a:endParaRPr/>
          </a:p>
          <a:p>
            <a:r>
              <a:t>Cài DHT sensor library của Adafruit, Adafruit Unified Sensor và LiquidCrystal I2C tương thích. WiFi, WebServer, HTTPClient, NetworkClientSecure và FreeRTOS nằm trong ESP32 core. Giữ .ino, AirMonitorConfig.h, AirMonitorNetwork.h/.cpp, Dashboard.h và NotificationPolicy.h cùng thư mục sketch. Chỉ có một chương trình chính định nghĩa setup()/loop(); không nạp nhầm bản sao cũ ở thư mục khác.</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Nạp chương trình và vận hành thường ngày</a:t>
            </a:r>
          </a:p>
          <a:p>
            <a:endParaRPr/>
          </a:p>
          <a:p>
            <a:r>
              <a:t>7.2 Biên dịch và nạp chương trình</a:t>
            </a:r>
          </a:p>
          <a:p>
            <a:endParaRPr/>
          </a:p>
          <a:p>
            <a:r>
              <a:t>Mở lại sketch trong đúng thư mục BUI1500_180s để Arduino IDE nhận các tab mới, chọn Verify rồi Upload vào đúng cổng COM của board. Nếu thiếu DHT.h hoặc LiquidCrystal_I2C.h, kiểm tra thư viện. Mở Serial Monitor ở 115200 baud và xác nhận dòng FIRMWARE: BUI1500_180s WEB + TELEGRAM sau reset. Biên dịch thành công chưa chứng minh đã nạp đúng board hoặc gửi được tin nhắn [5].</a:t>
            </a:r>
          </a:p>
          <a:p>
            <a:endParaRPr/>
          </a:p>
          <a:p>
            <a:r>
              <a:t>7.3 Vận hành thường ngày</a:t>
            </a:r>
          </a:p>
          <a:p>
            <a:endParaRPr/>
          </a:p>
          <a:p>
            <a:r>
              <a:t>Đặt các cảm biến tại vị trí thông thoáng, tránh hơi nước trực tiếp và tránh để quạt thổi vào cửa cảm biến bụi. Cấp nguồn, quan sát bộ đếm làm nóng và giữ môi trường sạch trong quá trình lấy nền. Sau thông báo SYSTEM READY, kiểm tra các trang dữ liệu và cờ trạng thái trên Serial.</a:t>
            </a:r>
          </a:p>
          <a:p>
            <a:endParaRPr/>
          </a:p>
          <a:p>
            <a:r>
              <a:t>Dòng đầu LCD hiển thị trạng thái. Dòng thứ hai luân phiên giữa T và H với G và B; T có đơn vị °C, H có đơn vị %, còn G và B là giá trị ADC đã lọc, làm tròn để hiển thị. LCD dùng chữ không dấu để phù hợp bộ ký tự của màn hình.</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Lệnh Serial hỗ trợ</a:t>
            </a:r>
          </a:p>
          <a:p>
            <a:endParaRPr/>
          </a:p>
          <a:p>
            <a:r>
              <a:t>7.4 Lệnh hỗ trợ qua Serial</a:t>
            </a:r>
          </a:p>
          <a:p>
            <a:endParaRPr/>
          </a:p>
          <a:p>
            <a:r>
              <a:t>Thiết lập hoặc lệnh | Cách sử dụng</a:t>
            </a:r>
          </a:p>
          <a:p>
            <a:r>
              <a:t>Baud rate | Đặt Serial Monitor ở 115200</a:t>
            </a:r>
          </a:p>
          <a:p>
            <a:r>
              <a:t>T hoặc t | Sau khi ready, gửi T khi không có cảnh báo gas/nhiệt độ; thử relay khoảng 10 s. Không phải lệnh thử Telegram.</a:t>
            </a:r>
          </a:p>
          <a:p>
            <a:r>
              <a:t>D hoặc d | Hiệu chỉnh lại nền bụi trong không khí sạch; bị từ chối khi relay hoặc bài thử đang hoạt động</a:t>
            </a:r>
          </a:p>
          <a:p>
            <a:r>
              <a:t>Quan sát bản tin | Theo dõi DHT_OK, GAS_OK, BUI_OK, raw, avg, ON, OFF và trạng thái đầu ra</a:t>
            </a:r>
          </a:p>
          <a:p>
            <a:r>
              <a:t>N hoặc n | Yêu cầu gửi thử Telegram, không bật relay; dùng được lúc làm nóng nếu mạng/NTP đã sẵn sàng</a:t>
            </a:r>
          </a:p>
          <a:p>
            <a:r>
              <a:t>J hoặc j | Trả một dòng AIRJSON trạng thái chỉ đọc; hỗ trợ công cụ USB, không cần cho localhost qua Wi-Fi</a:t>
            </a:r>
          </a:p>
          <a:p>
            <a:endParaRPr/>
          </a:p>
          <a:p>
            <a:r>
              <a:t>Lệnh D không thay đổi hai ngưỡng bụi 1500/1450; muốn thay ngưỡng phải sửa hằng số và nạp lại. T thử đầu ra quạt/còi; N thử gửi Telegram và không bật relay; J chỉ trả dữ liệu JSON. Không dùng kết quả thử T để kết luận chức năng Telegram đã hoạt động. Máy chủ localhost qua Wi-Fi có thể chạy đồng thời với Serial Monitor.</a:t>
            </a:r>
          </a:p>
          <a:p>
            <a:endParaRPr/>
          </a:p>
          <a:p>
            <a:r>
              <a:t>// Lenh chi nhan T/D sau khi hieu chinh xong</a:t>
            </a:r>
          </a:p>
          <a:p>
            <a:r>
              <a:t>// T: thu relay 10 s; D: hieu chinh lai nen bui</a:t>
            </a:r>
          </a:p>
          <a:p>
            <a:r>
              <a:t>// N: thu Telegram, khong bat relay</a:t>
            </a:r>
          </a:p>
          <a:p>
            <a:r>
              <a:t>// J: tra dong AIRJSON trang thai chi doc</a:t>
            </a:r>
          </a:p>
          <a:p>
            <a:r>
              <a:t>if (c == 'N' || c == 'n') requestTelegramTest();</a:t>
            </a:r>
          </a:p>
          <a:p>
            <a:r>
              <a:t>else if (c == 'J' || c == 'j') printAirStatusToSerial();</a:t>
            </a:r>
          </a:p>
          <a:p>
            <a:endParaRPr/>
          </a:p>
          <a:p>
            <a:r>
              <a:t>Hình 18 Các lệnh Serial cho hiệu chỉnh, thử đầu ra và chẩn đoán mạng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Cấu hình Wi-Fi và bot Telegram</a:t>
            </a:r>
          </a:p>
          <a:p>
            <a:endParaRPr/>
          </a:p>
          <a:p>
            <a:r>
              <a:t>7.5 Cấu hình Wi-Fi và bot Telegram</a:t>
            </a:r>
          </a:p>
          <a:p>
            <a:endParaRPr/>
          </a:p>
          <a:p>
            <a:r>
              <a:t>Trong AirMonitorConfig.h, điền WIFI_SSID, WIFI_PASSWORD, AP_PASSWORD, TELEGRAM_BOT_TOKEN và TELEGRAM_CHAT_ID. Đặt TELEGRAM_ENABLED = true; REMINDER_MS = 300000UL tương ứng 5 phút. Báo cáo chỉ nêu tên biến, không công bố mật khẩu hoặc token đang sử dụng.</a:t>
            </a:r>
          </a:p>
          <a:p>
            <a:endParaRPr/>
          </a:p>
          <a:p>
            <a:r>
              <a:t>Tạo bot qua @BotFather và lấy token; mở bot, bấm Start rồi gửi một tin nhắn. Đọc message.chat.id từ kết quả getUpdates để lấy ID cuộc trò chuyện [11]. Địa chỉ API phải có dạng https://api.telegram.org/bot&lt;TOKEN&gt;/getUpdates, trong đó tiền tố bot là bắt buộc. Không lấy message_id hoặc ID của chính bot làm chat ID nhận tin. Sau khi sửa cấu hình phải nạp firmware lại.</a:t>
            </a:r>
          </a:p>
          <a:p>
            <a:endParaRPr/>
          </a:p>
          <a:p>
            <a:r>
              <a:t>Sau khi có Internet và giờ NTP hợp lệ, gửi N ở Serial Monitor để thử. Kiểm tra kết quả gửi trên web/Serial và tin nhắn đến đúng cuộc trò chuyện. Không đưa AirMonitorConfig.h đã điền thông tin riêng vào bản báo cáo hoặc kho mã công khai.</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Truy cập web trực tiếp và localhost</a:t>
            </a:r>
          </a:p>
          <a:p>
            <a:endParaRPr/>
          </a:p>
          <a:p>
            <a:r>
              <a:t>7.6 Mở web trên điện thoại và laptop</a:t>
            </a:r>
          </a:p>
          <a:p>
            <a:endParaRPr/>
          </a:p>
          <a:p>
            <a:r>
              <a:t>Cách trực tiếp: kết nối vào Wi-Fi AirMonitor-xxxx rồi mở http://192.168.4.1; nhập mật khẩu AP đã cấu hình. Hoặc cho ESP32 và thiết bị xem cùng kết nối router/hotspot, đọc dòng WEB: LAN trên Serial hoặc IP trong tin Telegram rồi mở địa chỉ đó. IP ví dụ http://172.20.10.2 có thể thay đổi khi DHCP cấp lại. Laptop đang ở mạng khác sẽ không truy cập được IP nội bộ của ESP32.</a:t>
            </a:r>
          </a:p>
          <a:p>
            <a:endParaRPr/>
          </a:p>
          <a:p>
            <a:r>
              <a:t>Cách localhost: giữ laptop cùng mạng với ESP32, chạy CHAY_WEB_LOCALHOST.cmd trong thư mục BUI1500_180s, rồi mở http://localhost:8765. Tệp localhost_server.py dùng thư viện chuẩn Python 3, lấy HTML từ Dashboard.h và chuyển tiếp API thật từ ESP32. Máy chủ chỉ lắng nghe 127.0.0.1 của laptop; localhost trên điện thoại sẽ trỏ vào chính điện thoại.</a:t>
            </a:r>
          </a:p>
          <a:p>
            <a:endParaRPr/>
          </a:p>
          <a:p>
            <a:r>
              <a:t>Khi IP ESP32 thay đổi, dừng máy chủ và chạy python localhost_server.py --esp http://IP_MOI --port 8765, hoặc sửa địa chỉ đích trong tệp .cmd. Giữ tiến trình máy chủ chạy trong lúc xem web. Đường truyền này dùng Wi-Fi, không cần đóng Serial Monitor. Khi không lấy được API, máy chủ trả lỗi; không tạo số đo giả để lấp chỗ trống.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Chẩn đoán mạng và cảnh báo giữ lâu</a:t>
            </a:r>
          </a:p>
          <a:p>
            <a:endParaRPr/>
          </a:p>
          <a:p>
            <a:r>
              <a:t>7.7 Chẩn đoán mạng và cảnh báo giữ lâu</a:t>
            </a:r>
          </a:p>
          <a:p>
            <a:endParaRPr/>
          </a:p>
          <a:p>
            <a:r>
              <a:t>Nếu điện thoại vào được web mà laptop không vào được, kiểm tra laptop có cùng Wi-Fi với ESP32, địa chỉ IP hiện tại và chế độ cách ly máy khách của điểm truy cập. Khi log báo sta is connecting, cần tránh gọi reconnect liên tục khi thiết bị đang nối; bản hiện tại sử dụng tự kết nối lại của ESP32 core.</a:t>
            </a:r>
          </a:p>
          <a:p>
            <a:endParaRPr/>
          </a:p>
          <a:p>
            <a:r>
              <a:t>Nếu chưa nhận Telegram, đối chiếu lần lượt trạng thái Internet, giờ NTP, bật Telegram, token/chat ID và việc người nhận đã Start bot. HTTP 400 thường liên quan tham số; 401 liên quan token; 403 liên quan quyền gửi hoặc bot bị chặn; 429 yêu cầu chờ. Mã lỗi âm cần kiểm tra DNS/TCP/TLS hoặc timeout; phải đọc mô tả cụ thể để kết luận.</a:t>
            </a:r>
          </a:p>
          <a:p>
            <a:endParaRPr/>
          </a:p>
          <a:p>
            <a:r>
              <a:t>Sau khi ngừng tác động lên MQ-2, cảnh báo chỉ xóa khi giá trị đã lọc giảm đến gasOff hoặc thấp hơn liên tục 5 giây. Tín hiệu còn nằm giữa gasOff và gasOn vẫn giữ cảnh báo theo hysteresis. Bộ lọc và thời gian hồi phục vật lý của MQ-2 có thể làm quá trình này kéo dài. Không tự ép tắt cờ hoặc hiệu chỉnh lại khi môi trường còn nghi ngờ có khí; xem raw, avg, ON/OFF và cờ GAS_OK để phân biệt nguyên nhân.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Ràng buộc thiết kế hệ thống nhúng</a:t>
            </a:r>
          </a:p>
          <a:p>
            <a:endParaRPr/>
          </a:p>
          <a:p>
            <a:r>
              <a:t>8 PHÂN TÍCH CÁC VẤN ĐỀ HỆ THỐNG NHÚNG</a:t>
            </a:r>
          </a:p>
          <a:p>
            <a:endParaRPr/>
          </a:p>
          <a:p>
            <a:r>
              <a:t>8.1 Các ràng buộc thiết kế</a:t>
            </a:r>
          </a:p>
          <a:p>
            <a:endParaRPr/>
          </a:p>
          <a:p>
            <a:r>
              <a:t>Thiết kế chịu ràng buộc về số chân, mức điện áp, dòng nguồn, kích thước lắp ráp và khả năng đọc màn hình. Mạch analog cần hạn chế điện áp vào ADC; I2C cần tương thích mức logic. LCD 16 × 2 có diện tích nhỏ nên chương trình phải luân phiên trang và rút gọn thông báo. Breadboard thuận tiện để thử nghiệm nhưng các đầu dây và tiếp xúc cần được cố định khi chuyển sang mô hình hoàn chỉnh.</a:t>
            </a:r>
          </a:p>
          <a:p>
            <a:endParaRPr/>
          </a:p>
          <a:p>
            <a:r>
              <a:t>8.2 Phân chia phần cứng và phần mềm</a:t>
            </a:r>
          </a:p>
          <a:p>
            <a:endParaRPr/>
          </a:p>
          <a:p>
            <a:r>
              <a:t>Phần cứng tạo tín hiệu đo và đóng cắt tải; phần mềm quyết định mẫu nào hợp lệ, áp dụng lọc và lựa chọn hành động. Mạch relay không tự chứng minh quạt đang quay. Muốn phát hiện quạt kẹt, relay không đóng hoặc tải mất nguồn, cần thêm tín hiệu phản hồi như đo dòng hoặc tốc độ quạt. Mã nguồn hiện tại chỉ biết trạng thái lệnh điều khiển.</a:t>
            </a:r>
          </a:p>
          <a:p>
            <a:endParaRPr/>
          </a:p>
          <a:p>
            <a:r>
              <a:t>8.3 Thời gian thực và xử lý đồng thời</a:t>
            </a:r>
          </a:p>
          <a:p>
            <a:endParaRPr/>
          </a:p>
          <a:p>
            <a:r>
              <a:t>Đây là mô hình soft real-time. millis() điều phối chu kỳ đo/hiển thị, trong khi FreeRTOS tách phục vụ web và gửi HTTPS khỏi đường điều khiển relay. Tác vụ mạng chỉ đọc bản chụp trạng thái, không trực tiếp thay đổi đầu ra. Việc tách tác vụ giảm ảnh hưởng của chờ mạng, nhưng vẫn cần đo độ trễ và tài nguyên trên phần cứng; các hằng số thời gian không phải cam kết đáp ứng cứng.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Xử lý lỗi và giữ trạng thái</a:t>
            </a:r>
          </a:p>
          <a:p>
            <a:endParaRPr/>
          </a:p>
          <a:p>
            <a:r>
              <a:t>8.4 Phản ứng và xử lý lỗi</a:t>
            </a:r>
          </a:p>
          <a:p>
            <a:endParaRPr/>
          </a:p>
          <a:p>
            <a:r>
              <a:t>Nếu gasRaw hoặc dustRaw ở mức ≤ 5 hoặc ≥ 4090 trong 5 giây, cảm biến tương ứng được đánh dấu lỗi khi đã có nền hợp lệ. Một tín hiệu hợp lệ trở lại có thể khôi phục trạng thái khỏe. Nếu hiệu chỉnh khởi động đã thất bại, cờ hiệu chỉnh không tự được sửa chỉ bằng mẫu tốt; cần hiệu chỉnh lại hoặc khởi động lại theo trường hợp.</a:t>
            </a:r>
          </a:p>
          <a:p>
            <a:endParaRPr/>
          </a:p>
          <a:p>
            <a:r>
              <a:t>Khi MQ-2 mất tín hiệu, cảnh báo gas đang có được giữ cho tới khi có dữ liệu hợp lệ đủ điều kiện xóa. Khi bụi lỗi, cờ bụi được xóa. Khi DHT hết hạn, các cờ nhiệt độ và độ ẩm giữ giá trị trước đó do chỉ được cập nhật khi dhtOK() đúng. Vì vậy lỗi DHT có thể giữ relay đang bật do cảnh báo nhiệt độ; đây là hành vi cần được xét trong kiểm thử.</a:t>
            </a:r>
          </a:p>
          <a:p>
            <a:endParaRPr/>
          </a:p>
          <a:p>
            <a:r>
              <a:t>if (dustOK) {</a:t>
            </a:r>
          </a:p>
          <a:p>
            <a:r>
              <a:t>    updateFlag(dustDanger, dustAvg &gt; dustOn, dustAvg &lt;= dustOff,</a:t>
            </a:r>
          </a:p>
          <a:p>
            <a:r>
              <a:t>               dustHighSince, dustLowSince, DUST_ON_DELAY, DUST_OFF_DELAY);</a:t>
            </a:r>
          </a:p>
          <a:p>
            <a:r>
              <a:t>  } else {</a:t>
            </a:r>
          </a:p>
          <a:p>
            <a:r>
              <a:t>    dustDanger = false;</a:t>
            </a:r>
          </a:p>
          <a:p>
            <a:r>
              <a:t>    dustHighSince = 0;</a:t>
            </a:r>
          </a:p>
          <a:p>
            <a:r>
              <a:t>    dustLowSince = 0;</a:t>
            </a:r>
          </a:p>
          <a:p>
            <a:r>
              <a:t>  }</a:t>
            </a:r>
          </a:p>
          <a:p>
            <a:endParaRPr/>
          </a:p>
          <a:p>
            <a:r>
              <a:t>Hình 19 Cập nhật cờ bụi và xóa cờ khi tín hiệu bụi không hợp lệ</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Giới hạn chẩn đoán và cách kiểm thử</a:t>
            </a:r>
          </a:p>
          <a:p>
            <a:endParaRPr/>
          </a:p>
          <a:p>
            <a:r>
              <a:t>8.5 Giới hạn chẩn đoán</a:t>
            </a:r>
          </a:p>
          <a:p>
            <a:endParaRPr/>
          </a:p>
          <a:p>
            <a:r>
              <a:t>Kiểm tra sát biên ADC không phát hiện được mọi dây đứt hoặc sai lệch cảm biến. Chương trình chưa có phản hồi quạt/relay, giám sát nguồn hoặc kiểm tra LCD. Web hiển thị null hoặc trạng thái chưa xác định khi dữ liệu không hợp lệ/quá cũ; số đo cũ không được coi là môi trường an toàn. HTTP nội bộ chưa có đăng nhập; cần giới hạn phạm vi truy cập trong mạng sử dụng. API không trả mật khẩu Wi-Fi hay token Telegram.</a:t>
            </a:r>
          </a:p>
          <a:p>
            <a:endParaRPr/>
          </a:p>
          <a:p>
            <a:r>
              <a:t>9 PHƯƠNG ÁN KIỂM THỬ</a:t>
            </a:r>
          </a:p>
          <a:p>
            <a:endParaRPr/>
          </a:p>
          <a:p>
            <a:r>
              <a:t>9.1 Phương pháp ghi nhận</a:t>
            </a:r>
          </a:p>
          <a:p>
            <a:endParaRPr/>
          </a:p>
          <a:p>
            <a:r>
              <a:t>Kiểm thử cần ghi thời điểm, điều kiện ban đầu, giá trị raw và avg, cờ trạng thái, nội dung LCD và trạng thái quạt, còi. Bảng dưới quy định đầu vào và kết quả mong đợi từ thuật toán. Kết quả đạt hoặc không đạt phải được điền sau khi chạy trên phần cứng; phân tích mã nguồn chưa thay thế được phép đo thực nghiệm.</a:t>
            </a:r>
          </a:p>
          <a:p>
            <a:endParaRPr/>
          </a:p>
          <a:p>
            <a:r>
              <a:t>Mã | Tình huống hoặc thao tác | Kết quả mong đợi</a:t>
            </a:r>
          </a:p>
          <a:p>
            <a:r>
              <a:t>KT01 | Cấp nguồn và để môi trường sạch | Relay ban đầu OFF; qua giai đoạn chờ và hiệu chỉnh rồi hiển thị dữ liệu</a:t>
            </a:r>
          </a:p>
          <a:p>
            <a:r>
              <a:t>KT02 | Gửi T qua Serial khi không có cảnh báo gas và nhiệt độ | Relay, quạt và còi cùng bật khoảng 10 giây rồi tắt nếu không có yêu cầu khác</a:t>
            </a:r>
          </a:p>
          <a:p>
            <a:r>
              <a:t>KT03 | Theo dõi gasAvg tăng vượt gasOn liên tục | Sau ít nhất 1,8 s đủ điều kiện: gasDanger bật và có yêu cầu relay</a:t>
            </a:r>
          </a:p>
          <a:p>
            <a:r>
              <a:t>KT04 | gasAvg giảm xuống gasOff hoặc thấp hơn | Sau ít nhất 5 s: xóa gasDanger; relay còn phụ thuộc các yêu cầu khác và thời gian bật tối thiểu</a:t>
            </a:r>
          </a:p>
          <a:p>
            <a:r>
              <a:t>KT05 | dustAvg &gt; 1500 trong 0,5 s; sau đó ≤ 1450 trong 0,5 s | Cờ bụi bật rồi xóa; không trực tiếp bật relay</a:t>
            </a:r>
          </a:p>
          <a:p>
            <a:r>
              <a:t>KT06 | Đưa mẫu DHT hợp lệ qua 35 °C rồi về ≤ 33 °C | Cờ nhiệt độ bật rồi xóa; relay tuân theo điều kiện tổng</a:t>
            </a:r>
          </a:p>
          <a:p>
            <a:r>
              <a:t>KT07 | Đưa mẫu độ ẩm qua 80% rồi về ≤ 76% | Cờ độ ẩm bật rồi xóa; không trực tiếp bật relay</a:t>
            </a:r>
          </a:p>
          <a:p>
            <a:r>
              <a:t>KT08 | DHT không có mẫu hợp lệ quá 30 s | DHT_OK về 0; dữ liệu T/H trên trang đo thành dấu gạch; cờ nhiệt độ cũ được giữ</a:t>
            </a:r>
          </a:p>
          <a:p>
            <a:r>
              <a:t>KT09 | Tín hiệu analog sát biên liên tục 5 s | Cờ sức khỏe tương ứng về 0; kiểm tra cách giữ gas và xóa bụi</a:t>
            </a:r>
          </a:p>
          <a:p>
            <a:r>
              <a:t>KT10 | Gửi D khi relay tắt rồi gửi lại lúc relay hoạt động | Lần đầu thực hiện hiệu chỉnh bụi; lần sau bị từ chối</a:t>
            </a:r>
          </a:p>
          <a:p>
            <a:r>
              <a:t>KT11 | Quan sát LCD và Serial trong nhiều chu kỳ | LCD đổi trang khoảng 2,5 s; Serial xuất khoảng 1 s, không có ký tự thừa</a:t>
            </a:r>
          </a:p>
          <a:p>
            <a:r>
              <a:t>KT12 | Nối STA và mở AP; mất mạng rồi kết nối lại | Web nội bộ vẫn có qua AP; vòng đo/relay tiếp tục; Telegram chờ Internet/NTP</a:t>
            </a:r>
          </a:p>
          <a:p>
            <a:r>
              <a:t>KT13 | Xem dashboard và ngắt đường lấy dữ liệu | Cập nhật khoảng 1 s; lỗi hoặc quá cũ được báo rõ; không hiển thị số đo giả</a:t>
            </a:r>
          </a:p>
          <a:p>
            <a:r>
              <a:t>KT14 | Chạy localhost khi cùng mạng; đổi IP ESP32 | localhost:8765 đọc đúng API; đổi IP phải cập nhật đích; lỗi khi không tới được ESP32</a:t>
            </a:r>
          </a:p>
          <a:p>
            <a:r>
              <a:t>KT15 | Gửi N ở giai đoạn warming và ready | Gửi thử Telegram khi mạng/NTP hợp lệ; relay không bật theo lệnh N</a:t>
            </a:r>
          </a:p>
          <a:p>
            <a:r>
              <a:t>KT16 | Tạo thay đổi cờ hợp lệ, xóa hết, rồi giữ cảnh báo | Tin thay đổi/hết cảnh báo; nhắc 5 phút; cần đo và ghi thời gian thực tế</a:t>
            </a:r>
          </a:p>
          <a:p>
            <a:r>
              <a:t>KT17 | Sai thông tin bot, mất Internet hoặc lỗi NTP | Báo trạng thái gửi; thử lại có giới hạn; không gây dừng đo/điều khiển</a:t>
            </a:r>
          </a:p>
          <a:p>
            <a:r>
              <a:t>KT18 | Không có mẫu DHT hợp lệ quá 30 s lúc làm nóng | Có lỗi DHT trên web và đủ điều kiện gửi Telegram; chờ thử riêng trên phần cứng</a:t>
            </a:r>
          </a:p>
          <a:p>
            <a:endParaRPr/>
          </a:p>
          <a:p>
            <a:r>
              <a:t>9.2 Điều kiện đánh giá</a:t>
            </a:r>
          </a:p>
          <a:p>
            <a:endParaRPr/>
          </a:p>
          <a:p>
            <a:r>
              <a:t>Ưu tiên thử relay bằng lệnh T, đo nhiệt độ/độ ẩm trong điều kiện thông thường và kiểm tra ngưỡng bằng tín hiệu mô phỏng hoặc điều kiện thử có kiểm soát. Không tạo rò rỉ khí dễ cháy gần relay để chứng minh chương trình hoạt động. Chỉ ghi “Đạt” sau khi kiểm tra trên phần cứng.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Kiểm thử KT01–KT06</a:t>
            </a:r>
          </a:p>
          <a:p>
            <a:endParaRPr/>
          </a:p>
          <a:p>
            <a:r>
              <a:t>9 PHƯƠNG ÁN KIỂM THỬ</a:t>
            </a:r>
          </a:p>
          <a:p>
            <a:endParaRPr/>
          </a:p>
          <a:p>
            <a:r>
              <a:t>9.1 Phương pháp ghi nhận</a:t>
            </a:r>
          </a:p>
          <a:p>
            <a:endParaRPr/>
          </a:p>
          <a:p>
            <a:r>
              <a:t>Kiểm thử cần ghi thời điểm, điều kiện ban đầu, giá trị raw và avg, cờ trạng thái, nội dung LCD và trạng thái quạt, còi. Bảng dưới quy định đầu vào và kết quả mong đợi từ thuật toán. Kết quả đạt hoặc không đạt phải được điền sau khi chạy trên phần cứng; phân tích mã nguồn chưa thay thế được phép đo thực nghiệm.</a:t>
            </a:r>
          </a:p>
          <a:p>
            <a:endParaRPr/>
          </a:p>
          <a:p>
            <a:r>
              <a:t>Mã | Tình huống hoặc thao tác | Kết quả mong đợi</a:t>
            </a:r>
          </a:p>
          <a:p>
            <a:r>
              <a:t>KT01 | Cấp nguồn và để môi trường sạch | Relay ban đầu OFF; qua giai đoạn chờ và hiệu chỉnh rồi hiển thị dữ liệu</a:t>
            </a:r>
          </a:p>
          <a:p>
            <a:r>
              <a:t>KT02 | Gửi T qua Serial khi không có cảnh báo gas và nhiệt độ | Relay, quạt và còi cùng bật khoảng 10 giây rồi tắt nếu không có yêu cầu khác</a:t>
            </a:r>
          </a:p>
          <a:p>
            <a:r>
              <a:t>KT03 | Theo dõi gasAvg tăng vượt gasOn liên tục | Sau ít nhất 1,8 s đủ điều kiện: gasDanger bật và có yêu cầu relay</a:t>
            </a:r>
          </a:p>
          <a:p>
            <a:r>
              <a:t>KT04 | gasAvg giảm xuống gasOff hoặc thấp hơn | Sau ít nhất 5 s: xóa gasDanger; relay còn phụ thuộc các yêu cầu khác và thời gian bật tối thiểu</a:t>
            </a:r>
          </a:p>
          <a:p>
            <a:r>
              <a:t>KT05 | dustAvg &gt; 1500 trong 0,5 s; sau đó ≤ 1450 trong 0,5 s | Cờ bụi bật rồi xóa; không trực tiếp bật relay</a:t>
            </a:r>
          </a:p>
          <a:p>
            <a:r>
              <a:t>KT06 | Đưa mẫu DHT hợp lệ qua 35 °C rồi về ≤ 33 °C | Cờ nhiệt độ bật rồi xóa; relay tuân theo điều kiện tổng</a:t>
            </a:r>
          </a:p>
          <a:p>
            <a:r>
              <a:t>KT07 | Đưa mẫu độ ẩm qua 80% rồi về ≤ 76% | Cờ độ ẩm bật rồi xóa; không trực tiếp bật relay</a:t>
            </a:r>
          </a:p>
          <a:p>
            <a:r>
              <a:t>KT08 | DHT không có mẫu hợp lệ quá 30 s | DHT_OK về 0; dữ liệu T/H trên trang đo thành dấu gạch; cờ nhiệt độ cũ được giữ</a:t>
            </a:r>
          </a:p>
          <a:p>
            <a:r>
              <a:t>KT09 | Tín hiệu analog sát biên liên tục 5 s | Cờ sức khỏe tương ứng về 0; kiểm tra cách giữ gas và xóa bụi</a:t>
            </a:r>
          </a:p>
          <a:p>
            <a:r>
              <a:t>KT10 | Gửi D khi relay tắt rồi gửi lại lúc relay hoạt động | Lần đầu thực hiện hiệu chỉnh bụi; lần sau bị từ chối</a:t>
            </a:r>
          </a:p>
          <a:p>
            <a:r>
              <a:t>KT11 | Quan sát LCD và Serial trong nhiều chu kỳ | LCD đổi trang khoảng 2,5 s; Serial xuất khoảng 1 s, không có ký tự thừa</a:t>
            </a:r>
          </a:p>
          <a:p>
            <a:r>
              <a:t>KT12 | Nối STA và mở AP; mất mạng rồi kết nối lại | Web nội bộ vẫn có qua AP; vòng đo/relay tiếp tục; Telegram chờ Internet/NTP</a:t>
            </a:r>
          </a:p>
          <a:p>
            <a:r>
              <a:t>KT13 | Xem dashboard và ngắt đường lấy dữ liệu | Cập nhật khoảng 1 s; lỗi hoặc quá cũ được báo rõ; không hiển thị số đo giả</a:t>
            </a:r>
          </a:p>
          <a:p>
            <a:r>
              <a:t>KT14 | Chạy localhost khi cùng mạng; đổi IP ESP32 | localhost:8765 đọc đúng API; đổi IP phải cập nhật đích; lỗi khi không tới được ESP32</a:t>
            </a:r>
          </a:p>
          <a:p>
            <a:r>
              <a:t>KT15 | Gửi N ở giai đoạn warming và ready | Gửi thử Telegram khi mạng/NTP hợp lệ; relay không bật theo lệnh N</a:t>
            </a:r>
          </a:p>
          <a:p>
            <a:r>
              <a:t>KT16 | Tạo thay đổi cờ hợp lệ, xóa hết, rồi giữ cảnh báo | Tin thay đổi/hết cảnh báo; nhắc 5 phút; cần đo và ghi thời gian thực tế</a:t>
            </a:r>
          </a:p>
          <a:p>
            <a:r>
              <a:t>KT17 | Sai thông tin bot, mất Internet hoặc lỗi NTP | Báo trạng thái gửi; thử lại có giới hạn; không gây dừng đo/điều khiển</a:t>
            </a:r>
          </a:p>
          <a:p>
            <a:r>
              <a:t>KT18 | Không có mẫu DHT hợp lệ quá 30 s lúc làm nóng | Có lỗi DHT trên web và đủ điều kiện gửi Telegram; chờ thử riêng trên phần cứng</a:t>
            </a:r>
          </a:p>
          <a:p>
            <a:endParaRPr/>
          </a:p>
          <a:p>
            <a:r>
              <a:t>9.2 Điều kiện đánh giá</a:t>
            </a:r>
          </a:p>
          <a:p>
            <a:endParaRPr/>
          </a:p>
          <a:p>
            <a:r>
              <a:t>Ưu tiên thử relay bằng lệnh T, đo nhiệt độ/độ ẩm trong điều kiện thông thường và kiểm tra ngưỡng bằng tín hiệu mô phỏng hoặc điều kiện thử có kiểm soát. Không tạo rò rỉ khí dễ cháy gần relay để chứng minh chương trình hoạt động. Chỉ ghi “Đạt” sau khi kiểm tra trên phần cứng.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Kiểm thử KT07–KT12</a:t>
            </a:r>
          </a:p>
          <a:p>
            <a:endParaRPr/>
          </a:p>
          <a:p>
            <a:r>
              <a:t>9 PHƯƠNG ÁN KIỂM THỬ</a:t>
            </a:r>
          </a:p>
          <a:p>
            <a:endParaRPr/>
          </a:p>
          <a:p>
            <a:r>
              <a:t>9.1 Phương pháp ghi nhận</a:t>
            </a:r>
          </a:p>
          <a:p>
            <a:endParaRPr/>
          </a:p>
          <a:p>
            <a:r>
              <a:t>Kiểm thử cần ghi thời điểm, điều kiện ban đầu, giá trị raw và avg, cờ trạng thái, nội dung LCD và trạng thái quạt, còi. Bảng dưới quy định đầu vào và kết quả mong đợi từ thuật toán. Kết quả đạt hoặc không đạt phải được điền sau khi chạy trên phần cứng; phân tích mã nguồn chưa thay thế được phép đo thực nghiệm.</a:t>
            </a:r>
          </a:p>
          <a:p>
            <a:endParaRPr/>
          </a:p>
          <a:p>
            <a:r>
              <a:t>Mã | Tình huống hoặc thao tác | Kết quả mong đợi</a:t>
            </a:r>
          </a:p>
          <a:p>
            <a:r>
              <a:t>KT01 | Cấp nguồn và để môi trường sạch | Relay ban đầu OFF; qua giai đoạn chờ và hiệu chỉnh rồi hiển thị dữ liệu</a:t>
            </a:r>
          </a:p>
          <a:p>
            <a:r>
              <a:t>KT02 | Gửi T qua Serial khi không có cảnh báo gas và nhiệt độ | Relay, quạt và còi cùng bật khoảng 10 giây rồi tắt nếu không có yêu cầu khác</a:t>
            </a:r>
          </a:p>
          <a:p>
            <a:r>
              <a:t>KT03 | Theo dõi gasAvg tăng vượt gasOn liên tục | Sau ít nhất 1,8 s đủ điều kiện: gasDanger bật và có yêu cầu relay</a:t>
            </a:r>
          </a:p>
          <a:p>
            <a:r>
              <a:t>KT04 | gasAvg giảm xuống gasOff hoặc thấp hơn | Sau ít nhất 5 s: xóa gasDanger; relay còn phụ thuộc các yêu cầu khác và thời gian bật tối thiểu</a:t>
            </a:r>
          </a:p>
          <a:p>
            <a:r>
              <a:t>KT05 | dustAvg &gt; 1500 trong 0,5 s; sau đó ≤ 1450 trong 0,5 s | Cờ bụi bật rồi xóa; không trực tiếp bật relay</a:t>
            </a:r>
          </a:p>
          <a:p>
            <a:r>
              <a:t>KT06 | Đưa mẫu DHT hợp lệ qua 35 °C rồi về ≤ 33 °C | Cờ nhiệt độ bật rồi xóa; relay tuân theo điều kiện tổng</a:t>
            </a:r>
          </a:p>
          <a:p>
            <a:r>
              <a:t>KT07 | Đưa mẫu độ ẩm qua 80% rồi về ≤ 76% | Cờ độ ẩm bật rồi xóa; không trực tiếp bật relay</a:t>
            </a:r>
          </a:p>
          <a:p>
            <a:r>
              <a:t>KT08 | DHT không có mẫu hợp lệ quá 30 s | DHT_OK về 0; dữ liệu T/H trên trang đo thành dấu gạch; cờ nhiệt độ cũ được giữ</a:t>
            </a:r>
          </a:p>
          <a:p>
            <a:r>
              <a:t>KT09 | Tín hiệu analog sát biên liên tục 5 s | Cờ sức khỏe tương ứng về 0; kiểm tra cách giữ gas và xóa bụi</a:t>
            </a:r>
          </a:p>
          <a:p>
            <a:r>
              <a:t>KT10 | Gửi D khi relay tắt rồi gửi lại lúc relay hoạt động | Lần đầu thực hiện hiệu chỉnh bụi; lần sau bị từ chối</a:t>
            </a:r>
          </a:p>
          <a:p>
            <a:r>
              <a:t>KT11 | Quan sát LCD và Serial trong nhiều chu kỳ | LCD đổi trang khoảng 2,5 s; Serial xuất khoảng 1 s, không có ký tự thừa</a:t>
            </a:r>
          </a:p>
          <a:p>
            <a:r>
              <a:t>KT12 | Nối STA và mở AP; mất mạng rồi kết nối lại | Web nội bộ vẫn có qua AP; vòng đo/relay tiếp tục; Telegram chờ Internet/NTP</a:t>
            </a:r>
          </a:p>
          <a:p>
            <a:r>
              <a:t>KT13 | Xem dashboard và ngắt đường lấy dữ liệu | Cập nhật khoảng 1 s; lỗi hoặc quá cũ được báo rõ; không hiển thị số đo giả</a:t>
            </a:r>
          </a:p>
          <a:p>
            <a:r>
              <a:t>KT14 | Chạy localhost khi cùng mạng; đổi IP ESP32 | localhost:8765 đọc đúng API; đổi IP phải cập nhật đích; lỗi khi không tới được ESP32</a:t>
            </a:r>
          </a:p>
          <a:p>
            <a:r>
              <a:t>KT15 | Gửi N ở giai đoạn warming và ready | Gửi thử Telegram khi mạng/NTP hợp lệ; relay không bật theo lệnh N</a:t>
            </a:r>
          </a:p>
          <a:p>
            <a:r>
              <a:t>KT16 | Tạo thay đổi cờ hợp lệ, xóa hết, rồi giữ cảnh báo | Tin thay đổi/hết cảnh báo; nhắc 5 phút; cần đo và ghi thời gian thực tế</a:t>
            </a:r>
          </a:p>
          <a:p>
            <a:r>
              <a:t>KT17 | Sai thông tin bot, mất Internet hoặc lỗi NTP | Báo trạng thái gửi; thử lại có giới hạn; không gây dừng đo/điều khiển</a:t>
            </a:r>
          </a:p>
          <a:p>
            <a:r>
              <a:t>KT18 | Không có mẫu DHT hợp lệ quá 30 s lúc làm nóng | Có lỗi DHT trên web và đủ điều kiện gửi Telegram; chờ thử riêng trên phần cứng</a:t>
            </a:r>
          </a:p>
          <a:p>
            <a:endParaRPr/>
          </a:p>
          <a:p>
            <a:r>
              <a:t>9.2 Điều kiện đánh giá</a:t>
            </a:r>
          </a:p>
          <a:p>
            <a:endParaRPr/>
          </a:p>
          <a:p>
            <a:r>
              <a:t>Ưu tiên thử relay bằng lệnh T, đo nhiệt độ/độ ẩm trong điều kiện thông thường và kiểm tra ngưỡng bằng tín hiệu mô phỏng hoặc điều kiện thử có kiểm soát. Không tạo rò rỉ khí dễ cháy gần relay để chứng minh chương trình hoạt động. Chỉ ghi “Đạt” sau khi kiểm tra trên phần cứng.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Kiểm thử KT13–KT18</a:t>
            </a:r>
          </a:p>
          <a:p>
            <a:endParaRPr/>
          </a:p>
          <a:p>
            <a:r>
              <a:t>9 PHƯƠNG ÁN KIỂM THỬ</a:t>
            </a:r>
          </a:p>
          <a:p>
            <a:endParaRPr/>
          </a:p>
          <a:p>
            <a:r>
              <a:t>9.1 Phương pháp ghi nhận</a:t>
            </a:r>
          </a:p>
          <a:p>
            <a:endParaRPr/>
          </a:p>
          <a:p>
            <a:r>
              <a:t>Kiểm thử cần ghi thời điểm, điều kiện ban đầu, giá trị raw và avg, cờ trạng thái, nội dung LCD và trạng thái quạt, còi. Bảng dưới quy định đầu vào và kết quả mong đợi từ thuật toán. Kết quả đạt hoặc không đạt phải được điền sau khi chạy trên phần cứng; phân tích mã nguồn chưa thay thế được phép đo thực nghiệm.</a:t>
            </a:r>
          </a:p>
          <a:p>
            <a:endParaRPr/>
          </a:p>
          <a:p>
            <a:r>
              <a:t>Mã | Tình huống hoặc thao tác | Kết quả mong đợi</a:t>
            </a:r>
          </a:p>
          <a:p>
            <a:r>
              <a:t>KT01 | Cấp nguồn và để môi trường sạch | Relay ban đầu OFF; qua giai đoạn chờ và hiệu chỉnh rồi hiển thị dữ liệu</a:t>
            </a:r>
          </a:p>
          <a:p>
            <a:r>
              <a:t>KT02 | Gửi T qua Serial khi không có cảnh báo gas và nhiệt độ | Relay, quạt và còi cùng bật khoảng 10 giây rồi tắt nếu không có yêu cầu khác</a:t>
            </a:r>
          </a:p>
          <a:p>
            <a:r>
              <a:t>KT03 | Theo dõi gasAvg tăng vượt gasOn liên tục | Sau ít nhất 1,8 s đủ điều kiện: gasDanger bật và có yêu cầu relay</a:t>
            </a:r>
          </a:p>
          <a:p>
            <a:r>
              <a:t>KT04 | gasAvg giảm xuống gasOff hoặc thấp hơn | Sau ít nhất 5 s: xóa gasDanger; relay còn phụ thuộc các yêu cầu khác và thời gian bật tối thiểu</a:t>
            </a:r>
          </a:p>
          <a:p>
            <a:r>
              <a:t>KT05 | dustAvg &gt; 1500 trong 0,5 s; sau đó ≤ 1450 trong 0,5 s | Cờ bụi bật rồi xóa; không trực tiếp bật relay</a:t>
            </a:r>
          </a:p>
          <a:p>
            <a:r>
              <a:t>KT06 | Đưa mẫu DHT hợp lệ qua 35 °C rồi về ≤ 33 °C | Cờ nhiệt độ bật rồi xóa; relay tuân theo điều kiện tổng</a:t>
            </a:r>
          </a:p>
          <a:p>
            <a:r>
              <a:t>KT07 | Đưa mẫu độ ẩm qua 80% rồi về ≤ 76% | Cờ độ ẩm bật rồi xóa; không trực tiếp bật relay</a:t>
            </a:r>
          </a:p>
          <a:p>
            <a:r>
              <a:t>KT08 | DHT không có mẫu hợp lệ quá 30 s | DHT_OK về 0; dữ liệu T/H trên trang đo thành dấu gạch; cờ nhiệt độ cũ được giữ</a:t>
            </a:r>
          </a:p>
          <a:p>
            <a:r>
              <a:t>KT09 | Tín hiệu analog sát biên liên tục 5 s | Cờ sức khỏe tương ứng về 0; kiểm tra cách giữ gas và xóa bụi</a:t>
            </a:r>
          </a:p>
          <a:p>
            <a:r>
              <a:t>KT10 | Gửi D khi relay tắt rồi gửi lại lúc relay hoạt động | Lần đầu thực hiện hiệu chỉnh bụi; lần sau bị từ chối</a:t>
            </a:r>
          </a:p>
          <a:p>
            <a:r>
              <a:t>KT11 | Quan sát LCD và Serial trong nhiều chu kỳ | LCD đổi trang khoảng 2,5 s; Serial xuất khoảng 1 s, không có ký tự thừa</a:t>
            </a:r>
          </a:p>
          <a:p>
            <a:r>
              <a:t>KT12 | Nối STA và mở AP; mất mạng rồi kết nối lại | Web nội bộ vẫn có qua AP; vòng đo/relay tiếp tục; Telegram chờ Internet/NTP</a:t>
            </a:r>
          </a:p>
          <a:p>
            <a:r>
              <a:t>KT13 | Xem dashboard và ngắt đường lấy dữ liệu | Cập nhật khoảng 1 s; lỗi hoặc quá cũ được báo rõ; không hiển thị số đo giả</a:t>
            </a:r>
          </a:p>
          <a:p>
            <a:r>
              <a:t>KT14 | Chạy localhost khi cùng mạng; đổi IP ESP32 | localhost:8765 đọc đúng API; đổi IP phải cập nhật đích; lỗi khi không tới được ESP32</a:t>
            </a:r>
          </a:p>
          <a:p>
            <a:r>
              <a:t>KT15 | Gửi N ở giai đoạn warming và ready | Gửi thử Telegram khi mạng/NTP hợp lệ; relay không bật theo lệnh N</a:t>
            </a:r>
          </a:p>
          <a:p>
            <a:r>
              <a:t>KT16 | Tạo thay đổi cờ hợp lệ, xóa hết, rồi giữ cảnh báo | Tin thay đổi/hết cảnh báo; nhắc 5 phút; cần đo và ghi thời gian thực tế</a:t>
            </a:r>
          </a:p>
          <a:p>
            <a:r>
              <a:t>KT17 | Sai thông tin bot, mất Internet hoặc lỗi NTP | Báo trạng thái gửi; thử lại có giới hạn; không gây dừng đo/điều khiển</a:t>
            </a:r>
          </a:p>
          <a:p>
            <a:r>
              <a:t>KT18 | Không có mẫu DHT hợp lệ quá 30 s lúc làm nóng | Có lỗi DHT trên web và đủ điều kiện gửi Telegram; chờ thử riêng trên phần cứng</a:t>
            </a:r>
          </a:p>
          <a:p>
            <a:endParaRPr/>
          </a:p>
          <a:p>
            <a:r>
              <a:t>9.2 Điều kiện đánh giá</a:t>
            </a:r>
          </a:p>
          <a:p>
            <a:endParaRPr/>
          </a:p>
          <a:p>
            <a:r>
              <a:t>Ưu tiên thử relay bằng lệnh T, đo nhiệt độ/độ ẩm trong điều kiện thông thường và kiểm tra ngưỡng bằng tín hiệu mô phỏng hoặc điều kiện thử có kiểm soát. Không tạo rò rỉ khí dễ cháy gần relay để chứng minh chương trình hoạt động. Chỉ ghi “Đạt” sau khi kiểm tra trên phần cứng.</a:t>
            </a:r>
          </a:p>
          <a:p>
            <a:endParaRPr/>
          </a:p>
          <a:p>
            <a:r>
              <a:t>Phần mềm localhost và cảnh báo DHT kéo dài trong giai đoạn làm nóng đã được bổ sung trong mã nguồn. Chưa có bảng số đo riêng chứng minh toàn bộ phép thử mất mạng, nhắc 5 phút, mọi lỗi cảm biến và độ trễ đầu cuối. Các trường hợp này được giữ ở trạng thái cần kiểm thử, không tự đánh dấu Đạt từ kết quả biên dịch hoặc một tin nhắn.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quả ghi nhận khi tích hợp</a:t>
            </a:r>
          </a:p>
          <a:p>
            <a:endParaRPr/>
          </a:p>
          <a:p>
            <a:r>
              <a:t>9.3 Kết quả ghi nhận khi tích hợp</a:t>
            </a:r>
          </a:p>
          <a:p>
            <a:endParaRPr/>
          </a:p>
          <a:p>
            <a:r>
              <a:t>Log KET_QUA_BIEN_DICH_WEB.log kèm thư mục chương trình ghi nhận biên dịch thành công: 1.178.315 byte bộ nhớ chương trình (56% của 2.097.152 byte); biến toàn cục 49.572 byte (15% của 327.680 byte). Log vẫn có cảnh báo LiquidCrystal I2C khai báo kiến trúc AVR. Biên dịch thành công không thay cho kiểm tra LCD thực tế.</a:t>
            </a:r>
          </a:p>
          <a:p>
            <a:endParaRPr/>
          </a:p>
          <a:p>
            <a:r>
              <a:t>Ảnh Telegram do người vận hành cung cấp cho thấy bot đã nhận tin DA HET CANH BAO với T = 23,2 °C, H = 64,1%, gas = 79, bụi = 1355 (ADC tương đối), relay TAT, giai đoạn ready và uptime 210 giây. Đây là một quan sát trạng thái, không phải bộ dữ liệu đánh giá độ chính xác hay phép đo độ trễ. Người vận hành cũng xác nhận điện thoại mở được web; laptop từng không truy cập được nên cần kiểm tra cùng mạng theo mục 7.6.</a:t>
            </a:r>
          </a:p>
          <a:p>
            <a:endParaRPr/>
          </a:p>
          <a:p>
            <a:r>
              <a:t>Phần mềm localhost và cảnh báo DHT kéo dài trong giai đoạn làm nóng đã được bổ sung trong mã nguồn. Chưa có bảng số đo riêng chứng minh toàn bộ phép thử mất mạng, nhắc 5 phút, mọi lỗi cảm biến và độ trễ đầu cuối. Các trường hợp này được giữ ở trạng thái cần kiểm thử, không tự đánh dấu Đạt từ kết quả biên dịch hoặc một tin nhắn.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Đánh giá chức năng tại thiết bị</a:t>
            </a:r>
          </a:p>
          <a:p>
            <a:endParaRPr/>
          </a:p>
          <a:p>
            <a:r>
              <a:t>10 ĐÁNH GIÁ VÀ HƯỚNG PHÁT TRIỂN</a:t>
            </a:r>
          </a:p>
          <a:p>
            <a:endParaRPr/>
          </a:p>
          <a:p>
            <a:r>
              <a:t>10.1 Kết quả phân tích chức năng</a:t>
            </a:r>
          </a:p>
          <a:p>
            <a:endParaRPr/>
          </a:p>
          <a:p>
            <a:r>
              <a:t>Phiên bản cập nhật đã có trong mã nguồn chuỗi đọc, lọc, kiểm tra và điều khiển, cùng các tác vụ Wi-Fi/web/Telegram. Số mẫu được giảm, còn hysteresis, xác nhận theo thời gian, giữ dữ liệu DHT và thời gian bật relay tối thiểu vẫn được giữ. Người dùng có thể theo dõi tại LCD, web trực tiếp hoặc localhost và nhận tin Telegram mà không phải giữ trang web mở. Các quan sát khi tích hợp được tách khỏi kế hoạch thử ở Chương 9.</a:t>
            </a:r>
          </a:p>
          <a:p>
            <a:endParaRPr/>
          </a:p>
          <a:p>
            <a:r>
              <a:t>Nội dung | Tình trạng trong chương trình</a:t>
            </a:r>
          </a:p>
          <a:p>
            <a:r>
              <a:t>Đọc gas, bụi, nhiệt độ, độ ẩm | Đã có trong mã nguồn</a:t>
            </a:r>
          </a:p>
          <a:p>
            <a:r>
              <a:t>LCD và Serial | Đã có; LCD hiển thị trạng thái cụ thể</a:t>
            </a:r>
          </a:p>
          <a:p>
            <a:r>
              <a:t>Quạt và còi qua relay | Đã có logic cho gas, nhiệt độ và kiểm tra T</a:t>
            </a:r>
          </a:p>
          <a:p>
            <a:r>
              <a:t>Cảnh báo bụi và độ ẩm | Có cờ và thông báo LCD, web, Telegram; không tự yêu cầu relay</a:t>
            </a:r>
          </a:p>
          <a:p>
            <a:r>
              <a:t>Ghi lịch sử Flash hoặc thẻ nhớ | Chưa triển khai</a:t>
            </a:r>
          </a:p>
          <a:p>
            <a:r>
              <a:t>Wi-Fi, thời gian thực và xem từ xa | Đã có AP+STA, web/API, NTP; localhost chuyển tiếp trên laptop</a:t>
            </a:r>
          </a:p>
          <a:p>
            <a:r>
              <a:t>Quy đổi ppm, µg/m³ hoặc AQI | Chưa triển khai và chưa hiệu chuẩn</a:t>
            </a:r>
          </a:p>
          <a:p>
            <a:r>
              <a:t>Sai số, độ trễ và độ bền thực tế | Cần đo và ghi nhận bằng thử nghiệm</a:t>
            </a:r>
          </a:p>
          <a:p>
            <a:r>
              <a:t>Telegram tự động | Đã có gửi thay đổi/hết cảnh báo, nhắc và thử lại; chưa nhận lệnh hội thoại</a:t>
            </a:r>
          </a:p>
          <a:p>
            <a:r>
              <a:t>Biểu đồ và sự kiện trên web | 5 phút dữ liệu và 30 sự kiện trong phiên; không lưu bền vững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Đánh giá kết nối và dữ liệu</a:t>
            </a:r>
          </a:p>
          <a:p>
            <a:endParaRPr/>
          </a:p>
          <a:p>
            <a:r>
              <a:t>10 ĐÁNH GIÁ VÀ HƯỚNG PHÁT TRIỂN</a:t>
            </a:r>
          </a:p>
          <a:p>
            <a:endParaRPr/>
          </a:p>
          <a:p>
            <a:r>
              <a:t>10.1 Kết quả phân tích chức năng</a:t>
            </a:r>
          </a:p>
          <a:p>
            <a:endParaRPr/>
          </a:p>
          <a:p>
            <a:r>
              <a:t>Phiên bản cập nhật đã có trong mã nguồn chuỗi đọc, lọc, kiểm tra và điều khiển, cùng các tác vụ Wi-Fi/web/Telegram. Số mẫu được giảm, còn hysteresis, xác nhận theo thời gian, giữ dữ liệu DHT và thời gian bật relay tối thiểu vẫn được giữ. Người dùng có thể theo dõi tại LCD, web trực tiếp hoặc localhost và nhận tin Telegram mà không phải giữ trang web mở. Các quan sát khi tích hợp được tách khỏi kế hoạch thử ở Chương 9.</a:t>
            </a:r>
          </a:p>
          <a:p>
            <a:endParaRPr/>
          </a:p>
          <a:p>
            <a:r>
              <a:t>Nội dung | Tình trạng trong chương trình</a:t>
            </a:r>
          </a:p>
          <a:p>
            <a:r>
              <a:t>Đọc gas, bụi, nhiệt độ, độ ẩm | Đã có trong mã nguồn</a:t>
            </a:r>
          </a:p>
          <a:p>
            <a:r>
              <a:t>LCD và Serial | Đã có; LCD hiển thị trạng thái cụ thể</a:t>
            </a:r>
          </a:p>
          <a:p>
            <a:r>
              <a:t>Quạt và còi qua relay | Đã có logic cho gas, nhiệt độ và kiểm tra T</a:t>
            </a:r>
          </a:p>
          <a:p>
            <a:r>
              <a:t>Cảnh báo bụi và độ ẩm | Có cờ và thông báo LCD, web, Telegram; không tự yêu cầu relay</a:t>
            </a:r>
          </a:p>
          <a:p>
            <a:r>
              <a:t>Ghi lịch sử Flash hoặc thẻ nhớ | Chưa triển khai</a:t>
            </a:r>
          </a:p>
          <a:p>
            <a:r>
              <a:t>Wi-Fi, thời gian thực và xem từ xa | Đã có AP+STA, web/API, NTP; localhost chuyển tiếp trên laptop</a:t>
            </a:r>
          </a:p>
          <a:p>
            <a:r>
              <a:t>Quy đổi ppm, µg/m³ hoặc AQI | Chưa triển khai và chưa hiệu chuẩn</a:t>
            </a:r>
          </a:p>
          <a:p>
            <a:r>
              <a:t>Sai số, độ trễ và độ bền thực tế | Cần đo và ghi nhận bằng thử nghiệm</a:t>
            </a:r>
          </a:p>
          <a:p>
            <a:r>
              <a:t>Telegram tự động | Đã có gửi thay đổi/hết cảnh báo, nhắc và thử lại; chưa nhận lệnh hội thoại</a:t>
            </a:r>
          </a:p>
          <a:p>
            <a:r>
              <a:t>Biểu đồ và sự kiện trên web | 5 phút dữ liệu và 30 sự kiện trong phiên; không lưu bền vững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Hạn chế cần hoàn thiện</a:t>
            </a:r>
          </a:p>
          <a:p>
            <a:endParaRPr/>
          </a:p>
          <a:p>
            <a:r>
              <a:t>10.2 Các hạn chế cần hoàn thiện</a:t>
            </a:r>
          </a:p>
          <a:p>
            <a:endParaRPr/>
          </a:p>
          <a:p>
            <a:r>
              <a:t>Ngưỡng bụi 1500/1450 là số đếm ADC dùng cho mô hình, không phải chuẩn nồng độ. MQ-2 có thể còn trôi sau 180 giây; giảm số mẫu có thể tăng dao động. Cần xác nhận mã GP2Y, điện trở LED, nguồn và các phép thử lỗi. Biểu đồ/nhật ký web chỉ tồn tại trong phiên trình duyệt; chưa lưu bền vững và chưa có hàng đợi mọi sự kiện khi mất mạng. Web HTTP nội bộ chưa có xác thực người xem.</a:t>
            </a:r>
          </a:p>
          <a:p>
            <a:endParaRPr/>
          </a:p>
          <a:p>
            <a:r>
              <a:t>Có thể bổ sung hàng đợi sự kiện ngoại tuyến, xác thực truy cập web, cấu hình ngưỡng có kiểm soát, phản hồi tốc độ/dòng quạt và điều khiển còi riêng. Nếu phát triển bot nhận lệnh, cần thiết kế riêng quyền truy cập và điều kiện an toàn. Muốn đo PM2.5 hoặc AQI phải dùng phương pháp phù hợp, hiệu chuẩn với thiết bị tham chiếu và xác định tiêu chuẩn áp dụng.</a:t>
            </a:r>
          </a:p>
          <a:p>
            <a:endParaRPr/>
          </a:p>
          <a:p>
            <a:r>
              <a:t>10.4 Kết luận</a:t>
            </a:r>
          </a:p>
          <a:p>
            <a:endParaRPr/>
          </a:p>
          <a:p>
            <a:r>
              <a:t>Mô hình đã được mở rộng từ giám sát tại chỗ sang xem web qua Wi-Fi, xem trên localhost và gửi thông báo Telegram tự động. Quan sát tin nhắn trong quá trình tích hợp cho thấy đã nhận được thông báo hết cảnh báo, nhưng chưa đủ để kết luận mọi tình huống đều đạt. Cần hoàn tất phép thử định lượng và độ bền; mô hình chưa được chứng nhận như thiết bị cảnh báo khí hoặc đo bụi đạt chuẩn.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Hướng phát triển tiếp theo</a:t>
            </a:r>
          </a:p>
          <a:p>
            <a:endParaRPr/>
          </a:p>
          <a:p>
            <a:r>
              <a:t>10.3 Hướng phát triển</a:t>
            </a:r>
          </a:p>
          <a:p>
            <a:endParaRPr/>
          </a:p>
          <a:p>
            <a:r>
              <a:t>Ưu tiên hoàn thiện kiểm thử định thời, lỗi DHT, mất mạng và chuyển trạng thái cảnh báo; xác nhận sơ đồ mạch và điện áp. NTP đã được triển khai để phục vụ HTTPS. Hướng tiếp theo là lưu CSV vào LittleFS/thẻ nhớ hoặc máy chủ, quản lý bộ nhớ theo vòng và lưu thời gian sự kiện; có thể bổ sung RTC nếu cần giữ giờ khi không có mạng.</a:t>
            </a:r>
          </a:p>
          <a:p>
            <a:endParaRPr/>
          </a:p>
          <a:p>
            <a:r>
              <a:t>Có thể bổ sung hàng đợi sự kiện ngoại tuyến, xác thực truy cập web, cấu hình ngưỡng có kiểm soát, phản hồi tốc độ/dòng quạt và điều khiển còi riêng. Nếu phát triển bot nhận lệnh, cần thiết kế riêng quyền truy cập và điều kiện an toàn. Muốn đo PM2.5 hoặc AQI phải dùng phương pháp phù hợp, hiệu chuẩn với thiết bị tham chiếu và xác định tiêu chuẩn áp dụng.</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luận</a:t>
            </a:r>
          </a:p>
          <a:p>
            <a:endParaRPr/>
          </a:p>
          <a:p>
            <a:r>
              <a:t>Phiên bản cập nhật đã có trong mã nguồn chuỗi đọc, lọc, kiểm tra và điều khiển, cùng các tác vụ Wi-Fi/web/Telegram. Số mẫu được giảm, còn hysteresis, xác nhận theo thời gian, giữ dữ liệu DHT và thời gian bật relay tối thiểu vẫn được giữ. Người dùng có thể theo dõi tại LCD, web trực tiếp hoặc localhost và nhận tin Telegram mà không phải giữ trang web mở. Các quan sát khi tích hợp được tách khỏi kế hoạch thử ở Chương 9.</a:t>
            </a:r>
          </a:p>
          <a:p>
            <a:endParaRPr/>
          </a:p>
          <a:p>
            <a:r>
              <a:t>10.4 Kết luận</a:t>
            </a:r>
          </a:p>
          <a:p>
            <a:endParaRPr/>
          </a:p>
          <a:p>
            <a:r>
              <a:t>Mô hình đã được mở rộng từ giám sát tại chỗ sang xem web qua Wi-Fi, xem trên localhost và gửi thông báo Telegram tự động. Quan sát tin nhắn trong quá trình tích hợp cho thấy đã nhận được thông báo hết cảnh báo, nhưng chưa đủ để kết luận mọi tình huống đều đạt. Cần hoàn tất phép thử định lượng và độ bền; mô hình chưa được chứng nhận như thiết bị cảnh báo khí hoặc đo bụi đạt chuẩn.</a:t>
            </a:r>
          </a:p>
          <a:p>
            <a:endParaRPr/>
          </a:p>
          <a:p>
            <a:r>
              <a:t>Nguồn: Báo cáo đồ án 19, Nhóm 11, Hệ thống giám sát chất lượng không khí mini, bản cập nhật Web và Telegram (file Word do nhóm cung cấp). Phiên bản mô tả: BUI1500_180s. Các nội dung ghi nhận và giới hạn kiểm thử theo báo cáo.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33B5FB2-92E4-426D-8A3A-78086590E7E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37F6BA04-E699-42D1-9F10-4CE487EEC80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6922551-1A48-469E-B033-DF4D22066A6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2C8E759-07E3-4B7B-889A-83221F9B8AB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773FE3A6-CC47-4ECD-A4A8-E97D2139125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1A35272-0BE3-4B02-845E-13C2BA41866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C2CC58E-ACFD-4773-AB36-1A2306C5391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9DD4CF55-DDFD-42D1-819D-FC77F09E1F08}"/>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C1C1B5F-D8D3-4BFD-82D9-F7C93352112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308AB7F-2A4C-4FA9-BD2F-37B8E152271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047"/>
        </a:solidFill>
        <a:effectLst/>
      </p:bgPr>
    </p:bg>
    <p:spTree>
      <p:nvGrpSpPr>
        <p:cNvPr id="1" name=""/>
        <p:cNvGrpSpPr/>
        <p:nvPr/>
      </p:nvGrpSpPr>
      <p:grpSpPr>
        <a:xfrm>
          <a:off x="0" y="0"/>
          <a:ext cx="0" cy="0"/>
          <a:chOff x="0" y="0"/>
          <a:chExt cx="0" cy="0"/>
        </a:xfrm>
      </p:grpSpPr>
      <p:sp>
        <p:nvSpPr>
          <p:cNvPr id="8" name="text-1">
            <a:extLst>
              <a:ext uri="{FF2B5EF4-FFF2-40B4-BE49-F238E27FC236}">
                <a16:creationId xmlns:a16="http://schemas.microsoft.com/office/drawing/2014/main" id="{46CE06DB-8C05-4788-B1BB-1ACC03CF9949}"/>
              </a:ext>
            </a:extLst>
          </p:cNvPr>
          <p:cNvSpPr>
            <a:spLocks noGrp="1"/>
          </p:cNvSpPr>
          <p:nvPr/>
        </p:nvSpPr>
        <p:spPr>
          <a:xfrm>
            <a:off x="609600" y="466725"/>
            <a:ext cx="8953500" cy="685800"/>
          </a:xfrm>
          <a:prstGeom prst="rect">
            <a:avLst/>
          </a:prstGeom>
          <a:noFill/>
          <a:ln w="0">
            <a:noFill/>
            <a:prstDash val="solid"/>
          </a:ln>
        </p:spPr>
        <p:txBody>
          <a:bodyPr wrap="square" lIns="0" tIns="0" rIns="0" bIns="0" anchor="t">
            <a:noAutofit/>
          </a:bodyPr>
          <a:lstStyle>
            <a:defPPr algn="l">
              <a:defRPr sz="1800" b="1">
                <a:solidFill>
                  <a:srgbClr val="FFFFFF"/>
                </a:solidFill>
                <a:latin typeface="DejaVu Sans"/>
                <a:ea typeface="DejaVu Sans"/>
                <a:cs typeface="DejaVu Sans"/>
              </a:defRPr>
            </a:defPPr>
            <a:lvl1pPr algn="l">
              <a:defRPr sz="1800" b="1">
                <a:solidFill>
                  <a:srgbClr val="FFFFFF"/>
                </a:solidFill>
                <a:latin typeface="DejaVu Sans"/>
                <a:ea typeface="DejaVu Sans"/>
                <a:cs typeface="DejaVu Sans"/>
              </a:defRPr>
            </a:lvl1pPr>
            <a:lvl2pPr algn="l">
              <a:defRPr sz="1800" b="1">
                <a:solidFill>
                  <a:srgbClr val="FFFFFF"/>
                </a:solidFill>
                <a:latin typeface="DejaVu Sans"/>
                <a:ea typeface="DejaVu Sans"/>
                <a:cs typeface="DejaVu Sans"/>
              </a:defRPr>
            </a:lvl2pPr>
            <a:lvl3pPr algn="l">
              <a:defRPr sz="1800" b="1">
                <a:solidFill>
                  <a:srgbClr val="FFFFFF"/>
                </a:solidFill>
                <a:latin typeface="DejaVu Sans"/>
                <a:ea typeface="DejaVu Sans"/>
                <a:cs typeface="DejaVu Sans"/>
              </a:defRPr>
            </a:lvl3pPr>
            <a:lvl4pPr algn="l">
              <a:defRPr sz="1800" b="1">
                <a:solidFill>
                  <a:srgbClr val="FFFFFF"/>
                </a:solidFill>
                <a:latin typeface="DejaVu Sans"/>
                <a:ea typeface="DejaVu Sans"/>
                <a:cs typeface="DejaVu Sans"/>
              </a:defRPr>
            </a:lvl4pPr>
            <a:lvl5pPr algn="l">
              <a:defRPr sz="1800" b="1">
                <a:solidFill>
                  <a:srgbClr val="FFFFFF"/>
                </a:solidFill>
                <a:latin typeface="DejaVu Sans"/>
                <a:ea typeface="DejaVu Sans"/>
                <a:cs typeface="DejaVu Sans"/>
              </a:defRPr>
            </a:lvl5pPr>
            <a:lvl6pPr algn="l">
              <a:defRPr sz="1800" b="1">
                <a:solidFill>
                  <a:srgbClr val="FFFFFF"/>
                </a:solidFill>
                <a:latin typeface="DejaVu Sans"/>
                <a:ea typeface="DejaVu Sans"/>
                <a:cs typeface="DejaVu Sans"/>
              </a:defRPr>
            </a:lvl6pPr>
            <a:lvl7pPr algn="l">
              <a:defRPr sz="1800" b="1">
                <a:solidFill>
                  <a:srgbClr val="FFFFFF"/>
                </a:solidFill>
                <a:latin typeface="DejaVu Sans"/>
                <a:ea typeface="DejaVu Sans"/>
                <a:cs typeface="DejaVu Sans"/>
              </a:defRPr>
            </a:lvl7pPr>
            <a:lvl8pPr algn="l">
              <a:defRPr sz="1800" b="1">
                <a:solidFill>
                  <a:srgbClr val="FFFFFF"/>
                </a:solidFill>
                <a:latin typeface="DejaVu Sans"/>
                <a:ea typeface="DejaVu Sans"/>
                <a:cs typeface="DejaVu Sans"/>
              </a:defRPr>
            </a:lvl8pPr>
            <a:lvl9pPr algn="l">
              <a:defRPr sz="1800" b="1">
                <a:solidFill>
                  <a:srgbClr val="FFFFFF"/>
                </a:solidFill>
                <a:latin typeface="DejaVu Sans"/>
                <a:ea typeface="DejaVu Sans"/>
                <a:cs typeface="DejaVu Sans"/>
              </a:defRPr>
            </a:lvl9pPr>
          </a:lstStyle>
          <a:p>
            <a:pPr algn="l">
              <a:lnSpc>
                <a:spcPct val="112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TRƯỜNG ĐẠI HỌC CÔNG NGHỆ KỸ THUẬT</a:t>
            </a:r>
          </a:p>
          <a:p>
            <a:pPr algn="l">
              <a:lnSpc>
                <a:spcPct val="112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TP. HỒ CHÍ MINH</a:t>
            </a:r>
          </a:p>
        </p:txBody>
      </p:sp>
      <p:sp>
        <p:nvSpPr>
          <p:cNvPr id="2" name="text-2">
            <a:extLst>
              <a:ext uri="{FF2B5EF4-FFF2-40B4-BE49-F238E27FC236}">
                <a16:creationId xmlns:a16="http://schemas.microsoft.com/office/drawing/2014/main" id="{EDAEF075-87C9-4C57-BD57-A0A48C487B70}"/>
              </a:ext>
            </a:extLst>
          </p:cNvPr>
          <p:cNvSpPr>
            <a:spLocks noGrp="1"/>
          </p:cNvSpPr>
          <p:nvPr/>
        </p:nvSpPr>
        <p:spPr>
          <a:xfrm>
            <a:off x="609600" y="1257300"/>
            <a:ext cx="8572500" cy="314325"/>
          </a:xfrm>
          <a:prstGeom prst="rect">
            <a:avLst/>
          </a:prstGeom>
          <a:noFill/>
          <a:ln w="0">
            <a:noFill/>
            <a:prstDash val="solid"/>
          </a:ln>
        </p:spPr>
        <p:txBody>
          <a:bodyPr wrap="square" lIns="0" tIns="0" rIns="0" bIns="0" anchor="t">
            <a:noAutofit/>
          </a:bodyPr>
          <a:lstStyle>
            <a:defPPr algn="l">
              <a:defRPr sz="1575" b="0">
                <a:solidFill>
                  <a:srgbClr val="AFCBD5"/>
                </a:solidFill>
                <a:latin typeface="DejaVu Sans"/>
                <a:ea typeface="DejaVu Sans"/>
                <a:cs typeface="DejaVu Sans"/>
              </a:defRPr>
            </a:defPPr>
            <a:lvl1pPr algn="l">
              <a:defRPr sz="1575" b="0">
                <a:solidFill>
                  <a:srgbClr val="AFCBD5"/>
                </a:solidFill>
                <a:latin typeface="DejaVu Sans"/>
                <a:ea typeface="DejaVu Sans"/>
                <a:cs typeface="DejaVu Sans"/>
              </a:defRPr>
            </a:lvl1pPr>
            <a:lvl2pPr algn="l">
              <a:defRPr sz="1575" b="0">
                <a:solidFill>
                  <a:srgbClr val="AFCBD5"/>
                </a:solidFill>
                <a:latin typeface="DejaVu Sans"/>
                <a:ea typeface="DejaVu Sans"/>
                <a:cs typeface="DejaVu Sans"/>
              </a:defRPr>
            </a:lvl2pPr>
            <a:lvl3pPr algn="l">
              <a:defRPr sz="1575" b="0">
                <a:solidFill>
                  <a:srgbClr val="AFCBD5"/>
                </a:solidFill>
                <a:latin typeface="DejaVu Sans"/>
                <a:ea typeface="DejaVu Sans"/>
                <a:cs typeface="DejaVu Sans"/>
              </a:defRPr>
            </a:lvl3pPr>
            <a:lvl4pPr algn="l">
              <a:defRPr sz="1575" b="0">
                <a:solidFill>
                  <a:srgbClr val="AFCBD5"/>
                </a:solidFill>
                <a:latin typeface="DejaVu Sans"/>
                <a:ea typeface="DejaVu Sans"/>
                <a:cs typeface="DejaVu Sans"/>
              </a:defRPr>
            </a:lvl4pPr>
            <a:lvl5pPr algn="l">
              <a:defRPr sz="1575" b="0">
                <a:solidFill>
                  <a:srgbClr val="AFCBD5"/>
                </a:solidFill>
                <a:latin typeface="DejaVu Sans"/>
                <a:ea typeface="DejaVu Sans"/>
                <a:cs typeface="DejaVu Sans"/>
              </a:defRPr>
            </a:lvl5pPr>
            <a:lvl6pPr algn="l">
              <a:defRPr sz="1575" b="0">
                <a:solidFill>
                  <a:srgbClr val="AFCBD5"/>
                </a:solidFill>
                <a:latin typeface="DejaVu Sans"/>
                <a:ea typeface="DejaVu Sans"/>
                <a:cs typeface="DejaVu Sans"/>
              </a:defRPr>
            </a:lvl6pPr>
            <a:lvl7pPr algn="l">
              <a:defRPr sz="1575" b="0">
                <a:solidFill>
                  <a:srgbClr val="AFCBD5"/>
                </a:solidFill>
                <a:latin typeface="DejaVu Sans"/>
                <a:ea typeface="DejaVu Sans"/>
                <a:cs typeface="DejaVu Sans"/>
              </a:defRPr>
            </a:lvl7pPr>
            <a:lvl8pPr algn="l">
              <a:defRPr sz="1575" b="0">
                <a:solidFill>
                  <a:srgbClr val="AFCBD5"/>
                </a:solidFill>
                <a:latin typeface="DejaVu Sans"/>
                <a:ea typeface="DejaVu Sans"/>
                <a:cs typeface="DejaVu Sans"/>
              </a:defRPr>
            </a:lvl8pPr>
            <a:lvl9pPr algn="l">
              <a:defRPr sz="1575" b="0">
                <a:solidFill>
                  <a:srgbClr val="AFCBD5"/>
                </a:solidFill>
                <a:latin typeface="DejaVu Sans"/>
                <a:ea typeface="DejaVu Sans"/>
                <a:cs typeface="DejaVu Sans"/>
              </a:defRPr>
            </a:lvl9pPr>
          </a:lstStyle>
          <a:p>
            <a:pPr algn="l">
              <a:lnSpc>
                <a:spcPct val="112000"/>
              </a:lnSpc>
              <a:buNone/>
              <a:defRPr sz="1575" b="0">
                <a:solidFill>
                  <a:srgbClr val="AFCBD5"/>
                </a:solidFill>
                <a:latin typeface="DejaVu Sans"/>
                <a:ea typeface="DejaVu Sans"/>
                <a:cs typeface="DejaVu Sans"/>
              </a:defRPr>
            </a:pPr>
            <a:r>
              <a:rPr sz="1575" b="0">
                <a:solidFill>
                  <a:srgbClr val="AFCBD5"/>
                </a:solidFill>
                <a:latin typeface="DejaVu Sans"/>
                <a:ea typeface="DejaVu Sans"/>
                <a:cs typeface="DejaVu Sans"/>
              </a:rPr>
              <a:t>KHOA CÔNG NGHỆ THÔNG TIN</a:t>
            </a:r>
          </a:p>
        </p:txBody>
      </p:sp>
      <p:pic>
        <p:nvPicPr>
          <p:cNvPr id="3" name="Picture 2">
            <a:extLst>
              <a:ext uri="{FF2B5EF4-FFF2-40B4-BE49-F238E27FC236}">
                <a16:creationId xmlns:a16="http://schemas.microsoft.com/office/drawing/2014/main" id="{EA4E58AB-A14C-430F-9805-A1714DFA7A16}"/>
              </a:ext>
            </a:extLst>
          </p:cNvPr>
          <p:cNvPicPr>
            <a:picLocks noChangeAspect="1"/>
          </p:cNvPicPr>
          <p:nvPr/>
        </p:nvPicPr>
        <p:blipFill>
          <a:blip r:embed="rId3"/>
          <a:stretch/>
        </p:blipFill>
        <p:spPr>
          <a:xfrm>
            <a:off x="9182100" y="192651"/>
            <a:ext cx="2477898" cy="3000375"/>
          </a:xfrm>
          <a:prstGeom prst="rect">
            <a:avLst/>
          </a:prstGeom>
        </p:spPr>
      </p:pic>
      <p:sp>
        <p:nvSpPr>
          <p:cNvPr id="4" name="cover-title">
            <a:extLst>
              <a:ext uri="{FF2B5EF4-FFF2-40B4-BE49-F238E27FC236}">
                <a16:creationId xmlns:a16="http://schemas.microsoft.com/office/drawing/2014/main" id="{6E2FF52A-091B-42C6-B569-F9DF333B050A}"/>
              </a:ext>
            </a:extLst>
          </p:cNvPr>
          <p:cNvSpPr>
            <a:spLocks noGrp="1"/>
          </p:cNvSpPr>
          <p:nvPr/>
        </p:nvSpPr>
        <p:spPr>
          <a:xfrm>
            <a:off x="609600" y="2238375"/>
            <a:ext cx="10934700" cy="2352675"/>
          </a:xfrm>
          <a:prstGeom prst="rect">
            <a:avLst/>
          </a:prstGeom>
          <a:noFill/>
          <a:ln w="0">
            <a:noFill/>
            <a:prstDash val="solid"/>
          </a:ln>
        </p:spPr>
        <p:txBody>
          <a:bodyPr wrap="square" lIns="0" tIns="0" rIns="0" bIns="0" anchor="t">
            <a:noAutofit/>
          </a:bodyPr>
          <a:lstStyle>
            <a:defPPr algn="l">
              <a:defRPr sz="4575" b="1">
                <a:solidFill>
                  <a:srgbClr val="FFFFFF"/>
                </a:solidFill>
                <a:latin typeface="DejaVu Sans"/>
                <a:ea typeface="DejaVu Sans"/>
                <a:cs typeface="DejaVu Sans"/>
              </a:defRPr>
            </a:defPPr>
            <a:lvl1pPr algn="l">
              <a:defRPr sz="4575" b="1">
                <a:solidFill>
                  <a:srgbClr val="FFFFFF"/>
                </a:solidFill>
                <a:latin typeface="DejaVu Sans"/>
                <a:ea typeface="DejaVu Sans"/>
                <a:cs typeface="DejaVu Sans"/>
              </a:defRPr>
            </a:lvl1pPr>
            <a:lvl2pPr algn="l">
              <a:defRPr sz="4575" b="1">
                <a:solidFill>
                  <a:srgbClr val="FFFFFF"/>
                </a:solidFill>
                <a:latin typeface="DejaVu Sans"/>
                <a:ea typeface="DejaVu Sans"/>
                <a:cs typeface="DejaVu Sans"/>
              </a:defRPr>
            </a:lvl2pPr>
            <a:lvl3pPr algn="l">
              <a:defRPr sz="4575" b="1">
                <a:solidFill>
                  <a:srgbClr val="FFFFFF"/>
                </a:solidFill>
                <a:latin typeface="DejaVu Sans"/>
                <a:ea typeface="DejaVu Sans"/>
                <a:cs typeface="DejaVu Sans"/>
              </a:defRPr>
            </a:lvl3pPr>
            <a:lvl4pPr algn="l">
              <a:defRPr sz="4575" b="1">
                <a:solidFill>
                  <a:srgbClr val="FFFFFF"/>
                </a:solidFill>
                <a:latin typeface="DejaVu Sans"/>
                <a:ea typeface="DejaVu Sans"/>
                <a:cs typeface="DejaVu Sans"/>
              </a:defRPr>
            </a:lvl4pPr>
            <a:lvl5pPr algn="l">
              <a:defRPr sz="4575" b="1">
                <a:solidFill>
                  <a:srgbClr val="FFFFFF"/>
                </a:solidFill>
                <a:latin typeface="DejaVu Sans"/>
                <a:ea typeface="DejaVu Sans"/>
                <a:cs typeface="DejaVu Sans"/>
              </a:defRPr>
            </a:lvl5pPr>
            <a:lvl6pPr algn="l">
              <a:defRPr sz="4575" b="1">
                <a:solidFill>
                  <a:srgbClr val="FFFFFF"/>
                </a:solidFill>
                <a:latin typeface="DejaVu Sans"/>
                <a:ea typeface="DejaVu Sans"/>
                <a:cs typeface="DejaVu Sans"/>
              </a:defRPr>
            </a:lvl6pPr>
            <a:lvl7pPr algn="l">
              <a:defRPr sz="4575" b="1">
                <a:solidFill>
                  <a:srgbClr val="FFFFFF"/>
                </a:solidFill>
                <a:latin typeface="DejaVu Sans"/>
                <a:ea typeface="DejaVu Sans"/>
                <a:cs typeface="DejaVu Sans"/>
              </a:defRPr>
            </a:lvl7pPr>
            <a:lvl8pPr algn="l">
              <a:defRPr sz="4575" b="1">
                <a:solidFill>
                  <a:srgbClr val="FFFFFF"/>
                </a:solidFill>
                <a:latin typeface="DejaVu Sans"/>
                <a:ea typeface="DejaVu Sans"/>
                <a:cs typeface="DejaVu Sans"/>
              </a:defRPr>
            </a:lvl8pPr>
            <a:lvl9pPr algn="l">
              <a:defRPr sz="4575" b="1">
                <a:solidFill>
                  <a:srgbClr val="FFFFFF"/>
                </a:solidFill>
                <a:latin typeface="DejaVu Sans"/>
                <a:ea typeface="DejaVu Sans"/>
                <a:cs typeface="DejaVu Sans"/>
              </a:defRPr>
            </a:lvl9pPr>
          </a:lstStyle>
          <a:p>
            <a:pPr algn="l">
              <a:lnSpc>
                <a:spcPct val="112000"/>
              </a:lnSpc>
              <a:buNone/>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HỆ THỐNG GIÁM SÁT</a:t>
            </a:r>
          </a:p>
          <a:p>
            <a:pPr algn="l">
              <a:lnSpc>
                <a:spcPct val="112000"/>
              </a:lnSpc>
              <a:buNone/>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CHẤT LƯỢNG</a:t>
            </a:r>
          </a:p>
          <a:p>
            <a:pPr algn="l">
              <a:lnSpc>
                <a:spcPct val="112000"/>
              </a:lnSpc>
              <a:buNone/>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KHÔNG KHÍ MINI</a:t>
            </a:r>
          </a:p>
        </p:txBody>
      </p:sp>
      <p:sp>
        <p:nvSpPr>
          <p:cNvPr id="6" name="text-4">
            <a:extLst>
              <a:ext uri="{FF2B5EF4-FFF2-40B4-BE49-F238E27FC236}">
                <a16:creationId xmlns:a16="http://schemas.microsoft.com/office/drawing/2014/main" id="{96E24E89-2F92-48BC-B103-3A054D74DD9D}"/>
              </a:ext>
            </a:extLst>
          </p:cNvPr>
          <p:cNvSpPr>
            <a:spLocks noGrp="1"/>
          </p:cNvSpPr>
          <p:nvPr/>
        </p:nvSpPr>
        <p:spPr>
          <a:xfrm>
            <a:off x="609600" y="4733925"/>
            <a:ext cx="4905375" cy="838200"/>
          </a:xfrm>
          <a:prstGeom prst="rect">
            <a:avLst/>
          </a:prstGeom>
          <a:noFill/>
          <a:ln w="0">
            <a:noFill/>
            <a:prstDash val="solid"/>
          </a:ln>
        </p:spPr>
        <p:txBody>
          <a:bodyPr wrap="square" lIns="0" tIns="0" rIns="0" bIns="0" anchor="t">
            <a:noAutofit/>
          </a:bodyPr>
          <a:lstStyle>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a:pPr algn="l">
              <a:lnSpc>
                <a:spcPct val="112000"/>
              </a:lnSpc>
              <a:buNone/>
              <a:defRPr sz="1875" b="0">
                <a:solidFill>
                  <a:srgbClr val="FFFFFF"/>
                </a:solidFill>
                <a:latin typeface="DejaVu Sans"/>
                <a:ea typeface="DejaVu Sans"/>
                <a:cs typeface="DejaVu Sans"/>
              </a:defRPr>
            </a:pPr>
            <a:r>
              <a:rPr sz="1875" b="0" dirty="0">
                <a:solidFill>
                  <a:srgbClr val="FFFFFF"/>
                </a:solidFill>
                <a:latin typeface="DejaVu Sans"/>
                <a:ea typeface="DejaVu Sans"/>
                <a:cs typeface="DejaVu Sans"/>
              </a:rPr>
              <a:t>NHÓM 11</a:t>
            </a:r>
          </a:p>
          <a:p>
            <a:pPr algn="l">
              <a:lnSpc>
                <a:spcPct val="112000"/>
              </a:lnSpc>
              <a:buNone/>
              <a:defRPr sz="1875" b="0">
                <a:solidFill>
                  <a:srgbClr val="FFFFFF"/>
                </a:solidFill>
                <a:latin typeface="DejaVu Sans"/>
                <a:ea typeface="DejaVu Sans"/>
                <a:cs typeface="DejaVu Sans"/>
              </a:defRPr>
            </a:pPr>
            <a:r>
              <a:rPr sz="1875" b="0" dirty="0">
                <a:solidFill>
                  <a:srgbClr val="FFFFFF"/>
                </a:solidFill>
                <a:latin typeface="DejaVu Sans"/>
                <a:ea typeface="DejaVu Sans"/>
                <a:cs typeface="DejaVu Sans"/>
              </a:rPr>
              <a:t>GVHD: </a:t>
            </a:r>
            <a:r>
              <a:rPr sz="1875" b="0" dirty="0" err="1">
                <a:solidFill>
                  <a:srgbClr val="FFFFFF"/>
                </a:solidFill>
                <a:latin typeface="DejaVu Sans"/>
                <a:ea typeface="DejaVu Sans"/>
                <a:cs typeface="DejaVu Sans"/>
              </a:rPr>
              <a:t>ThS</a:t>
            </a:r>
            <a:r>
              <a:rPr sz="1875" b="0" dirty="0">
                <a:solidFill>
                  <a:srgbClr val="FFFFFF"/>
                </a:solidFill>
                <a:latin typeface="DejaVu Sans"/>
                <a:ea typeface="DejaVu Sans"/>
                <a:cs typeface="DejaVu Sans"/>
              </a:rPr>
              <a:t>. Võ Lê Phúc Hậu</a:t>
            </a:r>
          </a:p>
        </p:txBody>
      </p:sp>
    </p:spTree>
    <p:extLst>
      <p:ext uri="{BB962C8B-B14F-4D97-AF65-F5344CB8AC3E}">
        <p14:creationId xmlns:p14="http://schemas.microsoft.com/office/powerpoint/2010/main" val="908771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21A8B509-1B06-4C55-BD67-36A932ED7672}"/>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Thành viên và phân công nhiệm vụ</a:t>
            </a:r>
          </a:p>
        </p:txBody>
      </p:sp>
      <p:sp>
        <p:nvSpPr>
          <p:cNvPr id="2" name="rule-6">
            <a:extLst>
              <a:ext uri="{FF2B5EF4-FFF2-40B4-BE49-F238E27FC236}">
                <a16:creationId xmlns:a16="http://schemas.microsoft.com/office/drawing/2014/main" id="{ED5AA6E4-8D59-42B7-A036-21A9708DA96D}"/>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FF355123-925B-4AC1-8FCC-6A05EFA54EB3}"/>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Nhóm 11</a:t>
            </a:r>
          </a:p>
        </p:txBody>
      </p:sp>
      <p:sp>
        <p:nvSpPr>
          <p:cNvPr id="4" name="slide-number">
            <a:extLst>
              <a:ext uri="{FF2B5EF4-FFF2-40B4-BE49-F238E27FC236}">
                <a16:creationId xmlns:a16="http://schemas.microsoft.com/office/drawing/2014/main" id="{2EA85E9F-91AC-4805-A1B7-C1AFCA52A58B}"/>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02</a:t>
            </a:r>
          </a:p>
        </p:txBody>
      </p:sp>
      <p:graphicFrame>
        <p:nvGraphicFramePr>
          <p:cNvPr id="5" name="Table 4">
            <a:extLst>
              <a:ext uri="{FF2B5EF4-FFF2-40B4-BE49-F238E27FC236}">
                <a16:creationId xmlns:a16="http://schemas.microsoft.com/office/drawing/2014/main" id="{18319DC0-4052-4DDE-A9CC-BC18B6158822}"/>
              </a:ext>
            </a:extLst>
          </p:cNvPr>
          <p:cNvGraphicFramePr/>
          <p:nvPr/>
        </p:nvGraphicFramePr>
        <p:xfrm>
          <a:off x="609600" y="1657350"/>
          <a:ext cx="10972800" cy="4410075"/>
        </p:xfrm>
        <a:graphic>
          <a:graphicData uri="http://schemas.openxmlformats.org/drawingml/2006/table">
            <a:tbl>
              <a:tblPr firstRow="1"/>
              <a:tblGrid>
                <a:gridCol w="2852928">
                  <a:extLst>
                    <a:ext uri="{9D8B030D-6E8A-4147-A177-3AD203B41FA5}">
                      <a16:colId xmlns:a16="http://schemas.microsoft.com/office/drawing/2014/main" val="20000"/>
                    </a:ext>
                  </a:extLst>
                </a:gridCol>
                <a:gridCol w="1975104">
                  <a:extLst>
                    <a:ext uri="{9D8B030D-6E8A-4147-A177-3AD203B41FA5}">
                      <a16:colId xmlns:a16="http://schemas.microsoft.com/office/drawing/2014/main" val="20001"/>
                    </a:ext>
                  </a:extLst>
                </a:gridCol>
                <a:gridCol w="6144768">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Thành viên</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MSSV</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Nhiệm vụ</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1295400">
                <a:tc>
                  <a:txBody>
                    <a:bodyPr/>
                    <a:lstStyle/>
                    <a:p>
                      <a:r>
                        <a:rPr sz="1725">
                          <a:solidFill>
                            <a:srgbClr val="263E50"/>
                          </a:solidFill>
                          <a:latin typeface="DejaVu Sans"/>
                          <a:ea typeface="DejaVu Sans"/>
                          <a:cs typeface="DejaVu Sans"/>
                        </a:rPr>
                        <a:t>Trang Sĩ Hoàng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24162035</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Lập trình hệ thống, nạp code ESP32-S3</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1295400">
                <a:tc>
                  <a:txBody>
                    <a:bodyPr/>
                    <a:lstStyle/>
                    <a:p>
                      <a:r>
                        <a:rPr sz="1725">
                          <a:solidFill>
                            <a:srgbClr val="263E50"/>
                          </a:solidFill>
                          <a:latin typeface="DejaVu Sans"/>
                          <a:ea typeface="DejaVu Sans"/>
                          <a:cs typeface="DejaVu Sans"/>
                        </a:rPr>
                        <a:t>Vũ Trọng Hưng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24162053</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Thực hiện báo cáo, hỗ trợ phần cứng và phần mềm</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1295400">
                <a:tc>
                  <a:txBody>
                    <a:bodyPr/>
                    <a:lstStyle/>
                    <a:p>
                      <a:r>
                        <a:rPr sz="1725">
                          <a:solidFill>
                            <a:srgbClr val="263E50"/>
                          </a:solidFill>
                          <a:latin typeface="DejaVu Sans"/>
                          <a:ea typeface="DejaVu Sans"/>
                          <a:cs typeface="DejaVu Sans"/>
                        </a:rPr>
                        <a:t>Võ Văn Trường Kha</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24162054</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Nối mạch, lắp ráp cảm biến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68423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79F2FE3C-EEC9-43EA-824C-0C78A710CF9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Nội dung báo cáo</a:t>
            </a:r>
          </a:p>
        </p:txBody>
      </p:sp>
      <p:sp>
        <p:nvSpPr>
          <p:cNvPr id="2" name="rule-7">
            <a:extLst>
              <a:ext uri="{FF2B5EF4-FFF2-40B4-BE49-F238E27FC236}">
                <a16:creationId xmlns:a16="http://schemas.microsoft.com/office/drawing/2014/main" id="{FF9D8814-F30F-4F0D-9865-FFB7EDCA3E40}"/>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7BAA6B91-79CE-4B14-A465-F88345531C9D}"/>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Bố cục</a:t>
            </a:r>
          </a:p>
        </p:txBody>
      </p:sp>
      <p:sp>
        <p:nvSpPr>
          <p:cNvPr id="4" name="slide-number">
            <a:extLst>
              <a:ext uri="{FF2B5EF4-FFF2-40B4-BE49-F238E27FC236}">
                <a16:creationId xmlns:a16="http://schemas.microsoft.com/office/drawing/2014/main" id="{0A18B79B-B3BF-4E5F-9CC1-57ACE05E386C}"/>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03</a:t>
            </a:r>
          </a:p>
        </p:txBody>
      </p:sp>
      <p:sp>
        <p:nvSpPr>
          <p:cNvPr id="5" name="text-8">
            <a:extLst>
              <a:ext uri="{FF2B5EF4-FFF2-40B4-BE49-F238E27FC236}">
                <a16:creationId xmlns:a16="http://schemas.microsoft.com/office/drawing/2014/main" id="{F1A1B6B9-A5F9-4370-A894-7E3DFD4804E7}"/>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Thiết kế và xử lý tại thiết bị</a:t>
            </a:r>
          </a:p>
        </p:txBody>
      </p:sp>
      <p:sp>
        <p:nvSpPr>
          <p:cNvPr id="6" name="text-9">
            <a:extLst>
              <a:ext uri="{FF2B5EF4-FFF2-40B4-BE49-F238E27FC236}">
                <a16:creationId xmlns:a16="http://schemas.microsoft.com/office/drawing/2014/main" id="{5612056F-C0C7-4371-8E0B-B10EEF85C483}"/>
              </a:ext>
            </a:extLst>
          </p:cNvPr>
          <p:cNvSpPr>
            <a:spLocks noGrp="1"/>
          </p:cNvSpPr>
          <p:nvPr/>
        </p:nvSpPr>
        <p:spPr>
          <a:xfrm>
            <a:off x="609600" y="2209800"/>
            <a:ext cx="5200650" cy="350044"/>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01. Tổng quan đề tài</a:t>
            </a:r>
          </a:p>
        </p:txBody>
      </p:sp>
      <p:sp>
        <p:nvSpPr>
          <p:cNvPr id="7" name="text-10">
            <a:extLst>
              <a:ext uri="{FF2B5EF4-FFF2-40B4-BE49-F238E27FC236}">
                <a16:creationId xmlns:a16="http://schemas.microsoft.com/office/drawing/2014/main" id="{439676E3-4BCC-4844-8276-EE012E8EB15D}"/>
              </a:ext>
            </a:extLst>
          </p:cNvPr>
          <p:cNvSpPr>
            <a:spLocks noGrp="1"/>
          </p:cNvSpPr>
          <p:nvPr/>
        </p:nvSpPr>
        <p:spPr>
          <a:xfrm>
            <a:off x="609600" y="27312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02–03. Cơ sở kỹ thuật, linh kiện và kết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nối phần cứng</a:t>
            </a:r>
          </a:p>
        </p:txBody>
      </p:sp>
      <p:sp>
        <p:nvSpPr>
          <p:cNvPr id="8" name="text-11">
            <a:extLst>
              <a:ext uri="{FF2B5EF4-FFF2-40B4-BE49-F238E27FC236}">
                <a16:creationId xmlns:a16="http://schemas.microsoft.com/office/drawing/2014/main" id="{C2110CCF-C954-48DE-8B70-15538C05C787}"/>
              </a:ext>
            </a:extLst>
          </p:cNvPr>
          <p:cNvSpPr>
            <a:spLocks noGrp="1"/>
          </p:cNvSpPr>
          <p:nvPr/>
        </p:nvSpPr>
        <p:spPr>
          <a:xfrm>
            <a:off x="609600" y="3574256"/>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04–05. Thu thập dữ liệu, hiệu chỉnh,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cảnh báo và điều khiển</a:t>
            </a:r>
          </a:p>
        </p:txBody>
      </p:sp>
      <p:sp>
        <p:nvSpPr>
          <p:cNvPr id="9" name="text-12">
            <a:extLst>
              <a:ext uri="{FF2B5EF4-FFF2-40B4-BE49-F238E27FC236}">
                <a16:creationId xmlns:a16="http://schemas.microsoft.com/office/drawing/2014/main" id="{D5716DFE-B99D-4749-A5BA-F5DF30A38670}"/>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Phần mềm và đánh giá</a:t>
            </a:r>
          </a:p>
        </p:txBody>
      </p:sp>
      <p:sp>
        <p:nvSpPr>
          <p:cNvPr id="10" name="text-13">
            <a:extLst>
              <a:ext uri="{FF2B5EF4-FFF2-40B4-BE49-F238E27FC236}">
                <a16:creationId xmlns:a16="http://schemas.microsoft.com/office/drawing/2014/main" id="{F448C648-4EDD-4832-983F-B67E04CCFF00}"/>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06–07. Phần mềm, thời gian thực, cài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đặt và vận hành</a:t>
            </a:r>
          </a:p>
        </p:txBody>
      </p:sp>
      <p:sp>
        <p:nvSpPr>
          <p:cNvPr id="11" name="text-14">
            <a:extLst>
              <a:ext uri="{FF2B5EF4-FFF2-40B4-BE49-F238E27FC236}">
                <a16:creationId xmlns:a16="http://schemas.microsoft.com/office/drawing/2014/main" id="{2060B013-401F-4DBB-8389-1C7C73448F1F}"/>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08–09. Các vấn đề hệ thống nhúng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phương án kiểm thử</a:t>
            </a:r>
          </a:p>
        </p:txBody>
      </p:sp>
      <p:sp>
        <p:nvSpPr>
          <p:cNvPr id="12" name="text-15">
            <a:extLst>
              <a:ext uri="{FF2B5EF4-FFF2-40B4-BE49-F238E27FC236}">
                <a16:creationId xmlns:a16="http://schemas.microsoft.com/office/drawing/2014/main" id="{46485E69-2F7B-4993-8C55-826A034B6BF0}"/>
              </a:ext>
            </a:extLst>
          </p:cNvPr>
          <p:cNvSpPr>
            <a:spLocks noGrp="1"/>
          </p:cNvSpPr>
          <p:nvPr/>
        </p:nvSpPr>
        <p:spPr>
          <a:xfrm>
            <a:off x="638175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10. Đánh giá, hạn chế và hướng phát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triển</a:t>
            </a:r>
          </a:p>
        </p:txBody>
      </p:sp>
      <p:sp>
        <p:nvSpPr>
          <p:cNvPr id="13" name="text-16">
            <a:extLst>
              <a:ext uri="{FF2B5EF4-FFF2-40B4-BE49-F238E27FC236}">
                <a16:creationId xmlns:a16="http://schemas.microsoft.com/office/drawing/2014/main" id="{003056E2-5DF4-4A63-B7AB-CF3709520374}"/>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Phiên bản BUI1500_180s bổ sung dashboard web, localhost và Telegram bên cạnh LCD và Serial.</a:t>
            </a:r>
          </a:p>
        </p:txBody>
      </p:sp>
    </p:spTree>
    <p:extLst>
      <p:ext uri="{BB962C8B-B14F-4D97-AF65-F5344CB8AC3E}">
        <p14:creationId xmlns:p14="http://schemas.microsoft.com/office/powerpoint/2010/main" val="909744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B63E703D-5724-4BB4-A515-77CFB582549F}"/>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Bài toán, mục tiêu và phạm vi</a:t>
            </a:r>
          </a:p>
        </p:txBody>
      </p:sp>
      <p:sp>
        <p:nvSpPr>
          <p:cNvPr id="2" name="rule-17">
            <a:extLst>
              <a:ext uri="{FF2B5EF4-FFF2-40B4-BE49-F238E27FC236}">
                <a16:creationId xmlns:a16="http://schemas.microsoft.com/office/drawing/2014/main" id="{C2F43BA3-05EE-497E-AF65-0426FBA5CBEA}"/>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8C7E3412-655D-408F-892C-E267B7AE0536}"/>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01 Tổng quan</a:t>
            </a:r>
          </a:p>
        </p:txBody>
      </p:sp>
      <p:sp>
        <p:nvSpPr>
          <p:cNvPr id="4" name="slide-number">
            <a:extLst>
              <a:ext uri="{FF2B5EF4-FFF2-40B4-BE49-F238E27FC236}">
                <a16:creationId xmlns:a16="http://schemas.microsoft.com/office/drawing/2014/main" id="{AFF7FA73-E081-4354-98F1-3ADC26C28349}"/>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04</a:t>
            </a:r>
          </a:p>
        </p:txBody>
      </p:sp>
      <p:sp>
        <p:nvSpPr>
          <p:cNvPr id="5" name="text-18">
            <a:extLst>
              <a:ext uri="{FF2B5EF4-FFF2-40B4-BE49-F238E27FC236}">
                <a16:creationId xmlns:a16="http://schemas.microsoft.com/office/drawing/2014/main" id="{3C3C0934-6DC7-43D0-868E-FDEF5E2606B4}"/>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Bài toán và mục tiêu</a:t>
            </a:r>
          </a:p>
        </p:txBody>
      </p:sp>
      <p:sp>
        <p:nvSpPr>
          <p:cNvPr id="6" name="text-19">
            <a:extLst>
              <a:ext uri="{FF2B5EF4-FFF2-40B4-BE49-F238E27FC236}">
                <a16:creationId xmlns:a16="http://schemas.microsoft.com/office/drawing/2014/main" id="{4DAB8FEF-26BA-4EAE-8AE9-930173CEE85E}"/>
              </a:ext>
            </a:extLst>
          </p:cNvPr>
          <p:cNvSpPr>
            <a:spLocks noGrp="1"/>
          </p:cNvSpPr>
          <p:nvPr/>
        </p:nvSpPr>
        <p:spPr>
          <a:xfrm>
            <a:off x="60960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Theo dõi nhiệt độ, độ ẩm, biến thiên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tín hiệu gas và bụi trong không gian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sinh hoạt, học tập.</a:t>
            </a:r>
          </a:p>
        </p:txBody>
      </p:sp>
      <p:sp>
        <p:nvSpPr>
          <p:cNvPr id="7" name="text-20">
            <a:extLst>
              <a:ext uri="{FF2B5EF4-FFF2-40B4-BE49-F238E27FC236}">
                <a16:creationId xmlns:a16="http://schemas.microsoft.com/office/drawing/2014/main" id="{C73273CD-4269-4EE0-8D29-994104BAF331}"/>
              </a:ext>
            </a:extLst>
          </p:cNvPr>
          <p:cNvSpPr>
            <a:spLocks noGrp="1"/>
          </p:cNvSpPr>
          <p:nvPr/>
        </p:nvSpPr>
        <p:spPr>
          <a:xfrm>
            <a:off x="609600" y="337423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Thu thập, lọc và kiểm tra dữ liệu trước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khi hiển thị hoặc điều khiển.</a:t>
            </a:r>
          </a:p>
        </p:txBody>
      </p:sp>
      <p:sp>
        <p:nvSpPr>
          <p:cNvPr id="8" name="text-21">
            <a:extLst>
              <a:ext uri="{FF2B5EF4-FFF2-40B4-BE49-F238E27FC236}">
                <a16:creationId xmlns:a16="http://schemas.microsoft.com/office/drawing/2014/main" id="{B574A526-13FD-4E8C-907A-C83F43B50174}"/>
              </a:ext>
            </a:extLst>
          </p:cNvPr>
          <p:cNvSpPr>
            <a:spLocks noGrp="1"/>
          </p:cNvSpPr>
          <p:nvPr/>
        </p:nvSpPr>
        <p:spPr>
          <a:xfrm>
            <a:off x="60960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Hiển thị LCD, web trên điện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thoại/laptop và gửi Telegram khi cảnh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báo thay đổi.</a:t>
            </a:r>
          </a:p>
        </p:txBody>
      </p:sp>
      <p:sp>
        <p:nvSpPr>
          <p:cNvPr id="9" name="text-22">
            <a:extLst>
              <a:ext uri="{FF2B5EF4-FFF2-40B4-BE49-F238E27FC236}">
                <a16:creationId xmlns:a16="http://schemas.microsoft.com/office/drawing/2014/main" id="{E552C131-5636-4F32-B088-1A221D395050}"/>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Phạm vi mô hình</a:t>
            </a:r>
          </a:p>
        </p:txBody>
      </p:sp>
      <p:sp>
        <p:nvSpPr>
          <p:cNvPr id="10" name="text-23">
            <a:extLst>
              <a:ext uri="{FF2B5EF4-FFF2-40B4-BE49-F238E27FC236}">
                <a16:creationId xmlns:a16="http://schemas.microsoft.com/office/drawing/2014/main" id="{EE5B423C-6FBB-49B7-9526-91D888FE941E}"/>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Thực hành giao tiếp cảm biến, điều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khiển ngoại vi và kết nối mạng.</a:t>
            </a:r>
          </a:p>
        </p:txBody>
      </p:sp>
      <p:sp>
        <p:nvSpPr>
          <p:cNvPr id="11" name="text-24">
            <a:extLst>
              <a:ext uri="{FF2B5EF4-FFF2-40B4-BE49-F238E27FC236}">
                <a16:creationId xmlns:a16="http://schemas.microsoft.com/office/drawing/2014/main" id="{1BCFCF0B-2163-4B3B-B42C-96E2C88762B9}"/>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Serial hỗ trợ chẩn đoán và thử đầu ra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mà không cần tạo khí thử.</a:t>
            </a:r>
          </a:p>
        </p:txBody>
      </p:sp>
      <p:sp>
        <p:nvSpPr>
          <p:cNvPr id="12" name="text-25">
            <a:extLst>
              <a:ext uri="{FF2B5EF4-FFF2-40B4-BE49-F238E27FC236}">
                <a16:creationId xmlns:a16="http://schemas.microsoft.com/office/drawing/2014/main" id="{CDFC0C0A-B346-4B04-B549-0EB9847C81E3}"/>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Gas, bụi là số đếm ADC tương đối.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hiệu chuẩn thành ppm, µg/m³</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hoặc AQI.</a:t>
            </a:r>
          </a:p>
        </p:txBody>
      </p:sp>
    </p:spTree>
    <p:extLst>
      <p:ext uri="{BB962C8B-B14F-4D97-AF65-F5344CB8AC3E}">
        <p14:creationId xmlns:p14="http://schemas.microsoft.com/office/powerpoint/2010/main" val="688686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DFBD2E18-F5B0-4F5E-8D33-0671192D2F92}"/>
              </a:ext>
            </a:extLst>
          </p:cNvPr>
          <p:cNvCxnSpPr>
            <a:stCxn id="8" idx="3"/>
            <a:endCxn id="14" idx="1"/>
          </p:cNvCxnSpPr>
          <p:nvPr/>
        </p:nvCxnSpPr>
        <p:spPr>
          <a:xfrm>
            <a:off x="7058025" y="3328988"/>
            <a:ext cx="1647825" cy="1314450"/>
          </a:xfrm>
          <a:prstGeom prst="straightConnector1">
            <a:avLst/>
          </a:prstGeom>
          <a:ln w="19050">
            <a:solidFill>
              <a:srgbClr val="007E87"/>
            </a:solidFill>
            <a:prstDash val="solid"/>
            <a:tailEnd type="triangle" w="sm" len="sm"/>
          </a:ln>
        </p:spPr>
      </p:cxnSp>
      <p:cxnSp>
        <p:nvCxnSpPr>
          <p:cNvPr id="16" name="Straight Arrow Connector 15">
            <a:extLst>
              <a:ext uri="{FF2B5EF4-FFF2-40B4-BE49-F238E27FC236}">
                <a16:creationId xmlns:a16="http://schemas.microsoft.com/office/drawing/2014/main" id="{AEC5CD6C-3EE5-462A-A37C-14E372FC2433}"/>
              </a:ext>
            </a:extLst>
          </p:cNvPr>
          <p:cNvCxnSpPr>
            <a:stCxn id="8" idx="3"/>
            <a:endCxn id="13" idx="1"/>
          </p:cNvCxnSpPr>
          <p:nvPr/>
        </p:nvCxnSpPr>
        <p:spPr>
          <a:xfrm>
            <a:off x="7058025" y="3328988"/>
            <a:ext cx="1647825" cy="76200"/>
          </a:xfrm>
          <a:prstGeom prst="straightConnector1">
            <a:avLst/>
          </a:prstGeom>
          <a:ln w="19050">
            <a:solidFill>
              <a:srgbClr val="007E87"/>
            </a:solidFill>
            <a:prstDash val="solid"/>
            <a:tailEnd type="triangle" w="sm" len="sm"/>
          </a:ln>
        </p:spPr>
      </p:cxnSp>
      <p:cxnSp>
        <p:nvCxnSpPr>
          <p:cNvPr id="15" name="Straight Arrow Connector 14">
            <a:extLst>
              <a:ext uri="{FF2B5EF4-FFF2-40B4-BE49-F238E27FC236}">
                <a16:creationId xmlns:a16="http://schemas.microsoft.com/office/drawing/2014/main" id="{775D9B8D-6E02-4A69-B2FF-C265AA7B13E1}"/>
              </a:ext>
            </a:extLst>
          </p:cNvPr>
          <p:cNvCxnSpPr>
            <a:stCxn id="8" idx="3"/>
            <a:endCxn id="12" idx="1"/>
          </p:cNvCxnSpPr>
          <p:nvPr/>
        </p:nvCxnSpPr>
        <p:spPr>
          <a:xfrm flipV="1">
            <a:off x="7058025" y="2185988"/>
            <a:ext cx="1647825" cy="1143000"/>
          </a:xfrm>
          <a:prstGeom prst="straightConnector1">
            <a:avLst/>
          </a:prstGeom>
          <a:ln w="19050">
            <a:solidFill>
              <a:srgbClr val="007E87"/>
            </a:solidFill>
            <a:prstDash val="solid"/>
            <a:tailEnd type="triangle" w="sm" len="sm"/>
          </a:ln>
        </p:spPr>
      </p:cxnSp>
      <p:cxnSp>
        <p:nvCxnSpPr>
          <p:cNvPr id="11" name="Straight Arrow Connector 10">
            <a:extLst>
              <a:ext uri="{FF2B5EF4-FFF2-40B4-BE49-F238E27FC236}">
                <a16:creationId xmlns:a16="http://schemas.microsoft.com/office/drawing/2014/main" id="{9B87CC94-DE96-4C56-828A-54CC5C7E9EED}"/>
              </a:ext>
            </a:extLst>
          </p:cNvPr>
          <p:cNvCxnSpPr>
            <a:stCxn id="7" idx="3"/>
            <a:endCxn id="8" idx="1"/>
          </p:cNvCxnSpPr>
          <p:nvPr/>
        </p:nvCxnSpPr>
        <p:spPr>
          <a:xfrm flipV="1">
            <a:off x="2847975" y="3328988"/>
            <a:ext cx="952500" cy="1195388"/>
          </a:xfrm>
          <a:prstGeom prst="straightConnector1">
            <a:avLst/>
          </a:prstGeom>
          <a:ln w="19050">
            <a:solidFill>
              <a:srgbClr val="007E87"/>
            </a:solidFill>
            <a:prstDash val="solid"/>
            <a:tailEnd type="triangle" w="sm" len="sm"/>
          </a:ln>
        </p:spPr>
      </p:cxnSp>
      <p:cxnSp>
        <p:nvCxnSpPr>
          <p:cNvPr id="10" name="Straight Arrow Connector 9">
            <a:extLst>
              <a:ext uri="{FF2B5EF4-FFF2-40B4-BE49-F238E27FC236}">
                <a16:creationId xmlns:a16="http://schemas.microsoft.com/office/drawing/2014/main" id="{9B4D6C64-F0C9-43E8-B0FA-3F79FC6C0B0E}"/>
              </a:ext>
            </a:extLst>
          </p:cNvPr>
          <p:cNvCxnSpPr>
            <a:stCxn id="6" idx="3"/>
            <a:endCxn id="8" idx="1"/>
          </p:cNvCxnSpPr>
          <p:nvPr/>
        </p:nvCxnSpPr>
        <p:spPr>
          <a:xfrm flipV="1">
            <a:off x="2847975" y="3328988"/>
            <a:ext cx="952500" cy="23813"/>
          </a:xfrm>
          <a:prstGeom prst="straightConnector1">
            <a:avLst/>
          </a:prstGeom>
          <a:ln w="19050">
            <a:solidFill>
              <a:srgbClr val="007E87"/>
            </a:solidFill>
            <a:prstDash val="solid"/>
            <a:tailEnd type="triangle" w="sm" len="sm"/>
          </a:ln>
        </p:spPr>
      </p:cxnSp>
      <p:cxnSp>
        <p:nvCxnSpPr>
          <p:cNvPr id="9" name="Straight Arrow Connector 8">
            <a:extLst>
              <a:ext uri="{FF2B5EF4-FFF2-40B4-BE49-F238E27FC236}">
                <a16:creationId xmlns:a16="http://schemas.microsoft.com/office/drawing/2014/main" id="{58D88179-D96A-439B-86C5-21EE8C87C068}"/>
              </a:ext>
            </a:extLst>
          </p:cNvPr>
          <p:cNvCxnSpPr>
            <a:stCxn id="5" idx="3"/>
            <a:endCxn id="8" idx="1"/>
          </p:cNvCxnSpPr>
          <p:nvPr/>
        </p:nvCxnSpPr>
        <p:spPr>
          <a:xfrm>
            <a:off x="2847975" y="2181225"/>
            <a:ext cx="952500" cy="1147763"/>
          </a:xfrm>
          <a:prstGeom prst="straightConnector1">
            <a:avLst/>
          </a:prstGeom>
          <a:ln w="19050">
            <a:solidFill>
              <a:srgbClr val="007E87"/>
            </a:solidFill>
            <a:prstDash val="solid"/>
            <a:tailEnd type="triangle" w="sm" len="sm"/>
          </a:ln>
        </p:spPr>
      </p:cxnSp>
      <p:sp>
        <p:nvSpPr>
          <p:cNvPr id="19" name="slide-title">
            <a:extLst>
              <a:ext uri="{FF2B5EF4-FFF2-40B4-BE49-F238E27FC236}">
                <a16:creationId xmlns:a16="http://schemas.microsoft.com/office/drawing/2014/main" id="{CE7C1B7D-A01B-441A-9D10-7D9A877ACC9B}"/>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Kiến trúc tổng thể hệ thống</a:t>
            </a:r>
          </a:p>
        </p:txBody>
      </p:sp>
      <p:sp>
        <p:nvSpPr>
          <p:cNvPr id="2" name="rule-26">
            <a:extLst>
              <a:ext uri="{FF2B5EF4-FFF2-40B4-BE49-F238E27FC236}">
                <a16:creationId xmlns:a16="http://schemas.microsoft.com/office/drawing/2014/main" id="{D4A7D8E7-71A0-47C1-B024-D0B9644E952A}"/>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86F535AF-CD10-414A-9FDA-8044F84ED0E2}"/>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01 Tổng quan</a:t>
            </a:r>
          </a:p>
        </p:txBody>
      </p:sp>
      <p:sp>
        <p:nvSpPr>
          <p:cNvPr id="4" name="slide-number">
            <a:extLst>
              <a:ext uri="{FF2B5EF4-FFF2-40B4-BE49-F238E27FC236}">
                <a16:creationId xmlns:a16="http://schemas.microsoft.com/office/drawing/2014/main" id="{D8647C7E-26D5-4DBE-AD7F-68132CCB6ABB}"/>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05</a:t>
            </a:r>
          </a:p>
        </p:txBody>
      </p:sp>
      <p:sp>
        <p:nvSpPr>
          <p:cNvPr id="5" name="node-27">
            <a:extLst>
              <a:ext uri="{FF2B5EF4-FFF2-40B4-BE49-F238E27FC236}">
                <a16:creationId xmlns:a16="http://schemas.microsoft.com/office/drawing/2014/main" id="{E1057FFC-E862-43EE-B3C2-35D732E97B94}"/>
              </a:ext>
            </a:extLst>
          </p:cNvPr>
          <p:cNvSpPr>
            <a:spLocks noGrp="1"/>
          </p:cNvSpPr>
          <p:nvPr/>
        </p:nvSpPr>
        <p:spPr>
          <a:xfrm>
            <a:off x="609600" y="1743075"/>
            <a:ext cx="2238375" cy="8763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MQ-2</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ADC qua chia áp</a:t>
            </a:r>
          </a:p>
        </p:txBody>
      </p:sp>
      <p:sp>
        <p:nvSpPr>
          <p:cNvPr id="6" name="node-28">
            <a:extLst>
              <a:ext uri="{FF2B5EF4-FFF2-40B4-BE49-F238E27FC236}">
                <a16:creationId xmlns:a16="http://schemas.microsoft.com/office/drawing/2014/main" id="{EA12E39E-4514-4A84-8764-8F41C20287C3}"/>
              </a:ext>
            </a:extLst>
          </p:cNvPr>
          <p:cNvSpPr>
            <a:spLocks noGrp="1"/>
          </p:cNvSpPr>
          <p:nvPr/>
        </p:nvSpPr>
        <p:spPr>
          <a:xfrm>
            <a:off x="609600" y="2914650"/>
            <a:ext cx="2238375" cy="8763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Cảm biến bụi</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ADC và xung LED</a:t>
            </a:r>
          </a:p>
        </p:txBody>
      </p:sp>
      <p:sp>
        <p:nvSpPr>
          <p:cNvPr id="7" name="node-29">
            <a:extLst>
              <a:ext uri="{FF2B5EF4-FFF2-40B4-BE49-F238E27FC236}">
                <a16:creationId xmlns:a16="http://schemas.microsoft.com/office/drawing/2014/main" id="{B073F3D1-050A-4772-B71E-CECB6A063291}"/>
              </a:ext>
            </a:extLst>
          </p:cNvPr>
          <p:cNvSpPr>
            <a:spLocks noGrp="1"/>
          </p:cNvSpPr>
          <p:nvPr/>
        </p:nvSpPr>
        <p:spPr>
          <a:xfrm>
            <a:off x="609600" y="4086225"/>
            <a:ext cx="2238375" cy="8763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DHT22</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Nhiệt độ và độ ẩm</a:t>
            </a:r>
          </a:p>
        </p:txBody>
      </p:sp>
      <p:sp>
        <p:nvSpPr>
          <p:cNvPr id="8" name="node-30">
            <a:extLst>
              <a:ext uri="{FF2B5EF4-FFF2-40B4-BE49-F238E27FC236}">
                <a16:creationId xmlns:a16="http://schemas.microsoft.com/office/drawing/2014/main" id="{9CE60212-5445-4BA6-9044-ADBBE0B199E0}"/>
              </a:ext>
            </a:extLst>
          </p:cNvPr>
          <p:cNvSpPr>
            <a:spLocks noGrp="1"/>
          </p:cNvSpPr>
          <p:nvPr/>
        </p:nvSpPr>
        <p:spPr>
          <a:xfrm>
            <a:off x="3800475" y="2266950"/>
            <a:ext cx="3257550" cy="2124075"/>
          </a:xfrm>
          <a:prstGeom prst="rect">
            <a:avLst/>
          </a:prstGeom>
          <a:solidFill>
            <a:srgbClr val="EAF2F4"/>
          </a:solidFill>
          <a:ln w="17145">
            <a:solidFill>
              <a:srgbClr val="007E87"/>
            </a:solidFill>
            <a:prstDash val="solid"/>
          </a:ln>
        </p:spPr>
        <p:txBody>
          <a:bodyPr wrap="square" lIns="114300" tIns="95250" rIns="114300" bIns="95250" anchor="ctr">
            <a:noAutofit/>
          </a:bodyPr>
          <a:lstStyle>
            <a:defPPr algn="ctr">
              <a:defRPr sz="1725" b="1">
                <a:solidFill>
                  <a:srgbClr val="123047"/>
                </a:solidFill>
                <a:latin typeface="DejaVu Sans"/>
                <a:ea typeface="DejaVu Sans"/>
                <a:cs typeface="DejaVu Sans"/>
              </a:defRPr>
            </a:defPPr>
            <a:lvl1pPr algn="ctr">
              <a:defRPr sz="1725" b="1">
                <a:solidFill>
                  <a:srgbClr val="123047"/>
                </a:solidFill>
                <a:latin typeface="DejaVu Sans"/>
                <a:ea typeface="DejaVu Sans"/>
                <a:cs typeface="DejaVu Sans"/>
              </a:defRPr>
            </a:lvl1pPr>
            <a:lvl2pPr algn="ctr">
              <a:defRPr sz="1725" b="1">
                <a:solidFill>
                  <a:srgbClr val="123047"/>
                </a:solidFill>
                <a:latin typeface="DejaVu Sans"/>
                <a:ea typeface="DejaVu Sans"/>
                <a:cs typeface="DejaVu Sans"/>
              </a:defRPr>
            </a:lvl2pPr>
            <a:lvl3pPr algn="ctr">
              <a:defRPr sz="1725" b="1">
                <a:solidFill>
                  <a:srgbClr val="123047"/>
                </a:solidFill>
                <a:latin typeface="DejaVu Sans"/>
                <a:ea typeface="DejaVu Sans"/>
                <a:cs typeface="DejaVu Sans"/>
              </a:defRPr>
            </a:lvl3pPr>
            <a:lvl4pPr algn="ctr">
              <a:defRPr sz="1725" b="1">
                <a:solidFill>
                  <a:srgbClr val="123047"/>
                </a:solidFill>
                <a:latin typeface="DejaVu Sans"/>
                <a:ea typeface="DejaVu Sans"/>
                <a:cs typeface="DejaVu Sans"/>
              </a:defRPr>
            </a:lvl4pPr>
            <a:lvl5pPr algn="ctr">
              <a:defRPr sz="1725" b="1">
                <a:solidFill>
                  <a:srgbClr val="123047"/>
                </a:solidFill>
                <a:latin typeface="DejaVu Sans"/>
                <a:ea typeface="DejaVu Sans"/>
                <a:cs typeface="DejaVu Sans"/>
              </a:defRPr>
            </a:lvl5pPr>
            <a:lvl6pPr algn="ctr">
              <a:defRPr sz="1725" b="1">
                <a:solidFill>
                  <a:srgbClr val="123047"/>
                </a:solidFill>
                <a:latin typeface="DejaVu Sans"/>
                <a:ea typeface="DejaVu Sans"/>
                <a:cs typeface="DejaVu Sans"/>
              </a:defRPr>
            </a:lvl6pPr>
            <a:lvl7pPr algn="ctr">
              <a:defRPr sz="1725" b="1">
                <a:solidFill>
                  <a:srgbClr val="123047"/>
                </a:solidFill>
                <a:latin typeface="DejaVu Sans"/>
                <a:ea typeface="DejaVu Sans"/>
                <a:cs typeface="DejaVu Sans"/>
              </a:defRPr>
            </a:lvl7pPr>
            <a:lvl8pPr algn="ctr">
              <a:defRPr sz="1725" b="1">
                <a:solidFill>
                  <a:srgbClr val="123047"/>
                </a:solidFill>
                <a:latin typeface="DejaVu Sans"/>
                <a:ea typeface="DejaVu Sans"/>
                <a:cs typeface="DejaVu Sans"/>
              </a:defRPr>
            </a:lvl8pPr>
            <a:lvl9pPr algn="ctr">
              <a:defRPr sz="1725" b="1">
                <a:solidFill>
                  <a:srgbClr val="123047"/>
                </a:solidFill>
                <a:latin typeface="DejaVu Sans"/>
                <a:ea typeface="DejaVu Sans"/>
                <a:cs typeface="DejaVu Sans"/>
              </a:defRPr>
            </a:lvl9pPr>
          </a:lstStyle>
          <a:p>
            <a:pPr algn="ctr">
              <a:lnSpc>
                <a:spcPct val="105000"/>
              </a:lnSpc>
              <a:buNone/>
              <a:defRPr sz="1725" b="1">
                <a:solidFill>
                  <a:srgbClr val="123047"/>
                </a:solidFill>
                <a:latin typeface="DejaVu Sans"/>
                <a:ea typeface="DejaVu Sans"/>
                <a:cs typeface="DejaVu Sans"/>
              </a:defRPr>
            </a:pPr>
            <a:r>
              <a:rPr sz="1725" b="1">
                <a:solidFill>
                  <a:srgbClr val="123047"/>
                </a:solidFill>
                <a:latin typeface="DejaVu Sans"/>
                <a:ea typeface="DejaVu Sans"/>
                <a:cs typeface="DejaVu Sans"/>
              </a:rPr>
              <a:t>ESP32-S3</a:t>
            </a:r>
          </a:p>
          <a:p>
            <a:endParaRPr sz="1725" b="1">
              <a:solidFill>
                <a:srgbClr val="123047"/>
              </a:solidFill>
              <a:latin typeface="DejaVu Sans"/>
              <a:ea typeface="DejaVu Sans"/>
              <a:cs typeface="DejaVu Sans"/>
            </a:endParaRPr>
          </a:p>
          <a:p>
            <a:pPr algn="ctr">
              <a:lnSpc>
                <a:spcPct val="105000"/>
              </a:lnSpc>
              <a:buNone/>
              <a:defRPr sz="1725" b="1">
                <a:solidFill>
                  <a:srgbClr val="123047"/>
                </a:solidFill>
                <a:latin typeface="DejaVu Sans"/>
                <a:ea typeface="DejaVu Sans"/>
                <a:cs typeface="DejaVu Sans"/>
              </a:defRPr>
            </a:pPr>
            <a:r>
              <a:rPr sz="1725" b="1">
                <a:solidFill>
                  <a:srgbClr val="123047"/>
                </a:solidFill>
                <a:latin typeface="DejaVu Sans"/>
                <a:ea typeface="DejaVu Sans"/>
                <a:cs typeface="DejaVu Sans"/>
              </a:rPr>
              <a:t>Đọc, lọc, kiểm tra</a:t>
            </a:r>
          </a:p>
          <a:p>
            <a:pPr algn="ctr">
              <a:lnSpc>
                <a:spcPct val="105000"/>
              </a:lnSpc>
              <a:buNone/>
              <a:defRPr sz="1725" b="1">
                <a:solidFill>
                  <a:srgbClr val="123047"/>
                </a:solidFill>
                <a:latin typeface="DejaVu Sans"/>
                <a:ea typeface="DejaVu Sans"/>
                <a:cs typeface="DejaVu Sans"/>
              </a:defRPr>
            </a:pPr>
            <a:r>
              <a:rPr sz="1725" b="1">
                <a:solidFill>
                  <a:srgbClr val="123047"/>
                </a:solidFill>
                <a:latin typeface="DejaVu Sans"/>
                <a:ea typeface="DejaVu Sans"/>
                <a:cs typeface="DejaVu Sans"/>
              </a:rPr>
              <a:t>Cảnh báo / điều khiển</a:t>
            </a:r>
          </a:p>
          <a:p>
            <a:pPr algn="ctr">
              <a:lnSpc>
                <a:spcPct val="105000"/>
              </a:lnSpc>
              <a:buNone/>
              <a:defRPr sz="1725" b="1">
                <a:solidFill>
                  <a:srgbClr val="123047"/>
                </a:solidFill>
                <a:latin typeface="DejaVu Sans"/>
                <a:ea typeface="DejaVu Sans"/>
                <a:cs typeface="DejaVu Sans"/>
              </a:defRPr>
            </a:pPr>
            <a:r>
              <a:rPr sz="1725" b="1">
                <a:solidFill>
                  <a:srgbClr val="123047"/>
                </a:solidFill>
                <a:latin typeface="DejaVu Sans"/>
                <a:ea typeface="DejaVu Sans"/>
                <a:cs typeface="DejaVu Sans"/>
              </a:rPr>
              <a:t>Công bố AirSnapshot</a:t>
            </a:r>
          </a:p>
        </p:txBody>
      </p:sp>
      <p:sp>
        <p:nvSpPr>
          <p:cNvPr id="12" name="node-31">
            <a:extLst>
              <a:ext uri="{FF2B5EF4-FFF2-40B4-BE49-F238E27FC236}">
                <a16:creationId xmlns:a16="http://schemas.microsoft.com/office/drawing/2014/main" id="{CE693359-7096-4F8E-852B-D881FAEC9C33}"/>
              </a:ext>
            </a:extLst>
          </p:cNvPr>
          <p:cNvSpPr>
            <a:spLocks noGrp="1"/>
          </p:cNvSpPr>
          <p:nvPr/>
        </p:nvSpPr>
        <p:spPr>
          <a:xfrm>
            <a:off x="8705850" y="1733550"/>
            <a:ext cx="2876550" cy="90487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LCD 1602 / Serial</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Hiển thị và chẩn đoán</a:t>
            </a:r>
          </a:p>
        </p:txBody>
      </p:sp>
      <p:sp>
        <p:nvSpPr>
          <p:cNvPr id="13" name="node-32">
            <a:extLst>
              <a:ext uri="{FF2B5EF4-FFF2-40B4-BE49-F238E27FC236}">
                <a16:creationId xmlns:a16="http://schemas.microsoft.com/office/drawing/2014/main" id="{81983BB8-7971-406C-9CD5-13A739D43988}"/>
              </a:ext>
            </a:extLst>
          </p:cNvPr>
          <p:cNvSpPr>
            <a:spLocks noGrp="1"/>
          </p:cNvSpPr>
          <p:nvPr/>
        </p:nvSpPr>
        <p:spPr>
          <a:xfrm>
            <a:off x="8705850" y="2952750"/>
            <a:ext cx="2876550" cy="90487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Relay GPIO6</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Quạt và còi cùng bật</a:t>
            </a:r>
          </a:p>
        </p:txBody>
      </p:sp>
      <p:sp>
        <p:nvSpPr>
          <p:cNvPr id="14" name="node-33">
            <a:extLst>
              <a:ext uri="{FF2B5EF4-FFF2-40B4-BE49-F238E27FC236}">
                <a16:creationId xmlns:a16="http://schemas.microsoft.com/office/drawing/2014/main" id="{144C9336-D4C7-49A0-9FB8-7D7EEA2474DA}"/>
              </a:ext>
            </a:extLst>
          </p:cNvPr>
          <p:cNvSpPr>
            <a:spLocks noGrp="1"/>
          </p:cNvSpPr>
          <p:nvPr/>
        </p:nvSpPr>
        <p:spPr>
          <a:xfrm>
            <a:off x="8705850" y="4191000"/>
            <a:ext cx="2876550" cy="90487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Wi-Fi AP + STA</a:t>
            </a:r>
          </a:p>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Web / API / Telegram</a:t>
            </a:r>
          </a:p>
        </p:txBody>
      </p:sp>
      <p:sp>
        <p:nvSpPr>
          <p:cNvPr id="18" name="text-34">
            <a:extLst>
              <a:ext uri="{FF2B5EF4-FFF2-40B4-BE49-F238E27FC236}">
                <a16:creationId xmlns:a16="http://schemas.microsoft.com/office/drawing/2014/main" id="{1CC39035-5DB2-4560-8BE3-16BE53028496}"/>
              </a:ext>
            </a:extLst>
          </p:cNvPr>
          <p:cNvSpPr>
            <a:spLocks noGrp="1"/>
          </p:cNvSpPr>
          <p:nvPr/>
        </p:nvSpPr>
        <p:spPr>
          <a:xfrm>
            <a:off x="609600" y="5410200"/>
            <a:ext cx="10972800" cy="523875"/>
          </a:xfrm>
          <a:prstGeom prst="rect">
            <a:avLst/>
          </a:prstGeom>
          <a:noFill/>
          <a:ln w="0">
            <a:noFill/>
            <a:prstDash val="solid"/>
          </a:ln>
        </p:spPr>
        <p:txBody>
          <a:bodyPr wrap="square" lIns="0" tIns="0" rIns="0" bIns="0" anchor="t">
            <a:noAutofit/>
          </a:bodyPr>
          <a:lstStyle>
            <a:defPPr algn="l">
              <a:defRPr sz="1950" b="0">
                <a:solidFill>
                  <a:srgbClr val="123047"/>
                </a:solidFill>
                <a:latin typeface="DejaVu Sans"/>
                <a:ea typeface="DejaVu Sans"/>
                <a:cs typeface="DejaVu Sans"/>
              </a:defRPr>
            </a:defPPr>
            <a:lvl1pPr algn="l">
              <a:defRPr sz="1950" b="0">
                <a:solidFill>
                  <a:srgbClr val="123047"/>
                </a:solidFill>
                <a:latin typeface="DejaVu Sans"/>
                <a:ea typeface="DejaVu Sans"/>
                <a:cs typeface="DejaVu Sans"/>
              </a:defRPr>
            </a:lvl1pPr>
            <a:lvl2pPr algn="l">
              <a:defRPr sz="1950" b="0">
                <a:solidFill>
                  <a:srgbClr val="123047"/>
                </a:solidFill>
                <a:latin typeface="DejaVu Sans"/>
                <a:ea typeface="DejaVu Sans"/>
                <a:cs typeface="DejaVu Sans"/>
              </a:defRPr>
            </a:lvl2pPr>
            <a:lvl3pPr algn="l">
              <a:defRPr sz="1950" b="0">
                <a:solidFill>
                  <a:srgbClr val="123047"/>
                </a:solidFill>
                <a:latin typeface="DejaVu Sans"/>
                <a:ea typeface="DejaVu Sans"/>
                <a:cs typeface="DejaVu Sans"/>
              </a:defRPr>
            </a:lvl3pPr>
            <a:lvl4pPr algn="l">
              <a:defRPr sz="1950" b="0">
                <a:solidFill>
                  <a:srgbClr val="123047"/>
                </a:solidFill>
                <a:latin typeface="DejaVu Sans"/>
                <a:ea typeface="DejaVu Sans"/>
                <a:cs typeface="DejaVu Sans"/>
              </a:defRPr>
            </a:lvl4pPr>
            <a:lvl5pPr algn="l">
              <a:defRPr sz="1950" b="0">
                <a:solidFill>
                  <a:srgbClr val="123047"/>
                </a:solidFill>
                <a:latin typeface="DejaVu Sans"/>
                <a:ea typeface="DejaVu Sans"/>
                <a:cs typeface="DejaVu Sans"/>
              </a:defRPr>
            </a:lvl5pPr>
            <a:lvl6pPr algn="l">
              <a:defRPr sz="1950" b="0">
                <a:solidFill>
                  <a:srgbClr val="123047"/>
                </a:solidFill>
                <a:latin typeface="DejaVu Sans"/>
                <a:ea typeface="DejaVu Sans"/>
                <a:cs typeface="DejaVu Sans"/>
              </a:defRPr>
            </a:lvl6pPr>
            <a:lvl7pPr algn="l">
              <a:defRPr sz="1950" b="0">
                <a:solidFill>
                  <a:srgbClr val="123047"/>
                </a:solidFill>
                <a:latin typeface="DejaVu Sans"/>
                <a:ea typeface="DejaVu Sans"/>
                <a:cs typeface="DejaVu Sans"/>
              </a:defRPr>
            </a:lvl7pPr>
            <a:lvl8pPr algn="l">
              <a:defRPr sz="1950" b="0">
                <a:solidFill>
                  <a:srgbClr val="123047"/>
                </a:solidFill>
                <a:latin typeface="DejaVu Sans"/>
                <a:ea typeface="DejaVu Sans"/>
                <a:cs typeface="DejaVu Sans"/>
              </a:defRPr>
            </a:lvl8pPr>
            <a:lvl9pPr algn="l">
              <a:defRPr sz="1950" b="0">
                <a:solidFill>
                  <a:srgbClr val="123047"/>
                </a:solidFill>
                <a:latin typeface="DejaVu Sans"/>
                <a:ea typeface="DejaVu Sans"/>
                <a:cs typeface="DejaVu Sans"/>
              </a:defRPr>
            </a:lvl9pPr>
          </a:lstStyle>
          <a:p>
            <a:pPr algn="l">
              <a:lnSpc>
                <a:spcPct val="112000"/>
              </a:lnSpc>
              <a:buNone/>
              <a:defRPr sz="1950" b="0">
                <a:solidFill>
                  <a:srgbClr val="123047"/>
                </a:solidFill>
                <a:latin typeface="DejaVu Sans"/>
                <a:ea typeface="DejaVu Sans"/>
                <a:cs typeface="DejaVu Sans"/>
              </a:defRPr>
            </a:pPr>
            <a:r>
              <a:rPr sz="1950" b="0">
                <a:solidFill>
                  <a:srgbClr val="123047"/>
                </a:solidFill>
                <a:latin typeface="DejaVu Sans"/>
                <a:ea typeface="DejaVu Sans"/>
                <a:cs typeface="DejaVu Sans"/>
              </a:rPr>
              <a:t>Laptop localhost:8765 chuyển tiếp dashboard và API từ ESP32 qua Wi-Fi</a:t>
            </a:r>
          </a:p>
        </p:txBody>
      </p:sp>
    </p:spTree>
    <p:extLst>
      <p:ext uri="{BB962C8B-B14F-4D97-AF65-F5344CB8AC3E}">
        <p14:creationId xmlns:p14="http://schemas.microsoft.com/office/powerpoint/2010/main" val="919393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F1A6E9AF-D4FC-4873-BD83-A5A42C05698C}"/>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Phạm vi phiên bản BUI1500_180s</a:t>
            </a:r>
          </a:p>
        </p:txBody>
      </p:sp>
      <p:sp>
        <p:nvSpPr>
          <p:cNvPr id="2" name="rule-35">
            <a:extLst>
              <a:ext uri="{FF2B5EF4-FFF2-40B4-BE49-F238E27FC236}">
                <a16:creationId xmlns:a16="http://schemas.microsoft.com/office/drawing/2014/main" id="{076CB6E6-37CB-4A51-89C5-55336D3FD1FB}"/>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ACBB7DE0-C3DB-4AAA-8709-FEB2D9E2C879}"/>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01 Tổng quan</a:t>
            </a:r>
          </a:p>
        </p:txBody>
      </p:sp>
      <p:sp>
        <p:nvSpPr>
          <p:cNvPr id="4" name="slide-number">
            <a:extLst>
              <a:ext uri="{FF2B5EF4-FFF2-40B4-BE49-F238E27FC236}">
                <a16:creationId xmlns:a16="http://schemas.microsoft.com/office/drawing/2014/main" id="{C6E31451-583E-4A28-95E2-F2202878549E}"/>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06</a:t>
            </a:r>
          </a:p>
        </p:txBody>
      </p:sp>
      <p:sp>
        <p:nvSpPr>
          <p:cNvPr id="5" name="text-36">
            <a:extLst>
              <a:ext uri="{FF2B5EF4-FFF2-40B4-BE49-F238E27FC236}">
                <a16:creationId xmlns:a16="http://schemas.microsoft.com/office/drawing/2014/main" id="{8CC4781B-D922-474E-B7D3-3D895CFC7161}"/>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Chức năng hiện có</a:t>
            </a:r>
          </a:p>
        </p:txBody>
      </p:sp>
      <p:sp>
        <p:nvSpPr>
          <p:cNvPr id="6" name="text-37">
            <a:extLst>
              <a:ext uri="{FF2B5EF4-FFF2-40B4-BE49-F238E27FC236}">
                <a16:creationId xmlns:a16="http://schemas.microsoft.com/office/drawing/2014/main" id="{C1B930FC-462A-4F3D-9004-993B3AF9404D}"/>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Wi-Fi AP+STA, web HTTP nội bộ và API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JSON.</a:t>
            </a:r>
          </a:p>
        </p:txBody>
      </p:sp>
      <p:sp>
        <p:nvSpPr>
          <p:cNvPr id="7" name="text-38">
            <a:extLst>
              <a:ext uri="{FF2B5EF4-FFF2-40B4-BE49-F238E27FC236}">
                <a16:creationId xmlns:a16="http://schemas.microsoft.com/office/drawing/2014/main" id="{9315C591-A4E6-42A7-8057-B4C9431909F9}"/>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Đồng bộ giờ NTP, gửi Telegram qua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HTTPS.</a:t>
            </a:r>
          </a:p>
        </p:txBody>
      </p:sp>
      <p:sp>
        <p:nvSpPr>
          <p:cNvPr id="8" name="text-39">
            <a:extLst>
              <a:ext uri="{FF2B5EF4-FFF2-40B4-BE49-F238E27FC236}">
                <a16:creationId xmlns:a16="http://schemas.microsoft.com/office/drawing/2014/main" id="{6486E5C9-B88C-4CE8-9B99-3D3347932FE7}"/>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Dashboard hiển thị biểu đồ tối đa 5</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phút và 30 sự kiện trong phiên mở</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trang.</a:t>
            </a:r>
          </a:p>
        </p:txBody>
      </p:sp>
      <p:sp>
        <p:nvSpPr>
          <p:cNvPr id="9" name="text-40">
            <a:extLst>
              <a:ext uri="{FF2B5EF4-FFF2-40B4-BE49-F238E27FC236}">
                <a16:creationId xmlns:a16="http://schemas.microsoft.com/office/drawing/2014/main" id="{D7794D74-A005-48C2-B647-BF2DFED741D3}"/>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Phần chưa triển khai</a:t>
            </a:r>
          </a:p>
        </p:txBody>
      </p:sp>
      <p:sp>
        <p:nvSpPr>
          <p:cNvPr id="10" name="text-41">
            <a:extLst>
              <a:ext uri="{FF2B5EF4-FFF2-40B4-BE49-F238E27FC236}">
                <a16:creationId xmlns:a16="http://schemas.microsoft.com/office/drawing/2014/main" id="{FB7C45CD-1FC7-4F0E-B67F-A9CFCBE30D16}"/>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Lịch sử mất khi tải lại hoặc đóng trang,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ghi Flash/thẻ nhớ.</a:t>
            </a:r>
          </a:p>
        </p:txBody>
      </p:sp>
      <p:sp>
        <p:nvSpPr>
          <p:cNvPr id="11" name="text-42">
            <a:extLst>
              <a:ext uri="{FF2B5EF4-FFF2-40B4-BE49-F238E27FC236}">
                <a16:creationId xmlns:a16="http://schemas.microsoft.com/office/drawing/2014/main" id="{F3205FC4-43C8-4D6D-84BD-8572EB17E3DF}"/>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có RTC riêng, chưa tính AQI hoặc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quy đổi nồng độ.</a:t>
            </a:r>
          </a:p>
        </p:txBody>
      </p:sp>
      <p:sp>
        <p:nvSpPr>
          <p:cNvPr id="12" name="text-43">
            <a:extLst>
              <a:ext uri="{FF2B5EF4-FFF2-40B4-BE49-F238E27FC236}">
                <a16:creationId xmlns:a16="http://schemas.microsoft.com/office/drawing/2014/main" id="{7358B825-C735-4CF3-9FBD-BA348C9A534C}"/>
              </a:ext>
            </a:extLst>
          </p:cNvPr>
          <p:cNvSpPr>
            <a:spLocks noGrp="1"/>
          </p:cNvSpPr>
          <p:nvPr/>
        </p:nvSpPr>
        <p:spPr>
          <a:xfrm>
            <a:off x="638175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Bot chỉ gửi thông báo tự động, chưa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nhận hội thoại hoặc lệnh điều khiển.</a:t>
            </a:r>
          </a:p>
        </p:txBody>
      </p:sp>
    </p:spTree>
    <p:extLst>
      <p:ext uri="{BB962C8B-B14F-4D97-AF65-F5344CB8AC3E}">
        <p14:creationId xmlns:p14="http://schemas.microsoft.com/office/powerpoint/2010/main" val="36369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86882A70-CAC4-46A4-AD89-4560C14D94C1}"/>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Bộ điều khiển và cảm biến</a:t>
            </a:r>
          </a:p>
        </p:txBody>
      </p:sp>
      <p:sp>
        <p:nvSpPr>
          <p:cNvPr id="2" name="rule-44">
            <a:extLst>
              <a:ext uri="{FF2B5EF4-FFF2-40B4-BE49-F238E27FC236}">
                <a16:creationId xmlns:a16="http://schemas.microsoft.com/office/drawing/2014/main" id="{E5456E77-C979-44E0-BE76-5254FA794966}"/>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AF2411B-9796-4750-BF2A-4F24375B110E}"/>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02 Cơ sở kỹ thuật</a:t>
            </a:r>
          </a:p>
        </p:txBody>
      </p:sp>
      <p:sp>
        <p:nvSpPr>
          <p:cNvPr id="4" name="slide-number">
            <a:extLst>
              <a:ext uri="{FF2B5EF4-FFF2-40B4-BE49-F238E27FC236}">
                <a16:creationId xmlns:a16="http://schemas.microsoft.com/office/drawing/2014/main" id="{F003D657-9D44-4FFB-9447-EF4538B96385}"/>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07</a:t>
            </a:r>
          </a:p>
        </p:txBody>
      </p:sp>
      <p:pic>
        <p:nvPicPr>
          <p:cNvPr id="5" name="Picture 4">
            <a:extLst>
              <a:ext uri="{FF2B5EF4-FFF2-40B4-BE49-F238E27FC236}">
                <a16:creationId xmlns:a16="http://schemas.microsoft.com/office/drawing/2014/main" id="{B7BA7B32-21C2-4836-835E-944F16447CBF}"/>
              </a:ext>
            </a:extLst>
          </p:cNvPr>
          <p:cNvPicPr>
            <a:picLocks noChangeAspect="1"/>
          </p:cNvPicPr>
          <p:nvPr/>
        </p:nvPicPr>
        <p:blipFill>
          <a:blip r:embed="rId3"/>
          <a:stretch/>
        </p:blipFill>
        <p:spPr>
          <a:xfrm>
            <a:off x="1233488" y="1619250"/>
            <a:ext cx="1057275" cy="1057275"/>
          </a:xfrm>
          <a:prstGeom prst="rect">
            <a:avLst/>
          </a:prstGeom>
        </p:spPr>
      </p:pic>
      <p:sp>
        <p:nvSpPr>
          <p:cNvPr id="6" name="text-45">
            <a:extLst>
              <a:ext uri="{FF2B5EF4-FFF2-40B4-BE49-F238E27FC236}">
                <a16:creationId xmlns:a16="http://schemas.microsoft.com/office/drawing/2014/main" id="{3945F3C1-1FC7-498D-94F7-2B1E9A3FC0C9}"/>
              </a:ext>
            </a:extLst>
          </p:cNvPr>
          <p:cNvSpPr>
            <a:spLocks noGrp="1"/>
          </p:cNvSpPr>
          <p:nvPr/>
        </p:nvSpPr>
        <p:spPr>
          <a:xfrm>
            <a:off x="609600" y="2733675"/>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ESP32-S3</a:t>
            </a:r>
          </a:p>
        </p:txBody>
      </p:sp>
      <p:pic>
        <p:nvPicPr>
          <p:cNvPr id="7" name="Picture 6">
            <a:extLst>
              <a:ext uri="{FF2B5EF4-FFF2-40B4-BE49-F238E27FC236}">
                <a16:creationId xmlns:a16="http://schemas.microsoft.com/office/drawing/2014/main" id="{8FB6C213-1EF6-419C-9493-DCD3C939B4C8}"/>
              </a:ext>
            </a:extLst>
          </p:cNvPr>
          <p:cNvPicPr>
            <a:picLocks noChangeAspect="1"/>
          </p:cNvPicPr>
          <p:nvPr/>
        </p:nvPicPr>
        <p:blipFill>
          <a:blip r:embed="rId4"/>
          <a:stretch/>
        </p:blipFill>
        <p:spPr>
          <a:xfrm>
            <a:off x="995877" y="3019425"/>
            <a:ext cx="1532496" cy="1057275"/>
          </a:xfrm>
          <a:prstGeom prst="rect">
            <a:avLst/>
          </a:prstGeom>
        </p:spPr>
      </p:pic>
      <p:sp>
        <p:nvSpPr>
          <p:cNvPr id="8" name="text-46">
            <a:extLst>
              <a:ext uri="{FF2B5EF4-FFF2-40B4-BE49-F238E27FC236}">
                <a16:creationId xmlns:a16="http://schemas.microsoft.com/office/drawing/2014/main" id="{21DA75E6-A36A-4278-95B3-D5842765ACAB}"/>
              </a:ext>
            </a:extLst>
          </p:cNvPr>
          <p:cNvSpPr>
            <a:spLocks noGrp="1"/>
          </p:cNvSpPr>
          <p:nvPr/>
        </p:nvSpPr>
        <p:spPr>
          <a:xfrm>
            <a:off x="609600" y="4133850"/>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Cảm biến bụi quang</a:t>
            </a:r>
          </a:p>
        </p:txBody>
      </p:sp>
      <p:pic>
        <p:nvPicPr>
          <p:cNvPr id="9" name="Picture 8">
            <a:extLst>
              <a:ext uri="{FF2B5EF4-FFF2-40B4-BE49-F238E27FC236}">
                <a16:creationId xmlns:a16="http://schemas.microsoft.com/office/drawing/2014/main" id="{E410C8DA-A683-481A-A322-2842C4E5D91D}"/>
              </a:ext>
            </a:extLst>
          </p:cNvPr>
          <p:cNvPicPr>
            <a:picLocks noChangeAspect="1"/>
          </p:cNvPicPr>
          <p:nvPr/>
        </p:nvPicPr>
        <p:blipFill>
          <a:blip r:embed="rId5"/>
          <a:stretch/>
        </p:blipFill>
        <p:spPr>
          <a:xfrm>
            <a:off x="1090283" y="4419600"/>
            <a:ext cx="1343684" cy="1057275"/>
          </a:xfrm>
          <a:prstGeom prst="rect">
            <a:avLst/>
          </a:prstGeom>
        </p:spPr>
      </p:pic>
      <p:sp>
        <p:nvSpPr>
          <p:cNvPr id="10" name="text-47">
            <a:extLst>
              <a:ext uri="{FF2B5EF4-FFF2-40B4-BE49-F238E27FC236}">
                <a16:creationId xmlns:a16="http://schemas.microsoft.com/office/drawing/2014/main" id="{142C32E5-FCB4-44DC-BE86-73351F40F5D2}"/>
              </a:ext>
            </a:extLst>
          </p:cNvPr>
          <p:cNvSpPr>
            <a:spLocks noGrp="1"/>
          </p:cNvSpPr>
          <p:nvPr/>
        </p:nvSpPr>
        <p:spPr>
          <a:xfrm>
            <a:off x="609600" y="5534025"/>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DHT22</a:t>
            </a:r>
          </a:p>
        </p:txBody>
      </p:sp>
      <p:sp>
        <p:nvSpPr>
          <p:cNvPr id="11" name="text-48">
            <a:extLst>
              <a:ext uri="{FF2B5EF4-FFF2-40B4-BE49-F238E27FC236}">
                <a16:creationId xmlns:a16="http://schemas.microsoft.com/office/drawing/2014/main" id="{CC990845-0A04-4950-86CE-E7A698F31C70}"/>
              </a:ext>
            </a:extLst>
          </p:cNvPr>
          <p:cNvSpPr>
            <a:spLocks noGrp="1"/>
          </p:cNvSpPr>
          <p:nvPr/>
        </p:nvSpPr>
        <p:spPr>
          <a:xfrm>
            <a:off x="3457575" y="1724025"/>
            <a:ext cx="8124825" cy="4000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Bộ xử lý và ngõ analog</a:t>
            </a:r>
          </a:p>
        </p:txBody>
      </p:sp>
      <p:sp>
        <p:nvSpPr>
          <p:cNvPr id="12" name="text-49">
            <a:extLst>
              <a:ext uri="{FF2B5EF4-FFF2-40B4-BE49-F238E27FC236}">
                <a16:creationId xmlns:a16="http://schemas.microsoft.com/office/drawing/2014/main" id="{A1CC6C41-E999-4302-944C-0E92A7BEF6F4}"/>
              </a:ext>
            </a:extLst>
          </p:cNvPr>
          <p:cNvSpPr>
            <a:spLocks noGrp="1"/>
          </p:cNvSpPr>
          <p:nvPr/>
        </p:nvSpPr>
        <p:spPr>
          <a:xfrm>
            <a:off x="3457575" y="2238375"/>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ESP32-S3 thực hiện ADC, GPIO, I2C, USB Serial và Wi-Fi. ADC</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12 bit: 0–4095.</a:t>
            </a:r>
          </a:p>
        </p:txBody>
      </p:sp>
      <p:sp>
        <p:nvSpPr>
          <p:cNvPr id="13" name="text-50">
            <a:extLst>
              <a:ext uri="{FF2B5EF4-FFF2-40B4-BE49-F238E27FC236}">
                <a16:creationId xmlns:a16="http://schemas.microsoft.com/office/drawing/2014/main" id="{97BAED16-5B95-4B30-9B46-4F9C002C10A7}"/>
              </a:ext>
            </a:extLst>
          </p:cNvPr>
          <p:cNvSpPr>
            <a:spLocks noGrp="1"/>
          </p:cNvSpPr>
          <p:nvPr/>
        </p:nvSpPr>
        <p:spPr>
          <a:xfrm>
            <a:off x="3457575" y="3055620"/>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MQ-2 dùng ngõ AO, so sánh tín hiệu với nền sạch. Cảm biến</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không chọn lọc riêng một loại khí.</a:t>
            </a:r>
          </a:p>
        </p:txBody>
      </p:sp>
      <p:sp>
        <p:nvSpPr>
          <p:cNvPr id="14" name="text-51">
            <a:extLst>
              <a:ext uri="{FF2B5EF4-FFF2-40B4-BE49-F238E27FC236}">
                <a16:creationId xmlns:a16="http://schemas.microsoft.com/office/drawing/2014/main" id="{A9F9A807-4933-4673-AA86-2311101FD404}"/>
              </a:ext>
            </a:extLst>
          </p:cNvPr>
          <p:cNvSpPr>
            <a:spLocks noGrp="1"/>
          </p:cNvSpPr>
          <p:nvPr/>
        </p:nvSpPr>
        <p:spPr>
          <a:xfrm>
            <a:off x="3457575" y="3949065"/>
            <a:ext cx="8124825" cy="4000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Bụi và nhiệt độ, độ ẩm</a:t>
            </a:r>
          </a:p>
        </p:txBody>
      </p:sp>
      <p:sp>
        <p:nvSpPr>
          <p:cNvPr id="15" name="text-52">
            <a:extLst>
              <a:ext uri="{FF2B5EF4-FFF2-40B4-BE49-F238E27FC236}">
                <a16:creationId xmlns:a16="http://schemas.microsoft.com/office/drawing/2014/main" id="{6947BFB2-76BE-49F0-93D3-3D180AFDEEF3}"/>
              </a:ext>
            </a:extLst>
          </p:cNvPr>
          <p:cNvSpPr>
            <a:spLocks noGrp="1"/>
          </p:cNvSpPr>
          <p:nvPr/>
        </p:nvSpPr>
        <p:spPr>
          <a:xfrm>
            <a:off x="3457575" y="4463415"/>
            <a:ext cx="8124825" cy="33718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Cảm biến bụi quang Sharp dùng LED xung và ngõ ra analog.</a:t>
            </a:r>
          </a:p>
        </p:txBody>
      </p:sp>
      <p:sp>
        <p:nvSpPr>
          <p:cNvPr id="16" name="text-53">
            <a:extLst>
              <a:ext uri="{FF2B5EF4-FFF2-40B4-BE49-F238E27FC236}">
                <a16:creationId xmlns:a16="http://schemas.microsoft.com/office/drawing/2014/main" id="{1DDC633B-9ED4-4B8F-86CC-7B51C80387A5}"/>
              </a:ext>
            </a:extLst>
          </p:cNvPr>
          <p:cNvSpPr>
            <a:spLocks noGrp="1"/>
          </p:cNvSpPr>
          <p:nvPr/>
        </p:nvSpPr>
        <p:spPr>
          <a:xfrm>
            <a:off x="3457575" y="4972050"/>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DHT22 giao tiếp số một chân, dữ liệu cần kéo lên nếu module</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chưa có.</a:t>
            </a:r>
          </a:p>
        </p:txBody>
      </p:sp>
      <p:sp>
        <p:nvSpPr>
          <p:cNvPr id="17" name="text-54">
            <a:extLst>
              <a:ext uri="{FF2B5EF4-FFF2-40B4-BE49-F238E27FC236}">
                <a16:creationId xmlns:a16="http://schemas.microsoft.com/office/drawing/2014/main" id="{7A001C94-91B4-4CE4-9B22-917252DA9E87}"/>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Cần xác nhận mã trên cảm biến bụi thực tế: báo cáo ghi GP2Y1014AU0F, thông tin mua hàng có GP2Y1010AU0F.</a:t>
            </a:r>
          </a:p>
        </p:txBody>
      </p:sp>
    </p:spTree>
    <p:extLst>
      <p:ext uri="{BB962C8B-B14F-4D97-AF65-F5344CB8AC3E}">
        <p14:creationId xmlns:p14="http://schemas.microsoft.com/office/powerpoint/2010/main" val="1915832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B483FA52-DE67-4669-95CA-2FDE77F83AD8}"/>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Danh mục phần cứng: khối chức năng</a:t>
            </a:r>
          </a:p>
        </p:txBody>
      </p:sp>
      <p:sp>
        <p:nvSpPr>
          <p:cNvPr id="2" name="rule-55">
            <a:extLst>
              <a:ext uri="{FF2B5EF4-FFF2-40B4-BE49-F238E27FC236}">
                <a16:creationId xmlns:a16="http://schemas.microsoft.com/office/drawing/2014/main" id="{E55208D3-8C8D-4333-ADF9-F668C555AB36}"/>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22E97410-E1B2-4D5D-B65F-E8505793335B}"/>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02 Cơ sở kỹ thuật</a:t>
            </a:r>
          </a:p>
        </p:txBody>
      </p:sp>
      <p:sp>
        <p:nvSpPr>
          <p:cNvPr id="4" name="slide-number">
            <a:extLst>
              <a:ext uri="{FF2B5EF4-FFF2-40B4-BE49-F238E27FC236}">
                <a16:creationId xmlns:a16="http://schemas.microsoft.com/office/drawing/2014/main" id="{59E068E3-2260-4DF8-AAE4-A1C2D0FFC11E}"/>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08</a:t>
            </a:r>
          </a:p>
        </p:txBody>
      </p:sp>
      <p:graphicFrame>
        <p:nvGraphicFramePr>
          <p:cNvPr id="5" name="Table 4">
            <a:extLst>
              <a:ext uri="{FF2B5EF4-FFF2-40B4-BE49-F238E27FC236}">
                <a16:creationId xmlns:a16="http://schemas.microsoft.com/office/drawing/2014/main" id="{8543F36F-E7B6-4833-8BB5-6E0FF600C1E3}"/>
              </a:ext>
            </a:extLst>
          </p:cNvPr>
          <p:cNvGraphicFramePr/>
          <p:nvPr/>
        </p:nvGraphicFramePr>
        <p:xfrm>
          <a:off x="609600" y="1657350"/>
          <a:ext cx="10972800" cy="4410073"/>
        </p:xfrm>
        <a:graphic>
          <a:graphicData uri="http://schemas.openxmlformats.org/drawingml/2006/table">
            <a:tbl>
              <a:tblPr firstRow="1"/>
              <a:tblGrid>
                <a:gridCol w="4389120">
                  <a:extLst>
                    <a:ext uri="{9D8B030D-6E8A-4147-A177-3AD203B41FA5}">
                      <a16:colId xmlns:a16="http://schemas.microsoft.com/office/drawing/2014/main" val="20000"/>
                    </a:ext>
                  </a:extLst>
                </a:gridCol>
                <a:gridCol w="1426464">
                  <a:extLst>
                    <a:ext uri="{9D8B030D-6E8A-4147-A177-3AD203B41FA5}">
                      <a16:colId xmlns:a16="http://schemas.microsoft.com/office/drawing/2014/main" val="20001"/>
                    </a:ext>
                  </a:extLst>
                </a:gridCol>
                <a:gridCol w="5157216">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Thiết bị</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Số lượng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Vai trò</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555171">
                <a:tc>
                  <a:txBody>
                    <a:bodyPr/>
                    <a:lstStyle/>
                    <a:p>
                      <a:r>
                        <a:rPr sz="1725">
                          <a:solidFill>
                            <a:srgbClr val="263E50"/>
                          </a:solidFill>
                          <a:latin typeface="DejaVu Sans"/>
                          <a:ea typeface="DejaVu Sans"/>
                          <a:cs typeface="DejaVu Sans"/>
                        </a:rPr>
                        <a:t>ESP32-S3 DevKit</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Xử lý, điều khiển và phục vụ Wi-Fi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555171">
                <a:tc>
                  <a:txBody>
                    <a:bodyPr/>
                    <a:lstStyle/>
                    <a:p>
                      <a:r>
                        <a:rPr sz="1725">
                          <a:solidFill>
                            <a:srgbClr val="263E50"/>
                          </a:solidFill>
                          <a:latin typeface="DejaVu Sans"/>
                          <a:ea typeface="DejaVu Sans"/>
                          <a:cs typeface="DejaVu Sans"/>
                        </a:rPr>
                        <a:t>Module MQ-2</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Theo dõi biến thiên tín hiệu gas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1110343">
                <a:tc>
                  <a:txBody>
                    <a:bodyPr/>
                    <a:lstStyle/>
                    <a:p>
                      <a:r>
                        <a:rPr sz="1725">
                          <a:solidFill>
                            <a:srgbClr val="263E50"/>
                          </a:solidFill>
                          <a:latin typeface="DejaVu Sans"/>
                          <a:ea typeface="DejaVu Sans"/>
                          <a:cs typeface="DejaVu Sans"/>
                        </a:rPr>
                        <a:t>GP2Y1014AU0F và cáp</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Theo dõi tín hiệu bụi, cần đối chiếu mã thực tế</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555171">
                <a:tc>
                  <a:txBody>
                    <a:bodyPr/>
                    <a:lstStyle/>
                    <a:p>
                      <a:r>
                        <a:rPr sz="1725">
                          <a:solidFill>
                            <a:srgbClr val="263E50"/>
                          </a:solidFill>
                          <a:latin typeface="DejaVu Sans"/>
                          <a:ea typeface="DejaVu Sans"/>
                          <a:cs typeface="DejaVu Sans"/>
                        </a:rPr>
                        <a:t>DHT22 hoặc AM2302</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Đo nhiệt độ và độ ẩm</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555171">
                <a:tc>
                  <a:txBody>
                    <a:bodyPr/>
                    <a:lstStyle/>
                    <a:p>
                      <a:r>
                        <a:rPr sz="1725">
                          <a:solidFill>
                            <a:srgbClr val="263E50"/>
                          </a:solidFill>
                          <a:latin typeface="DejaVu Sans"/>
                          <a:ea typeface="DejaVu Sans"/>
                          <a:cs typeface="DejaVu Sans"/>
                        </a:rPr>
                        <a:t>LCD 1602 kèm I2C</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Hiển thị 2 dòng, 16 ký tự mỗi dòng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555171">
                <a:tc>
                  <a:txBody>
                    <a:bodyPr/>
                    <a:lstStyle/>
                    <a:p>
                      <a:r>
                        <a:rPr sz="1725">
                          <a:solidFill>
                            <a:srgbClr val="263E50"/>
                          </a:solidFill>
                          <a:latin typeface="DejaVu Sans"/>
                          <a:ea typeface="DejaVu Sans"/>
                          <a:cs typeface="DejaVu Sans"/>
                        </a:rPr>
                        <a:t>Relay 1 kênh 5 V</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Đóng cắt nguồn tải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22234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36806BB9-B6A9-4E19-9280-78BBF219B3A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Danh mục phần cứng: tải và phụ trợ</a:t>
            </a:r>
          </a:p>
        </p:txBody>
      </p:sp>
      <p:sp>
        <p:nvSpPr>
          <p:cNvPr id="2" name="rule-56">
            <a:extLst>
              <a:ext uri="{FF2B5EF4-FFF2-40B4-BE49-F238E27FC236}">
                <a16:creationId xmlns:a16="http://schemas.microsoft.com/office/drawing/2014/main" id="{163DF794-AE7E-4A50-92A2-5799BA2517F2}"/>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D95C456F-F16D-4E02-97E4-FD5127EA7537}"/>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02 Cơ sở kỹ thuật</a:t>
            </a:r>
          </a:p>
        </p:txBody>
      </p:sp>
      <p:sp>
        <p:nvSpPr>
          <p:cNvPr id="4" name="slide-number">
            <a:extLst>
              <a:ext uri="{FF2B5EF4-FFF2-40B4-BE49-F238E27FC236}">
                <a16:creationId xmlns:a16="http://schemas.microsoft.com/office/drawing/2014/main" id="{1F4A67EC-3962-48AE-ABCE-A609ADED0B59}"/>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09</a:t>
            </a:r>
          </a:p>
        </p:txBody>
      </p:sp>
      <p:graphicFrame>
        <p:nvGraphicFramePr>
          <p:cNvPr id="5" name="Table 4">
            <a:extLst>
              <a:ext uri="{FF2B5EF4-FFF2-40B4-BE49-F238E27FC236}">
                <a16:creationId xmlns:a16="http://schemas.microsoft.com/office/drawing/2014/main" id="{6F2956D2-1331-4BF2-9F15-5C523160DC62}"/>
              </a:ext>
            </a:extLst>
          </p:cNvPr>
          <p:cNvGraphicFramePr/>
          <p:nvPr/>
        </p:nvGraphicFramePr>
        <p:xfrm>
          <a:off x="609600" y="1657350"/>
          <a:ext cx="10972800" cy="4152899"/>
        </p:xfrm>
        <a:graphic>
          <a:graphicData uri="http://schemas.openxmlformats.org/drawingml/2006/table">
            <a:tbl>
              <a:tblPr firstRow="1"/>
              <a:tblGrid>
                <a:gridCol w="4608576">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718304">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Thiết bị</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Số lượng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Vai trò</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518432">
                <a:tc>
                  <a:txBody>
                    <a:bodyPr/>
                    <a:lstStyle/>
                    <a:p>
                      <a:r>
                        <a:rPr sz="1725">
                          <a:solidFill>
                            <a:srgbClr val="263E50"/>
                          </a:solidFill>
                          <a:latin typeface="DejaVu Sans"/>
                          <a:ea typeface="DejaVu Sans"/>
                          <a:cs typeface="DejaVu Sans"/>
                        </a:rPr>
                        <a:t>Quạt DC 4 × 4 cm, còi active 5 V</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Mỗi loại 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Thông gió, cảnh báo âm thanh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518432">
                <a:tc>
                  <a:txBody>
                    <a:bodyPr/>
                    <a:lstStyle/>
                    <a:p>
                      <a:r>
                        <a:rPr sz="1725">
                          <a:solidFill>
                            <a:srgbClr val="263E50"/>
                          </a:solidFill>
                          <a:latin typeface="DejaVu Sans"/>
                          <a:ea typeface="DejaVu Sans"/>
                          <a:cs typeface="DejaVu Sans"/>
                        </a:rPr>
                        <a:t>Điện trở chia áp 2,2 kΩ</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4</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Hai bộ chia áp analog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518432">
                <a:tc>
                  <a:txBody>
                    <a:bodyPr/>
                    <a:lstStyle/>
                    <a:p>
                      <a:r>
                        <a:rPr sz="1725">
                          <a:solidFill>
                            <a:srgbClr val="263E50"/>
                          </a:solidFill>
                          <a:latin typeface="DejaVu Sans"/>
                          <a:ea typeface="DejaVu Sans"/>
                          <a:cs typeface="DejaVu Sans"/>
                        </a:rPr>
                        <a:t>Điện trở và tụ LED bụi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 bộ</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Mạch ứng dụng cảm biến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518432">
                <a:tc>
                  <a:txBody>
                    <a:bodyPr/>
                    <a:lstStyle/>
                    <a:p>
                      <a:r>
                        <a:rPr sz="1725">
                          <a:solidFill>
                            <a:srgbClr val="263E50"/>
                          </a:solidFill>
                          <a:latin typeface="DejaVu Sans"/>
                          <a:ea typeface="DejaVu Sans"/>
                          <a:cs typeface="DejaVu Sans"/>
                        </a:rPr>
                        <a:t>Breadboard, dây và nguồn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1 bộ</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Lắp ráp, cấp nguồn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518432">
                <a:tc>
                  <a:txBody>
                    <a:bodyPr/>
                    <a:lstStyle/>
                    <a:p>
                      <a:r>
                        <a:rPr sz="1725">
                          <a:solidFill>
                            <a:srgbClr val="263E50"/>
                          </a:solidFill>
                          <a:latin typeface="DejaVu Sans"/>
                          <a:ea typeface="DejaVu Sans"/>
                          <a:cs typeface="DejaVu Sans"/>
                        </a:rPr>
                        <a:t>Router/hotspot Wi-Fi 2,4 GHz</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 mạng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Kết nối mạng, Internet cho Telegram</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1036864">
                <a:tc>
                  <a:txBody>
                    <a:bodyPr/>
                    <a:lstStyle/>
                    <a:p>
                      <a:r>
                        <a:rPr sz="1725">
                          <a:solidFill>
                            <a:srgbClr val="263E50"/>
                          </a:solidFill>
                          <a:latin typeface="DejaVu Sans"/>
                          <a:ea typeface="DejaVu Sans"/>
                          <a:cs typeface="DejaVu Sans"/>
                        </a:rPr>
                        <a:t>Laptop và điện thoại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Theo nhu cầu</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Mở dashboard, laptop chạy localhost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
        <p:nvSpPr>
          <p:cNvPr id="6" name="text-57">
            <a:extLst>
              <a:ext uri="{FF2B5EF4-FFF2-40B4-BE49-F238E27FC236}">
                <a16:creationId xmlns:a16="http://schemas.microsoft.com/office/drawing/2014/main" id="{5AB1283A-CAAE-485F-BE6A-BB9AB9C1779B}"/>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Còi active tự tạo âm khi có nguồn, chương trình không dùng PWM hoặc GPIO điều khiển còi riêng.</a:t>
            </a:r>
          </a:p>
        </p:txBody>
      </p:sp>
    </p:spTree>
    <p:extLst>
      <p:ext uri="{BB962C8B-B14F-4D97-AF65-F5344CB8AC3E}">
        <p14:creationId xmlns:p14="http://schemas.microsoft.com/office/powerpoint/2010/main" val="691841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DA3972DA-310D-46E1-BB7D-374CE64DBBB0}"/>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Phân bổ chân ESP32-S3</a:t>
            </a:r>
          </a:p>
        </p:txBody>
      </p:sp>
      <p:sp>
        <p:nvSpPr>
          <p:cNvPr id="2" name="rule-58">
            <a:extLst>
              <a:ext uri="{FF2B5EF4-FFF2-40B4-BE49-F238E27FC236}">
                <a16:creationId xmlns:a16="http://schemas.microsoft.com/office/drawing/2014/main" id="{1129CC86-1166-4079-BCAA-3BE90856BB22}"/>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7AFEFDE-47BF-4E5B-9EC6-46072A14F4A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03 Thiết kế phần cứng</a:t>
            </a:r>
          </a:p>
        </p:txBody>
      </p:sp>
      <p:sp>
        <p:nvSpPr>
          <p:cNvPr id="4" name="slide-number">
            <a:extLst>
              <a:ext uri="{FF2B5EF4-FFF2-40B4-BE49-F238E27FC236}">
                <a16:creationId xmlns:a16="http://schemas.microsoft.com/office/drawing/2014/main" id="{FD74CB80-1DA4-45AB-A71A-91BA6D36CA90}"/>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10</a:t>
            </a:r>
          </a:p>
        </p:txBody>
      </p:sp>
      <p:graphicFrame>
        <p:nvGraphicFramePr>
          <p:cNvPr id="5" name="Table 4">
            <a:extLst>
              <a:ext uri="{FF2B5EF4-FFF2-40B4-BE49-F238E27FC236}">
                <a16:creationId xmlns:a16="http://schemas.microsoft.com/office/drawing/2014/main" id="{B2B23F3F-4AB2-451B-8AF5-FF55DC00A986}"/>
              </a:ext>
            </a:extLst>
          </p:cNvPr>
          <p:cNvGraphicFramePr/>
          <p:nvPr/>
        </p:nvGraphicFramePr>
        <p:xfrm>
          <a:off x="609600" y="1657350"/>
          <a:ext cx="10972800" cy="4152899"/>
        </p:xfrm>
        <a:graphic>
          <a:graphicData uri="http://schemas.openxmlformats.org/drawingml/2006/table">
            <a:tbl>
              <a:tblPr firstRow="1"/>
              <a:tblGrid>
                <a:gridCol w="3072384">
                  <a:extLst>
                    <a:ext uri="{9D8B030D-6E8A-4147-A177-3AD203B41FA5}">
                      <a16:colId xmlns:a16="http://schemas.microsoft.com/office/drawing/2014/main" val="20000"/>
                    </a:ext>
                  </a:extLst>
                </a:gridCol>
                <a:gridCol w="1865376">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Tín hiệu</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GPIO</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Đấu nối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453628">
                <a:tc>
                  <a:txBody>
                    <a:bodyPr/>
                    <a:lstStyle/>
                    <a:p>
                      <a:r>
                        <a:rPr sz="1725">
                          <a:solidFill>
                            <a:srgbClr val="263E50"/>
                          </a:solidFill>
                          <a:latin typeface="DejaVu Sans"/>
                          <a:ea typeface="DejaVu Sans"/>
                          <a:cs typeface="DejaVu Sans"/>
                        </a:rPr>
                        <a:t>DHT22 DATA</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4</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VCC 3,3 V, DATA kéo lên 3,3 V</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453628">
                <a:tc>
                  <a:txBody>
                    <a:bodyPr/>
                    <a:lstStyle/>
                    <a:p>
                      <a:r>
                        <a:rPr sz="1725">
                          <a:solidFill>
                            <a:srgbClr val="263E50"/>
                          </a:solidFill>
                          <a:latin typeface="DejaVu Sans"/>
                          <a:ea typeface="DejaVu Sans"/>
                          <a:cs typeface="DejaVu Sans"/>
                        </a:rPr>
                        <a:t>MQ-2 AO</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2</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Qua chia áp 2,2 kΩ + 2,2 kΩ</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453628">
                <a:tc>
                  <a:txBody>
                    <a:bodyPr/>
                    <a:lstStyle/>
                    <a:p>
                      <a:r>
                        <a:rPr sz="1725">
                          <a:solidFill>
                            <a:srgbClr val="263E50"/>
                          </a:solidFill>
                          <a:latin typeface="DejaVu Sans"/>
                          <a:ea typeface="DejaVu Sans"/>
                          <a:cs typeface="DejaVu Sans"/>
                        </a:rPr>
                        <a:t>GP2Y Vo</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1</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Qua chia áp 2,2 kΩ + 2,2 kΩ</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453628">
                <a:tc>
                  <a:txBody>
                    <a:bodyPr/>
                    <a:lstStyle/>
                    <a:p>
                      <a:r>
                        <a:rPr sz="1725">
                          <a:solidFill>
                            <a:srgbClr val="263E50"/>
                          </a:solidFill>
                          <a:latin typeface="DejaVu Sans"/>
                          <a:ea typeface="DejaVu Sans"/>
                          <a:cs typeface="DejaVu Sans"/>
                        </a:rPr>
                        <a:t>GP2Y LED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7</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Điều khiển LED, tác động LOW</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453628">
                <a:tc>
                  <a:txBody>
                    <a:bodyPr/>
                    <a:lstStyle/>
                    <a:p>
                      <a:r>
                        <a:rPr sz="1725">
                          <a:solidFill>
                            <a:srgbClr val="263E50"/>
                          </a:solidFill>
                          <a:latin typeface="DejaVu Sans"/>
                          <a:ea typeface="DejaVu Sans"/>
                          <a:cs typeface="DejaVu Sans"/>
                        </a:rPr>
                        <a:t>Relay IN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6</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HIGH bật, LOW tắt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453628">
                <a:tc>
                  <a:txBody>
                    <a:bodyPr/>
                    <a:lstStyle/>
                    <a:p>
                      <a:r>
                        <a:rPr sz="1725">
                          <a:solidFill>
                            <a:srgbClr val="263E50"/>
                          </a:solidFill>
                          <a:latin typeface="DejaVu Sans"/>
                          <a:ea typeface="DejaVu Sans"/>
                          <a:cs typeface="DejaVu Sans"/>
                        </a:rPr>
                        <a:t>LCD SDA</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8</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Dữ liệu I2C</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r h="453628">
                <a:tc>
                  <a:txBody>
                    <a:bodyPr/>
                    <a:lstStyle/>
                    <a:p>
                      <a:r>
                        <a:rPr sz="1725">
                          <a:solidFill>
                            <a:srgbClr val="263E50"/>
                          </a:solidFill>
                          <a:latin typeface="DejaVu Sans"/>
                          <a:ea typeface="DejaVu Sans"/>
                          <a:cs typeface="DejaVu Sans"/>
                        </a:rPr>
                        <a:t>LCD SCL</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9</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Xung I2C</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7"/>
                  </a:ext>
                </a:extLst>
              </a:tr>
              <a:tr h="453628">
                <a:tc>
                  <a:txBody>
                    <a:bodyPr/>
                    <a:lstStyle/>
                    <a:p>
                      <a:r>
                        <a:rPr sz="1725">
                          <a:solidFill>
                            <a:srgbClr val="263E50"/>
                          </a:solidFill>
                          <a:latin typeface="DejaVu Sans"/>
                          <a:ea typeface="DejaVu Sans"/>
                          <a:cs typeface="DejaVu Sans"/>
                        </a:rPr>
                        <a:t>Quạt và còi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Không riêng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Mắc song song qua tiếp điểm relay</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8"/>
                  </a:ext>
                </a:extLst>
              </a:tr>
            </a:tbl>
          </a:graphicData>
        </a:graphic>
      </p:graphicFrame>
      <p:sp>
        <p:nvSpPr>
          <p:cNvPr id="6" name="text-59">
            <a:extLst>
              <a:ext uri="{FF2B5EF4-FFF2-40B4-BE49-F238E27FC236}">
                <a16:creationId xmlns:a16="http://schemas.microsoft.com/office/drawing/2014/main" id="{D5265F17-0D00-427C-B355-6286BFAE94BB}"/>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GPIO5 không sử dụng. Các khối dùng GND chung.</a:t>
            </a:r>
          </a:p>
        </p:txBody>
      </p:sp>
    </p:spTree>
    <p:extLst>
      <p:ext uri="{BB962C8B-B14F-4D97-AF65-F5344CB8AC3E}">
        <p14:creationId xmlns:p14="http://schemas.microsoft.com/office/powerpoint/2010/main" val="642256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EB6348EC-183A-4426-BD0A-54B0B77849C7}"/>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Mạch analog và cấp nguồn</a:t>
            </a:r>
          </a:p>
        </p:txBody>
      </p:sp>
      <p:sp>
        <p:nvSpPr>
          <p:cNvPr id="2" name="rule-60">
            <a:extLst>
              <a:ext uri="{FF2B5EF4-FFF2-40B4-BE49-F238E27FC236}">
                <a16:creationId xmlns:a16="http://schemas.microsoft.com/office/drawing/2014/main" id="{48CE8C24-5EE6-4769-A1D5-39C84E576627}"/>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47F3B7F4-8056-46DA-A0D9-B480A63E7D0F}"/>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03 Thiết kế phần cứng</a:t>
            </a:r>
          </a:p>
        </p:txBody>
      </p:sp>
      <p:sp>
        <p:nvSpPr>
          <p:cNvPr id="4" name="slide-number">
            <a:extLst>
              <a:ext uri="{FF2B5EF4-FFF2-40B4-BE49-F238E27FC236}">
                <a16:creationId xmlns:a16="http://schemas.microsoft.com/office/drawing/2014/main" id="{2D25C734-B768-48DC-AFC5-5BDACE50AFA8}"/>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11</a:t>
            </a:r>
          </a:p>
        </p:txBody>
      </p:sp>
      <p:sp>
        <p:nvSpPr>
          <p:cNvPr id="5" name="text-61">
            <a:extLst>
              <a:ext uri="{FF2B5EF4-FFF2-40B4-BE49-F238E27FC236}">
                <a16:creationId xmlns:a16="http://schemas.microsoft.com/office/drawing/2014/main" id="{EFA1157A-E07E-4053-90A9-55D0313A370F}"/>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Bảo vệ ngõ ADC</a:t>
            </a:r>
          </a:p>
        </p:txBody>
      </p:sp>
      <p:sp>
        <p:nvSpPr>
          <p:cNvPr id="6" name="text-62">
            <a:extLst>
              <a:ext uri="{FF2B5EF4-FFF2-40B4-BE49-F238E27FC236}">
                <a16:creationId xmlns:a16="http://schemas.microsoft.com/office/drawing/2014/main" id="{AB32C71D-A660-4F78-8BA2-6314F64561E9}"/>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Mỗi AO/Vo qua hai điện trở 2,2 kΩ tạo</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bộ chia áp 1/2.</a:t>
            </a:r>
          </a:p>
        </p:txBody>
      </p:sp>
      <p:sp>
        <p:nvSpPr>
          <p:cNvPr id="7" name="text-63">
            <a:extLst>
              <a:ext uri="{FF2B5EF4-FFF2-40B4-BE49-F238E27FC236}">
                <a16:creationId xmlns:a16="http://schemas.microsoft.com/office/drawing/2014/main" id="{D7DACD54-9779-4BE4-A245-74482865403D}"/>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Theo bộ chia lý tưởng, tín hiệu 5 V cho</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khoảng 2,5 V tại ADC.</a:t>
            </a:r>
          </a:p>
        </p:txBody>
      </p:sp>
      <p:sp>
        <p:nvSpPr>
          <p:cNvPr id="8" name="text-64">
            <a:extLst>
              <a:ext uri="{FF2B5EF4-FFF2-40B4-BE49-F238E27FC236}">
                <a16:creationId xmlns:a16="http://schemas.microsoft.com/office/drawing/2014/main" id="{808F3556-3B5B-4D7F-8DB7-63147C1FB602}"/>
              </a:ext>
            </a:extLst>
          </p:cNvPr>
          <p:cNvSpPr>
            <a:spLocks noGrp="1"/>
          </p:cNvSpPr>
          <p:nvPr/>
        </p:nvSpPr>
        <p:spPr>
          <a:xfrm>
            <a:off x="60960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Nối chung GND của ESP32, cảm biến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và nguồn tải.</a:t>
            </a:r>
          </a:p>
        </p:txBody>
      </p:sp>
      <p:sp>
        <p:nvSpPr>
          <p:cNvPr id="9" name="text-65">
            <a:extLst>
              <a:ext uri="{FF2B5EF4-FFF2-40B4-BE49-F238E27FC236}">
                <a16:creationId xmlns:a16="http://schemas.microsoft.com/office/drawing/2014/main" id="{2402B5BD-6ADF-4467-BF7E-FF3A2575F139}"/>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Nguồn và LED bụi</a:t>
            </a:r>
          </a:p>
        </p:txBody>
      </p:sp>
      <p:sp>
        <p:nvSpPr>
          <p:cNvPr id="10" name="text-66">
            <a:extLst>
              <a:ext uri="{FF2B5EF4-FFF2-40B4-BE49-F238E27FC236}">
                <a16:creationId xmlns:a16="http://schemas.microsoft.com/office/drawing/2014/main" id="{649BE15D-CE76-4A93-A50C-D802DC048A67}"/>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MQ-2, bụi và relay/tải dùng 5 V ổn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định. ESP32 cấp qua USB-C.</a:t>
            </a:r>
          </a:p>
        </p:txBody>
      </p:sp>
      <p:sp>
        <p:nvSpPr>
          <p:cNvPr id="11" name="text-67">
            <a:extLst>
              <a:ext uri="{FF2B5EF4-FFF2-40B4-BE49-F238E27FC236}">
                <a16:creationId xmlns:a16="http://schemas.microsoft.com/office/drawing/2014/main" id="{BDBE502C-06D6-4F29-A604-F4667E8BDC96}"/>
              </a:ext>
            </a:extLst>
          </p:cNvPr>
          <p:cNvSpPr>
            <a:spLocks noGrp="1"/>
          </p:cNvSpPr>
          <p:nvPr/>
        </p:nvSpPr>
        <p:spPr>
          <a:xfrm>
            <a:off x="638175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Mạch tham khảo LED bụi: điện trở 150</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Ω, tụ 220 µF. Nhóm từng đề cập 180</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Ω, cần đối chiếu giá trị thực tế.</a:t>
            </a:r>
          </a:p>
        </p:txBody>
      </p:sp>
      <p:sp>
        <p:nvSpPr>
          <p:cNvPr id="12" name="text-68">
            <a:extLst>
              <a:ext uri="{FF2B5EF4-FFF2-40B4-BE49-F238E27FC236}">
                <a16:creationId xmlns:a16="http://schemas.microsoft.com/office/drawing/2014/main" id="{817160A5-41D0-4C12-8067-F64CA8A62684}"/>
              </a:ext>
            </a:extLst>
          </p:cNvPr>
          <p:cNvSpPr>
            <a:spLocks noGrp="1"/>
          </p:cNvSpPr>
          <p:nvPr/>
        </p:nvSpPr>
        <p:spPr>
          <a:xfrm>
            <a:off x="6381750" y="42171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Chân 2/4 nối GND, chân 3 nối GPIO7.</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Xác nhận chân 1 V-LED theo giắc.</a:t>
            </a:r>
          </a:p>
        </p:txBody>
      </p:sp>
    </p:spTree>
    <p:extLst>
      <p:ext uri="{BB962C8B-B14F-4D97-AF65-F5344CB8AC3E}">
        <p14:creationId xmlns:p14="http://schemas.microsoft.com/office/powerpoint/2010/main" val="2086219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73099952-1E6A-42E3-BB15-C4E582B8972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LCD và tải qua relay</a:t>
            </a:r>
          </a:p>
        </p:txBody>
      </p:sp>
      <p:sp>
        <p:nvSpPr>
          <p:cNvPr id="2" name="rule-69">
            <a:extLst>
              <a:ext uri="{FF2B5EF4-FFF2-40B4-BE49-F238E27FC236}">
                <a16:creationId xmlns:a16="http://schemas.microsoft.com/office/drawing/2014/main" id="{1DA3C97F-D421-4602-BCF0-670EB258C76D}"/>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6A7B0CC-5F9C-47AC-8D92-98A6D299CF3C}"/>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03 Thiết kế phần cứng</a:t>
            </a:r>
          </a:p>
        </p:txBody>
      </p:sp>
      <p:sp>
        <p:nvSpPr>
          <p:cNvPr id="4" name="slide-number">
            <a:extLst>
              <a:ext uri="{FF2B5EF4-FFF2-40B4-BE49-F238E27FC236}">
                <a16:creationId xmlns:a16="http://schemas.microsoft.com/office/drawing/2014/main" id="{66B8F501-282A-4FDE-97F9-BAF9A9356709}"/>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12</a:t>
            </a:r>
          </a:p>
        </p:txBody>
      </p:sp>
      <p:pic>
        <p:nvPicPr>
          <p:cNvPr id="5" name="Picture 4">
            <a:extLst>
              <a:ext uri="{FF2B5EF4-FFF2-40B4-BE49-F238E27FC236}">
                <a16:creationId xmlns:a16="http://schemas.microsoft.com/office/drawing/2014/main" id="{9199F4FB-8DB7-4206-9EDF-6952EDF0DE7F}"/>
              </a:ext>
            </a:extLst>
          </p:cNvPr>
          <p:cNvPicPr>
            <a:picLocks noChangeAspect="1"/>
          </p:cNvPicPr>
          <p:nvPr/>
        </p:nvPicPr>
        <p:blipFill>
          <a:blip r:embed="rId3"/>
          <a:stretch/>
        </p:blipFill>
        <p:spPr>
          <a:xfrm>
            <a:off x="1233488" y="1619250"/>
            <a:ext cx="1057275" cy="1057275"/>
          </a:xfrm>
          <a:prstGeom prst="rect">
            <a:avLst/>
          </a:prstGeom>
        </p:spPr>
      </p:pic>
      <p:sp>
        <p:nvSpPr>
          <p:cNvPr id="6" name="text-70">
            <a:extLst>
              <a:ext uri="{FF2B5EF4-FFF2-40B4-BE49-F238E27FC236}">
                <a16:creationId xmlns:a16="http://schemas.microsoft.com/office/drawing/2014/main" id="{3B37C6A5-8FDF-41DA-BFBA-21C48B57BB6C}"/>
              </a:ext>
            </a:extLst>
          </p:cNvPr>
          <p:cNvSpPr>
            <a:spLocks noGrp="1"/>
          </p:cNvSpPr>
          <p:nvPr/>
        </p:nvSpPr>
        <p:spPr>
          <a:xfrm>
            <a:off x="609600" y="2733675"/>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LCD 1602 và I2C</a:t>
            </a:r>
          </a:p>
        </p:txBody>
      </p:sp>
      <p:pic>
        <p:nvPicPr>
          <p:cNvPr id="7" name="Picture 6">
            <a:extLst>
              <a:ext uri="{FF2B5EF4-FFF2-40B4-BE49-F238E27FC236}">
                <a16:creationId xmlns:a16="http://schemas.microsoft.com/office/drawing/2014/main" id="{3EF0C4B5-4982-4EE3-8EFA-205963655D98}"/>
              </a:ext>
            </a:extLst>
          </p:cNvPr>
          <p:cNvPicPr>
            <a:picLocks noChangeAspect="1"/>
          </p:cNvPicPr>
          <p:nvPr/>
        </p:nvPicPr>
        <p:blipFill>
          <a:blip r:embed="rId4"/>
          <a:stretch/>
        </p:blipFill>
        <p:spPr>
          <a:xfrm>
            <a:off x="1233488" y="3019425"/>
            <a:ext cx="1057275" cy="1057275"/>
          </a:xfrm>
          <a:prstGeom prst="rect">
            <a:avLst/>
          </a:prstGeom>
        </p:spPr>
      </p:pic>
      <p:sp>
        <p:nvSpPr>
          <p:cNvPr id="8" name="text-71">
            <a:extLst>
              <a:ext uri="{FF2B5EF4-FFF2-40B4-BE49-F238E27FC236}">
                <a16:creationId xmlns:a16="http://schemas.microsoft.com/office/drawing/2014/main" id="{A1E7288A-59C2-48D4-9B13-358BBFC62D17}"/>
              </a:ext>
            </a:extLst>
          </p:cNvPr>
          <p:cNvSpPr>
            <a:spLocks noGrp="1"/>
          </p:cNvSpPr>
          <p:nvPr/>
        </p:nvSpPr>
        <p:spPr>
          <a:xfrm>
            <a:off x="609600" y="4133850"/>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Relay 1 kênh</a:t>
            </a:r>
          </a:p>
        </p:txBody>
      </p:sp>
      <p:pic>
        <p:nvPicPr>
          <p:cNvPr id="9" name="Picture 8">
            <a:extLst>
              <a:ext uri="{FF2B5EF4-FFF2-40B4-BE49-F238E27FC236}">
                <a16:creationId xmlns:a16="http://schemas.microsoft.com/office/drawing/2014/main" id="{75662570-532A-416E-9D3A-0414D8937181}"/>
              </a:ext>
            </a:extLst>
          </p:cNvPr>
          <p:cNvPicPr>
            <a:picLocks noChangeAspect="1"/>
          </p:cNvPicPr>
          <p:nvPr/>
        </p:nvPicPr>
        <p:blipFill>
          <a:blip r:embed="rId5"/>
          <a:stretch/>
        </p:blipFill>
        <p:spPr>
          <a:xfrm>
            <a:off x="1233488" y="4419600"/>
            <a:ext cx="1057275" cy="1057275"/>
          </a:xfrm>
          <a:prstGeom prst="rect">
            <a:avLst/>
          </a:prstGeom>
        </p:spPr>
      </p:pic>
      <p:sp>
        <p:nvSpPr>
          <p:cNvPr id="10" name="text-72">
            <a:extLst>
              <a:ext uri="{FF2B5EF4-FFF2-40B4-BE49-F238E27FC236}">
                <a16:creationId xmlns:a16="http://schemas.microsoft.com/office/drawing/2014/main" id="{99293F49-B856-4B55-AEF6-CB7CCAA7C11F}"/>
              </a:ext>
            </a:extLst>
          </p:cNvPr>
          <p:cNvSpPr>
            <a:spLocks noGrp="1"/>
          </p:cNvSpPr>
          <p:nvPr/>
        </p:nvSpPr>
        <p:spPr>
          <a:xfrm>
            <a:off x="609600" y="5534025"/>
            <a:ext cx="2305050" cy="295275"/>
          </a:xfrm>
          <a:prstGeom prst="rect">
            <a:avLst/>
          </a:prstGeom>
          <a:noFill/>
          <a:ln w="0">
            <a:noFill/>
            <a:prstDash val="solid"/>
          </a:ln>
        </p:spPr>
        <p:txBody>
          <a:bodyPr wrap="square" lIns="0" tIns="0" rIns="0" bIns="0" anchor="t">
            <a:noAutofit/>
          </a:bodyPr>
          <a:lstStyle>
            <a:defPPr algn="ctr">
              <a:defRPr sz="1425" b="1">
                <a:solidFill>
                  <a:srgbClr val="123047"/>
                </a:solidFill>
                <a:latin typeface="DejaVu Sans"/>
                <a:ea typeface="DejaVu Sans"/>
                <a:cs typeface="DejaVu Sans"/>
              </a:defRPr>
            </a:defPPr>
            <a:lvl1pPr algn="ctr">
              <a:defRPr sz="1425" b="1">
                <a:solidFill>
                  <a:srgbClr val="123047"/>
                </a:solidFill>
                <a:latin typeface="DejaVu Sans"/>
                <a:ea typeface="DejaVu Sans"/>
                <a:cs typeface="DejaVu Sans"/>
              </a:defRPr>
            </a:lvl1pPr>
            <a:lvl2pPr algn="ctr">
              <a:defRPr sz="1425" b="1">
                <a:solidFill>
                  <a:srgbClr val="123047"/>
                </a:solidFill>
                <a:latin typeface="DejaVu Sans"/>
                <a:ea typeface="DejaVu Sans"/>
                <a:cs typeface="DejaVu Sans"/>
              </a:defRPr>
            </a:lvl2pPr>
            <a:lvl3pPr algn="ctr">
              <a:defRPr sz="1425" b="1">
                <a:solidFill>
                  <a:srgbClr val="123047"/>
                </a:solidFill>
                <a:latin typeface="DejaVu Sans"/>
                <a:ea typeface="DejaVu Sans"/>
                <a:cs typeface="DejaVu Sans"/>
              </a:defRPr>
            </a:lvl3pPr>
            <a:lvl4pPr algn="ctr">
              <a:defRPr sz="1425" b="1">
                <a:solidFill>
                  <a:srgbClr val="123047"/>
                </a:solidFill>
                <a:latin typeface="DejaVu Sans"/>
                <a:ea typeface="DejaVu Sans"/>
                <a:cs typeface="DejaVu Sans"/>
              </a:defRPr>
            </a:lvl4pPr>
            <a:lvl5pPr algn="ctr">
              <a:defRPr sz="1425" b="1">
                <a:solidFill>
                  <a:srgbClr val="123047"/>
                </a:solidFill>
                <a:latin typeface="DejaVu Sans"/>
                <a:ea typeface="DejaVu Sans"/>
                <a:cs typeface="DejaVu Sans"/>
              </a:defRPr>
            </a:lvl5pPr>
            <a:lvl6pPr algn="ctr">
              <a:defRPr sz="1425" b="1">
                <a:solidFill>
                  <a:srgbClr val="123047"/>
                </a:solidFill>
                <a:latin typeface="DejaVu Sans"/>
                <a:ea typeface="DejaVu Sans"/>
                <a:cs typeface="DejaVu Sans"/>
              </a:defRPr>
            </a:lvl6pPr>
            <a:lvl7pPr algn="ctr">
              <a:defRPr sz="1425" b="1">
                <a:solidFill>
                  <a:srgbClr val="123047"/>
                </a:solidFill>
                <a:latin typeface="DejaVu Sans"/>
                <a:ea typeface="DejaVu Sans"/>
                <a:cs typeface="DejaVu Sans"/>
              </a:defRPr>
            </a:lvl7pPr>
            <a:lvl8pPr algn="ctr">
              <a:defRPr sz="1425" b="1">
                <a:solidFill>
                  <a:srgbClr val="123047"/>
                </a:solidFill>
                <a:latin typeface="DejaVu Sans"/>
                <a:ea typeface="DejaVu Sans"/>
                <a:cs typeface="DejaVu Sans"/>
              </a:defRPr>
            </a:lvl8pPr>
            <a:lvl9pPr algn="ctr">
              <a:defRPr sz="1425" b="1">
                <a:solidFill>
                  <a:srgbClr val="123047"/>
                </a:solidFill>
                <a:latin typeface="DejaVu Sans"/>
                <a:ea typeface="DejaVu Sans"/>
                <a:cs typeface="DejaVu Sans"/>
              </a:defRPr>
            </a:lvl9pPr>
          </a:lstStyle>
          <a:p>
            <a:pPr algn="ctr">
              <a:lnSpc>
                <a:spcPct val="112000"/>
              </a:lnSpc>
              <a:buNone/>
              <a:defRPr sz="1425" b="1">
                <a:solidFill>
                  <a:srgbClr val="123047"/>
                </a:solidFill>
                <a:latin typeface="DejaVu Sans"/>
                <a:ea typeface="DejaVu Sans"/>
                <a:cs typeface="DejaVu Sans"/>
              </a:defRPr>
            </a:pPr>
            <a:r>
              <a:rPr sz="1425" b="1">
                <a:solidFill>
                  <a:srgbClr val="123047"/>
                </a:solidFill>
                <a:latin typeface="DejaVu Sans"/>
                <a:ea typeface="DejaVu Sans"/>
                <a:cs typeface="DejaVu Sans"/>
              </a:rPr>
              <a:t>Quạt DC</a:t>
            </a:r>
          </a:p>
        </p:txBody>
      </p:sp>
      <p:sp>
        <p:nvSpPr>
          <p:cNvPr id="11" name="text-73">
            <a:extLst>
              <a:ext uri="{FF2B5EF4-FFF2-40B4-BE49-F238E27FC236}">
                <a16:creationId xmlns:a16="http://schemas.microsoft.com/office/drawing/2014/main" id="{F27C02BB-8898-4358-A824-6D397878AB52}"/>
              </a:ext>
            </a:extLst>
          </p:cNvPr>
          <p:cNvSpPr>
            <a:spLocks noGrp="1"/>
          </p:cNvSpPr>
          <p:nvPr/>
        </p:nvSpPr>
        <p:spPr>
          <a:xfrm>
            <a:off x="3457575" y="1724025"/>
            <a:ext cx="8124825" cy="4000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LCD 1602 I2C</a:t>
            </a:r>
          </a:p>
        </p:txBody>
      </p:sp>
      <p:sp>
        <p:nvSpPr>
          <p:cNvPr id="12" name="text-74">
            <a:extLst>
              <a:ext uri="{FF2B5EF4-FFF2-40B4-BE49-F238E27FC236}">
                <a16:creationId xmlns:a16="http://schemas.microsoft.com/office/drawing/2014/main" id="{D2523924-1376-4F52-9330-083416A85D54}"/>
              </a:ext>
            </a:extLst>
          </p:cNvPr>
          <p:cNvSpPr>
            <a:spLocks noGrp="1"/>
          </p:cNvSpPr>
          <p:nvPr/>
        </p:nvSpPr>
        <p:spPr>
          <a:xfrm>
            <a:off x="3457575" y="2238375"/>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Địa chỉ 0x27, nguồn 3,3 V theo cấu hình. Cần kiểm tra tương</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phản thực tế.</a:t>
            </a:r>
          </a:p>
        </p:txBody>
      </p:sp>
      <p:sp>
        <p:nvSpPr>
          <p:cNvPr id="13" name="text-75">
            <a:extLst>
              <a:ext uri="{FF2B5EF4-FFF2-40B4-BE49-F238E27FC236}">
                <a16:creationId xmlns:a16="http://schemas.microsoft.com/office/drawing/2014/main" id="{4E532336-2F94-4373-A05C-2DEB6A66A8A0}"/>
              </a:ext>
            </a:extLst>
          </p:cNvPr>
          <p:cNvSpPr>
            <a:spLocks noGrp="1"/>
          </p:cNvSpPr>
          <p:nvPr/>
        </p:nvSpPr>
        <p:spPr>
          <a:xfrm>
            <a:off x="3457575" y="3055620"/>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Nếu cấp LCD 5 V, kiểm tra kéo lên SDA/SCL và chuyển mức</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phù hợp.</a:t>
            </a:r>
          </a:p>
        </p:txBody>
      </p:sp>
      <p:sp>
        <p:nvSpPr>
          <p:cNvPr id="14" name="text-76">
            <a:extLst>
              <a:ext uri="{FF2B5EF4-FFF2-40B4-BE49-F238E27FC236}">
                <a16:creationId xmlns:a16="http://schemas.microsoft.com/office/drawing/2014/main" id="{19F4CE68-F032-4786-A9C2-0F2F8D1B1D8A}"/>
              </a:ext>
            </a:extLst>
          </p:cNvPr>
          <p:cNvSpPr>
            <a:spLocks noGrp="1"/>
          </p:cNvSpPr>
          <p:nvPr/>
        </p:nvSpPr>
        <p:spPr>
          <a:xfrm>
            <a:off x="3457575" y="3949065"/>
            <a:ext cx="8124825" cy="4000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Relay, quạt và còi</a:t>
            </a:r>
          </a:p>
        </p:txBody>
      </p:sp>
      <p:sp>
        <p:nvSpPr>
          <p:cNvPr id="15" name="text-77">
            <a:extLst>
              <a:ext uri="{FF2B5EF4-FFF2-40B4-BE49-F238E27FC236}">
                <a16:creationId xmlns:a16="http://schemas.microsoft.com/office/drawing/2014/main" id="{3781AD01-11C2-49B7-9F53-F28FAADB04A6}"/>
              </a:ext>
            </a:extLst>
          </p:cNvPr>
          <p:cNvSpPr>
            <a:spLocks noGrp="1"/>
          </p:cNvSpPr>
          <p:nvPr/>
        </p:nvSpPr>
        <p:spPr>
          <a:xfrm>
            <a:off x="3457575" y="4463415"/>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COM nhận +5 V, NO nối cực dương quạt/còi. Cực âm nối GND,</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NC không dùng.</a:t>
            </a:r>
          </a:p>
        </p:txBody>
      </p:sp>
      <p:sp>
        <p:nvSpPr>
          <p:cNvPr id="16" name="text-78">
            <a:extLst>
              <a:ext uri="{FF2B5EF4-FFF2-40B4-BE49-F238E27FC236}">
                <a16:creationId xmlns:a16="http://schemas.microsoft.com/office/drawing/2014/main" id="{9FABBD75-C382-4961-AB97-3DB827A1BB19}"/>
              </a:ext>
            </a:extLst>
          </p:cNvPr>
          <p:cNvSpPr>
            <a:spLocks noGrp="1"/>
          </p:cNvSpPr>
          <p:nvPr/>
        </p:nvSpPr>
        <p:spPr>
          <a:xfrm>
            <a:off x="3457575" y="5280660"/>
            <a:ext cx="8124825"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Relay HIGH bật, LOW tắt. Chọn jumper tương ứng và nguồn đủ</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dòng cho toàn bộ tải.</a:t>
            </a:r>
          </a:p>
        </p:txBody>
      </p:sp>
      <p:sp>
        <p:nvSpPr>
          <p:cNvPr id="17" name="text-79">
            <a:extLst>
              <a:ext uri="{FF2B5EF4-FFF2-40B4-BE49-F238E27FC236}">
                <a16:creationId xmlns:a16="http://schemas.microsoft.com/office/drawing/2014/main" id="{47D24CBE-F4E6-4528-BF61-1399066B6CC7}"/>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Quạt và còi cùng bật hoặc tắt theo một relay.</a:t>
            </a:r>
          </a:p>
        </p:txBody>
      </p:sp>
    </p:spTree>
    <p:extLst>
      <p:ext uri="{BB962C8B-B14F-4D97-AF65-F5344CB8AC3E}">
        <p14:creationId xmlns:p14="http://schemas.microsoft.com/office/powerpoint/2010/main" val="122558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765F4E47-065C-4F11-8958-04A0FC6D6D12}"/>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Sơ đồ đấu nối theo mã nguồn</a:t>
            </a:r>
          </a:p>
        </p:txBody>
      </p:sp>
      <p:sp>
        <p:nvSpPr>
          <p:cNvPr id="2" name="rule-80">
            <a:extLst>
              <a:ext uri="{FF2B5EF4-FFF2-40B4-BE49-F238E27FC236}">
                <a16:creationId xmlns:a16="http://schemas.microsoft.com/office/drawing/2014/main" id="{634C10C5-D96E-45F5-A768-E1BEF275A4AE}"/>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6933F4B5-45B8-432D-A0A3-336C5689BEA3}"/>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03 Thiết kế phần cứng</a:t>
            </a:r>
          </a:p>
        </p:txBody>
      </p:sp>
      <p:sp>
        <p:nvSpPr>
          <p:cNvPr id="4" name="slide-number">
            <a:extLst>
              <a:ext uri="{FF2B5EF4-FFF2-40B4-BE49-F238E27FC236}">
                <a16:creationId xmlns:a16="http://schemas.microsoft.com/office/drawing/2014/main" id="{30921CE8-0E90-434D-8447-C1F88C3BF3ED}"/>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13</a:t>
            </a:r>
          </a:p>
        </p:txBody>
      </p:sp>
      <p:pic>
        <p:nvPicPr>
          <p:cNvPr id="5" name="Picture 4">
            <a:extLst>
              <a:ext uri="{FF2B5EF4-FFF2-40B4-BE49-F238E27FC236}">
                <a16:creationId xmlns:a16="http://schemas.microsoft.com/office/drawing/2014/main" id="{0FD33E4E-E431-4DEE-9663-6FD6E4EFEB57}"/>
              </a:ext>
            </a:extLst>
          </p:cNvPr>
          <p:cNvPicPr>
            <a:picLocks noChangeAspect="1"/>
          </p:cNvPicPr>
          <p:nvPr/>
        </p:nvPicPr>
        <p:blipFill>
          <a:blip r:embed="rId3"/>
          <a:stretch/>
        </p:blipFill>
        <p:spPr>
          <a:xfrm>
            <a:off x="2928651" y="1504950"/>
            <a:ext cx="6334699" cy="4381500"/>
          </a:xfrm>
          <a:prstGeom prst="rect">
            <a:avLst/>
          </a:prstGeom>
        </p:spPr>
      </p:pic>
      <p:sp>
        <p:nvSpPr>
          <p:cNvPr id="6" name="text-81">
            <a:extLst>
              <a:ext uri="{FF2B5EF4-FFF2-40B4-BE49-F238E27FC236}">
                <a16:creationId xmlns:a16="http://schemas.microsoft.com/office/drawing/2014/main" id="{180F2960-F3DF-4FA3-9C47-0563696EA970}"/>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Nhãn dây trùng tên nối cùng net. Sơ đồ thể hiện chân chức năng, cần tra nhãn GPIO trên board thực tế.</a:t>
            </a:r>
          </a:p>
        </p:txBody>
      </p:sp>
    </p:spTree>
    <p:extLst>
      <p:ext uri="{BB962C8B-B14F-4D97-AF65-F5344CB8AC3E}">
        <p14:creationId xmlns:p14="http://schemas.microsoft.com/office/powerpoint/2010/main" val="261285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FD52CFEF-5994-4983-A7D8-4FA355B08812}"/>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Khởi động và lấy nền cảm biến</a:t>
            </a:r>
          </a:p>
        </p:txBody>
      </p:sp>
      <p:sp>
        <p:nvSpPr>
          <p:cNvPr id="2" name="rule-82">
            <a:extLst>
              <a:ext uri="{FF2B5EF4-FFF2-40B4-BE49-F238E27FC236}">
                <a16:creationId xmlns:a16="http://schemas.microsoft.com/office/drawing/2014/main" id="{09D32302-4EA9-4292-8EDF-6740F7FF43B6}"/>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1DAEB8F-AEB8-4773-847C-2DD7162B3A59}"/>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04 Thu thập dữ liệu</a:t>
            </a:r>
          </a:p>
        </p:txBody>
      </p:sp>
      <p:sp>
        <p:nvSpPr>
          <p:cNvPr id="4" name="slide-number">
            <a:extLst>
              <a:ext uri="{FF2B5EF4-FFF2-40B4-BE49-F238E27FC236}">
                <a16:creationId xmlns:a16="http://schemas.microsoft.com/office/drawing/2014/main" id="{3F2658F3-524C-41AA-A4D1-B6F469555179}"/>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14</a:t>
            </a:r>
          </a:p>
        </p:txBody>
      </p:sp>
      <p:sp>
        <p:nvSpPr>
          <p:cNvPr id="5" name="text-83">
            <a:extLst>
              <a:ext uri="{FF2B5EF4-FFF2-40B4-BE49-F238E27FC236}">
                <a16:creationId xmlns:a16="http://schemas.microsoft.com/office/drawing/2014/main" id="{DCC21E96-374F-4B67-B353-1877A3FD98E4}"/>
              </a:ext>
            </a:extLst>
          </p:cNvPr>
          <p:cNvSpPr>
            <a:spLocks noGrp="1"/>
          </p:cNvSpPr>
          <p:nvPr/>
        </p:nvSpPr>
        <p:spPr>
          <a:xfrm>
            <a:off x="609600" y="1685925"/>
            <a:ext cx="609600" cy="590550"/>
          </a:xfrm>
          <a:prstGeom prst="rect">
            <a:avLst/>
          </a:prstGeom>
          <a:noFill/>
          <a:ln w="0">
            <a:noFill/>
            <a:prstDash val="solid"/>
          </a:ln>
        </p:spPr>
        <p:txBody>
          <a:bodyPr wrap="square" lIns="0" tIns="0" rIns="0" bIns="0" anchor="t">
            <a:noAutofit/>
          </a:bodyPr>
          <a:lstStyle>
            <a:defPPr algn="l">
              <a:defRPr sz="3225" b="1">
                <a:solidFill>
                  <a:srgbClr val="007E87"/>
                </a:solidFill>
                <a:latin typeface="DejaVu Sans"/>
                <a:ea typeface="DejaVu Sans"/>
                <a:cs typeface="DejaVu Sans"/>
              </a:defRPr>
            </a:defPPr>
            <a:lvl1pPr algn="l">
              <a:defRPr sz="3225" b="1">
                <a:solidFill>
                  <a:srgbClr val="007E87"/>
                </a:solidFill>
                <a:latin typeface="DejaVu Sans"/>
                <a:ea typeface="DejaVu Sans"/>
                <a:cs typeface="DejaVu Sans"/>
              </a:defRPr>
            </a:lvl1pPr>
            <a:lvl2pPr algn="l">
              <a:defRPr sz="3225" b="1">
                <a:solidFill>
                  <a:srgbClr val="007E87"/>
                </a:solidFill>
                <a:latin typeface="DejaVu Sans"/>
                <a:ea typeface="DejaVu Sans"/>
                <a:cs typeface="DejaVu Sans"/>
              </a:defRPr>
            </a:lvl2pPr>
            <a:lvl3pPr algn="l">
              <a:defRPr sz="3225" b="1">
                <a:solidFill>
                  <a:srgbClr val="007E87"/>
                </a:solidFill>
                <a:latin typeface="DejaVu Sans"/>
                <a:ea typeface="DejaVu Sans"/>
                <a:cs typeface="DejaVu Sans"/>
              </a:defRPr>
            </a:lvl3pPr>
            <a:lvl4pPr algn="l">
              <a:defRPr sz="3225" b="1">
                <a:solidFill>
                  <a:srgbClr val="007E87"/>
                </a:solidFill>
                <a:latin typeface="DejaVu Sans"/>
                <a:ea typeface="DejaVu Sans"/>
                <a:cs typeface="DejaVu Sans"/>
              </a:defRPr>
            </a:lvl4pPr>
            <a:lvl5pPr algn="l">
              <a:defRPr sz="3225" b="1">
                <a:solidFill>
                  <a:srgbClr val="007E87"/>
                </a:solidFill>
                <a:latin typeface="DejaVu Sans"/>
                <a:ea typeface="DejaVu Sans"/>
                <a:cs typeface="DejaVu Sans"/>
              </a:defRPr>
            </a:lvl5pPr>
            <a:lvl6pPr algn="l">
              <a:defRPr sz="3225" b="1">
                <a:solidFill>
                  <a:srgbClr val="007E87"/>
                </a:solidFill>
                <a:latin typeface="DejaVu Sans"/>
                <a:ea typeface="DejaVu Sans"/>
                <a:cs typeface="DejaVu Sans"/>
              </a:defRPr>
            </a:lvl6pPr>
            <a:lvl7pPr algn="l">
              <a:defRPr sz="3225" b="1">
                <a:solidFill>
                  <a:srgbClr val="007E87"/>
                </a:solidFill>
                <a:latin typeface="DejaVu Sans"/>
                <a:ea typeface="DejaVu Sans"/>
                <a:cs typeface="DejaVu Sans"/>
              </a:defRPr>
            </a:lvl7pPr>
            <a:lvl8pPr algn="l">
              <a:defRPr sz="3225" b="1">
                <a:solidFill>
                  <a:srgbClr val="007E87"/>
                </a:solidFill>
                <a:latin typeface="DejaVu Sans"/>
                <a:ea typeface="DejaVu Sans"/>
                <a:cs typeface="DejaVu Sans"/>
              </a:defRPr>
            </a:lvl8pPr>
            <a:lvl9pPr algn="l">
              <a:defRPr sz="3225" b="1">
                <a:solidFill>
                  <a:srgbClr val="007E87"/>
                </a:solidFill>
                <a:latin typeface="DejaVu Sans"/>
                <a:ea typeface="DejaVu Sans"/>
                <a:cs typeface="DejaVu Sans"/>
              </a:defRPr>
            </a:lvl9pPr>
          </a:lstStyle>
          <a:p>
            <a:pPr algn="l">
              <a:lnSpc>
                <a:spcPct val="112000"/>
              </a:lnSpc>
              <a:buNone/>
              <a:defRPr sz="3225" b="1">
                <a:solidFill>
                  <a:srgbClr val="007E87"/>
                </a:solidFill>
                <a:latin typeface="DejaVu Sans"/>
                <a:ea typeface="DejaVu Sans"/>
                <a:cs typeface="DejaVu Sans"/>
              </a:defRPr>
            </a:pPr>
            <a:r>
              <a:rPr sz="3225" b="1">
                <a:solidFill>
                  <a:srgbClr val="007E87"/>
                </a:solidFill>
                <a:latin typeface="DejaVu Sans"/>
                <a:ea typeface="DejaVu Sans"/>
                <a:cs typeface="DejaVu Sans"/>
              </a:rPr>
              <a:t>1</a:t>
            </a:r>
          </a:p>
        </p:txBody>
      </p:sp>
      <p:sp>
        <p:nvSpPr>
          <p:cNvPr id="6" name="text-84">
            <a:extLst>
              <a:ext uri="{FF2B5EF4-FFF2-40B4-BE49-F238E27FC236}">
                <a16:creationId xmlns:a16="http://schemas.microsoft.com/office/drawing/2014/main" id="{AB4212C9-1275-403D-8B82-5896EC7B5B00}"/>
              </a:ext>
            </a:extLst>
          </p:cNvPr>
          <p:cNvSpPr>
            <a:spLocks noGrp="1"/>
          </p:cNvSpPr>
          <p:nvPr/>
        </p:nvSpPr>
        <p:spPr>
          <a:xfrm>
            <a:off x="1400175" y="1695450"/>
            <a:ext cx="3143250" cy="409575"/>
          </a:xfrm>
          <a:prstGeom prst="rect">
            <a:avLst/>
          </a:prstGeom>
          <a:noFill/>
          <a:ln w="0">
            <a:noFill/>
            <a:prstDash val="solid"/>
          </a:ln>
        </p:spPr>
        <p:txBody>
          <a:bodyPr wrap="square" lIns="0" tIns="0" rIns="0" bIns="0" anchor="t">
            <a:noAutofit/>
          </a:bodyPr>
          <a:lstStyle>
            <a:defPPr algn="l">
              <a:defRPr sz="2025" b="1">
                <a:solidFill>
                  <a:srgbClr val="123047"/>
                </a:solidFill>
                <a:latin typeface="DejaVu Sans"/>
                <a:ea typeface="DejaVu Sans"/>
                <a:cs typeface="DejaVu Sans"/>
              </a:defRPr>
            </a:defPPr>
            <a:lvl1pPr algn="l">
              <a:defRPr sz="2025" b="1">
                <a:solidFill>
                  <a:srgbClr val="123047"/>
                </a:solidFill>
                <a:latin typeface="DejaVu Sans"/>
                <a:ea typeface="DejaVu Sans"/>
                <a:cs typeface="DejaVu Sans"/>
              </a:defRPr>
            </a:lvl1pPr>
            <a:lvl2pPr algn="l">
              <a:defRPr sz="2025" b="1">
                <a:solidFill>
                  <a:srgbClr val="123047"/>
                </a:solidFill>
                <a:latin typeface="DejaVu Sans"/>
                <a:ea typeface="DejaVu Sans"/>
                <a:cs typeface="DejaVu Sans"/>
              </a:defRPr>
            </a:lvl2pPr>
            <a:lvl3pPr algn="l">
              <a:defRPr sz="2025" b="1">
                <a:solidFill>
                  <a:srgbClr val="123047"/>
                </a:solidFill>
                <a:latin typeface="DejaVu Sans"/>
                <a:ea typeface="DejaVu Sans"/>
                <a:cs typeface="DejaVu Sans"/>
              </a:defRPr>
            </a:lvl3pPr>
            <a:lvl4pPr algn="l">
              <a:defRPr sz="2025" b="1">
                <a:solidFill>
                  <a:srgbClr val="123047"/>
                </a:solidFill>
                <a:latin typeface="DejaVu Sans"/>
                <a:ea typeface="DejaVu Sans"/>
                <a:cs typeface="DejaVu Sans"/>
              </a:defRPr>
            </a:lvl4pPr>
            <a:lvl5pPr algn="l">
              <a:defRPr sz="2025" b="1">
                <a:solidFill>
                  <a:srgbClr val="123047"/>
                </a:solidFill>
                <a:latin typeface="DejaVu Sans"/>
                <a:ea typeface="DejaVu Sans"/>
                <a:cs typeface="DejaVu Sans"/>
              </a:defRPr>
            </a:lvl5pPr>
            <a:lvl6pPr algn="l">
              <a:defRPr sz="2025" b="1">
                <a:solidFill>
                  <a:srgbClr val="123047"/>
                </a:solidFill>
                <a:latin typeface="DejaVu Sans"/>
                <a:ea typeface="DejaVu Sans"/>
                <a:cs typeface="DejaVu Sans"/>
              </a:defRPr>
            </a:lvl6pPr>
            <a:lvl7pPr algn="l">
              <a:defRPr sz="2025" b="1">
                <a:solidFill>
                  <a:srgbClr val="123047"/>
                </a:solidFill>
                <a:latin typeface="DejaVu Sans"/>
                <a:ea typeface="DejaVu Sans"/>
                <a:cs typeface="DejaVu Sans"/>
              </a:defRPr>
            </a:lvl7pPr>
            <a:lvl8pPr algn="l">
              <a:defRPr sz="2025" b="1">
                <a:solidFill>
                  <a:srgbClr val="123047"/>
                </a:solidFill>
                <a:latin typeface="DejaVu Sans"/>
                <a:ea typeface="DejaVu Sans"/>
                <a:cs typeface="DejaVu Sans"/>
              </a:defRPr>
            </a:lvl8pPr>
            <a:lvl9pPr algn="l">
              <a:defRPr sz="2025" b="1">
                <a:solidFill>
                  <a:srgbClr val="123047"/>
                </a:solidFill>
                <a:latin typeface="DejaVu Sans"/>
                <a:ea typeface="DejaVu Sans"/>
                <a:cs typeface="DejaVu Sans"/>
              </a:defRPr>
            </a:lvl9pPr>
          </a:lstStyle>
          <a:p>
            <a:pPr algn="l">
              <a:lnSpc>
                <a:spcPct val="112000"/>
              </a:lnSpc>
              <a:buNone/>
              <a:defRPr sz="2025" b="1">
                <a:solidFill>
                  <a:srgbClr val="123047"/>
                </a:solidFill>
                <a:latin typeface="DejaVu Sans"/>
                <a:ea typeface="DejaVu Sans"/>
                <a:cs typeface="DejaVu Sans"/>
              </a:defRPr>
            </a:pPr>
            <a:r>
              <a:rPr sz="2025" b="1">
                <a:solidFill>
                  <a:srgbClr val="123047"/>
                </a:solidFill>
                <a:latin typeface="DejaVu Sans"/>
                <a:ea typeface="DejaVu Sans"/>
                <a:cs typeface="DejaVu Sans"/>
              </a:rPr>
              <a:t>Đầu ra an toàn</a:t>
            </a:r>
          </a:p>
        </p:txBody>
      </p:sp>
      <p:sp>
        <p:nvSpPr>
          <p:cNvPr id="7" name="text-85">
            <a:extLst>
              <a:ext uri="{FF2B5EF4-FFF2-40B4-BE49-F238E27FC236}">
                <a16:creationId xmlns:a16="http://schemas.microsoft.com/office/drawing/2014/main" id="{31DB10C0-F640-4C2D-8681-5B35916C7CB6}"/>
              </a:ext>
            </a:extLst>
          </p:cNvPr>
          <p:cNvSpPr>
            <a:spLocks noGrp="1"/>
          </p:cNvSpPr>
          <p:nvPr/>
        </p:nvSpPr>
        <p:spPr>
          <a:xfrm>
            <a:off x="4857750" y="1685925"/>
            <a:ext cx="6724650" cy="83820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Relay OFF trước OUTPUT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LED bụi HIGH</a:t>
            </a:r>
          </a:p>
        </p:txBody>
      </p:sp>
      <p:sp>
        <p:nvSpPr>
          <p:cNvPr id="8" name="rule-86">
            <a:extLst>
              <a:ext uri="{FF2B5EF4-FFF2-40B4-BE49-F238E27FC236}">
                <a16:creationId xmlns:a16="http://schemas.microsoft.com/office/drawing/2014/main" id="{D7D7E219-8758-4656-84D1-963CEEEF4065}"/>
              </a:ext>
            </a:extLst>
          </p:cNvPr>
          <p:cNvSpPr>
            <a:spLocks noGrp="1"/>
          </p:cNvSpPr>
          <p:nvPr/>
        </p:nvSpPr>
        <p:spPr>
          <a:xfrm>
            <a:off x="1400175" y="2533650"/>
            <a:ext cx="10182225" cy="0"/>
          </a:xfrm>
          <a:prstGeom prst="line">
            <a:avLst/>
          </a:prstGeom>
          <a:noFill/>
          <a:ln w="9525">
            <a:solidFill>
              <a:srgbClr val="CBD7DE"/>
            </a:solidFill>
            <a:prstDash val="solid"/>
          </a:ln>
        </p:spPr>
      </p:sp>
      <p:sp>
        <p:nvSpPr>
          <p:cNvPr id="9" name="text-87">
            <a:extLst>
              <a:ext uri="{FF2B5EF4-FFF2-40B4-BE49-F238E27FC236}">
                <a16:creationId xmlns:a16="http://schemas.microsoft.com/office/drawing/2014/main" id="{DA92FF0A-C0E9-4E82-805D-C9474904EAD9}"/>
              </a:ext>
            </a:extLst>
          </p:cNvPr>
          <p:cNvSpPr>
            <a:spLocks noGrp="1"/>
          </p:cNvSpPr>
          <p:nvPr/>
        </p:nvSpPr>
        <p:spPr>
          <a:xfrm>
            <a:off x="609600" y="2714625"/>
            <a:ext cx="609600" cy="590550"/>
          </a:xfrm>
          <a:prstGeom prst="rect">
            <a:avLst/>
          </a:prstGeom>
          <a:noFill/>
          <a:ln w="0">
            <a:noFill/>
            <a:prstDash val="solid"/>
          </a:ln>
        </p:spPr>
        <p:txBody>
          <a:bodyPr wrap="square" lIns="0" tIns="0" rIns="0" bIns="0" anchor="t">
            <a:noAutofit/>
          </a:bodyPr>
          <a:lstStyle>
            <a:defPPr algn="l">
              <a:defRPr sz="3225" b="1">
                <a:solidFill>
                  <a:srgbClr val="007E87"/>
                </a:solidFill>
                <a:latin typeface="DejaVu Sans"/>
                <a:ea typeface="DejaVu Sans"/>
                <a:cs typeface="DejaVu Sans"/>
              </a:defRPr>
            </a:defPPr>
            <a:lvl1pPr algn="l">
              <a:defRPr sz="3225" b="1">
                <a:solidFill>
                  <a:srgbClr val="007E87"/>
                </a:solidFill>
                <a:latin typeface="DejaVu Sans"/>
                <a:ea typeface="DejaVu Sans"/>
                <a:cs typeface="DejaVu Sans"/>
              </a:defRPr>
            </a:lvl1pPr>
            <a:lvl2pPr algn="l">
              <a:defRPr sz="3225" b="1">
                <a:solidFill>
                  <a:srgbClr val="007E87"/>
                </a:solidFill>
                <a:latin typeface="DejaVu Sans"/>
                <a:ea typeface="DejaVu Sans"/>
                <a:cs typeface="DejaVu Sans"/>
              </a:defRPr>
            </a:lvl2pPr>
            <a:lvl3pPr algn="l">
              <a:defRPr sz="3225" b="1">
                <a:solidFill>
                  <a:srgbClr val="007E87"/>
                </a:solidFill>
                <a:latin typeface="DejaVu Sans"/>
                <a:ea typeface="DejaVu Sans"/>
                <a:cs typeface="DejaVu Sans"/>
              </a:defRPr>
            </a:lvl3pPr>
            <a:lvl4pPr algn="l">
              <a:defRPr sz="3225" b="1">
                <a:solidFill>
                  <a:srgbClr val="007E87"/>
                </a:solidFill>
                <a:latin typeface="DejaVu Sans"/>
                <a:ea typeface="DejaVu Sans"/>
                <a:cs typeface="DejaVu Sans"/>
              </a:defRPr>
            </a:lvl4pPr>
            <a:lvl5pPr algn="l">
              <a:defRPr sz="3225" b="1">
                <a:solidFill>
                  <a:srgbClr val="007E87"/>
                </a:solidFill>
                <a:latin typeface="DejaVu Sans"/>
                <a:ea typeface="DejaVu Sans"/>
                <a:cs typeface="DejaVu Sans"/>
              </a:defRPr>
            </a:lvl5pPr>
            <a:lvl6pPr algn="l">
              <a:defRPr sz="3225" b="1">
                <a:solidFill>
                  <a:srgbClr val="007E87"/>
                </a:solidFill>
                <a:latin typeface="DejaVu Sans"/>
                <a:ea typeface="DejaVu Sans"/>
                <a:cs typeface="DejaVu Sans"/>
              </a:defRPr>
            </a:lvl6pPr>
            <a:lvl7pPr algn="l">
              <a:defRPr sz="3225" b="1">
                <a:solidFill>
                  <a:srgbClr val="007E87"/>
                </a:solidFill>
                <a:latin typeface="DejaVu Sans"/>
                <a:ea typeface="DejaVu Sans"/>
                <a:cs typeface="DejaVu Sans"/>
              </a:defRPr>
            </a:lvl7pPr>
            <a:lvl8pPr algn="l">
              <a:defRPr sz="3225" b="1">
                <a:solidFill>
                  <a:srgbClr val="007E87"/>
                </a:solidFill>
                <a:latin typeface="DejaVu Sans"/>
                <a:ea typeface="DejaVu Sans"/>
                <a:cs typeface="DejaVu Sans"/>
              </a:defRPr>
            </a:lvl8pPr>
            <a:lvl9pPr algn="l">
              <a:defRPr sz="3225" b="1">
                <a:solidFill>
                  <a:srgbClr val="007E87"/>
                </a:solidFill>
                <a:latin typeface="DejaVu Sans"/>
                <a:ea typeface="DejaVu Sans"/>
                <a:cs typeface="DejaVu Sans"/>
              </a:defRPr>
            </a:lvl9pPr>
          </a:lstStyle>
          <a:p>
            <a:pPr algn="l">
              <a:lnSpc>
                <a:spcPct val="112000"/>
              </a:lnSpc>
              <a:buNone/>
              <a:defRPr sz="3225" b="1">
                <a:solidFill>
                  <a:srgbClr val="007E87"/>
                </a:solidFill>
                <a:latin typeface="DejaVu Sans"/>
                <a:ea typeface="DejaVu Sans"/>
                <a:cs typeface="DejaVu Sans"/>
              </a:defRPr>
            </a:pPr>
            <a:r>
              <a:rPr sz="3225" b="1">
                <a:solidFill>
                  <a:srgbClr val="007E87"/>
                </a:solidFill>
                <a:latin typeface="DejaVu Sans"/>
                <a:ea typeface="DejaVu Sans"/>
                <a:cs typeface="DejaVu Sans"/>
              </a:rPr>
              <a:t>2</a:t>
            </a:r>
          </a:p>
        </p:txBody>
      </p:sp>
      <p:sp>
        <p:nvSpPr>
          <p:cNvPr id="10" name="text-88">
            <a:extLst>
              <a:ext uri="{FF2B5EF4-FFF2-40B4-BE49-F238E27FC236}">
                <a16:creationId xmlns:a16="http://schemas.microsoft.com/office/drawing/2014/main" id="{B6F7861B-1BDC-4FC5-9997-E47B5AD297D4}"/>
              </a:ext>
            </a:extLst>
          </p:cNvPr>
          <p:cNvSpPr>
            <a:spLocks noGrp="1"/>
          </p:cNvSpPr>
          <p:nvPr/>
        </p:nvSpPr>
        <p:spPr>
          <a:xfrm>
            <a:off x="1400175" y="2724150"/>
            <a:ext cx="3143250" cy="409575"/>
          </a:xfrm>
          <a:prstGeom prst="rect">
            <a:avLst/>
          </a:prstGeom>
          <a:noFill/>
          <a:ln w="0">
            <a:noFill/>
            <a:prstDash val="solid"/>
          </a:ln>
        </p:spPr>
        <p:txBody>
          <a:bodyPr wrap="square" lIns="0" tIns="0" rIns="0" bIns="0" anchor="t">
            <a:noAutofit/>
          </a:bodyPr>
          <a:lstStyle>
            <a:defPPr algn="l">
              <a:defRPr sz="2025" b="1">
                <a:solidFill>
                  <a:srgbClr val="123047"/>
                </a:solidFill>
                <a:latin typeface="DejaVu Sans"/>
                <a:ea typeface="DejaVu Sans"/>
                <a:cs typeface="DejaVu Sans"/>
              </a:defRPr>
            </a:defPPr>
            <a:lvl1pPr algn="l">
              <a:defRPr sz="2025" b="1">
                <a:solidFill>
                  <a:srgbClr val="123047"/>
                </a:solidFill>
                <a:latin typeface="DejaVu Sans"/>
                <a:ea typeface="DejaVu Sans"/>
                <a:cs typeface="DejaVu Sans"/>
              </a:defRPr>
            </a:lvl1pPr>
            <a:lvl2pPr algn="l">
              <a:defRPr sz="2025" b="1">
                <a:solidFill>
                  <a:srgbClr val="123047"/>
                </a:solidFill>
                <a:latin typeface="DejaVu Sans"/>
                <a:ea typeface="DejaVu Sans"/>
                <a:cs typeface="DejaVu Sans"/>
              </a:defRPr>
            </a:lvl2pPr>
            <a:lvl3pPr algn="l">
              <a:defRPr sz="2025" b="1">
                <a:solidFill>
                  <a:srgbClr val="123047"/>
                </a:solidFill>
                <a:latin typeface="DejaVu Sans"/>
                <a:ea typeface="DejaVu Sans"/>
                <a:cs typeface="DejaVu Sans"/>
              </a:defRPr>
            </a:lvl3pPr>
            <a:lvl4pPr algn="l">
              <a:defRPr sz="2025" b="1">
                <a:solidFill>
                  <a:srgbClr val="123047"/>
                </a:solidFill>
                <a:latin typeface="DejaVu Sans"/>
                <a:ea typeface="DejaVu Sans"/>
                <a:cs typeface="DejaVu Sans"/>
              </a:defRPr>
            </a:lvl4pPr>
            <a:lvl5pPr algn="l">
              <a:defRPr sz="2025" b="1">
                <a:solidFill>
                  <a:srgbClr val="123047"/>
                </a:solidFill>
                <a:latin typeface="DejaVu Sans"/>
                <a:ea typeface="DejaVu Sans"/>
                <a:cs typeface="DejaVu Sans"/>
              </a:defRPr>
            </a:lvl5pPr>
            <a:lvl6pPr algn="l">
              <a:defRPr sz="2025" b="1">
                <a:solidFill>
                  <a:srgbClr val="123047"/>
                </a:solidFill>
                <a:latin typeface="DejaVu Sans"/>
                <a:ea typeface="DejaVu Sans"/>
                <a:cs typeface="DejaVu Sans"/>
              </a:defRPr>
            </a:lvl6pPr>
            <a:lvl7pPr algn="l">
              <a:defRPr sz="2025" b="1">
                <a:solidFill>
                  <a:srgbClr val="123047"/>
                </a:solidFill>
                <a:latin typeface="DejaVu Sans"/>
                <a:ea typeface="DejaVu Sans"/>
                <a:cs typeface="DejaVu Sans"/>
              </a:defRPr>
            </a:lvl7pPr>
            <a:lvl8pPr algn="l">
              <a:defRPr sz="2025" b="1">
                <a:solidFill>
                  <a:srgbClr val="123047"/>
                </a:solidFill>
                <a:latin typeface="DejaVu Sans"/>
                <a:ea typeface="DejaVu Sans"/>
                <a:cs typeface="DejaVu Sans"/>
              </a:defRPr>
            </a:lvl8pPr>
            <a:lvl9pPr algn="l">
              <a:defRPr sz="2025" b="1">
                <a:solidFill>
                  <a:srgbClr val="123047"/>
                </a:solidFill>
                <a:latin typeface="DejaVu Sans"/>
                <a:ea typeface="DejaVu Sans"/>
                <a:cs typeface="DejaVu Sans"/>
              </a:defRPr>
            </a:lvl9pPr>
          </a:lstStyle>
          <a:p>
            <a:pPr algn="l">
              <a:lnSpc>
                <a:spcPct val="112000"/>
              </a:lnSpc>
              <a:buNone/>
              <a:defRPr sz="2025" b="1">
                <a:solidFill>
                  <a:srgbClr val="123047"/>
                </a:solidFill>
                <a:latin typeface="DejaVu Sans"/>
                <a:ea typeface="DejaVu Sans"/>
                <a:cs typeface="DejaVu Sans"/>
              </a:defRPr>
            </a:pPr>
            <a:r>
              <a:rPr sz="2025" b="1">
                <a:solidFill>
                  <a:srgbClr val="123047"/>
                </a:solidFill>
                <a:latin typeface="DejaVu Sans"/>
                <a:ea typeface="DejaVu Sans"/>
                <a:cs typeface="DejaVu Sans"/>
              </a:rPr>
              <a:t>Khởi tạo</a:t>
            </a:r>
          </a:p>
        </p:txBody>
      </p:sp>
      <p:sp>
        <p:nvSpPr>
          <p:cNvPr id="11" name="text-89">
            <a:extLst>
              <a:ext uri="{FF2B5EF4-FFF2-40B4-BE49-F238E27FC236}">
                <a16:creationId xmlns:a16="http://schemas.microsoft.com/office/drawing/2014/main" id="{10F94932-52A3-4425-AD9E-7639D19AD2E5}"/>
              </a:ext>
            </a:extLst>
          </p:cNvPr>
          <p:cNvSpPr>
            <a:spLocks noGrp="1"/>
          </p:cNvSpPr>
          <p:nvPr/>
        </p:nvSpPr>
        <p:spPr>
          <a:xfrm>
            <a:off x="4857750" y="2714625"/>
            <a:ext cx="6724650" cy="83820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Serial 115200, ADC 12 bit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DHT22, LCD, tác vụ mạng</a:t>
            </a:r>
          </a:p>
        </p:txBody>
      </p:sp>
      <p:sp>
        <p:nvSpPr>
          <p:cNvPr id="12" name="rule-90">
            <a:extLst>
              <a:ext uri="{FF2B5EF4-FFF2-40B4-BE49-F238E27FC236}">
                <a16:creationId xmlns:a16="http://schemas.microsoft.com/office/drawing/2014/main" id="{64E03ECB-D291-44CB-9E01-6A8016560454}"/>
              </a:ext>
            </a:extLst>
          </p:cNvPr>
          <p:cNvSpPr>
            <a:spLocks noGrp="1"/>
          </p:cNvSpPr>
          <p:nvPr/>
        </p:nvSpPr>
        <p:spPr>
          <a:xfrm>
            <a:off x="1400175" y="3562350"/>
            <a:ext cx="10182225" cy="0"/>
          </a:xfrm>
          <a:prstGeom prst="line">
            <a:avLst/>
          </a:prstGeom>
          <a:noFill/>
          <a:ln w="9525">
            <a:solidFill>
              <a:srgbClr val="CBD7DE"/>
            </a:solidFill>
            <a:prstDash val="solid"/>
          </a:ln>
        </p:spPr>
      </p:sp>
      <p:sp>
        <p:nvSpPr>
          <p:cNvPr id="13" name="text-91">
            <a:extLst>
              <a:ext uri="{FF2B5EF4-FFF2-40B4-BE49-F238E27FC236}">
                <a16:creationId xmlns:a16="http://schemas.microsoft.com/office/drawing/2014/main" id="{6F154B51-44D3-4423-87EA-759BCB38DEC4}"/>
              </a:ext>
            </a:extLst>
          </p:cNvPr>
          <p:cNvSpPr>
            <a:spLocks noGrp="1"/>
          </p:cNvSpPr>
          <p:nvPr/>
        </p:nvSpPr>
        <p:spPr>
          <a:xfrm>
            <a:off x="609600" y="3743325"/>
            <a:ext cx="609600" cy="590550"/>
          </a:xfrm>
          <a:prstGeom prst="rect">
            <a:avLst/>
          </a:prstGeom>
          <a:noFill/>
          <a:ln w="0">
            <a:noFill/>
            <a:prstDash val="solid"/>
          </a:ln>
        </p:spPr>
        <p:txBody>
          <a:bodyPr wrap="square" lIns="0" tIns="0" rIns="0" bIns="0" anchor="t">
            <a:noAutofit/>
          </a:bodyPr>
          <a:lstStyle>
            <a:defPPr algn="l">
              <a:defRPr sz="3225" b="1">
                <a:solidFill>
                  <a:srgbClr val="007E87"/>
                </a:solidFill>
                <a:latin typeface="DejaVu Sans"/>
                <a:ea typeface="DejaVu Sans"/>
                <a:cs typeface="DejaVu Sans"/>
              </a:defRPr>
            </a:defPPr>
            <a:lvl1pPr algn="l">
              <a:defRPr sz="3225" b="1">
                <a:solidFill>
                  <a:srgbClr val="007E87"/>
                </a:solidFill>
                <a:latin typeface="DejaVu Sans"/>
                <a:ea typeface="DejaVu Sans"/>
                <a:cs typeface="DejaVu Sans"/>
              </a:defRPr>
            </a:lvl1pPr>
            <a:lvl2pPr algn="l">
              <a:defRPr sz="3225" b="1">
                <a:solidFill>
                  <a:srgbClr val="007E87"/>
                </a:solidFill>
                <a:latin typeface="DejaVu Sans"/>
                <a:ea typeface="DejaVu Sans"/>
                <a:cs typeface="DejaVu Sans"/>
              </a:defRPr>
            </a:lvl2pPr>
            <a:lvl3pPr algn="l">
              <a:defRPr sz="3225" b="1">
                <a:solidFill>
                  <a:srgbClr val="007E87"/>
                </a:solidFill>
                <a:latin typeface="DejaVu Sans"/>
                <a:ea typeface="DejaVu Sans"/>
                <a:cs typeface="DejaVu Sans"/>
              </a:defRPr>
            </a:lvl3pPr>
            <a:lvl4pPr algn="l">
              <a:defRPr sz="3225" b="1">
                <a:solidFill>
                  <a:srgbClr val="007E87"/>
                </a:solidFill>
                <a:latin typeface="DejaVu Sans"/>
                <a:ea typeface="DejaVu Sans"/>
                <a:cs typeface="DejaVu Sans"/>
              </a:defRPr>
            </a:lvl4pPr>
            <a:lvl5pPr algn="l">
              <a:defRPr sz="3225" b="1">
                <a:solidFill>
                  <a:srgbClr val="007E87"/>
                </a:solidFill>
                <a:latin typeface="DejaVu Sans"/>
                <a:ea typeface="DejaVu Sans"/>
                <a:cs typeface="DejaVu Sans"/>
              </a:defRPr>
            </a:lvl5pPr>
            <a:lvl6pPr algn="l">
              <a:defRPr sz="3225" b="1">
                <a:solidFill>
                  <a:srgbClr val="007E87"/>
                </a:solidFill>
                <a:latin typeface="DejaVu Sans"/>
                <a:ea typeface="DejaVu Sans"/>
                <a:cs typeface="DejaVu Sans"/>
              </a:defRPr>
            </a:lvl6pPr>
            <a:lvl7pPr algn="l">
              <a:defRPr sz="3225" b="1">
                <a:solidFill>
                  <a:srgbClr val="007E87"/>
                </a:solidFill>
                <a:latin typeface="DejaVu Sans"/>
                <a:ea typeface="DejaVu Sans"/>
                <a:cs typeface="DejaVu Sans"/>
              </a:defRPr>
            </a:lvl7pPr>
            <a:lvl8pPr algn="l">
              <a:defRPr sz="3225" b="1">
                <a:solidFill>
                  <a:srgbClr val="007E87"/>
                </a:solidFill>
                <a:latin typeface="DejaVu Sans"/>
                <a:ea typeface="DejaVu Sans"/>
                <a:cs typeface="DejaVu Sans"/>
              </a:defRPr>
            </a:lvl8pPr>
            <a:lvl9pPr algn="l">
              <a:defRPr sz="3225" b="1">
                <a:solidFill>
                  <a:srgbClr val="007E87"/>
                </a:solidFill>
                <a:latin typeface="DejaVu Sans"/>
                <a:ea typeface="DejaVu Sans"/>
                <a:cs typeface="DejaVu Sans"/>
              </a:defRPr>
            </a:lvl9pPr>
          </a:lstStyle>
          <a:p>
            <a:pPr algn="l">
              <a:lnSpc>
                <a:spcPct val="112000"/>
              </a:lnSpc>
              <a:buNone/>
              <a:defRPr sz="3225" b="1">
                <a:solidFill>
                  <a:srgbClr val="007E87"/>
                </a:solidFill>
                <a:latin typeface="DejaVu Sans"/>
                <a:ea typeface="DejaVu Sans"/>
                <a:cs typeface="DejaVu Sans"/>
              </a:defRPr>
            </a:pPr>
            <a:r>
              <a:rPr sz="3225" b="1">
                <a:solidFill>
                  <a:srgbClr val="007E87"/>
                </a:solidFill>
                <a:latin typeface="DejaVu Sans"/>
                <a:ea typeface="DejaVu Sans"/>
                <a:cs typeface="DejaVu Sans"/>
              </a:rPr>
              <a:t>3</a:t>
            </a:r>
          </a:p>
        </p:txBody>
      </p:sp>
      <p:sp>
        <p:nvSpPr>
          <p:cNvPr id="14" name="text-92">
            <a:extLst>
              <a:ext uri="{FF2B5EF4-FFF2-40B4-BE49-F238E27FC236}">
                <a16:creationId xmlns:a16="http://schemas.microsoft.com/office/drawing/2014/main" id="{7886A123-2124-4EDF-BBA5-7D78668ECAE9}"/>
              </a:ext>
            </a:extLst>
          </p:cNvPr>
          <p:cNvSpPr>
            <a:spLocks noGrp="1"/>
          </p:cNvSpPr>
          <p:nvPr/>
        </p:nvSpPr>
        <p:spPr>
          <a:xfrm>
            <a:off x="1400175" y="3752850"/>
            <a:ext cx="3143250" cy="409575"/>
          </a:xfrm>
          <a:prstGeom prst="rect">
            <a:avLst/>
          </a:prstGeom>
          <a:noFill/>
          <a:ln w="0">
            <a:noFill/>
            <a:prstDash val="solid"/>
          </a:ln>
        </p:spPr>
        <p:txBody>
          <a:bodyPr wrap="square" lIns="0" tIns="0" rIns="0" bIns="0" anchor="t">
            <a:noAutofit/>
          </a:bodyPr>
          <a:lstStyle>
            <a:defPPr algn="l">
              <a:defRPr sz="2025" b="1">
                <a:solidFill>
                  <a:srgbClr val="123047"/>
                </a:solidFill>
                <a:latin typeface="DejaVu Sans"/>
                <a:ea typeface="DejaVu Sans"/>
                <a:cs typeface="DejaVu Sans"/>
              </a:defRPr>
            </a:defPPr>
            <a:lvl1pPr algn="l">
              <a:defRPr sz="2025" b="1">
                <a:solidFill>
                  <a:srgbClr val="123047"/>
                </a:solidFill>
                <a:latin typeface="DejaVu Sans"/>
                <a:ea typeface="DejaVu Sans"/>
                <a:cs typeface="DejaVu Sans"/>
              </a:defRPr>
            </a:lvl1pPr>
            <a:lvl2pPr algn="l">
              <a:defRPr sz="2025" b="1">
                <a:solidFill>
                  <a:srgbClr val="123047"/>
                </a:solidFill>
                <a:latin typeface="DejaVu Sans"/>
                <a:ea typeface="DejaVu Sans"/>
                <a:cs typeface="DejaVu Sans"/>
              </a:defRPr>
            </a:lvl2pPr>
            <a:lvl3pPr algn="l">
              <a:defRPr sz="2025" b="1">
                <a:solidFill>
                  <a:srgbClr val="123047"/>
                </a:solidFill>
                <a:latin typeface="DejaVu Sans"/>
                <a:ea typeface="DejaVu Sans"/>
                <a:cs typeface="DejaVu Sans"/>
              </a:defRPr>
            </a:lvl3pPr>
            <a:lvl4pPr algn="l">
              <a:defRPr sz="2025" b="1">
                <a:solidFill>
                  <a:srgbClr val="123047"/>
                </a:solidFill>
                <a:latin typeface="DejaVu Sans"/>
                <a:ea typeface="DejaVu Sans"/>
                <a:cs typeface="DejaVu Sans"/>
              </a:defRPr>
            </a:lvl4pPr>
            <a:lvl5pPr algn="l">
              <a:defRPr sz="2025" b="1">
                <a:solidFill>
                  <a:srgbClr val="123047"/>
                </a:solidFill>
                <a:latin typeface="DejaVu Sans"/>
                <a:ea typeface="DejaVu Sans"/>
                <a:cs typeface="DejaVu Sans"/>
              </a:defRPr>
            </a:lvl5pPr>
            <a:lvl6pPr algn="l">
              <a:defRPr sz="2025" b="1">
                <a:solidFill>
                  <a:srgbClr val="123047"/>
                </a:solidFill>
                <a:latin typeface="DejaVu Sans"/>
                <a:ea typeface="DejaVu Sans"/>
                <a:cs typeface="DejaVu Sans"/>
              </a:defRPr>
            </a:lvl6pPr>
            <a:lvl7pPr algn="l">
              <a:defRPr sz="2025" b="1">
                <a:solidFill>
                  <a:srgbClr val="123047"/>
                </a:solidFill>
                <a:latin typeface="DejaVu Sans"/>
                <a:ea typeface="DejaVu Sans"/>
                <a:cs typeface="DejaVu Sans"/>
              </a:defRPr>
            </a:lvl7pPr>
            <a:lvl8pPr algn="l">
              <a:defRPr sz="2025" b="1">
                <a:solidFill>
                  <a:srgbClr val="123047"/>
                </a:solidFill>
                <a:latin typeface="DejaVu Sans"/>
                <a:ea typeface="DejaVu Sans"/>
                <a:cs typeface="DejaVu Sans"/>
              </a:defRPr>
            </a:lvl8pPr>
            <a:lvl9pPr algn="l">
              <a:defRPr sz="2025" b="1">
                <a:solidFill>
                  <a:srgbClr val="123047"/>
                </a:solidFill>
                <a:latin typeface="DejaVu Sans"/>
                <a:ea typeface="DejaVu Sans"/>
                <a:cs typeface="DejaVu Sans"/>
              </a:defRPr>
            </a:lvl9pPr>
          </a:lstStyle>
          <a:p>
            <a:pPr algn="l">
              <a:lnSpc>
                <a:spcPct val="112000"/>
              </a:lnSpc>
              <a:buNone/>
              <a:defRPr sz="2025" b="1">
                <a:solidFill>
                  <a:srgbClr val="123047"/>
                </a:solidFill>
                <a:latin typeface="DejaVu Sans"/>
                <a:ea typeface="DejaVu Sans"/>
                <a:cs typeface="DejaVu Sans"/>
              </a:defRPr>
            </a:pPr>
            <a:r>
              <a:rPr sz="2025" b="1">
                <a:solidFill>
                  <a:srgbClr val="123047"/>
                </a:solidFill>
                <a:latin typeface="DejaVu Sans"/>
                <a:ea typeface="DejaVu Sans"/>
                <a:cs typeface="DejaVu Sans"/>
              </a:rPr>
              <a:t>Làm nóng MQ-2</a:t>
            </a:r>
          </a:p>
        </p:txBody>
      </p:sp>
      <p:sp>
        <p:nvSpPr>
          <p:cNvPr id="15" name="text-93">
            <a:extLst>
              <a:ext uri="{FF2B5EF4-FFF2-40B4-BE49-F238E27FC236}">
                <a16:creationId xmlns:a16="http://schemas.microsoft.com/office/drawing/2014/main" id="{E38D2B44-9B5E-433D-8FD2-E72AD2E539E1}"/>
              </a:ext>
            </a:extLst>
          </p:cNvPr>
          <p:cNvSpPr>
            <a:spLocks noGrp="1"/>
          </p:cNvSpPr>
          <p:nvPr/>
        </p:nvSpPr>
        <p:spPr>
          <a:xfrm>
            <a:off x="4857750" y="3743325"/>
            <a:ext cx="6724650" cy="83820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180 giây</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Web, DHT và N/J vẫn chạy</a:t>
            </a:r>
          </a:p>
        </p:txBody>
      </p:sp>
      <p:sp>
        <p:nvSpPr>
          <p:cNvPr id="16" name="rule-94">
            <a:extLst>
              <a:ext uri="{FF2B5EF4-FFF2-40B4-BE49-F238E27FC236}">
                <a16:creationId xmlns:a16="http://schemas.microsoft.com/office/drawing/2014/main" id="{904C7679-85C5-4395-BD89-4B47C7BB1A6F}"/>
              </a:ext>
            </a:extLst>
          </p:cNvPr>
          <p:cNvSpPr>
            <a:spLocks noGrp="1"/>
          </p:cNvSpPr>
          <p:nvPr/>
        </p:nvSpPr>
        <p:spPr>
          <a:xfrm>
            <a:off x="1400175" y="4591050"/>
            <a:ext cx="10182225" cy="0"/>
          </a:xfrm>
          <a:prstGeom prst="line">
            <a:avLst/>
          </a:prstGeom>
          <a:noFill/>
          <a:ln w="9525">
            <a:solidFill>
              <a:srgbClr val="CBD7DE"/>
            </a:solidFill>
            <a:prstDash val="solid"/>
          </a:ln>
        </p:spPr>
      </p:sp>
      <p:sp>
        <p:nvSpPr>
          <p:cNvPr id="17" name="text-95">
            <a:extLst>
              <a:ext uri="{FF2B5EF4-FFF2-40B4-BE49-F238E27FC236}">
                <a16:creationId xmlns:a16="http://schemas.microsoft.com/office/drawing/2014/main" id="{32B55E29-27BA-4E25-844D-FCE6A7C92CA3}"/>
              </a:ext>
            </a:extLst>
          </p:cNvPr>
          <p:cNvSpPr>
            <a:spLocks noGrp="1"/>
          </p:cNvSpPr>
          <p:nvPr/>
        </p:nvSpPr>
        <p:spPr>
          <a:xfrm>
            <a:off x="609600" y="4772025"/>
            <a:ext cx="609600" cy="590550"/>
          </a:xfrm>
          <a:prstGeom prst="rect">
            <a:avLst/>
          </a:prstGeom>
          <a:noFill/>
          <a:ln w="0">
            <a:noFill/>
            <a:prstDash val="solid"/>
          </a:ln>
        </p:spPr>
        <p:txBody>
          <a:bodyPr wrap="square" lIns="0" tIns="0" rIns="0" bIns="0" anchor="t">
            <a:noAutofit/>
          </a:bodyPr>
          <a:lstStyle>
            <a:defPPr algn="l">
              <a:defRPr sz="3225" b="1">
                <a:solidFill>
                  <a:srgbClr val="007E87"/>
                </a:solidFill>
                <a:latin typeface="DejaVu Sans"/>
                <a:ea typeface="DejaVu Sans"/>
                <a:cs typeface="DejaVu Sans"/>
              </a:defRPr>
            </a:defPPr>
            <a:lvl1pPr algn="l">
              <a:defRPr sz="3225" b="1">
                <a:solidFill>
                  <a:srgbClr val="007E87"/>
                </a:solidFill>
                <a:latin typeface="DejaVu Sans"/>
                <a:ea typeface="DejaVu Sans"/>
                <a:cs typeface="DejaVu Sans"/>
              </a:defRPr>
            </a:lvl1pPr>
            <a:lvl2pPr algn="l">
              <a:defRPr sz="3225" b="1">
                <a:solidFill>
                  <a:srgbClr val="007E87"/>
                </a:solidFill>
                <a:latin typeface="DejaVu Sans"/>
                <a:ea typeface="DejaVu Sans"/>
                <a:cs typeface="DejaVu Sans"/>
              </a:defRPr>
            </a:lvl2pPr>
            <a:lvl3pPr algn="l">
              <a:defRPr sz="3225" b="1">
                <a:solidFill>
                  <a:srgbClr val="007E87"/>
                </a:solidFill>
                <a:latin typeface="DejaVu Sans"/>
                <a:ea typeface="DejaVu Sans"/>
                <a:cs typeface="DejaVu Sans"/>
              </a:defRPr>
            </a:lvl3pPr>
            <a:lvl4pPr algn="l">
              <a:defRPr sz="3225" b="1">
                <a:solidFill>
                  <a:srgbClr val="007E87"/>
                </a:solidFill>
                <a:latin typeface="DejaVu Sans"/>
                <a:ea typeface="DejaVu Sans"/>
                <a:cs typeface="DejaVu Sans"/>
              </a:defRPr>
            </a:lvl4pPr>
            <a:lvl5pPr algn="l">
              <a:defRPr sz="3225" b="1">
                <a:solidFill>
                  <a:srgbClr val="007E87"/>
                </a:solidFill>
                <a:latin typeface="DejaVu Sans"/>
                <a:ea typeface="DejaVu Sans"/>
                <a:cs typeface="DejaVu Sans"/>
              </a:defRPr>
            </a:lvl5pPr>
            <a:lvl6pPr algn="l">
              <a:defRPr sz="3225" b="1">
                <a:solidFill>
                  <a:srgbClr val="007E87"/>
                </a:solidFill>
                <a:latin typeface="DejaVu Sans"/>
                <a:ea typeface="DejaVu Sans"/>
                <a:cs typeface="DejaVu Sans"/>
              </a:defRPr>
            </a:lvl6pPr>
            <a:lvl7pPr algn="l">
              <a:defRPr sz="3225" b="1">
                <a:solidFill>
                  <a:srgbClr val="007E87"/>
                </a:solidFill>
                <a:latin typeface="DejaVu Sans"/>
                <a:ea typeface="DejaVu Sans"/>
                <a:cs typeface="DejaVu Sans"/>
              </a:defRPr>
            </a:lvl7pPr>
            <a:lvl8pPr algn="l">
              <a:defRPr sz="3225" b="1">
                <a:solidFill>
                  <a:srgbClr val="007E87"/>
                </a:solidFill>
                <a:latin typeface="DejaVu Sans"/>
                <a:ea typeface="DejaVu Sans"/>
                <a:cs typeface="DejaVu Sans"/>
              </a:defRPr>
            </a:lvl8pPr>
            <a:lvl9pPr algn="l">
              <a:defRPr sz="3225" b="1">
                <a:solidFill>
                  <a:srgbClr val="007E87"/>
                </a:solidFill>
                <a:latin typeface="DejaVu Sans"/>
                <a:ea typeface="DejaVu Sans"/>
                <a:cs typeface="DejaVu Sans"/>
              </a:defRPr>
            </a:lvl9pPr>
          </a:lstStyle>
          <a:p>
            <a:pPr algn="l">
              <a:lnSpc>
                <a:spcPct val="112000"/>
              </a:lnSpc>
              <a:buNone/>
              <a:defRPr sz="3225" b="1">
                <a:solidFill>
                  <a:srgbClr val="007E87"/>
                </a:solidFill>
                <a:latin typeface="DejaVu Sans"/>
                <a:ea typeface="DejaVu Sans"/>
                <a:cs typeface="DejaVu Sans"/>
              </a:defRPr>
            </a:pPr>
            <a:r>
              <a:rPr sz="3225" b="1">
                <a:solidFill>
                  <a:srgbClr val="007E87"/>
                </a:solidFill>
                <a:latin typeface="DejaVu Sans"/>
                <a:ea typeface="DejaVu Sans"/>
                <a:cs typeface="DejaVu Sans"/>
              </a:rPr>
              <a:t>4</a:t>
            </a:r>
          </a:p>
        </p:txBody>
      </p:sp>
      <p:sp>
        <p:nvSpPr>
          <p:cNvPr id="18" name="text-96">
            <a:extLst>
              <a:ext uri="{FF2B5EF4-FFF2-40B4-BE49-F238E27FC236}">
                <a16:creationId xmlns:a16="http://schemas.microsoft.com/office/drawing/2014/main" id="{CD7138A6-F41F-4954-87D7-4D197563CDE2}"/>
              </a:ext>
            </a:extLst>
          </p:cNvPr>
          <p:cNvSpPr>
            <a:spLocks noGrp="1"/>
          </p:cNvSpPr>
          <p:nvPr/>
        </p:nvSpPr>
        <p:spPr>
          <a:xfrm>
            <a:off x="1400175" y="4781550"/>
            <a:ext cx="3143250" cy="409575"/>
          </a:xfrm>
          <a:prstGeom prst="rect">
            <a:avLst/>
          </a:prstGeom>
          <a:noFill/>
          <a:ln w="0">
            <a:noFill/>
            <a:prstDash val="solid"/>
          </a:ln>
        </p:spPr>
        <p:txBody>
          <a:bodyPr wrap="square" lIns="0" tIns="0" rIns="0" bIns="0" anchor="t">
            <a:noAutofit/>
          </a:bodyPr>
          <a:lstStyle>
            <a:defPPr algn="l">
              <a:defRPr sz="2025" b="1">
                <a:solidFill>
                  <a:srgbClr val="123047"/>
                </a:solidFill>
                <a:latin typeface="DejaVu Sans"/>
                <a:ea typeface="DejaVu Sans"/>
                <a:cs typeface="DejaVu Sans"/>
              </a:defRPr>
            </a:defPPr>
            <a:lvl1pPr algn="l">
              <a:defRPr sz="2025" b="1">
                <a:solidFill>
                  <a:srgbClr val="123047"/>
                </a:solidFill>
                <a:latin typeface="DejaVu Sans"/>
                <a:ea typeface="DejaVu Sans"/>
                <a:cs typeface="DejaVu Sans"/>
              </a:defRPr>
            </a:lvl1pPr>
            <a:lvl2pPr algn="l">
              <a:defRPr sz="2025" b="1">
                <a:solidFill>
                  <a:srgbClr val="123047"/>
                </a:solidFill>
                <a:latin typeface="DejaVu Sans"/>
                <a:ea typeface="DejaVu Sans"/>
                <a:cs typeface="DejaVu Sans"/>
              </a:defRPr>
            </a:lvl2pPr>
            <a:lvl3pPr algn="l">
              <a:defRPr sz="2025" b="1">
                <a:solidFill>
                  <a:srgbClr val="123047"/>
                </a:solidFill>
                <a:latin typeface="DejaVu Sans"/>
                <a:ea typeface="DejaVu Sans"/>
                <a:cs typeface="DejaVu Sans"/>
              </a:defRPr>
            </a:lvl3pPr>
            <a:lvl4pPr algn="l">
              <a:defRPr sz="2025" b="1">
                <a:solidFill>
                  <a:srgbClr val="123047"/>
                </a:solidFill>
                <a:latin typeface="DejaVu Sans"/>
                <a:ea typeface="DejaVu Sans"/>
                <a:cs typeface="DejaVu Sans"/>
              </a:defRPr>
            </a:lvl4pPr>
            <a:lvl5pPr algn="l">
              <a:defRPr sz="2025" b="1">
                <a:solidFill>
                  <a:srgbClr val="123047"/>
                </a:solidFill>
                <a:latin typeface="DejaVu Sans"/>
                <a:ea typeface="DejaVu Sans"/>
                <a:cs typeface="DejaVu Sans"/>
              </a:defRPr>
            </a:lvl5pPr>
            <a:lvl6pPr algn="l">
              <a:defRPr sz="2025" b="1">
                <a:solidFill>
                  <a:srgbClr val="123047"/>
                </a:solidFill>
                <a:latin typeface="DejaVu Sans"/>
                <a:ea typeface="DejaVu Sans"/>
                <a:cs typeface="DejaVu Sans"/>
              </a:defRPr>
            </a:lvl6pPr>
            <a:lvl7pPr algn="l">
              <a:defRPr sz="2025" b="1">
                <a:solidFill>
                  <a:srgbClr val="123047"/>
                </a:solidFill>
                <a:latin typeface="DejaVu Sans"/>
                <a:ea typeface="DejaVu Sans"/>
                <a:cs typeface="DejaVu Sans"/>
              </a:defRPr>
            </a:lvl7pPr>
            <a:lvl8pPr algn="l">
              <a:defRPr sz="2025" b="1">
                <a:solidFill>
                  <a:srgbClr val="123047"/>
                </a:solidFill>
                <a:latin typeface="DejaVu Sans"/>
                <a:ea typeface="DejaVu Sans"/>
                <a:cs typeface="DejaVu Sans"/>
              </a:defRPr>
            </a:lvl8pPr>
            <a:lvl9pPr algn="l">
              <a:defRPr sz="2025" b="1">
                <a:solidFill>
                  <a:srgbClr val="123047"/>
                </a:solidFill>
                <a:latin typeface="DejaVu Sans"/>
                <a:ea typeface="DejaVu Sans"/>
                <a:cs typeface="DejaVu Sans"/>
              </a:defRPr>
            </a:lvl9pPr>
          </a:lstStyle>
          <a:p>
            <a:pPr algn="l">
              <a:lnSpc>
                <a:spcPct val="112000"/>
              </a:lnSpc>
              <a:buNone/>
              <a:defRPr sz="2025" b="1">
                <a:solidFill>
                  <a:srgbClr val="123047"/>
                </a:solidFill>
                <a:latin typeface="DejaVu Sans"/>
                <a:ea typeface="DejaVu Sans"/>
                <a:cs typeface="DejaVu Sans"/>
              </a:defRPr>
            </a:pPr>
            <a:r>
              <a:rPr sz="2025" b="1">
                <a:solidFill>
                  <a:srgbClr val="123047"/>
                </a:solidFill>
                <a:latin typeface="DejaVu Sans"/>
                <a:ea typeface="DejaVu Sans"/>
                <a:cs typeface="DejaVu Sans"/>
              </a:rPr>
              <a:t>Hiệu chỉnh nền</a:t>
            </a:r>
          </a:p>
        </p:txBody>
      </p:sp>
      <p:sp>
        <p:nvSpPr>
          <p:cNvPr id="19" name="text-97">
            <a:extLst>
              <a:ext uri="{FF2B5EF4-FFF2-40B4-BE49-F238E27FC236}">
                <a16:creationId xmlns:a16="http://schemas.microsoft.com/office/drawing/2014/main" id="{EB382992-D796-4951-9362-E447933D1193}"/>
              </a:ext>
            </a:extLst>
          </p:cNvPr>
          <p:cNvSpPr>
            <a:spLocks noGrp="1"/>
          </p:cNvSpPr>
          <p:nvPr/>
        </p:nvSpPr>
        <p:spPr>
          <a:xfrm>
            <a:off x="4857750" y="4772025"/>
            <a:ext cx="6724650" cy="83820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Gas 20 lượt, bụi 15 lượt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Chuyển sang ready</a:t>
            </a:r>
          </a:p>
        </p:txBody>
      </p:sp>
      <p:sp>
        <p:nvSpPr>
          <p:cNvPr id="20" name="text-98">
            <a:extLst>
              <a:ext uri="{FF2B5EF4-FFF2-40B4-BE49-F238E27FC236}">
                <a16:creationId xmlns:a16="http://schemas.microsoft.com/office/drawing/2014/main" id="{355FF430-D517-46BA-BCF1-90EF25D69489}"/>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180 s là bộ đếm trình diễn. MQ-2 có yêu cầu làm nóng sơ bộ riêng (≥48 giờ trong điều kiện thử).</a:t>
            </a:r>
          </a:p>
        </p:txBody>
      </p:sp>
    </p:spTree>
    <p:extLst>
      <p:ext uri="{BB962C8B-B14F-4D97-AF65-F5344CB8AC3E}">
        <p14:creationId xmlns:p14="http://schemas.microsoft.com/office/powerpoint/2010/main" val="1337302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0A459215-DEE2-409C-8B45-D059F209BFF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Đọc, hiệu chỉnh và lọc gas</a:t>
            </a:r>
          </a:p>
        </p:txBody>
      </p:sp>
      <p:sp>
        <p:nvSpPr>
          <p:cNvPr id="2" name="rule-99">
            <a:extLst>
              <a:ext uri="{FF2B5EF4-FFF2-40B4-BE49-F238E27FC236}">
                <a16:creationId xmlns:a16="http://schemas.microsoft.com/office/drawing/2014/main" id="{A3A71A50-B518-41F1-AA44-9E091F6B422D}"/>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ED0FE63-1FCC-42A7-9D61-5B083B0915D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04 Thu thập dữ liệu</a:t>
            </a:r>
          </a:p>
        </p:txBody>
      </p:sp>
      <p:sp>
        <p:nvSpPr>
          <p:cNvPr id="4" name="slide-number">
            <a:extLst>
              <a:ext uri="{FF2B5EF4-FFF2-40B4-BE49-F238E27FC236}">
                <a16:creationId xmlns:a16="http://schemas.microsoft.com/office/drawing/2014/main" id="{409C464D-D260-404B-B344-796ED1281A34}"/>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15</a:t>
            </a:r>
          </a:p>
        </p:txBody>
      </p:sp>
      <p:sp>
        <p:nvSpPr>
          <p:cNvPr id="5" name="text-100">
            <a:extLst>
              <a:ext uri="{FF2B5EF4-FFF2-40B4-BE49-F238E27FC236}">
                <a16:creationId xmlns:a16="http://schemas.microsoft.com/office/drawing/2014/main" id="{A306B51A-94DA-42A7-AD02-BCAA15ADA145}"/>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Lấy mẫu và hiệu chỉnh</a:t>
            </a:r>
          </a:p>
        </p:txBody>
      </p:sp>
      <p:sp>
        <p:nvSpPr>
          <p:cNvPr id="6" name="text-101">
            <a:extLst>
              <a:ext uri="{FF2B5EF4-FFF2-40B4-BE49-F238E27FC236}">
                <a16:creationId xmlns:a16="http://schemas.microsoft.com/office/drawing/2014/main" id="{3B5ED3C6-73E1-4316-8B90-7D387B77013F}"/>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readGas(): trung bình nguyên của 8</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mẫu ADC, chờ 2 ms sau mỗi mẫu.</a:t>
            </a:r>
          </a:p>
        </p:txBody>
      </p:sp>
      <p:sp>
        <p:nvSpPr>
          <p:cNvPr id="7" name="text-102">
            <a:extLst>
              <a:ext uri="{FF2B5EF4-FFF2-40B4-BE49-F238E27FC236}">
                <a16:creationId xmlns:a16="http://schemas.microsoft.com/office/drawing/2014/main" id="{3F1621BF-FCD9-4FFA-9F26-02E8813B0D9B}"/>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calibrateGas(): 20 lượt đọc tạo</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gasBase, nền hợp lệ từ 25 đến 3800.</a:t>
            </a:r>
          </a:p>
        </p:txBody>
      </p:sp>
      <p:sp>
        <p:nvSpPr>
          <p:cNvPr id="8" name="text-103">
            <a:extLst>
              <a:ext uri="{FF2B5EF4-FFF2-40B4-BE49-F238E27FC236}">
                <a16:creationId xmlns:a16="http://schemas.microsoft.com/office/drawing/2014/main" id="{FF485DB4-9AAD-4F6D-9D89-4633FA378AAB}"/>
              </a:ext>
            </a:extLst>
          </p:cNvPr>
          <p:cNvSpPr>
            <a:spLocks noGrp="1"/>
          </p:cNvSpPr>
          <p:nvPr/>
        </p:nvSpPr>
        <p:spPr>
          <a:xfrm>
            <a:off x="60960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Bản trước dùng 20 mẫu mỗi lượt và 80</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lượt hiệu chỉnh.</a:t>
            </a:r>
          </a:p>
        </p:txBody>
      </p:sp>
      <p:sp>
        <p:nvSpPr>
          <p:cNvPr id="9" name="text-104">
            <a:extLst>
              <a:ext uri="{FF2B5EF4-FFF2-40B4-BE49-F238E27FC236}">
                <a16:creationId xmlns:a16="http://schemas.microsoft.com/office/drawing/2014/main" id="{9634D70F-3F69-42A0-98F4-1EB5B7F59562}"/>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Bộ lọc và đánh đổi</a:t>
            </a:r>
          </a:p>
        </p:txBody>
      </p:sp>
      <p:sp>
        <p:nvSpPr>
          <p:cNvPr id="10" name="text-105">
            <a:extLst>
              <a:ext uri="{FF2B5EF4-FFF2-40B4-BE49-F238E27FC236}">
                <a16:creationId xmlns:a16="http://schemas.microsoft.com/office/drawing/2014/main" id="{F24AD053-EAF1-4FEC-A46A-BCD11760541D}"/>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gasAvg mới = 0,80 × gasAvg trước +</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0,20 × gasRaw.</a:t>
            </a:r>
          </a:p>
        </p:txBody>
      </p:sp>
      <p:sp>
        <p:nvSpPr>
          <p:cNvPr id="11" name="text-106">
            <a:extLst>
              <a:ext uri="{FF2B5EF4-FFF2-40B4-BE49-F238E27FC236}">
                <a16:creationId xmlns:a16="http://schemas.microsoft.com/office/drawing/2014/main" id="{F3C9C324-B67F-428E-AB09-D615CAB38475}"/>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Lọc giảm dao động nhanh nhưng làm</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chậm đáp ứng.</a:t>
            </a:r>
          </a:p>
        </p:txBody>
      </p:sp>
      <p:sp>
        <p:nvSpPr>
          <p:cNvPr id="12" name="text-107">
            <a:extLst>
              <a:ext uri="{FF2B5EF4-FFF2-40B4-BE49-F238E27FC236}">
                <a16:creationId xmlns:a16="http://schemas.microsoft.com/office/drawing/2014/main" id="{B041D62E-2A49-4BC0-BE9F-AFB9E2638A01}"/>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Giảm số mẫu giúp lấy nền nhanh hơn,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độ dao động có thể tăng. Ngưỡng gas</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vẫn tính theo nền ADC.</a:t>
            </a:r>
          </a:p>
        </p:txBody>
      </p:sp>
    </p:spTree>
    <p:extLst>
      <p:ext uri="{BB962C8B-B14F-4D97-AF65-F5344CB8AC3E}">
        <p14:creationId xmlns:p14="http://schemas.microsoft.com/office/powerpoint/2010/main" val="1067301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EA98045F-BEFE-480C-902F-D14D76B8AE1B}"/>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Lấy mẫu xung và lọc bụi</a:t>
            </a:r>
          </a:p>
        </p:txBody>
      </p:sp>
      <p:sp>
        <p:nvSpPr>
          <p:cNvPr id="2" name="rule-108">
            <a:extLst>
              <a:ext uri="{FF2B5EF4-FFF2-40B4-BE49-F238E27FC236}">
                <a16:creationId xmlns:a16="http://schemas.microsoft.com/office/drawing/2014/main" id="{2F541B27-4F84-4BF7-962C-99775483DA91}"/>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CE9A719-B802-424C-88C7-F6651C2CAD8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04 Thu thập dữ liệu</a:t>
            </a:r>
          </a:p>
        </p:txBody>
      </p:sp>
      <p:sp>
        <p:nvSpPr>
          <p:cNvPr id="4" name="slide-number">
            <a:extLst>
              <a:ext uri="{FF2B5EF4-FFF2-40B4-BE49-F238E27FC236}">
                <a16:creationId xmlns:a16="http://schemas.microsoft.com/office/drawing/2014/main" id="{8CBBCD80-0A0E-40F0-8A73-D544D67561BF}"/>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16</a:t>
            </a:r>
          </a:p>
        </p:txBody>
      </p:sp>
      <p:sp>
        <p:nvSpPr>
          <p:cNvPr id="5" name="text-109">
            <a:extLst>
              <a:ext uri="{FF2B5EF4-FFF2-40B4-BE49-F238E27FC236}">
                <a16:creationId xmlns:a16="http://schemas.microsoft.com/office/drawing/2014/main" id="{39247A94-62FE-4567-B0BE-921A9346C103}"/>
              </a:ext>
            </a:extLst>
          </p:cNvPr>
          <p:cNvSpPr>
            <a:spLocks noGrp="1"/>
          </p:cNvSpPr>
          <p:nvPr/>
        </p:nvSpPr>
        <p:spPr>
          <a:xfrm>
            <a:off x="609600" y="1771650"/>
            <a:ext cx="2476500" cy="571500"/>
          </a:xfrm>
          <a:prstGeom prst="rect">
            <a:avLst/>
          </a:prstGeom>
          <a:noFill/>
          <a:ln w="0">
            <a:noFill/>
            <a:prstDash val="solid"/>
          </a:ln>
        </p:spPr>
        <p:txBody>
          <a:bodyPr wrap="square" lIns="0" tIns="0" rIns="0" bIns="0" anchor="t">
            <a:noAutofit/>
          </a:bodyPr>
          <a:lstStyle>
            <a:defPPr algn="l">
              <a:defRPr sz="2625" b="1">
                <a:solidFill>
                  <a:srgbClr val="007E87"/>
                </a:solidFill>
                <a:latin typeface="DejaVu Sans"/>
                <a:ea typeface="DejaVu Sans"/>
                <a:cs typeface="DejaVu Sans"/>
              </a:defRPr>
            </a:defPPr>
            <a:lvl1pPr algn="l">
              <a:defRPr sz="2625" b="1">
                <a:solidFill>
                  <a:srgbClr val="007E87"/>
                </a:solidFill>
                <a:latin typeface="DejaVu Sans"/>
                <a:ea typeface="DejaVu Sans"/>
                <a:cs typeface="DejaVu Sans"/>
              </a:defRPr>
            </a:lvl1pPr>
            <a:lvl2pPr algn="l">
              <a:defRPr sz="2625" b="1">
                <a:solidFill>
                  <a:srgbClr val="007E87"/>
                </a:solidFill>
                <a:latin typeface="DejaVu Sans"/>
                <a:ea typeface="DejaVu Sans"/>
                <a:cs typeface="DejaVu Sans"/>
              </a:defRPr>
            </a:lvl2pPr>
            <a:lvl3pPr algn="l">
              <a:defRPr sz="2625" b="1">
                <a:solidFill>
                  <a:srgbClr val="007E87"/>
                </a:solidFill>
                <a:latin typeface="DejaVu Sans"/>
                <a:ea typeface="DejaVu Sans"/>
                <a:cs typeface="DejaVu Sans"/>
              </a:defRPr>
            </a:lvl3pPr>
            <a:lvl4pPr algn="l">
              <a:defRPr sz="2625" b="1">
                <a:solidFill>
                  <a:srgbClr val="007E87"/>
                </a:solidFill>
                <a:latin typeface="DejaVu Sans"/>
                <a:ea typeface="DejaVu Sans"/>
                <a:cs typeface="DejaVu Sans"/>
              </a:defRPr>
            </a:lvl4pPr>
            <a:lvl5pPr algn="l">
              <a:defRPr sz="2625" b="1">
                <a:solidFill>
                  <a:srgbClr val="007E87"/>
                </a:solidFill>
                <a:latin typeface="DejaVu Sans"/>
                <a:ea typeface="DejaVu Sans"/>
                <a:cs typeface="DejaVu Sans"/>
              </a:defRPr>
            </a:lvl5pPr>
            <a:lvl6pPr algn="l">
              <a:defRPr sz="2625" b="1">
                <a:solidFill>
                  <a:srgbClr val="007E87"/>
                </a:solidFill>
                <a:latin typeface="DejaVu Sans"/>
                <a:ea typeface="DejaVu Sans"/>
                <a:cs typeface="DejaVu Sans"/>
              </a:defRPr>
            </a:lvl6pPr>
            <a:lvl7pPr algn="l">
              <a:defRPr sz="2625" b="1">
                <a:solidFill>
                  <a:srgbClr val="007E87"/>
                </a:solidFill>
                <a:latin typeface="DejaVu Sans"/>
                <a:ea typeface="DejaVu Sans"/>
                <a:cs typeface="DejaVu Sans"/>
              </a:defRPr>
            </a:lvl7pPr>
            <a:lvl8pPr algn="l">
              <a:defRPr sz="2625" b="1">
                <a:solidFill>
                  <a:srgbClr val="007E87"/>
                </a:solidFill>
                <a:latin typeface="DejaVu Sans"/>
                <a:ea typeface="DejaVu Sans"/>
                <a:cs typeface="DejaVu Sans"/>
              </a:defRPr>
            </a:lvl8pPr>
            <a:lvl9pPr algn="l">
              <a:defRPr sz="2625" b="1">
                <a:solidFill>
                  <a:srgbClr val="007E87"/>
                </a:solidFill>
                <a:latin typeface="DejaVu Sans"/>
                <a:ea typeface="DejaVu Sans"/>
                <a:cs typeface="DejaVu Sans"/>
              </a:defRPr>
            </a:lvl9pPr>
          </a:lstStyle>
          <a:p>
            <a:pPr algn="l">
              <a:lnSpc>
                <a:spcPct val="112000"/>
              </a:lnSpc>
              <a:buNone/>
              <a:defRPr sz="2625" b="1">
                <a:solidFill>
                  <a:srgbClr val="007E87"/>
                </a:solidFill>
                <a:latin typeface="DejaVu Sans"/>
                <a:ea typeface="DejaVu Sans"/>
                <a:cs typeface="DejaVu Sans"/>
              </a:defRPr>
            </a:pPr>
            <a:r>
              <a:rPr sz="2625" b="1">
                <a:solidFill>
                  <a:srgbClr val="007E87"/>
                </a:solidFill>
                <a:latin typeface="DejaVu Sans"/>
                <a:ea typeface="DejaVu Sans"/>
                <a:cs typeface="DejaVu Sans"/>
              </a:rPr>
              <a:t>0 µs</a:t>
            </a:r>
          </a:p>
        </p:txBody>
      </p:sp>
      <p:sp>
        <p:nvSpPr>
          <p:cNvPr id="6" name="text-110">
            <a:extLst>
              <a:ext uri="{FF2B5EF4-FFF2-40B4-BE49-F238E27FC236}">
                <a16:creationId xmlns:a16="http://schemas.microsoft.com/office/drawing/2014/main" id="{905DCED7-0A52-447B-9313-852FF1034D6F}"/>
              </a:ext>
            </a:extLst>
          </p:cNvPr>
          <p:cNvSpPr>
            <a:spLocks noGrp="1"/>
          </p:cNvSpPr>
          <p:nvPr/>
        </p:nvSpPr>
        <p:spPr>
          <a:xfrm>
            <a:off x="609600" y="2514600"/>
            <a:ext cx="2419350" cy="904875"/>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GPIO7 LOW</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LED bắt đầu phát</a:t>
            </a:r>
          </a:p>
        </p:txBody>
      </p:sp>
      <p:sp>
        <p:nvSpPr>
          <p:cNvPr id="7" name="text-111">
            <a:extLst>
              <a:ext uri="{FF2B5EF4-FFF2-40B4-BE49-F238E27FC236}">
                <a16:creationId xmlns:a16="http://schemas.microsoft.com/office/drawing/2014/main" id="{48620F4C-86E1-4AB3-A5B0-D9B57DB692A9}"/>
              </a:ext>
            </a:extLst>
          </p:cNvPr>
          <p:cNvSpPr>
            <a:spLocks noGrp="1"/>
          </p:cNvSpPr>
          <p:nvPr/>
        </p:nvSpPr>
        <p:spPr>
          <a:xfrm>
            <a:off x="3438525" y="1771650"/>
            <a:ext cx="2476500" cy="571500"/>
          </a:xfrm>
          <a:prstGeom prst="rect">
            <a:avLst/>
          </a:prstGeom>
          <a:noFill/>
          <a:ln w="0">
            <a:noFill/>
            <a:prstDash val="solid"/>
          </a:ln>
        </p:spPr>
        <p:txBody>
          <a:bodyPr wrap="square" lIns="0" tIns="0" rIns="0" bIns="0" anchor="t">
            <a:noAutofit/>
          </a:bodyPr>
          <a:lstStyle>
            <a:defPPr algn="l">
              <a:defRPr sz="2625" b="1">
                <a:solidFill>
                  <a:srgbClr val="007E87"/>
                </a:solidFill>
                <a:latin typeface="DejaVu Sans"/>
                <a:ea typeface="DejaVu Sans"/>
                <a:cs typeface="DejaVu Sans"/>
              </a:defRPr>
            </a:defPPr>
            <a:lvl1pPr algn="l">
              <a:defRPr sz="2625" b="1">
                <a:solidFill>
                  <a:srgbClr val="007E87"/>
                </a:solidFill>
                <a:latin typeface="DejaVu Sans"/>
                <a:ea typeface="DejaVu Sans"/>
                <a:cs typeface="DejaVu Sans"/>
              </a:defRPr>
            </a:lvl1pPr>
            <a:lvl2pPr algn="l">
              <a:defRPr sz="2625" b="1">
                <a:solidFill>
                  <a:srgbClr val="007E87"/>
                </a:solidFill>
                <a:latin typeface="DejaVu Sans"/>
                <a:ea typeface="DejaVu Sans"/>
                <a:cs typeface="DejaVu Sans"/>
              </a:defRPr>
            </a:lvl2pPr>
            <a:lvl3pPr algn="l">
              <a:defRPr sz="2625" b="1">
                <a:solidFill>
                  <a:srgbClr val="007E87"/>
                </a:solidFill>
                <a:latin typeface="DejaVu Sans"/>
                <a:ea typeface="DejaVu Sans"/>
                <a:cs typeface="DejaVu Sans"/>
              </a:defRPr>
            </a:lvl3pPr>
            <a:lvl4pPr algn="l">
              <a:defRPr sz="2625" b="1">
                <a:solidFill>
                  <a:srgbClr val="007E87"/>
                </a:solidFill>
                <a:latin typeface="DejaVu Sans"/>
                <a:ea typeface="DejaVu Sans"/>
                <a:cs typeface="DejaVu Sans"/>
              </a:defRPr>
            </a:lvl4pPr>
            <a:lvl5pPr algn="l">
              <a:defRPr sz="2625" b="1">
                <a:solidFill>
                  <a:srgbClr val="007E87"/>
                </a:solidFill>
                <a:latin typeface="DejaVu Sans"/>
                <a:ea typeface="DejaVu Sans"/>
                <a:cs typeface="DejaVu Sans"/>
              </a:defRPr>
            </a:lvl5pPr>
            <a:lvl6pPr algn="l">
              <a:defRPr sz="2625" b="1">
                <a:solidFill>
                  <a:srgbClr val="007E87"/>
                </a:solidFill>
                <a:latin typeface="DejaVu Sans"/>
                <a:ea typeface="DejaVu Sans"/>
                <a:cs typeface="DejaVu Sans"/>
              </a:defRPr>
            </a:lvl6pPr>
            <a:lvl7pPr algn="l">
              <a:defRPr sz="2625" b="1">
                <a:solidFill>
                  <a:srgbClr val="007E87"/>
                </a:solidFill>
                <a:latin typeface="DejaVu Sans"/>
                <a:ea typeface="DejaVu Sans"/>
                <a:cs typeface="DejaVu Sans"/>
              </a:defRPr>
            </a:lvl7pPr>
            <a:lvl8pPr algn="l">
              <a:defRPr sz="2625" b="1">
                <a:solidFill>
                  <a:srgbClr val="007E87"/>
                </a:solidFill>
                <a:latin typeface="DejaVu Sans"/>
                <a:ea typeface="DejaVu Sans"/>
                <a:cs typeface="DejaVu Sans"/>
              </a:defRPr>
            </a:lvl8pPr>
            <a:lvl9pPr algn="l">
              <a:defRPr sz="2625" b="1">
                <a:solidFill>
                  <a:srgbClr val="007E87"/>
                </a:solidFill>
                <a:latin typeface="DejaVu Sans"/>
                <a:ea typeface="DejaVu Sans"/>
                <a:cs typeface="DejaVu Sans"/>
              </a:defRPr>
            </a:lvl9pPr>
          </a:lstStyle>
          <a:p>
            <a:pPr algn="l">
              <a:lnSpc>
                <a:spcPct val="112000"/>
              </a:lnSpc>
              <a:buNone/>
              <a:defRPr sz="2625" b="1">
                <a:solidFill>
                  <a:srgbClr val="007E87"/>
                </a:solidFill>
                <a:latin typeface="DejaVu Sans"/>
                <a:ea typeface="DejaVu Sans"/>
                <a:cs typeface="DejaVu Sans"/>
              </a:defRPr>
            </a:pPr>
            <a:r>
              <a:rPr sz="2625" b="1">
                <a:solidFill>
                  <a:srgbClr val="007E87"/>
                </a:solidFill>
                <a:latin typeface="DejaVu Sans"/>
                <a:ea typeface="DejaVu Sans"/>
                <a:cs typeface="DejaVu Sans"/>
              </a:rPr>
              <a:t>280 µs</a:t>
            </a:r>
          </a:p>
        </p:txBody>
      </p:sp>
      <p:sp>
        <p:nvSpPr>
          <p:cNvPr id="8" name="text-112">
            <a:extLst>
              <a:ext uri="{FF2B5EF4-FFF2-40B4-BE49-F238E27FC236}">
                <a16:creationId xmlns:a16="http://schemas.microsoft.com/office/drawing/2014/main" id="{9C9608B1-89D2-4120-86C7-3D5DF04F596B}"/>
              </a:ext>
            </a:extLst>
          </p:cNvPr>
          <p:cNvSpPr>
            <a:spLocks noGrp="1"/>
          </p:cNvSpPr>
          <p:nvPr/>
        </p:nvSpPr>
        <p:spPr>
          <a:xfrm>
            <a:off x="3438525" y="2514600"/>
            <a:ext cx="2419350" cy="904875"/>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Đọc ADC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Giá trị của một xung</a:t>
            </a:r>
          </a:p>
        </p:txBody>
      </p:sp>
      <p:sp>
        <p:nvSpPr>
          <p:cNvPr id="9" name="text-113">
            <a:extLst>
              <a:ext uri="{FF2B5EF4-FFF2-40B4-BE49-F238E27FC236}">
                <a16:creationId xmlns:a16="http://schemas.microsoft.com/office/drawing/2014/main" id="{8AC1A98F-36DE-4813-A854-93A2D875AE69}"/>
              </a:ext>
            </a:extLst>
          </p:cNvPr>
          <p:cNvSpPr>
            <a:spLocks noGrp="1"/>
          </p:cNvSpPr>
          <p:nvPr/>
        </p:nvSpPr>
        <p:spPr>
          <a:xfrm>
            <a:off x="6267450" y="1771650"/>
            <a:ext cx="2476500" cy="571500"/>
          </a:xfrm>
          <a:prstGeom prst="rect">
            <a:avLst/>
          </a:prstGeom>
          <a:noFill/>
          <a:ln w="0">
            <a:noFill/>
            <a:prstDash val="solid"/>
          </a:ln>
        </p:spPr>
        <p:txBody>
          <a:bodyPr wrap="square" lIns="0" tIns="0" rIns="0" bIns="0" anchor="t">
            <a:noAutofit/>
          </a:bodyPr>
          <a:lstStyle>
            <a:defPPr algn="l">
              <a:defRPr sz="2625" b="1">
                <a:solidFill>
                  <a:srgbClr val="007E87"/>
                </a:solidFill>
                <a:latin typeface="DejaVu Sans"/>
                <a:ea typeface="DejaVu Sans"/>
                <a:cs typeface="DejaVu Sans"/>
              </a:defRPr>
            </a:defPPr>
            <a:lvl1pPr algn="l">
              <a:defRPr sz="2625" b="1">
                <a:solidFill>
                  <a:srgbClr val="007E87"/>
                </a:solidFill>
                <a:latin typeface="DejaVu Sans"/>
                <a:ea typeface="DejaVu Sans"/>
                <a:cs typeface="DejaVu Sans"/>
              </a:defRPr>
            </a:lvl1pPr>
            <a:lvl2pPr algn="l">
              <a:defRPr sz="2625" b="1">
                <a:solidFill>
                  <a:srgbClr val="007E87"/>
                </a:solidFill>
                <a:latin typeface="DejaVu Sans"/>
                <a:ea typeface="DejaVu Sans"/>
                <a:cs typeface="DejaVu Sans"/>
              </a:defRPr>
            </a:lvl2pPr>
            <a:lvl3pPr algn="l">
              <a:defRPr sz="2625" b="1">
                <a:solidFill>
                  <a:srgbClr val="007E87"/>
                </a:solidFill>
                <a:latin typeface="DejaVu Sans"/>
                <a:ea typeface="DejaVu Sans"/>
                <a:cs typeface="DejaVu Sans"/>
              </a:defRPr>
            </a:lvl3pPr>
            <a:lvl4pPr algn="l">
              <a:defRPr sz="2625" b="1">
                <a:solidFill>
                  <a:srgbClr val="007E87"/>
                </a:solidFill>
                <a:latin typeface="DejaVu Sans"/>
                <a:ea typeface="DejaVu Sans"/>
                <a:cs typeface="DejaVu Sans"/>
              </a:defRPr>
            </a:lvl4pPr>
            <a:lvl5pPr algn="l">
              <a:defRPr sz="2625" b="1">
                <a:solidFill>
                  <a:srgbClr val="007E87"/>
                </a:solidFill>
                <a:latin typeface="DejaVu Sans"/>
                <a:ea typeface="DejaVu Sans"/>
                <a:cs typeface="DejaVu Sans"/>
              </a:defRPr>
            </a:lvl5pPr>
            <a:lvl6pPr algn="l">
              <a:defRPr sz="2625" b="1">
                <a:solidFill>
                  <a:srgbClr val="007E87"/>
                </a:solidFill>
                <a:latin typeface="DejaVu Sans"/>
                <a:ea typeface="DejaVu Sans"/>
                <a:cs typeface="DejaVu Sans"/>
              </a:defRPr>
            </a:lvl6pPr>
            <a:lvl7pPr algn="l">
              <a:defRPr sz="2625" b="1">
                <a:solidFill>
                  <a:srgbClr val="007E87"/>
                </a:solidFill>
                <a:latin typeface="DejaVu Sans"/>
                <a:ea typeface="DejaVu Sans"/>
                <a:cs typeface="DejaVu Sans"/>
              </a:defRPr>
            </a:lvl7pPr>
            <a:lvl8pPr algn="l">
              <a:defRPr sz="2625" b="1">
                <a:solidFill>
                  <a:srgbClr val="007E87"/>
                </a:solidFill>
                <a:latin typeface="DejaVu Sans"/>
                <a:ea typeface="DejaVu Sans"/>
                <a:cs typeface="DejaVu Sans"/>
              </a:defRPr>
            </a:lvl8pPr>
            <a:lvl9pPr algn="l">
              <a:defRPr sz="2625" b="1">
                <a:solidFill>
                  <a:srgbClr val="007E87"/>
                </a:solidFill>
                <a:latin typeface="DejaVu Sans"/>
                <a:ea typeface="DejaVu Sans"/>
                <a:cs typeface="DejaVu Sans"/>
              </a:defRPr>
            </a:lvl9pPr>
          </a:lstStyle>
          <a:p>
            <a:pPr algn="l">
              <a:lnSpc>
                <a:spcPct val="112000"/>
              </a:lnSpc>
              <a:buNone/>
              <a:defRPr sz="2625" b="1">
                <a:solidFill>
                  <a:srgbClr val="007E87"/>
                </a:solidFill>
                <a:latin typeface="DejaVu Sans"/>
                <a:ea typeface="DejaVu Sans"/>
                <a:cs typeface="DejaVu Sans"/>
              </a:defRPr>
            </a:pPr>
            <a:r>
              <a:rPr sz="2625" b="1">
                <a:solidFill>
                  <a:srgbClr val="007E87"/>
                </a:solidFill>
                <a:latin typeface="DejaVu Sans"/>
                <a:ea typeface="DejaVu Sans"/>
                <a:cs typeface="DejaVu Sans"/>
              </a:rPr>
              <a:t>≥ 320 µs</a:t>
            </a:r>
          </a:p>
        </p:txBody>
      </p:sp>
      <p:sp>
        <p:nvSpPr>
          <p:cNvPr id="10" name="text-114">
            <a:extLst>
              <a:ext uri="{FF2B5EF4-FFF2-40B4-BE49-F238E27FC236}">
                <a16:creationId xmlns:a16="http://schemas.microsoft.com/office/drawing/2014/main" id="{BD9F02D8-44D7-4962-AD60-8BF8FF13D47A}"/>
              </a:ext>
            </a:extLst>
          </p:cNvPr>
          <p:cNvSpPr>
            <a:spLocks noGrp="1"/>
          </p:cNvSpPr>
          <p:nvPr/>
        </p:nvSpPr>
        <p:spPr>
          <a:xfrm>
            <a:off x="6267450" y="2514600"/>
            <a:ext cx="2419350" cy="904875"/>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GPIO7 HIGH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Kết thúc xung phát</a:t>
            </a:r>
          </a:p>
        </p:txBody>
      </p:sp>
      <p:sp>
        <p:nvSpPr>
          <p:cNvPr id="11" name="text-115">
            <a:extLst>
              <a:ext uri="{FF2B5EF4-FFF2-40B4-BE49-F238E27FC236}">
                <a16:creationId xmlns:a16="http://schemas.microsoft.com/office/drawing/2014/main" id="{133938A0-E373-4B36-82C2-696B6E1569D1}"/>
              </a:ext>
            </a:extLst>
          </p:cNvPr>
          <p:cNvSpPr>
            <a:spLocks noGrp="1"/>
          </p:cNvSpPr>
          <p:nvPr/>
        </p:nvSpPr>
        <p:spPr>
          <a:xfrm>
            <a:off x="9096375" y="1771650"/>
            <a:ext cx="2476500" cy="571500"/>
          </a:xfrm>
          <a:prstGeom prst="rect">
            <a:avLst/>
          </a:prstGeom>
          <a:noFill/>
          <a:ln w="0">
            <a:noFill/>
            <a:prstDash val="solid"/>
          </a:ln>
        </p:spPr>
        <p:txBody>
          <a:bodyPr wrap="square" lIns="0" tIns="0" rIns="0" bIns="0" anchor="t">
            <a:noAutofit/>
          </a:bodyPr>
          <a:lstStyle>
            <a:defPPr algn="l">
              <a:defRPr sz="2625" b="1">
                <a:solidFill>
                  <a:srgbClr val="007E87"/>
                </a:solidFill>
                <a:latin typeface="DejaVu Sans"/>
                <a:ea typeface="DejaVu Sans"/>
                <a:cs typeface="DejaVu Sans"/>
              </a:defRPr>
            </a:defPPr>
            <a:lvl1pPr algn="l">
              <a:defRPr sz="2625" b="1">
                <a:solidFill>
                  <a:srgbClr val="007E87"/>
                </a:solidFill>
                <a:latin typeface="DejaVu Sans"/>
                <a:ea typeface="DejaVu Sans"/>
                <a:cs typeface="DejaVu Sans"/>
              </a:defRPr>
            </a:lvl1pPr>
            <a:lvl2pPr algn="l">
              <a:defRPr sz="2625" b="1">
                <a:solidFill>
                  <a:srgbClr val="007E87"/>
                </a:solidFill>
                <a:latin typeface="DejaVu Sans"/>
                <a:ea typeface="DejaVu Sans"/>
                <a:cs typeface="DejaVu Sans"/>
              </a:defRPr>
            </a:lvl2pPr>
            <a:lvl3pPr algn="l">
              <a:defRPr sz="2625" b="1">
                <a:solidFill>
                  <a:srgbClr val="007E87"/>
                </a:solidFill>
                <a:latin typeface="DejaVu Sans"/>
                <a:ea typeface="DejaVu Sans"/>
                <a:cs typeface="DejaVu Sans"/>
              </a:defRPr>
            </a:lvl3pPr>
            <a:lvl4pPr algn="l">
              <a:defRPr sz="2625" b="1">
                <a:solidFill>
                  <a:srgbClr val="007E87"/>
                </a:solidFill>
                <a:latin typeface="DejaVu Sans"/>
                <a:ea typeface="DejaVu Sans"/>
                <a:cs typeface="DejaVu Sans"/>
              </a:defRPr>
            </a:lvl4pPr>
            <a:lvl5pPr algn="l">
              <a:defRPr sz="2625" b="1">
                <a:solidFill>
                  <a:srgbClr val="007E87"/>
                </a:solidFill>
                <a:latin typeface="DejaVu Sans"/>
                <a:ea typeface="DejaVu Sans"/>
                <a:cs typeface="DejaVu Sans"/>
              </a:defRPr>
            </a:lvl5pPr>
            <a:lvl6pPr algn="l">
              <a:defRPr sz="2625" b="1">
                <a:solidFill>
                  <a:srgbClr val="007E87"/>
                </a:solidFill>
                <a:latin typeface="DejaVu Sans"/>
                <a:ea typeface="DejaVu Sans"/>
                <a:cs typeface="DejaVu Sans"/>
              </a:defRPr>
            </a:lvl6pPr>
            <a:lvl7pPr algn="l">
              <a:defRPr sz="2625" b="1">
                <a:solidFill>
                  <a:srgbClr val="007E87"/>
                </a:solidFill>
                <a:latin typeface="DejaVu Sans"/>
                <a:ea typeface="DejaVu Sans"/>
                <a:cs typeface="DejaVu Sans"/>
              </a:defRPr>
            </a:lvl7pPr>
            <a:lvl8pPr algn="l">
              <a:defRPr sz="2625" b="1">
                <a:solidFill>
                  <a:srgbClr val="007E87"/>
                </a:solidFill>
                <a:latin typeface="DejaVu Sans"/>
                <a:ea typeface="DejaVu Sans"/>
                <a:cs typeface="DejaVu Sans"/>
              </a:defRPr>
            </a:lvl8pPr>
            <a:lvl9pPr algn="l">
              <a:defRPr sz="2625" b="1">
                <a:solidFill>
                  <a:srgbClr val="007E87"/>
                </a:solidFill>
                <a:latin typeface="DejaVu Sans"/>
                <a:ea typeface="DejaVu Sans"/>
                <a:cs typeface="DejaVu Sans"/>
              </a:defRPr>
            </a:lvl9pPr>
          </a:lstStyle>
          <a:p>
            <a:pPr algn="l">
              <a:lnSpc>
                <a:spcPct val="112000"/>
              </a:lnSpc>
              <a:buNone/>
              <a:defRPr sz="2625" b="1">
                <a:solidFill>
                  <a:srgbClr val="007E87"/>
                </a:solidFill>
                <a:latin typeface="DejaVu Sans"/>
                <a:ea typeface="DejaVu Sans"/>
                <a:cs typeface="DejaVu Sans"/>
              </a:defRPr>
            </a:pPr>
            <a:r>
              <a:rPr sz="2625" b="1">
                <a:solidFill>
                  <a:srgbClr val="007E87"/>
                </a:solidFill>
                <a:latin typeface="DejaVu Sans"/>
                <a:ea typeface="DejaVu Sans"/>
                <a:cs typeface="DejaVu Sans"/>
              </a:rPr>
              <a:t>≥ 10 ms</a:t>
            </a:r>
          </a:p>
        </p:txBody>
      </p:sp>
      <p:sp>
        <p:nvSpPr>
          <p:cNvPr id="12" name="text-116">
            <a:extLst>
              <a:ext uri="{FF2B5EF4-FFF2-40B4-BE49-F238E27FC236}">
                <a16:creationId xmlns:a16="http://schemas.microsoft.com/office/drawing/2014/main" id="{3381B29B-B09B-469D-A325-A48E7F489340}"/>
              </a:ext>
            </a:extLst>
          </p:cNvPr>
          <p:cNvSpPr>
            <a:spLocks noGrp="1"/>
          </p:cNvSpPr>
          <p:nvPr/>
        </p:nvSpPr>
        <p:spPr>
          <a:xfrm>
            <a:off x="9096375" y="2514600"/>
            <a:ext cx="2419350" cy="904875"/>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Bắt đầu chu kỳ</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kế tiếp</a:t>
            </a:r>
          </a:p>
        </p:txBody>
      </p:sp>
      <p:sp>
        <p:nvSpPr>
          <p:cNvPr id="13" name="rule-117">
            <a:extLst>
              <a:ext uri="{FF2B5EF4-FFF2-40B4-BE49-F238E27FC236}">
                <a16:creationId xmlns:a16="http://schemas.microsoft.com/office/drawing/2014/main" id="{6EC4559F-88A5-464F-A822-90A6A18CBDB4}"/>
              </a:ext>
            </a:extLst>
          </p:cNvPr>
          <p:cNvSpPr>
            <a:spLocks noGrp="1"/>
          </p:cNvSpPr>
          <p:nvPr/>
        </p:nvSpPr>
        <p:spPr>
          <a:xfrm>
            <a:off x="609600" y="3571875"/>
            <a:ext cx="10972800" cy="0"/>
          </a:xfrm>
          <a:prstGeom prst="line">
            <a:avLst/>
          </a:prstGeom>
          <a:noFill/>
          <a:ln w="19050">
            <a:solidFill>
              <a:srgbClr val="007E87"/>
            </a:solidFill>
            <a:prstDash val="solid"/>
          </a:ln>
        </p:spPr>
      </p:sp>
      <p:sp>
        <p:nvSpPr>
          <p:cNvPr id="14" name="text-118">
            <a:extLst>
              <a:ext uri="{FF2B5EF4-FFF2-40B4-BE49-F238E27FC236}">
                <a16:creationId xmlns:a16="http://schemas.microsoft.com/office/drawing/2014/main" id="{D9CF7E6C-7EAA-4E51-9907-D40449B0C10E}"/>
              </a:ext>
            </a:extLst>
          </p:cNvPr>
          <p:cNvSpPr>
            <a:spLocks noGrp="1"/>
          </p:cNvSpPr>
          <p:nvPr/>
        </p:nvSpPr>
        <p:spPr>
          <a:xfrm>
            <a:off x="609600" y="3924300"/>
            <a:ext cx="5200650" cy="457200"/>
          </a:xfrm>
          <a:prstGeom prst="rect">
            <a:avLst/>
          </a:prstGeom>
          <a:noFill/>
          <a:ln w="0">
            <a:noFill/>
            <a:prstDash val="solid"/>
          </a:ln>
        </p:spPr>
        <p:txBody>
          <a:bodyPr wrap="square" lIns="0" tIns="0" rIns="0" bIns="0" anchor="t">
            <a:noAutofit/>
          </a:bodyPr>
          <a:lstStyle>
            <a:defPPr algn="l">
              <a:defRPr sz="1950" b="1">
                <a:solidFill>
                  <a:srgbClr val="123047"/>
                </a:solidFill>
                <a:latin typeface="DejaVu Sans"/>
                <a:ea typeface="DejaVu Sans"/>
                <a:cs typeface="DejaVu Sans"/>
              </a:defRPr>
            </a:defPPr>
            <a:lvl1pPr algn="l">
              <a:defRPr sz="1950" b="1">
                <a:solidFill>
                  <a:srgbClr val="123047"/>
                </a:solidFill>
                <a:latin typeface="DejaVu Sans"/>
                <a:ea typeface="DejaVu Sans"/>
                <a:cs typeface="DejaVu Sans"/>
              </a:defRPr>
            </a:lvl1pPr>
            <a:lvl2pPr algn="l">
              <a:defRPr sz="1950" b="1">
                <a:solidFill>
                  <a:srgbClr val="123047"/>
                </a:solidFill>
                <a:latin typeface="DejaVu Sans"/>
                <a:ea typeface="DejaVu Sans"/>
                <a:cs typeface="DejaVu Sans"/>
              </a:defRPr>
            </a:lvl2pPr>
            <a:lvl3pPr algn="l">
              <a:defRPr sz="1950" b="1">
                <a:solidFill>
                  <a:srgbClr val="123047"/>
                </a:solidFill>
                <a:latin typeface="DejaVu Sans"/>
                <a:ea typeface="DejaVu Sans"/>
                <a:cs typeface="DejaVu Sans"/>
              </a:defRPr>
            </a:lvl3pPr>
            <a:lvl4pPr algn="l">
              <a:defRPr sz="1950" b="1">
                <a:solidFill>
                  <a:srgbClr val="123047"/>
                </a:solidFill>
                <a:latin typeface="DejaVu Sans"/>
                <a:ea typeface="DejaVu Sans"/>
                <a:cs typeface="DejaVu Sans"/>
              </a:defRPr>
            </a:lvl4pPr>
            <a:lvl5pPr algn="l">
              <a:defRPr sz="1950" b="1">
                <a:solidFill>
                  <a:srgbClr val="123047"/>
                </a:solidFill>
                <a:latin typeface="DejaVu Sans"/>
                <a:ea typeface="DejaVu Sans"/>
                <a:cs typeface="DejaVu Sans"/>
              </a:defRPr>
            </a:lvl5pPr>
            <a:lvl6pPr algn="l">
              <a:defRPr sz="1950" b="1">
                <a:solidFill>
                  <a:srgbClr val="123047"/>
                </a:solidFill>
                <a:latin typeface="DejaVu Sans"/>
                <a:ea typeface="DejaVu Sans"/>
                <a:cs typeface="DejaVu Sans"/>
              </a:defRPr>
            </a:lvl6pPr>
            <a:lvl7pPr algn="l">
              <a:defRPr sz="1950" b="1">
                <a:solidFill>
                  <a:srgbClr val="123047"/>
                </a:solidFill>
                <a:latin typeface="DejaVu Sans"/>
                <a:ea typeface="DejaVu Sans"/>
                <a:cs typeface="DejaVu Sans"/>
              </a:defRPr>
            </a:lvl7pPr>
            <a:lvl8pPr algn="l">
              <a:defRPr sz="1950" b="1">
                <a:solidFill>
                  <a:srgbClr val="123047"/>
                </a:solidFill>
                <a:latin typeface="DejaVu Sans"/>
                <a:ea typeface="DejaVu Sans"/>
                <a:cs typeface="DejaVu Sans"/>
              </a:defRPr>
            </a:lvl8pPr>
            <a:lvl9pPr algn="l">
              <a:defRPr sz="1950" b="1">
                <a:solidFill>
                  <a:srgbClr val="123047"/>
                </a:solidFill>
                <a:latin typeface="DejaVu Sans"/>
                <a:ea typeface="DejaVu Sans"/>
                <a:cs typeface="DejaVu Sans"/>
              </a:defRPr>
            </a:lvl9pPr>
          </a:lstStyle>
          <a:p>
            <a:pPr algn="l">
              <a:lnSpc>
                <a:spcPct val="112000"/>
              </a:lnSpc>
              <a:buNone/>
              <a:defRPr sz="1950" b="1">
                <a:solidFill>
                  <a:srgbClr val="123047"/>
                </a:solidFill>
                <a:latin typeface="DejaVu Sans"/>
                <a:ea typeface="DejaVu Sans"/>
                <a:cs typeface="DejaVu Sans"/>
              </a:defRPr>
            </a:pPr>
            <a:r>
              <a:rPr sz="1950" b="1">
                <a:solidFill>
                  <a:srgbClr val="123047"/>
                </a:solidFill>
                <a:latin typeface="DejaVu Sans"/>
                <a:ea typeface="DejaVu Sans"/>
                <a:cs typeface="DejaVu Sans"/>
              </a:rPr>
              <a:t>Một lượt đọc</a:t>
            </a:r>
          </a:p>
        </p:txBody>
      </p:sp>
      <p:sp>
        <p:nvSpPr>
          <p:cNvPr id="15" name="text-119">
            <a:extLst>
              <a:ext uri="{FF2B5EF4-FFF2-40B4-BE49-F238E27FC236}">
                <a16:creationId xmlns:a16="http://schemas.microsoft.com/office/drawing/2014/main" id="{F2F1AA0F-A4DF-4466-9E56-1A742A82F297}"/>
              </a:ext>
            </a:extLst>
          </p:cNvPr>
          <p:cNvSpPr>
            <a:spLocks noGrp="1"/>
          </p:cNvSpPr>
          <p:nvPr/>
        </p:nvSpPr>
        <p:spPr>
          <a:xfrm>
            <a:off x="609600" y="4457700"/>
            <a:ext cx="5200650" cy="620078"/>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readDust() lấy trung bình 4 xung, khoảng</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40 ms chưa kể chi phí xử lý.</a:t>
            </a:r>
          </a:p>
        </p:txBody>
      </p:sp>
      <p:sp>
        <p:nvSpPr>
          <p:cNvPr id="16" name="text-120">
            <a:extLst>
              <a:ext uri="{FF2B5EF4-FFF2-40B4-BE49-F238E27FC236}">
                <a16:creationId xmlns:a16="http://schemas.microsoft.com/office/drawing/2014/main" id="{EACBE68C-B0B1-4B0F-A999-BE1AAA7B9C6D}"/>
              </a:ext>
            </a:extLst>
          </p:cNvPr>
          <p:cNvSpPr>
            <a:spLocks noGrp="1"/>
          </p:cNvSpPr>
          <p:nvPr/>
        </p:nvSpPr>
        <p:spPr>
          <a:xfrm>
            <a:off x="609600" y="5249228"/>
            <a:ext cx="5200650" cy="324326"/>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Bản trước dùng 8 xung mỗi lượt đọc.</a:t>
            </a:r>
          </a:p>
        </p:txBody>
      </p:sp>
      <p:sp>
        <p:nvSpPr>
          <p:cNvPr id="17" name="text-121">
            <a:extLst>
              <a:ext uri="{FF2B5EF4-FFF2-40B4-BE49-F238E27FC236}">
                <a16:creationId xmlns:a16="http://schemas.microsoft.com/office/drawing/2014/main" id="{7CF499D6-D755-40FE-9BBC-484F8C43E24B}"/>
              </a:ext>
            </a:extLst>
          </p:cNvPr>
          <p:cNvSpPr>
            <a:spLocks noGrp="1"/>
          </p:cNvSpPr>
          <p:nvPr/>
        </p:nvSpPr>
        <p:spPr>
          <a:xfrm>
            <a:off x="6381750" y="3924300"/>
            <a:ext cx="5200650" cy="457200"/>
          </a:xfrm>
          <a:prstGeom prst="rect">
            <a:avLst/>
          </a:prstGeom>
          <a:noFill/>
          <a:ln w="0">
            <a:noFill/>
            <a:prstDash val="solid"/>
          </a:ln>
        </p:spPr>
        <p:txBody>
          <a:bodyPr wrap="square" lIns="0" tIns="0" rIns="0" bIns="0" anchor="t">
            <a:noAutofit/>
          </a:bodyPr>
          <a:lstStyle>
            <a:defPPr algn="l">
              <a:defRPr sz="1950" b="1">
                <a:solidFill>
                  <a:srgbClr val="123047"/>
                </a:solidFill>
                <a:latin typeface="DejaVu Sans"/>
                <a:ea typeface="DejaVu Sans"/>
                <a:cs typeface="DejaVu Sans"/>
              </a:defRPr>
            </a:defPPr>
            <a:lvl1pPr algn="l">
              <a:defRPr sz="1950" b="1">
                <a:solidFill>
                  <a:srgbClr val="123047"/>
                </a:solidFill>
                <a:latin typeface="DejaVu Sans"/>
                <a:ea typeface="DejaVu Sans"/>
                <a:cs typeface="DejaVu Sans"/>
              </a:defRPr>
            </a:lvl1pPr>
            <a:lvl2pPr algn="l">
              <a:defRPr sz="1950" b="1">
                <a:solidFill>
                  <a:srgbClr val="123047"/>
                </a:solidFill>
                <a:latin typeface="DejaVu Sans"/>
                <a:ea typeface="DejaVu Sans"/>
                <a:cs typeface="DejaVu Sans"/>
              </a:defRPr>
            </a:lvl2pPr>
            <a:lvl3pPr algn="l">
              <a:defRPr sz="1950" b="1">
                <a:solidFill>
                  <a:srgbClr val="123047"/>
                </a:solidFill>
                <a:latin typeface="DejaVu Sans"/>
                <a:ea typeface="DejaVu Sans"/>
                <a:cs typeface="DejaVu Sans"/>
              </a:defRPr>
            </a:lvl3pPr>
            <a:lvl4pPr algn="l">
              <a:defRPr sz="1950" b="1">
                <a:solidFill>
                  <a:srgbClr val="123047"/>
                </a:solidFill>
                <a:latin typeface="DejaVu Sans"/>
                <a:ea typeface="DejaVu Sans"/>
                <a:cs typeface="DejaVu Sans"/>
              </a:defRPr>
            </a:lvl4pPr>
            <a:lvl5pPr algn="l">
              <a:defRPr sz="1950" b="1">
                <a:solidFill>
                  <a:srgbClr val="123047"/>
                </a:solidFill>
                <a:latin typeface="DejaVu Sans"/>
                <a:ea typeface="DejaVu Sans"/>
                <a:cs typeface="DejaVu Sans"/>
              </a:defRPr>
            </a:lvl5pPr>
            <a:lvl6pPr algn="l">
              <a:defRPr sz="1950" b="1">
                <a:solidFill>
                  <a:srgbClr val="123047"/>
                </a:solidFill>
                <a:latin typeface="DejaVu Sans"/>
                <a:ea typeface="DejaVu Sans"/>
                <a:cs typeface="DejaVu Sans"/>
              </a:defRPr>
            </a:lvl6pPr>
            <a:lvl7pPr algn="l">
              <a:defRPr sz="1950" b="1">
                <a:solidFill>
                  <a:srgbClr val="123047"/>
                </a:solidFill>
                <a:latin typeface="DejaVu Sans"/>
                <a:ea typeface="DejaVu Sans"/>
                <a:cs typeface="DejaVu Sans"/>
              </a:defRPr>
            </a:lvl7pPr>
            <a:lvl8pPr algn="l">
              <a:defRPr sz="1950" b="1">
                <a:solidFill>
                  <a:srgbClr val="123047"/>
                </a:solidFill>
                <a:latin typeface="DejaVu Sans"/>
                <a:ea typeface="DejaVu Sans"/>
                <a:cs typeface="DejaVu Sans"/>
              </a:defRPr>
            </a:lvl8pPr>
            <a:lvl9pPr algn="l">
              <a:defRPr sz="1950" b="1">
                <a:solidFill>
                  <a:srgbClr val="123047"/>
                </a:solidFill>
                <a:latin typeface="DejaVu Sans"/>
                <a:ea typeface="DejaVu Sans"/>
                <a:cs typeface="DejaVu Sans"/>
              </a:defRPr>
            </a:lvl9pPr>
          </a:lstStyle>
          <a:p>
            <a:pPr algn="l">
              <a:lnSpc>
                <a:spcPct val="112000"/>
              </a:lnSpc>
              <a:buNone/>
              <a:defRPr sz="1950" b="1">
                <a:solidFill>
                  <a:srgbClr val="123047"/>
                </a:solidFill>
                <a:latin typeface="DejaVu Sans"/>
                <a:ea typeface="DejaVu Sans"/>
                <a:cs typeface="DejaVu Sans"/>
              </a:defRPr>
            </a:pPr>
            <a:r>
              <a:rPr sz="1950" b="1">
                <a:solidFill>
                  <a:srgbClr val="123047"/>
                </a:solidFill>
                <a:latin typeface="DejaVu Sans"/>
                <a:ea typeface="DejaVu Sans"/>
                <a:cs typeface="DejaVu Sans"/>
              </a:rPr>
              <a:t>Hiệu chỉnh và lọc</a:t>
            </a:r>
          </a:p>
        </p:txBody>
      </p:sp>
      <p:sp>
        <p:nvSpPr>
          <p:cNvPr id="18" name="text-122">
            <a:extLst>
              <a:ext uri="{FF2B5EF4-FFF2-40B4-BE49-F238E27FC236}">
                <a16:creationId xmlns:a16="http://schemas.microsoft.com/office/drawing/2014/main" id="{2C0F1CA2-42DC-4485-8309-2F53960FFF80}"/>
              </a:ext>
            </a:extLst>
          </p:cNvPr>
          <p:cNvSpPr>
            <a:spLocks noGrp="1"/>
          </p:cNvSpPr>
          <p:nvPr/>
        </p:nvSpPr>
        <p:spPr>
          <a:xfrm>
            <a:off x="6381750" y="4457700"/>
            <a:ext cx="5200650" cy="620078"/>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15 lượt readDust() để tính nền và độ lệch</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chuẩn mẫu. Nền hợp lệ 40–3800.</a:t>
            </a:r>
          </a:p>
        </p:txBody>
      </p:sp>
      <p:sp>
        <p:nvSpPr>
          <p:cNvPr id="19" name="text-123">
            <a:extLst>
              <a:ext uri="{FF2B5EF4-FFF2-40B4-BE49-F238E27FC236}">
                <a16:creationId xmlns:a16="http://schemas.microsoft.com/office/drawing/2014/main" id="{136CBC5B-CA50-49F2-8F92-55B867341E79}"/>
              </a:ext>
            </a:extLst>
          </p:cNvPr>
          <p:cNvSpPr>
            <a:spLocks noGrp="1"/>
          </p:cNvSpPr>
          <p:nvPr/>
        </p:nvSpPr>
        <p:spPr>
          <a:xfrm>
            <a:off x="6381750" y="5249228"/>
            <a:ext cx="5200650" cy="620078"/>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dustAvg mới = 0,65 × giá trị trước + 0,35</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 dustRaw.</a:t>
            </a:r>
          </a:p>
        </p:txBody>
      </p:sp>
      <p:sp>
        <p:nvSpPr>
          <p:cNvPr id="20" name="text-124">
            <a:extLst>
              <a:ext uri="{FF2B5EF4-FFF2-40B4-BE49-F238E27FC236}">
                <a16:creationId xmlns:a16="http://schemas.microsoft.com/office/drawing/2014/main" id="{4AEC920B-0D4C-49A8-9CEB-A2CD1063CE49}"/>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Ngưỡng cảnh báo bụi cố định 1500/1450, không tự thay đổi theo dustBase sau hiệu chỉnh.</a:t>
            </a:r>
          </a:p>
        </p:txBody>
      </p:sp>
    </p:spTree>
    <p:extLst>
      <p:ext uri="{BB962C8B-B14F-4D97-AF65-F5344CB8AC3E}">
        <p14:creationId xmlns:p14="http://schemas.microsoft.com/office/powerpoint/2010/main" val="823199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377F5837-135F-4FB0-9998-804731420485}"/>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DHT22 và hạn sử dụng dữ liệu</a:t>
            </a:r>
          </a:p>
        </p:txBody>
      </p:sp>
      <p:sp>
        <p:nvSpPr>
          <p:cNvPr id="2" name="rule-125">
            <a:extLst>
              <a:ext uri="{FF2B5EF4-FFF2-40B4-BE49-F238E27FC236}">
                <a16:creationId xmlns:a16="http://schemas.microsoft.com/office/drawing/2014/main" id="{46F92CA0-FEDF-4E9B-8123-347CFD1E5F53}"/>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EF5DEF48-8048-4104-937F-29C3ECBFE7CC}"/>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04 Thu thập dữ liệu</a:t>
            </a:r>
          </a:p>
        </p:txBody>
      </p:sp>
      <p:sp>
        <p:nvSpPr>
          <p:cNvPr id="4" name="slide-number">
            <a:extLst>
              <a:ext uri="{FF2B5EF4-FFF2-40B4-BE49-F238E27FC236}">
                <a16:creationId xmlns:a16="http://schemas.microsoft.com/office/drawing/2014/main" id="{9D60E74E-D0F0-43CE-ACC4-374447702BF5}"/>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17</a:t>
            </a:r>
          </a:p>
        </p:txBody>
      </p:sp>
      <p:sp>
        <p:nvSpPr>
          <p:cNvPr id="5" name="text-126">
            <a:extLst>
              <a:ext uri="{FF2B5EF4-FFF2-40B4-BE49-F238E27FC236}">
                <a16:creationId xmlns:a16="http://schemas.microsoft.com/office/drawing/2014/main" id="{300DF16E-D213-4A9C-8DD6-C3EF12492A65}"/>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Điều kiện chấp nhận</a:t>
            </a:r>
          </a:p>
        </p:txBody>
      </p:sp>
      <p:sp>
        <p:nvSpPr>
          <p:cNvPr id="6" name="text-127">
            <a:extLst>
              <a:ext uri="{FF2B5EF4-FFF2-40B4-BE49-F238E27FC236}">
                <a16:creationId xmlns:a16="http://schemas.microsoft.com/office/drawing/2014/main" id="{6A07FF2A-97D5-41C3-AE3B-0B1641F001B2}"/>
              </a:ext>
            </a:extLst>
          </p:cNvPr>
          <p:cNvSpPr>
            <a:spLocks noGrp="1"/>
          </p:cNvSpPr>
          <p:nvPr/>
        </p:nvSpPr>
        <p:spPr>
          <a:xfrm>
            <a:off x="609600" y="2209800"/>
            <a:ext cx="5200650" cy="350044"/>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Đọc DHT22 mỗi 2500 ms.</a:t>
            </a:r>
          </a:p>
        </p:txBody>
      </p:sp>
      <p:sp>
        <p:nvSpPr>
          <p:cNvPr id="7" name="text-128">
            <a:extLst>
              <a:ext uri="{FF2B5EF4-FFF2-40B4-BE49-F238E27FC236}">
                <a16:creationId xmlns:a16="http://schemas.microsoft.com/office/drawing/2014/main" id="{9596BE82-7461-4A79-BB4D-8E0B4BCEECC0}"/>
              </a:ext>
            </a:extLst>
          </p:cNvPr>
          <p:cNvSpPr>
            <a:spLocks noGrp="1"/>
          </p:cNvSpPr>
          <p:nvPr/>
        </p:nvSpPr>
        <p:spPr>
          <a:xfrm>
            <a:off x="609600" y="27312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Nhiệt độ lớn hơn −40 °C và nhỏ hơn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80 °C, độ ẩm từ 0 đến 100%.</a:t>
            </a:r>
          </a:p>
        </p:txBody>
      </p:sp>
      <p:sp>
        <p:nvSpPr>
          <p:cNvPr id="8" name="text-129">
            <a:extLst>
              <a:ext uri="{FF2B5EF4-FFF2-40B4-BE49-F238E27FC236}">
                <a16:creationId xmlns:a16="http://schemas.microsoft.com/office/drawing/2014/main" id="{6233FC60-0F7A-42DD-94C6-3E2F5FDE0F00}"/>
              </a:ext>
            </a:extLst>
          </p:cNvPr>
          <p:cNvSpPr>
            <a:spLocks noGrp="1"/>
          </p:cNvSpPr>
          <p:nvPr/>
        </p:nvSpPr>
        <p:spPr>
          <a:xfrm>
            <a:off x="609600" y="3574256"/>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Loại giá trị NaN và lưu mẫu hợp lệ gần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nhất.</a:t>
            </a:r>
          </a:p>
        </p:txBody>
      </p:sp>
      <p:sp>
        <p:nvSpPr>
          <p:cNvPr id="9" name="text-130">
            <a:extLst>
              <a:ext uri="{FF2B5EF4-FFF2-40B4-BE49-F238E27FC236}">
                <a16:creationId xmlns:a16="http://schemas.microsoft.com/office/drawing/2014/main" id="{1AEDC387-3F5A-45D8-B0F4-4E7FEAE92865}"/>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Giữ mẫu và báo lỗi</a:t>
            </a:r>
          </a:p>
        </p:txBody>
      </p:sp>
      <p:sp>
        <p:nvSpPr>
          <p:cNvPr id="10" name="text-131">
            <a:extLst>
              <a:ext uri="{FF2B5EF4-FFF2-40B4-BE49-F238E27FC236}">
                <a16:creationId xmlns:a16="http://schemas.microsoft.com/office/drawing/2014/main" id="{8B9EDF37-A137-4BA5-9B74-6A7FF0D63D78}"/>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Một lần đọc lỗi không xóa ngay dữ liệu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tốt.</a:t>
            </a:r>
          </a:p>
        </p:txBody>
      </p:sp>
      <p:sp>
        <p:nvSpPr>
          <p:cNvPr id="11" name="text-132">
            <a:extLst>
              <a:ext uri="{FF2B5EF4-FFF2-40B4-BE49-F238E27FC236}">
                <a16:creationId xmlns:a16="http://schemas.microsoft.com/office/drawing/2014/main" id="{07A9201F-B9DC-4DA5-BD0B-4A2AD87F5837}"/>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Quá 30 giây không có mẫu hợp lệ, dữ</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liệu hết hạn và DHT_OK về 0.</a:t>
            </a:r>
          </a:p>
        </p:txBody>
      </p:sp>
      <p:sp>
        <p:nvSpPr>
          <p:cNvPr id="12" name="text-133">
            <a:extLst>
              <a:ext uri="{FF2B5EF4-FFF2-40B4-BE49-F238E27FC236}">
                <a16:creationId xmlns:a16="http://schemas.microsoft.com/office/drawing/2014/main" id="{774236B3-2633-4BFC-913D-DC7950FFD6E0}"/>
              </a:ext>
            </a:extLst>
          </p:cNvPr>
          <p:cNvSpPr>
            <a:spLocks noGrp="1"/>
          </p:cNvSpPr>
          <p:nvPr/>
        </p:nvSpPr>
        <p:spPr>
          <a:xfrm>
            <a:off x="638175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Bản cập nhật phát lỗi DHT kéo dài cả</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khi MQ-2 còn làm nóng.</a:t>
            </a:r>
          </a:p>
        </p:txBody>
      </p:sp>
    </p:spTree>
    <p:extLst>
      <p:ext uri="{BB962C8B-B14F-4D97-AF65-F5344CB8AC3E}">
        <p14:creationId xmlns:p14="http://schemas.microsoft.com/office/powerpoint/2010/main" val="803111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B1646FBE-4E4A-4399-9608-E4C6DEEE47A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Ngưỡng bật và xóa cảnh báo</a:t>
            </a:r>
          </a:p>
        </p:txBody>
      </p:sp>
      <p:sp>
        <p:nvSpPr>
          <p:cNvPr id="2" name="rule-134">
            <a:extLst>
              <a:ext uri="{FF2B5EF4-FFF2-40B4-BE49-F238E27FC236}">
                <a16:creationId xmlns:a16="http://schemas.microsoft.com/office/drawing/2014/main" id="{3E24A6D2-E3D6-4825-9545-1B86E9BA5288}"/>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497C4827-CDE8-437B-8EFB-0D122E87EA4C}"/>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05 Cảnh báo và điều khiển</a:t>
            </a:r>
          </a:p>
        </p:txBody>
      </p:sp>
      <p:sp>
        <p:nvSpPr>
          <p:cNvPr id="4" name="slide-number">
            <a:extLst>
              <a:ext uri="{FF2B5EF4-FFF2-40B4-BE49-F238E27FC236}">
                <a16:creationId xmlns:a16="http://schemas.microsoft.com/office/drawing/2014/main" id="{C18B02D0-627C-4E3D-911F-C11306FAA46C}"/>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18</a:t>
            </a:r>
          </a:p>
        </p:txBody>
      </p:sp>
      <p:graphicFrame>
        <p:nvGraphicFramePr>
          <p:cNvPr id="5" name="Table 4">
            <a:extLst>
              <a:ext uri="{FF2B5EF4-FFF2-40B4-BE49-F238E27FC236}">
                <a16:creationId xmlns:a16="http://schemas.microsoft.com/office/drawing/2014/main" id="{413CEF4E-1639-4276-88C9-E76E0F58616C}"/>
              </a:ext>
            </a:extLst>
          </p:cNvPr>
          <p:cNvGraphicFramePr/>
          <p:nvPr/>
        </p:nvGraphicFramePr>
        <p:xfrm>
          <a:off x="609600" y="1657350"/>
          <a:ext cx="10972800" cy="4152899"/>
        </p:xfrm>
        <a:graphic>
          <a:graphicData uri="http://schemas.openxmlformats.org/drawingml/2006/table">
            <a:tbl>
              <a:tblPr firstRow="1"/>
              <a:tblGrid>
                <a:gridCol w="1975104">
                  <a:extLst>
                    <a:ext uri="{9D8B030D-6E8A-4147-A177-3AD203B41FA5}">
                      <a16:colId xmlns:a16="http://schemas.microsoft.com/office/drawing/2014/main" val="20000"/>
                    </a:ext>
                  </a:extLst>
                </a:gridCol>
                <a:gridCol w="4498848">
                  <a:extLst>
                    <a:ext uri="{9D8B030D-6E8A-4147-A177-3AD203B41FA5}">
                      <a16:colId xmlns:a16="http://schemas.microsoft.com/office/drawing/2014/main" val="20001"/>
                    </a:ext>
                  </a:extLst>
                </a:gridCol>
                <a:gridCol w="4498848">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Đại lượng</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Điều kiện bật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Điều kiện xóa</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907256">
                <a:tc>
                  <a:txBody>
                    <a:bodyPr/>
                    <a:lstStyle/>
                    <a:p>
                      <a:r>
                        <a:rPr sz="1725">
                          <a:solidFill>
                            <a:srgbClr val="263E50"/>
                          </a:solidFill>
                          <a:latin typeface="DejaVu Sans"/>
                          <a:ea typeface="DejaVu Sans"/>
                          <a:cs typeface="DejaVu Sans"/>
                        </a:rPr>
                        <a:t>Gas</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gasAvg ≥ gasOn trong 1,8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gasAvg ≤ gasOff trong 5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907256">
                <a:tc>
                  <a:txBody>
                    <a:bodyPr/>
                    <a:lstStyle/>
                    <a:p>
                      <a:r>
                        <a:rPr sz="1725">
                          <a:solidFill>
                            <a:srgbClr val="263E50"/>
                          </a:solidFill>
                          <a:latin typeface="DejaVu Sans"/>
                          <a:ea typeface="DejaVu Sans"/>
                          <a:cs typeface="DejaVu Sans"/>
                        </a:rPr>
                        <a:t>Bụi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dustAvg &gt; 1500 trong 0,5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dustAvg ≤ 1450 trong 0,5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907256">
                <a:tc>
                  <a:txBody>
                    <a:bodyPr/>
                    <a:lstStyle/>
                    <a:p>
                      <a:r>
                        <a:rPr sz="1725">
                          <a:solidFill>
                            <a:srgbClr val="263E50"/>
                          </a:solidFill>
                          <a:latin typeface="DejaVu Sans"/>
                          <a:ea typeface="DejaVu Sans"/>
                          <a:cs typeface="DejaVu Sans"/>
                        </a:rPr>
                        <a:t>Nhiệt độ</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 ≥ 35 °C, DHT hợp lệ</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 ≤ 33 °C, DHT hợp lệ</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907256">
                <a:tc>
                  <a:txBody>
                    <a:bodyPr/>
                    <a:lstStyle/>
                    <a:p>
                      <a:r>
                        <a:rPr sz="1725">
                          <a:solidFill>
                            <a:srgbClr val="263E50"/>
                          </a:solidFill>
                          <a:latin typeface="DejaVu Sans"/>
                          <a:ea typeface="DejaVu Sans"/>
                          <a:cs typeface="DejaVu Sans"/>
                        </a:rPr>
                        <a:t>Độ ẩm</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H ≥ 80%, DHT hợp lệ</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H ≤ 76%, DHT hợp lệ</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bl>
          </a:graphicData>
        </a:graphic>
      </p:graphicFrame>
      <p:sp>
        <p:nvSpPr>
          <p:cNvPr id="6" name="text-135">
            <a:extLst>
              <a:ext uri="{FF2B5EF4-FFF2-40B4-BE49-F238E27FC236}">
                <a16:creationId xmlns:a16="http://schemas.microsoft.com/office/drawing/2014/main" id="{D99D3A97-3094-4840-A109-5C4A0905243E}"/>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Hysteresis giữ trạng thái giữa hai ngưỡng. Thời gian xác nhận hạn chế cảnh báo do vượt ngưỡng ngắn.</a:t>
            </a:r>
          </a:p>
        </p:txBody>
      </p:sp>
    </p:spTree>
    <p:extLst>
      <p:ext uri="{BB962C8B-B14F-4D97-AF65-F5344CB8AC3E}">
        <p14:creationId xmlns:p14="http://schemas.microsoft.com/office/powerpoint/2010/main" val="1018807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78182AEA-F52C-48BB-B264-3BF615AABD14}"/>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Công thức ngưỡng gas theo nền</a:t>
            </a:r>
          </a:p>
        </p:txBody>
      </p:sp>
      <p:sp>
        <p:nvSpPr>
          <p:cNvPr id="2" name="rule-136">
            <a:extLst>
              <a:ext uri="{FF2B5EF4-FFF2-40B4-BE49-F238E27FC236}">
                <a16:creationId xmlns:a16="http://schemas.microsoft.com/office/drawing/2014/main" id="{92641E05-35C8-4F7B-9697-50BE5C393B84}"/>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7CEA3D35-9C39-48A0-A89B-AA85A4F6483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05 Cảnh báo và điều khiển</a:t>
            </a:r>
          </a:p>
        </p:txBody>
      </p:sp>
      <p:sp>
        <p:nvSpPr>
          <p:cNvPr id="4" name="slide-number">
            <a:extLst>
              <a:ext uri="{FF2B5EF4-FFF2-40B4-BE49-F238E27FC236}">
                <a16:creationId xmlns:a16="http://schemas.microsoft.com/office/drawing/2014/main" id="{4C3FDCDB-E503-48AE-8EAA-2E66BAA09E05}"/>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19</a:t>
            </a:r>
          </a:p>
        </p:txBody>
      </p:sp>
      <p:sp>
        <p:nvSpPr>
          <p:cNvPr id="5" name="text-137">
            <a:extLst>
              <a:ext uri="{FF2B5EF4-FFF2-40B4-BE49-F238E27FC236}">
                <a16:creationId xmlns:a16="http://schemas.microsoft.com/office/drawing/2014/main" id="{80B86419-EB93-45BD-9493-0DB781EB6878}"/>
              </a:ext>
            </a:extLst>
          </p:cNvPr>
          <p:cNvSpPr>
            <a:spLocks noGrp="1"/>
          </p:cNvSpPr>
          <p:nvPr/>
        </p:nvSpPr>
        <p:spPr>
          <a:xfrm>
            <a:off x="609600" y="1733550"/>
            <a:ext cx="10972800" cy="609600"/>
          </a:xfrm>
          <a:prstGeom prst="rect">
            <a:avLst/>
          </a:prstGeom>
          <a:noFill/>
          <a:ln w="0">
            <a:noFill/>
            <a:prstDash val="solid"/>
          </a:ln>
        </p:spPr>
        <p:txBody>
          <a:bodyPr wrap="square" lIns="0" tIns="0" rIns="0" bIns="0" anchor="t">
            <a:noAutofit/>
          </a:bodyPr>
          <a:lstStyle>
            <a:defPPr algn="l">
              <a:defRPr sz="2325" b="1">
                <a:solidFill>
                  <a:srgbClr val="007E87"/>
                </a:solidFill>
                <a:latin typeface="DejaVu Sans Mono"/>
                <a:ea typeface="DejaVu Sans Mono"/>
                <a:cs typeface="DejaVu Sans Mono"/>
              </a:defRPr>
            </a:defPPr>
            <a:lvl1pPr algn="l">
              <a:defRPr sz="2325" b="1">
                <a:solidFill>
                  <a:srgbClr val="007E87"/>
                </a:solidFill>
                <a:latin typeface="DejaVu Sans Mono"/>
                <a:ea typeface="DejaVu Sans Mono"/>
                <a:cs typeface="DejaVu Sans Mono"/>
              </a:defRPr>
            </a:lvl1pPr>
            <a:lvl2pPr algn="l">
              <a:defRPr sz="2325" b="1">
                <a:solidFill>
                  <a:srgbClr val="007E87"/>
                </a:solidFill>
                <a:latin typeface="DejaVu Sans Mono"/>
                <a:ea typeface="DejaVu Sans Mono"/>
                <a:cs typeface="DejaVu Sans Mono"/>
              </a:defRPr>
            </a:lvl2pPr>
            <a:lvl3pPr algn="l">
              <a:defRPr sz="2325" b="1">
                <a:solidFill>
                  <a:srgbClr val="007E87"/>
                </a:solidFill>
                <a:latin typeface="DejaVu Sans Mono"/>
                <a:ea typeface="DejaVu Sans Mono"/>
                <a:cs typeface="DejaVu Sans Mono"/>
              </a:defRPr>
            </a:lvl3pPr>
            <a:lvl4pPr algn="l">
              <a:defRPr sz="2325" b="1">
                <a:solidFill>
                  <a:srgbClr val="007E87"/>
                </a:solidFill>
                <a:latin typeface="DejaVu Sans Mono"/>
                <a:ea typeface="DejaVu Sans Mono"/>
                <a:cs typeface="DejaVu Sans Mono"/>
              </a:defRPr>
            </a:lvl4pPr>
            <a:lvl5pPr algn="l">
              <a:defRPr sz="2325" b="1">
                <a:solidFill>
                  <a:srgbClr val="007E87"/>
                </a:solidFill>
                <a:latin typeface="DejaVu Sans Mono"/>
                <a:ea typeface="DejaVu Sans Mono"/>
                <a:cs typeface="DejaVu Sans Mono"/>
              </a:defRPr>
            </a:lvl5pPr>
            <a:lvl6pPr algn="l">
              <a:defRPr sz="2325" b="1">
                <a:solidFill>
                  <a:srgbClr val="007E87"/>
                </a:solidFill>
                <a:latin typeface="DejaVu Sans Mono"/>
                <a:ea typeface="DejaVu Sans Mono"/>
                <a:cs typeface="DejaVu Sans Mono"/>
              </a:defRPr>
            </a:lvl6pPr>
            <a:lvl7pPr algn="l">
              <a:defRPr sz="2325" b="1">
                <a:solidFill>
                  <a:srgbClr val="007E87"/>
                </a:solidFill>
                <a:latin typeface="DejaVu Sans Mono"/>
                <a:ea typeface="DejaVu Sans Mono"/>
                <a:cs typeface="DejaVu Sans Mono"/>
              </a:defRPr>
            </a:lvl7pPr>
            <a:lvl8pPr algn="l">
              <a:defRPr sz="2325" b="1">
                <a:solidFill>
                  <a:srgbClr val="007E87"/>
                </a:solidFill>
                <a:latin typeface="DejaVu Sans Mono"/>
                <a:ea typeface="DejaVu Sans Mono"/>
                <a:cs typeface="DejaVu Sans Mono"/>
              </a:defRPr>
            </a:lvl8pPr>
            <a:lvl9pPr algn="l">
              <a:defRPr sz="2325" b="1">
                <a:solidFill>
                  <a:srgbClr val="007E87"/>
                </a:solidFill>
                <a:latin typeface="DejaVu Sans Mono"/>
                <a:ea typeface="DejaVu Sans Mono"/>
                <a:cs typeface="DejaVu Sans Mono"/>
              </a:defRPr>
            </a:lvl9pPr>
          </a:lstStyle>
          <a:p>
            <a:pPr algn="l">
              <a:lnSpc>
                <a:spcPct val="112000"/>
              </a:lnSpc>
              <a:buNone/>
              <a:defRPr sz="2325" b="1">
                <a:solidFill>
                  <a:srgbClr val="007E87"/>
                </a:solidFill>
                <a:latin typeface="DejaVu Sans Mono"/>
                <a:ea typeface="DejaVu Sans Mono"/>
                <a:cs typeface="DejaVu Sans Mono"/>
              </a:defRPr>
            </a:pPr>
            <a:r>
              <a:rPr sz="2325" b="1">
                <a:solidFill>
                  <a:srgbClr val="007E87"/>
                </a:solidFill>
                <a:latin typeface="DejaVu Sans Mono"/>
                <a:ea typeface="DejaVu Sans Mono"/>
                <a:cs typeface="DejaVu Sans Mono"/>
              </a:rPr>
              <a:t>gasOn = gasBase + max(0,30 × gasBase, 250)</a:t>
            </a:r>
          </a:p>
        </p:txBody>
      </p:sp>
      <p:sp>
        <p:nvSpPr>
          <p:cNvPr id="6" name="text-138">
            <a:extLst>
              <a:ext uri="{FF2B5EF4-FFF2-40B4-BE49-F238E27FC236}">
                <a16:creationId xmlns:a16="http://schemas.microsoft.com/office/drawing/2014/main" id="{08846A85-B34F-4D6A-8984-1B732E1B45FF}"/>
              </a:ext>
            </a:extLst>
          </p:cNvPr>
          <p:cNvSpPr>
            <a:spLocks noGrp="1"/>
          </p:cNvSpPr>
          <p:nvPr/>
        </p:nvSpPr>
        <p:spPr>
          <a:xfrm>
            <a:off x="609600" y="2533650"/>
            <a:ext cx="10972800" cy="609600"/>
          </a:xfrm>
          <a:prstGeom prst="rect">
            <a:avLst/>
          </a:prstGeom>
          <a:noFill/>
          <a:ln w="0">
            <a:noFill/>
            <a:prstDash val="solid"/>
          </a:ln>
        </p:spPr>
        <p:txBody>
          <a:bodyPr wrap="square" lIns="0" tIns="0" rIns="0" bIns="0" anchor="t">
            <a:noAutofit/>
          </a:bodyPr>
          <a:lstStyle>
            <a:defPPr algn="l">
              <a:defRPr sz="2325" b="1">
                <a:solidFill>
                  <a:srgbClr val="007E87"/>
                </a:solidFill>
                <a:latin typeface="DejaVu Sans Mono"/>
                <a:ea typeface="DejaVu Sans Mono"/>
                <a:cs typeface="DejaVu Sans Mono"/>
              </a:defRPr>
            </a:defPPr>
            <a:lvl1pPr algn="l">
              <a:defRPr sz="2325" b="1">
                <a:solidFill>
                  <a:srgbClr val="007E87"/>
                </a:solidFill>
                <a:latin typeface="DejaVu Sans Mono"/>
                <a:ea typeface="DejaVu Sans Mono"/>
                <a:cs typeface="DejaVu Sans Mono"/>
              </a:defRPr>
            </a:lvl1pPr>
            <a:lvl2pPr algn="l">
              <a:defRPr sz="2325" b="1">
                <a:solidFill>
                  <a:srgbClr val="007E87"/>
                </a:solidFill>
                <a:latin typeface="DejaVu Sans Mono"/>
                <a:ea typeface="DejaVu Sans Mono"/>
                <a:cs typeface="DejaVu Sans Mono"/>
              </a:defRPr>
            </a:lvl2pPr>
            <a:lvl3pPr algn="l">
              <a:defRPr sz="2325" b="1">
                <a:solidFill>
                  <a:srgbClr val="007E87"/>
                </a:solidFill>
                <a:latin typeface="DejaVu Sans Mono"/>
                <a:ea typeface="DejaVu Sans Mono"/>
                <a:cs typeface="DejaVu Sans Mono"/>
              </a:defRPr>
            </a:lvl3pPr>
            <a:lvl4pPr algn="l">
              <a:defRPr sz="2325" b="1">
                <a:solidFill>
                  <a:srgbClr val="007E87"/>
                </a:solidFill>
                <a:latin typeface="DejaVu Sans Mono"/>
                <a:ea typeface="DejaVu Sans Mono"/>
                <a:cs typeface="DejaVu Sans Mono"/>
              </a:defRPr>
            </a:lvl4pPr>
            <a:lvl5pPr algn="l">
              <a:defRPr sz="2325" b="1">
                <a:solidFill>
                  <a:srgbClr val="007E87"/>
                </a:solidFill>
                <a:latin typeface="DejaVu Sans Mono"/>
                <a:ea typeface="DejaVu Sans Mono"/>
                <a:cs typeface="DejaVu Sans Mono"/>
              </a:defRPr>
            </a:lvl5pPr>
            <a:lvl6pPr algn="l">
              <a:defRPr sz="2325" b="1">
                <a:solidFill>
                  <a:srgbClr val="007E87"/>
                </a:solidFill>
                <a:latin typeface="DejaVu Sans Mono"/>
                <a:ea typeface="DejaVu Sans Mono"/>
                <a:cs typeface="DejaVu Sans Mono"/>
              </a:defRPr>
            </a:lvl6pPr>
            <a:lvl7pPr algn="l">
              <a:defRPr sz="2325" b="1">
                <a:solidFill>
                  <a:srgbClr val="007E87"/>
                </a:solidFill>
                <a:latin typeface="DejaVu Sans Mono"/>
                <a:ea typeface="DejaVu Sans Mono"/>
                <a:cs typeface="DejaVu Sans Mono"/>
              </a:defRPr>
            </a:lvl7pPr>
            <a:lvl8pPr algn="l">
              <a:defRPr sz="2325" b="1">
                <a:solidFill>
                  <a:srgbClr val="007E87"/>
                </a:solidFill>
                <a:latin typeface="DejaVu Sans Mono"/>
                <a:ea typeface="DejaVu Sans Mono"/>
                <a:cs typeface="DejaVu Sans Mono"/>
              </a:defRPr>
            </a:lvl8pPr>
            <a:lvl9pPr algn="l">
              <a:defRPr sz="2325" b="1">
                <a:solidFill>
                  <a:srgbClr val="007E87"/>
                </a:solidFill>
                <a:latin typeface="DejaVu Sans Mono"/>
                <a:ea typeface="DejaVu Sans Mono"/>
                <a:cs typeface="DejaVu Sans Mono"/>
              </a:defRPr>
            </a:lvl9pPr>
          </a:lstStyle>
          <a:p>
            <a:pPr algn="l">
              <a:lnSpc>
                <a:spcPct val="112000"/>
              </a:lnSpc>
              <a:buNone/>
              <a:defRPr sz="2325" b="1">
                <a:solidFill>
                  <a:srgbClr val="007E87"/>
                </a:solidFill>
                <a:latin typeface="DejaVu Sans Mono"/>
                <a:ea typeface="DejaVu Sans Mono"/>
                <a:cs typeface="DejaVu Sans Mono"/>
              </a:defRPr>
            </a:pPr>
            <a:r>
              <a:rPr sz="2325" b="1">
                <a:solidFill>
                  <a:srgbClr val="007E87"/>
                </a:solidFill>
                <a:latin typeface="DejaVu Sans Mono"/>
                <a:ea typeface="DejaVu Sans Mono"/>
                <a:cs typeface="DejaVu Sans Mono"/>
              </a:rPr>
              <a:t>gasOff = gasBase + max(0,12 × gasBase, 120)</a:t>
            </a:r>
          </a:p>
        </p:txBody>
      </p:sp>
      <p:sp>
        <p:nvSpPr>
          <p:cNvPr id="7" name="rule-139">
            <a:extLst>
              <a:ext uri="{FF2B5EF4-FFF2-40B4-BE49-F238E27FC236}">
                <a16:creationId xmlns:a16="http://schemas.microsoft.com/office/drawing/2014/main" id="{E0E08C78-7C86-41F2-B41C-7073E27B371D}"/>
              </a:ext>
            </a:extLst>
          </p:cNvPr>
          <p:cNvSpPr>
            <a:spLocks noGrp="1"/>
          </p:cNvSpPr>
          <p:nvPr/>
        </p:nvSpPr>
        <p:spPr>
          <a:xfrm>
            <a:off x="609600" y="3333750"/>
            <a:ext cx="10972800" cy="0"/>
          </a:xfrm>
          <a:prstGeom prst="line">
            <a:avLst/>
          </a:prstGeom>
          <a:noFill/>
          <a:ln w="9525">
            <a:solidFill>
              <a:srgbClr val="CBD7DE"/>
            </a:solidFill>
            <a:prstDash val="solid"/>
          </a:ln>
        </p:spPr>
      </p:sp>
      <p:sp>
        <p:nvSpPr>
          <p:cNvPr id="8" name="text-140">
            <a:extLst>
              <a:ext uri="{FF2B5EF4-FFF2-40B4-BE49-F238E27FC236}">
                <a16:creationId xmlns:a16="http://schemas.microsoft.com/office/drawing/2014/main" id="{FD348319-9FE7-4653-A79B-F95284C98772}"/>
              </a:ext>
            </a:extLst>
          </p:cNvPr>
          <p:cNvSpPr>
            <a:spLocks noGrp="1"/>
          </p:cNvSpPr>
          <p:nvPr/>
        </p:nvSpPr>
        <p:spPr>
          <a:xfrm>
            <a:off x="609600" y="3600450"/>
            <a:ext cx="10972800" cy="400050"/>
          </a:xfrm>
          <a:prstGeom prst="rect">
            <a:avLst/>
          </a:prstGeom>
          <a:noFill/>
          <a:ln w="0">
            <a:noFill/>
            <a:prstDash val="solid"/>
          </a:ln>
        </p:spPr>
        <p:txBody>
          <a:bodyPr wrap="square" lIns="0" tIns="0" rIns="0" bIns="0" anchor="t">
            <a:noAutofit/>
          </a:bodyPr>
          <a:lstStyle>
            <a:defPPr algn="l">
              <a:defRPr sz="2025" b="1">
                <a:solidFill>
                  <a:srgbClr val="123047"/>
                </a:solidFill>
                <a:latin typeface="DejaVu Sans"/>
                <a:ea typeface="DejaVu Sans"/>
                <a:cs typeface="DejaVu Sans"/>
              </a:defRPr>
            </a:defPPr>
            <a:lvl1pPr algn="l">
              <a:defRPr sz="2025" b="1">
                <a:solidFill>
                  <a:srgbClr val="123047"/>
                </a:solidFill>
                <a:latin typeface="DejaVu Sans"/>
                <a:ea typeface="DejaVu Sans"/>
                <a:cs typeface="DejaVu Sans"/>
              </a:defRPr>
            </a:lvl1pPr>
            <a:lvl2pPr algn="l">
              <a:defRPr sz="2025" b="1">
                <a:solidFill>
                  <a:srgbClr val="123047"/>
                </a:solidFill>
                <a:latin typeface="DejaVu Sans"/>
                <a:ea typeface="DejaVu Sans"/>
                <a:cs typeface="DejaVu Sans"/>
              </a:defRPr>
            </a:lvl2pPr>
            <a:lvl3pPr algn="l">
              <a:defRPr sz="2025" b="1">
                <a:solidFill>
                  <a:srgbClr val="123047"/>
                </a:solidFill>
                <a:latin typeface="DejaVu Sans"/>
                <a:ea typeface="DejaVu Sans"/>
                <a:cs typeface="DejaVu Sans"/>
              </a:defRPr>
            </a:lvl3pPr>
            <a:lvl4pPr algn="l">
              <a:defRPr sz="2025" b="1">
                <a:solidFill>
                  <a:srgbClr val="123047"/>
                </a:solidFill>
                <a:latin typeface="DejaVu Sans"/>
                <a:ea typeface="DejaVu Sans"/>
                <a:cs typeface="DejaVu Sans"/>
              </a:defRPr>
            </a:lvl4pPr>
            <a:lvl5pPr algn="l">
              <a:defRPr sz="2025" b="1">
                <a:solidFill>
                  <a:srgbClr val="123047"/>
                </a:solidFill>
                <a:latin typeface="DejaVu Sans"/>
                <a:ea typeface="DejaVu Sans"/>
                <a:cs typeface="DejaVu Sans"/>
              </a:defRPr>
            </a:lvl5pPr>
            <a:lvl6pPr algn="l">
              <a:defRPr sz="2025" b="1">
                <a:solidFill>
                  <a:srgbClr val="123047"/>
                </a:solidFill>
                <a:latin typeface="DejaVu Sans"/>
                <a:ea typeface="DejaVu Sans"/>
                <a:cs typeface="DejaVu Sans"/>
              </a:defRPr>
            </a:lvl6pPr>
            <a:lvl7pPr algn="l">
              <a:defRPr sz="2025" b="1">
                <a:solidFill>
                  <a:srgbClr val="123047"/>
                </a:solidFill>
                <a:latin typeface="DejaVu Sans"/>
                <a:ea typeface="DejaVu Sans"/>
                <a:cs typeface="DejaVu Sans"/>
              </a:defRPr>
            </a:lvl7pPr>
            <a:lvl8pPr algn="l">
              <a:defRPr sz="2025" b="1">
                <a:solidFill>
                  <a:srgbClr val="123047"/>
                </a:solidFill>
                <a:latin typeface="DejaVu Sans"/>
                <a:ea typeface="DejaVu Sans"/>
                <a:cs typeface="DejaVu Sans"/>
              </a:defRPr>
            </a:lvl8pPr>
            <a:lvl9pPr algn="l">
              <a:defRPr sz="2025" b="1">
                <a:solidFill>
                  <a:srgbClr val="123047"/>
                </a:solidFill>
                <a:latin typeface="DejaVu Sans"/>
                <a:ea typeface="DejaVu Sans"/>
                <a:cs typeface="DejaVu Sans"/>
              </a:defRPr>
            </a:lvl9pPr>
          </a:lstStyle>
          <a:p>
            <a:pPr algn="l">
              <a:lnSpc>
                <a:spcPct val="112000"/>
              </a:lnSpc>
              <a:buNone/>
              <a:defRPr sz="2025" b="1">
                <a:solidFill>
                  <a:srgbClr val="123047"/>
                </a:solidFill>
                <a:latin typeface="DejaVu Sans"/>
                <a:ea typeface="DejaVu Sans"/>
                <a:cs typeface="DejaVu Sans"/>
              </a:defRPr>
            </a:pPr>
            <a:r>
              <a:rPr sz="2025" b="1">
                <a:solidFill>
                  <a:srgbClr val="123047"/>
                </a:solidFill>
                <a:latin typeface="DejaVu Sans"/>
                <a:ea typeface="DejaVu Sans"/>
                <a:cs typeface="DejaVu Sans"/>
              </a:rPr>
              <a:t>Ví dụ tính toán</a:t>
            </a:r>
          </a:p>
        </p:txBody>
      </p:sp>
      <p:sp>
        <p:nvSpPr>
          <p:cNvPr id="9" name="text-141">
            <a:extLst>
              <a:ext uri="{FF2B5EF4-FFF2-40B4-BE49-F238E27FC236}">
                <a16:creationId xmlns:a16="http://schemas.microsoft.com/office/drawing/2014/main" id="{1D21AD4C-9A08-47ED-898B-2FE906C427D2}"/>
              </a:ext>
            </a:extLst>
          </p:cNvPr>
          <p:cNvSpPr>
            <a:spLocks noGrp="1"/>
          </p:cNvSpPr>
          <p:nvPr/>
        </p:nvSpPr>
        <p:spPr>
          <a:xfrm>
            <a:off x="609600" y="4114800"/>
            <a:ext cx="3286125" cy="847725"/>
          </a:xfrm>
          <a:prstGeom prst="rect">
            <a:avLst/>
          </a:prstGeom>
          <a:noFill/>
          <a:ln w="0">
            <a:noFill/>
            <a:prstDash val="solid"/>
          </a:ln>
        </p:spPr>
        <p:txBody>
          <a:bodyPr wrap="square" lIns="0" tIns="0" rIns="0" bIns="0" anchor="t">
            <a:noAutofit/>
          </a:bodyPr>
          <a:lstStyle>
            <a:defPPr algn="l">
              <a:defRPr sz="4800" b="1">
                <a:solidFill>
                  <a:srgbClr val="123047"/>
                </a:solidFill>
                <a:latin typeface="DejaVu Sans"/>
                <a:ea typeface="DejaVu Sans"/>
                <a:cs typeface="DejaVu Sans"/>
              </a:defRPr>
            </a:defPPr>
            <a:lvl1pPr algn="l">
              <a:defRPr sz="4800" b="1">
                <a:solidFill>
                  <a:srgbClr val="123047"/>
                </a:solidFill>
                <a:latin typeface="DejaVu Sans"/>
                <a:ea typeface="DejaVu Sans"/>
                <a:cs typeface="DejaVu Sans"/>
              </a:defRPr>
            </a:lvl1pPr>
            <a:lvl2pPr algn="l">
              <a:defRPr sz="4800" b="1">
                <a:solidFill>
                  <a:srgbClr val="123047"/>
                </a:solidFill>
                <a:latin typeface="DejaVu Sans"/>
                <a:ea typeface="DejaVu Sans"/>
                <a:cs typeface="DejaVu Sans"/>
              </a:defRPr>
            </a:lvl2pPr>
            <a:lvl3pPr algn="l">
              <a:defRPr sz="4800" b="1">
                <a:solidFill>
                  <a:srgbClr val="123047"/>
                </a:solidFill>
                <a:latin typeface="DejaVu Sans"/>
                <a:ea typeface="DejaVu Sans"/>
                <a:cs typeface="DejaVu Sans"/>
              </a:defRPr>
            </a:lvl3pPr>
            <a:lvl4pPr algn="l">
              <a:defRPr sz="4800" b="1">
                <a:solidFill>
                  <a:srgbClr val="123047"/>
                </a:solidFill>
                <a:latin typeface="DejaVu Sans"/>
                <a:ea typeface="DejaVu Sans"/>
                <a:cs typeface="DejaVu Sans"/>
              </a:defRPr>
            </a:lvl4pPr>
            <a:lvl5pPr algn="l">
              <a:defRPr sz="4800" b="1">
                <a:solidFill>
                  <a:srgbClr val="123047"/>
                </a:solidFill>
                <a:latin typeface="DejaVu Sans"/>
                <a:ea typeface="DejaVu Sans"/>
                <a:cs typeface="DejaVu Sans"/>
              </a:defRPr>
            </a:lvl5pPr>
            <a:lvl6pPr algn="l">
              <a:defRPr sz="4800" b="1">
                <a:solidFill>
                  <a:srgbClr val="123047"/>
                </a:solidFill>
                <a:latin typeface="DejaVu Sans"/>
                <a:ea typeface="DejaVu Sans"/>
                <a:cs typeface="DejaVu Sans"/>
              </a:defRPr>
            </a:lvl6pPr>
            <a:lvl7pPr algn="l">
              <a:defRPr sz="4800" b="1">
                <a:solidFill>
                  <a:srgbClr val="123047"/>
                </a:solidFill>
                <a:latin typeface="DejaVu Sans"/>
                <a:ea typeface="DejaVu Sans"/>
                <a:cs typeface="DejaVu Sans"/>
              </a:defRPr>
            </a:lvl7pPr>
            <a:lvl8pPr algn="l">
              <a:defRPr sz="4800" b="1">
                <a:solidFill>
                  <a:srgbClr val="123047"/>
                </a:solidFill>
                <a:latin typeface="DejaVu Sans"/>
                <a:ea typeface="DejaVu Sans"/>
                <a:cs typeface="DejaVu Sans"/>
              </a:defRPr>
            </a:lvl8pPr>
            <a:lvl9pPr algn="l">
              <a:defRPr sz="4800" b="1">
                <a:solidFill>
                  <a:srgbClr val="123047"/>
                </a:solidFill>
                <a:latin typeface="DejaVu Sans"/>
                <a:ea typeface="DejaVu Sans"/>
                <a:cs typeface="DejaVu Sans"/>
              </a:defRPr>
            </a:lvl9pPr>
          </a:lstStyle>
          <a:p>
            <a:pPr algn="l">
              <a:lnSpc>
                <a:spcPct val="112000"/>
              </a:lnSpc>
              <a:buNone/>
              <a:defRPr sz="4800" b="1">
                <a:solidFill>
                  <a:srgbClr val="123047"/>
                </a:solidFill>
                <a:latin typeface="DejaVu Sans"/>
                <a:ea typeface="DejaVu Sans"/>
                <a:cs typeface="DejaVu Sans"/>
              </a:defRPr>
            </a:pPr>
            <a:r>
              <a:rPr sz="4800" b="1">
                <a:solidFill>
                  <a:srgbClr val="123047"/>
                </a:solidFill>
                <a:latin typeface="DejaVu Sans"/>
                <a:ea typeface="DejaVu Sans"/>
                <a:cs typeface="DejaVu Sans"/>
              </a:rPr>
              <a:t>1000</a:t>
            </a:r>
          </a:p>
        </p:txBody>
      </p:sp>
      <p:sp>
        <p:nvSpPr>
          <p:cNvPr id="10" name="text-142">
            <a:extLst>
              <a:ext uri="{FF2B5EF4-FFF2-40B4-BE49-F238E27FC236}">
                <a16:creationId xmlns:a16="http://schemas.microsoft.com/office/drawing/2014/main" id="{1819DA90-62F5-4C9C-B0B4-DA7BD493CF08}"/>
              </a:ext>
            </a:extLst>
          </p:cNvPr>
          <p:cNvSpPr>
            <a:spLocks noGrp="1"/>
          </p:cNvSpPr>
          <p:nvPr/>
        </p:nvSpPr>
        <p:spPr>
          <a:xfrm>
            <a:off x="609600" y="5105400"/>
            <a:ext cx="3286125" cy="352425"/>
          </a:xfrm>
          <a:prstGeom prst="rect">
            <a:avLst/>
          </a:prstGeom>
          <a:noFill/>
          <a:ln w="0">
            <a:noFill/>
            <a:prstDash val="solid"/>
          </a:ln>
        </p:spPr>
        <p:txBody>
          <a:bodyPr wrap="square" lIns="0" tIns="0" rIns="0" bIns="0" anchor="t">
            <a:noAutofit/>
          </a:bodyPr>
          <a:lstStyle>
            <a:defPPr algn="l">
              <a:defRPr sz="1875" b="0">
                <a:solidFill>
                  <a:srgbClr val="536B7B"/>
                </a:solidFill>
                <a:latin typeface="DejaVu Sans Mono"/>
                <a:ea typeface="DejaVu Sans Mono"/>
                <a:cs typeface="DejaVu Sans Mono"/>
              </a:defRPr>
            </a:defPPr>
            <a:lvl1pPr algn="l">
              <a:defRPr sz="1875" b="0">
                <a:solidFill>
                  <a:srgbClr val="536B7B"/>
                </a:solidFill>
                <a:latin typeface="DejaVu Sans Mono"/>
                <a:ea typeface="DejaVu Sans Mono"/>
                <a:cs typeface="DejaVu Sans Mono"/>
              </a:defRPr>
            </a:lvl1pPr>
            <a:lvl2pPr algn="l">
              <a:defRPr sz="1875" b="0">
                <a:solidFill>
                  <a:srgbClr val="536B7B"/>
                </a:solidFill>
                <a:latin typeface="DejaVu Sans Mono"/>
                <a:ea typeface="DejaVu Sans Mono"/>
                <a:cs typeface="DejaVu Sans Mono"/>
              </a:defRPr>
            </a:lvl2pPr>
            <a:lvl3pPr algn="l">
              <a:defRPr sz="1875" b="0">
                <a:solidFill>
                  <a:srgbClr val="536B7B"/>
                </a:solidFill>
                <a:latin typeface="DejaVu Sans Mono"/>
                <a:ea typeface="DejaVu Sans Mono"/>
                <a:cs typeface="DejaVu Sans Mono"/>
              </a:defRPr>
            </a:lvl3pPr>
            <a:lvl4pPr algn="l">
              <a:defRPr sz="1875" b="0">
                <a:solidFill>
                  <a:srgbClr val="536B7B"/>
                </a:solidFill>
                <a:latin typeface="DejaVu Sans Mono"/>
                <a:ea typeface="DejaVu Sans Mono"/>
                <a:cs typeface="DejaVu Sans Mono"/>
              </a:defRPr>
            </a:lvl4pPr>
            <a:lvl5pPr algn="l">
              <a:defRPr sz="1875" b="0">
                <a:solidFill>
                  <a:srgbClr val="536B7B"/>
                </a:solidFill>
                <a:latin typeface="DejaVu Sans Mono"/>
                <a:ea typeface="DejaVu Sans Mono"/>
                <a:cs typeface="DejaVu Sans Mono"/>
              </a:defRPr>
            </a:lvl5pPr>
            <a:lvl6pPr algn="l">
              <a:defRPr sz="1875" b="0">
                <a:solidFill>
                  <a:srgbClr val="536B7B"/>
                </a:solidFill>
                <a:latin typeface="DejaVu Sans Mono"/>
                <a:ea typeface="DejaVu Sans Mono"/>
                <a:cs typeface="DejaVu Sans Mono"/>
              </a:defRPr>
            </a:lvl6pPr>
            <a:lvl7pPr algn="l">
              <a:defRPr sz="1875" b="0">
                <a:solidFill>
                  <a:srgbClr val="536B7B"/>
                </a:solidFill>
                <a:latin typeface="DejaVu Sans Mono"/>
                <a:ea typeface="DejaVu Sans Mono"/>
                <a:cs typeface="DejaVu Sans Mono"/>
              </a:defRPr>
            </a:lvl7pPr>
            <a:lvl8pPr algn="l">
              <a:defRPr sz="1875" b="0">
                <a:solidFill>
                  <a:srgbClr val="536B7B"/>
                </a:solidFill>
                <a:latin typeface="DejaVu Sans Mono"/>
                <a:ea typeface="DejaVu Sans Mono"/>
                <a:cs typeface="DejaVu Sans Mono"/>
              </a:defRPr>
            </a:lvl8pPr>
            <a:lvl9pPr algn="l">
              <a:defRPr sz="1875" b="0">
                <a:solidFill>
                  <a:srgbClr val="536B7B"/>
                </a:solidFill>
                <a:latin typeface="DejaVu Sans Mono"/>
                <a:ea typeface="DejaVu Sans Mono"/>
                <a:cs typeface="DejaVu Sans Mono"/>
              </a:defRPr>
            </a:lvl9pPr>
          </a:lstStyle>
          <a:p>
            <a:pPr algn="l">
              <a:lnSpc>
                <a:spcPct val="112000"/>
              </a:lnSpc>
              <a:buNone/>
              <a:defRPr sz="1875" b="0">
                <a:solidFill>
                  <a:srgbClr val="536B7B"/>
                </a:solidFill>
                <a:latin typeface="DejaVu Sans Mono"/>
                <a:ea typeface="DejaVu Sans Mono"/>
                <a:cs typeface="DejaVu Sans Mono"/>
              </a:defRPr>
            </a:pPr>
            <a:r>
              <a:rPr sz="1875" b="0">
                <a:solidFill>
                  <a:srgbClr val="536B7B"/>
                </a:solidFill>
                <a:latin typeface="DejaVu Sans Mono"/>
                <a:ea typeface="DejaVu Sans Mono"/>
                <a:cs typeface="DejaVu Sans Mono"/>
              </a:rPr>
              <a:t>gasBase</a:t>
            </a:r>
          </a:p>
        </p:txBody>
      </p:sp>
      <p:sp>
        <p:nvSpPr>
          <p:cNvPr id="11" name="text-143">
            <a:extLst>
              <a:ext uri="{FF2B5EF4-FFF2-40B4-BE49-F238E27FC236}">
                <a16:creationId xmlns:a16="http://schemas.microsoft.com/office/drawing/2014/main" id="{D8D6E18B-69C3-4AA2-8DC0-98B224A24943}"/>
              </a:ext>
            </a:extLst>
          </p:cNvPr>
          <p:cNvSpPr>
            <a:spLocks noGrp="1"/>
          </p:cNvSpPr>
          <p:nvPr/>
        </p:nvSpPr>
        <p:spPr>
          <a:xfrm>
            <a:off x="4381500" y="4114800"/>
            <a:ext cx="3286125" cy="847725"/>
          </a:xfrm>
          <a:prstGeom prst="rect">
            <a:avLst/>
          </a:prstGeom>
          <a:noFill/>
          <a:ln w="0">
            <a:noFill/>
            <a:prstDash val="solid"/>
          </a:ln>
        </p:spPr>
        <p:txBody>
          <a:bodyPr wrap="square" lIns="0" tIns="0" rIns="0" bIns="0" anchor="t">
            <a:noAutofit/>
          </a:bodyPr>
          <a:lstStyle>
            <a:defPPr algn="l">
              <a:defRPr sz="4800" b="1">
                <a:solidFill>
                  <a:srgbClr val="123047"/>
                </a:solidFill>
                <a:latin typeface="DejaVu Sans"/>
                <a:ea typeface="DejaVu Sans"/>
                <a:cs typeface="DejaVu Sans"/>
              </a:defRPr>
            </a:defPPr>
            <a:lvl1pPr algn="l">
              <a:defRPr sz="4800" b="1">
                <a:solidFill>
                  <a:srgbClr val="123047"/>
                </a:solidFill>
                <a:latin typeface="DejaVu Sans"/>
                <a:ea typeface="DejaVu Sans"/>
                <a:cs typeface="DejaVu Sans"/>
              </a:defRPr>
            </a:lvl1pPr>
            <a:lvl2pPr algn="l">
              <a:defRPr sz="4800" b="1">
                <a:solidFill>
                  <a:srgbClr val="123047"/>
                </a:solidFill>
                <a:latin typeface="DejaVu Sans"/>
                <a:ea typeface="DejaVu Sans"/>
                <a:cs typeface="DejaVu Sans"/>
              </a:defRPr>
            </a:lvl2pPr>
            <a:lvl3pPr algn="l">
              <a:defRPr sz="4800" b="1">
                <a:solidFill>
                  <a:srgbClr val="123047"/>
                </a:solidFill>
                <a:latin typeface="DejaVu Sans"/>
                <a:ea typeface="DejaVu Sans"/>
                <a:cs typeface="DejaVu Sans"/>
              </a:defRPr>
            </a:lvl3pPr>
            <a:lvl4pPr algn="l">
              <a:defRPr sz="4800" b="1">
                <a:solidFill>
                  <a:srgbClr val="123047"/>
                </a:solidFill>
                <a:latin typeface="DejaVu Sans"/>
                <a:ea typeface="DejaVu Sans"/>
                <a:cs typeface="DejaVu Sans"/>
              </a:defRPr>
            </a:lvl4pPr>
            <a:lvl5pPr algn="l">
              <a:defRPr sz="4800" b="1">
                <a:solidFill>
                  <a:srgbClr val="123047"/>
                </a:solidFill>
                <a:latin typeface="DejaVu Sans"/>
                <a:ea typeface="DejaVu Sans"/>
                <a:cs typeface="DejaVu Sans"/>
              </a:defRPr>
            </a:lvl5pPr>
            <a:lvl6pPr algn="l">
              <a:defRPr sz="4800" b="1">
                <a:solidFill>
                  <a:srgbClr val="123047"/>
                </a:solidFill>
                <a:latin typeface="DejaVu Sans"/>
                <a:ea typeface="DejaVu Sans"/>
                <a:cs typeface="DejaVu Sans"/>
              </a:defRPr>
            </a:lvl6pPr>
            <a:lvl7pPr algn="l">
              <a:defRPr sz="4800" b="1">
                <a:solidFill>
                  <a:srgbClr val="123047"/>
                </a:solidFill>
                <a:latin typeface="DejaVu Sans"/>
                <a:ea typeface="DejaVu Sans"/>
                <a:cs typeface="DejaVu Sans"/>
              </a:defRPr>
            </a:lvl7pPr>
            <a:lvl8pPr algn="l">
              <a:defRPr sz="4800" b="1">
                <a:solidFill>
                  <a:srgbClr val="123047"/>
                </a:solidFill>
                <a:latin typeface="DejaVu Sans"/>
                <a:ea typeface="DejaVu Sans"/>
                <a:cs typeface="DejaVu Sans"/>
              </a:defRPr>
            </a:lvl8pPr>
            <a:lvl9pPr algn="l">
              <a:defRPr sz="4800" b="1">
                <a:solidFill>
                  <a:srgbClr val="123047"/>
                </a:solidFill>
                <a:latin typeface="DejaVu Sans"/>
                <a:ea typeface="DejaVu Sans"/>
                <a:cs typeface="DejaVu Sans"/>
              </a:defRPr>
            </a:lvl9pPr>
          </a:lstStyle>
          <a:p>
            <a:pPr algn="l">
              <a:lnSpc>
                <a:spcPct val="112000"/>
              </a:lnSpc>
              <a:buNone/>
              <a:defRPr sz="4800" b="1">
                <a:solidFill>
                  <a:srgbClr val="123047"/>
                </a:solidFill>
                <a:latin typeface="DejaVu Sans"/>
                <a:ea typeface="DejaVu Sans"/>
                <a:cs typeface="DejaVu Sans"/>
              </a:defRPr>
            </a:pPr>
            <a:r>
              <a:rPr sz="4800" b="1">
                <a:solidFill>
                  <a:srgbClr val="123047"/>
                </a:solidFill>
                <a:latin typeface="DejaVu Sans"/>
                <a:ea typeface="DejaVu Sans"/>
                <a:cs typeface="DejaVu Sans"/>
              </a:rPr>
              <a:t>1300</a:t>
            </a:r>
          </a:p>
        </p:txBody>
      </p:sp>
      <p:sp>
        <p:nvSpPr>
          <p:cNvPr id="12" name="text-144">
            <a:extLst>
              <a:ext uri="{FF2B5EF4-FFF2-40B4-BE49-F238E27FC236}">
                <a16:creationId xmlns:a16="http://schemas.microsoft.com/office/drawing/2014/main" id="{F6C8A7C9-5396-43D1-B7B4-EF4A9520C8D7}"/>
              </a:ext>
            </a:extLst>
          </p:cNvPr>
          <p:cNvSpPr>
            <a:spLocks noGrp="1"/>
          </p:cNvSpPr>
          <p:nvPr/>
        </p:nvSpPr>
        <p:spPr>
          <a:xfrm>
            <a:off x="4381500" y="5105400"/>
            <a:ext cx="3286125" cy="352425"/>
          </a:xfrm>
          <a:prstGeom prst="rect">
            <a:avLst/>
          </a:prstGeom>
          <a:noFill/>
          <a:ln w="0">
            <a:noFill/>
            <a:prstDash val="solid"/>
          </a:ln>
        </p:spPr>
        <p:txBody>
          <a:bodyPr wrap="square" lIns="0" tIns="0" rIns="0" bIns="0" anchor="t">
            <a:noAutofit/>
          </a:bodyPr>
          <a:lstStyle>
            <a:defPPr algn="l">
              <a:defRPr sz="1875" b="0">
                <a:solidFill>
                  <a:srgbClr val="536B7B"/>
                </a:solidFill>
                <a:latin typeface="DejaVu Sans Mono"/>
                <a:ea typeface="DejaVu Sans Mono"/>
                <a:cs typeface="DejaVu Sans Mono"/>
              </a:defRPr>
            </a:defPPr>
            <a:lvl1pPr algn="l">
              <a:defRPr sz="1875" b="0">
                <a:solidFill>
                  <a:srgbClr val="536B7B"/>
                </a:solidFill>
                <a:latin typeface="DejaVu Sans Mono"/>
                <a:ea typeface="DejaVu Sans Mono"/>
                <a:cs typeface="DejaVu Sans Mono"/>
              </a:defRPr>
            </a:lvl1pPr>
            <a:lvl2pPr algn="l">
              <a:defRPr sz="1875" b="0">
                <a:solidFill>
                  <a:srgbClr val="536B7B"/>
                </a:solidFill>
                <a:latin typeface="DejaVu Sans Mono"/>
                <a:ea typeface="DejaVu Sans Mono"/>
                <a:cs typeface="DejaVu Sans Mono"/>
              </a:defRPr>
            </a:lvl2pPr>
            <a:lvl3pPr algn="l">
              <a:defRPr sz="1875" b="0">
                <a:solidFill>
                  <a:srgbClr val="536B7B"/>
                </a:solidFill>
                <a:latin typeface="DejaVu Sans Mono"/>
                <a:ea typeface="DejaVu Sans Mono"/>
                <a:cs typeface="DejaVu Sans Mono"/>
              </a:defRPr>
            </a:lvl3pPr>
            <a:lvl4pPr algn="l">
              <a:defRPr sz="1875" b="0">
                <a:solidFill>
                  <a:srgbClr val="536B7B"/>
                </a:solidFill>
                <a:latin typeface="DejaVu Sans Mono"/>
                <a:ea typeface="DejaVu Sans Mono"/>
                <a:cs typeface="DejaVu Sans Mono"/>
              </a:defRPr>
            </a:lvl4pPr>
            <a:lvl5pPr algn="l">
              <a:defRPr sz="1875" b="0">
                <a:solidFill>
                  <a:srgbClr val="536B7B"/>
                </a:solidFill>
                <a:latin typeface="DejaVu Sans Mono"/>
                <a:ea typeface="DejaVu Sans Mono"/>
                <a:cs typeface="DejaVu Sans Mono"/>
              </a:defRPr>
            </a:lvl5pPr>
            <a:lvl6pPr algn="l">
              <a:defRPr sz="1875" b="0">
                <a:solidFill>
                  <a:srgbClr val="536B7B"/>
                </a:solidFill>
                <a:latin typeface="DejaVu Sans Mono"/>
                <a:ea typeface="DejaVu Sans Mono"/>
                <a:cs typeface="DejaVu Sans Mono"/>
              </a:defRPr>
            </a:lvl6pPr>
            <a:lvl7pPr algn="l">
              <a:defRPr sz="1875" b="0">
                <a:solidFill>
                  <a:srgbClr val="536B7B"/>
                </a:solidFill>
                <a:latin typeface="DejaVu Sans Mono"/>
                <a:ea typeface="DejaVu Sans Mono"/>
                <a:cs typeface="DejaVu Sans Mono"/>
              </a:defRPr>
            </a:lvl7pPr>
            <a:lvl8pPr algn="l">
              <a:defRPr sz="1875" b="0">
                <a:solidFill>
                  <a:srgbClr val="536B7B"/>
                </a:solidFill>
                <a:latin typeface="DejaVu Sans Mono"/>
                <a:ea typeface="DejaVu Sans Mono"/>
                <a:cs typeface="DejaVu Sans Mono"/>
              </a:defRPr>
            </a:lvl8pPr>
            <a:lvl9pPr algn="l">
              <a:defRPr sz="1875" b="0">
                <a:solidFill>
                  <a:srgbClr val="536B7B"/>
                </a:solidFill>
                <a:latin typeface="DejaVu Sans Mono"/>
                <a:ea typeface="DejaVu Sans Mono"/>
                <a:cs typeface="DejaVu Sans Mono"/>
              </a:defRPr>
            </a:lvl9pPr>
          </a:lstStyle>
          <a:p>
            <a:pPr algn="l">
              <a:lnSpc>
                <a:spcPct val="112000"/>
              </a:lnSpc>
              <a:buNone/>
              <a:defRPr sz="1875" b="0">
                <a:solidFill>
                  <a:srgbClr val="536B7B"/>
                </a:solidFill>
                <a:latin typeface="DejaVu Sans Mono"/>
                <a:ea typeface="DejaVu Sans Mono"/>
                <a:cs typeface="DejaVu Sans Mono"/>
              </a:defRPr>
            </a:pPr>
            <a:r>
              <a:rPr sz="1875" b="0">
                <a:solidFill>
                  <a:srgbClr val="536B7B"/>
                </a:solidFill>
                <a:latin typeface="DejaVu Sans Mono"/>
                <a:ea typeface="DejaVu Sans Mono"/>
                <a:cs typeface="DejaVu Sans Mono"/>
              </a:rPr>
              <a:t>gasOn</a:t>
            </a:r>
          </a:p>
        </p:txBody>
      </p:sp>
      <p:sp>
        <p:nvSpPr>
          <p:cNvPr id="13" name="text-145">
            <a:extLst>
              <a:ext uri="{FF2B5EF4-FFF2-40B4-BE49-F238E27FC236}">
                <a16:creationId xmlns:a16="http://schemas.microsoft.com/office/drawing/2014/main" id="{5BD1924D-1C84-43F8-B715-8A3A13341E2F}"/>
              </a:ext>
            </a:extLst>
          </p:cNvPr>
          <p:cNvSpPr>
            <a:spLocks noGrp="1"/>
          </p:cNvSpPr>
          <p:nvPr/>
        </p:nvSpPr>
        <p:spPr>
          <a:xfrm>
            <a:off x="8153400" y="4114800"/>
            <a:ext cx="3286125" cy="847725"/>
          </a:xfrm>
          <a:prstGeom prst="rect">
            <a:avLst/>
          </a:prstGeom>
          <a:noFill/>
          <a:ln w="0">
            <a:noFill/>
            <a:prstDash val="solid"/>
          </a:ln>
        </p:spPr>
        <p:txBody>
          <a:bodyPr wrap="square" lIns="0" tIns="0" rIns="0" bIns="0" anchor="t">
            <a:noAutofit/>
          </a:bodyPr>
          <a:lstStyle>
            <a:defPPr algn="l">
              <a:defRPr sz="4800" b="1">
                <a:solidFill>
                  <a:srgbClr val="123047"/>
                </a:solidFill>
                <a:latin typeface="DejaVu Sans"/>
                <a:ea typeface="DejaVu Sans"/>
                <a:cs typeface="DejaVu Sans"/>
              </a:defRPr>
            </a:defPPr>
            <a:lvl1pPr algn="l">
              <a:defRPr sz="4800" b="1">
                <a:solidFill>
                  <a:srgbClr val="123047"/>
                </a:solidFill>
                <a:latin typeface="DejaVu Sans"/>
                <a:ea typeface="DejaVu Sans"/>
                <a:cs typeface="DejaVu Sans"/>
              </a:defRPr>
            </a:lvl1pPr>
            <a:lvl2pPr algn="l">
              <a:defRPr sz="4800" b="1">
                <a:solidFill>
                  <a:srgbClr val="123047"/>
                </a:solidFill>
                <a:latin typeface="DejaVu Sans"/>
                <a:ea typeface="DejaVu Sans"/>
                <a:cs typeface="DejaVu Sans"/>
              </a:defRPr>
            </a:lvl2pPr>
            <a:lvl3pPr algn="l">
              <a:defRPr sz="4800" b="1">
                <a:solidFill>
                  <a:srgbClr val="123047"/>
                </a:solidFill>
                <a:latin typeface="DejaVu Sans"/>
                <a:ea typeface="DejaVu Sans"/>
                <a:cs typeface="DejaVu Sans"/>
              </a:defRPr>
            </a:lvl3pPr>
            <a:lvl4pPr algn="l">
              <a:defRPr sz="4800" b="1">
                <a:solidFill>
                  <a:srgbClr val="123047"/>
                </a:solidFill>
                <a:latin typeface="DejaVu Sans"/>
                <a:ea typeface="DejaVu Sans"/>
                <a:cs typeface="DejaVu Sans"/>
              </a:defRPr>
            </a:lvl4pPr>
            <a:lvl5pPr algn="l">
              <a:defRPr sz="4800" b="1">
                <a:solidFill>
                  <a:srgbClr val="123047"/>
                </a:solidFill>
                <a:latin typeface="DejaVu Sans"/>
                <a:ea typeface="DejaVu Sans"/>
                <a:cs typeface="DejaVu Sans"/>
              </a:defRPr>
            </a:lvl5pPr>
            <a:lvl6pPr algn="l">
              <a:defRPr sz="4800" b="1">
                <a:solidFill>
                  <a:srgbClr val="123047"/>
                </a:solidFill>
                <a:latin typeface="DejaVu Sans"/>
                <a:ea typeface="DejaVu Sans"/>
                <a:cs typeface="DejaVu Sans"/>
              </a:defRPr>
            </a:lvl6pPr>
            <a:lvl7pPr algn="l">
              <a:defRPr sz="4800" b="1">
                <a:solidFill>
                  <a:srgbClr val="123047"/>
                </a:solidFill>
                <a:latin typeface="DejaVu Sans"/>
                <a:ea typeface="DejaVu Sans"/>
                <a:cs typeface="DejaVu Sans"/>
              </a:defRPr>
            </a:lvl7pPr>
            <a:lvl8pPr algn="l">
              <a:defRPr sz="4800" b="1">
                <a:solidFill>
                  <a:srgbClr val="123047"/>
                </a:solidFill>
                <a:latin typeface="DejaVu Sans"/>
                <a:ea typeface="DejaVu Sans"/>
                <a:cs typeface="DejaVu Sans"/>
              </a:defRPr>
            </a:lvl8pPr>
            <a:lvl9pPr algn="l">
              <a:defRPr sz="4800" b="1">
                <a:solidFill>
                  <a:srgbClr val="123047"/>
                </a:solidFill>
                <a:latin typeface="DejaVu Sans"/>
                <a:ea typeface="DejaVu Sans"/>
                <a:cs typeface="DejaVu Sans"/>
              </a:defRPr>
            </a:lvl9pPr>
          </a:lstStyle>
          <a:p>
            <a:pPr algn="l">
              <a:lnSpc>
                <a:spcPct val="112000"/>
              </a:lnSpc>
              <a:buNone/>
              <a:defRPr sz="4800" b="1">
                <a:solidFill>
                  <a:srgbClr val="123047"/>
                </a:solidFill>
                <a:latin typeface="DejaVu Sans"/>
                <a:ea typeface="DejaVu Sans"/>
                <a:cs typeface="DejaVu Sans"/>
              </a:defRPr>
            </a:pPr>
            <a:r>
              <a:rPr sz="4800" b="1">
                <a:solidFill>
                  <a:srgbClr val="123047"/>
                </a:solidFill>
                <a:latin typeface="DejaVu Sans"/>
                <a:ea typeface="DejaVu Sans"/>
                <a:cs typeface="DejaVu Sans"/>
              </a:rPr>
              <a:t>1120</a:t>
            </a:r>
          </a:p>
        </p:txBody>
      </p:sp>
      <p:sp>
        <p:nvSpPr>
          <p:cNvPr id="14" name="text-146">
            <a:extLst>
              <a:ext uri="{FF2B5EF4-FFF2-40B4-BE49-F238E27FC236}">
                <a16:creationId xmlns:a16="http://schemas.microsoft.com/office/drawing/2014/main" id="{646CC2D2-B5E8-4D5E-981B-3E15674268D8}"/>
              </a:ext>
            </a:extLst>
          </p:cNvPr>
          <p:cNvSpPr>
            <a:spLocks noGrp="1"/>
          </p:cNvSpPr>
          <p:nvPr/>
        </p:nvSpPr>
        <p:spPr>
          <a:xfrm>
            <a:off x="8153400" y="5105400"/>
            <a:ext cx="3286125" cy="352425"/>
          </a:xfrm>
          <a:prstGeom prst="rect">
            <a:avLst/>
          </a:prstGeom>
          <a:noFill/>
          <a:ln w="0">
            <a:noFill/>
            <a:prstDash val="solid"/>
          </a:ln>
        </p:spPr>
        <p:txBody>
          <a:bodyPr wrap="square" lIns="0" tIns="0" rIns="0" bIns="0" anchor="t">
            <a:noAutofit/>
          </a:bodyPr>
          <a:lstStyle>
            <a:defPPr algn="l">
              <a:defRPr sz="1875" b="0">
                <a:solidFill>
                  <a:srgbClr val="536B7B"/>
                </a:solidFill>
                <a:latin typeface="DejaVu Sans Mono"/>
                <a:ea typeface="DejaVu Sans Mono"/>
                <a:cs typeface="DejaVu Sans Mono"/>
              </a:defRPr>
            </a:defPPr>
            <a:lvl1pPr algn="l">
              <a:defRPr sz="1875" b="0">
                <a:solidFill>
                  <a:srgbClr val="536B7B"/>
                </a:solidFill>
                <a:latin typeface="DejaVu Sans Mono"/>
                <a:ea typeface="DejaVu Sans Mono"/>
                <a:cs typeface="DejaVu Sans Mono"/>
              </a:defRPr>
            </a:lvl1pPr>
            <a:lvl2pPr algn="l">
              <a:defRPr sz="1875" b="0">
                <a:solidFill>
                  <a:srgbClr val="536B7B"/>
                </a:solidFill>
                <a:latin typeface="DejaVu Sans Mono"/>
                <a:ea typeface="DejaVu Sans Mono"/>
                <a:cs typeface="DejaVu Sans Mono"/>
              </a:defRPr>
            </a:lvl2pPr>
            <a:lvl3pPr algn="l">
              <a:defRPr sz="1875" b="0">
                <a:solidFill>
                  <a:srgbClr val="536B7B"/>
                </a:solidFill>
                <a:latin typeface="DejaVu Sans Mono"/>
                <a:ea typeface="DejaVu Sans Mono"/>
                <a:cs typeface="DejaVu Sans Mono"/>
              </a:defRPr>
            </a:lvl3pPr>
            <a:lvl4pPr algn="l">
              <a:defRPr sz="1875" b="0">
                <a:solidFill>
                  <a:srgbClr val="536B7B"/>
                </a:solidFill>
                <a:latin typeface="DejaVu Sans Mono"/>
                <a:ea typeface="DejaVu Sans Mono"/>
                <a:cs typeface="DejaVu Sans Mono"/>
              </a:defRPr>
            </a:lvl4pPr>
            <a:lvl5pPr algn="l">
              <a:defRPr sz="1875" b="0">
                <a:solidFill>
                  <a:srgbClr val="536B7B"/>
                </a:solidFill>
                <a:latin typeface="DejaVu Sans Mono"/>
                <a:ea typeface="DejaVu Sans Mono"/>
                <a:cs typeface="DejaVu Sans Mono"/>
              </a:defRPr>
            </a:lvl5pPr>
            <a:lvl6pPr algn="l">
              <a:defRPr sz="1875" b="0">
                <a:solidFill>
                  <a:srgbClr val="536B7B"/>
                </a:solidFill>
                <a:latin typeface="DejaVu Sans Mono"/>
                <a:ea typeface="DejaVu Sans Mono"/>
                <a:cs typeface="DejaVu Sans Mono"/>
              </a:defRPr>
            </a:lvl6pPr>
            <a:lvl7pPr algn="l">
              <a:defRPr sz="1875" b="0">
                <a:solidFill>
                  <a:srgbClr val="536B7B"/>
                </a:solidFill>
                <a:latin typeface="DejaVu Sans Mono"/>
                <a:ea typeface="DejaVu Sans Mono"/>
                <a:cs typeface="DejaVu Sans Mono"/>
              </a:defRPr>
            </a:lvl7pPr>
            <a:lvl8pPr algn="l">
              <a:defRPr sz="1875" b="0">
                <a:solidFill>
                  <a:srgbClr val="536B7B"/>
                </a:solidFill>
                <a:latin typeface="DejaVu Sans Mono"/>
                <a:ea typeface="DejaVu Sans Mono"/>
                <a:cs typeface="DejaVu Sans Mono"/>
              </a:defRPr>
            </a:lvl8pPr>
            <a:lvl9pPr algn="l">
              <a:defRPr sz="1875" b="0">
                <a:solidFill>
                  <a:srgbClr val="536B7B"/>
                </a:solidFill>
                <a:latin typeface="DejaVu Sans Mono"/>
                <a:ea typeface="DejaVu Sans Mono"/>
                <a:cs typeface="DejaVu Sans Mono"/>
              </a:defRPr>
            </a:lvl9pPr>
          </a:lstStyle>
          <a:p>
            <a:pPr algn="l">
              <a:lnSpc>
                <a:spcPct val="112000"/>
              </a:lnSpc>
              <a:buNone/>
              <a:defRPr sz="1875" b="0">
                <a:solidFill>
                  <a:srgbClr val="536B7B"/>
                </a:solidFill>
                <a:latin typeface="DejaVu Sans Mono"/>
                <a:ea typeface="DejaVu Sans Mono"/>
                <a:cs typeface="DejaVu Sans Mono"/>
              </a:defRPr>
            </a:pPr>
            <a:r>
              <a:rPr sz="1875" b="0">
                <a:solidFill>
                  <a:srgbClr val="536B7B"/>
                </a:solidFill>
                <a:latin typeface="DejaVu Sans Mono"/>
                <a:ea typeface="DejaVu Sans Mono"/>
                <a:cs typeface="DejaVu Sans Mono"/>
              </a:rPr>
              <a:t>gasOff</a:t>
            </a:r>
          </a:p>
        </p:txBody>
      </p:sp>
      <p:sp>
        <p:nvSpPr>
          <p:cNvPr id="15" name="text-147">
            <a:extLst>
              <a:ext uri="{FF2B5EF4-FFF2-40B4-BE49-F238E27FC236}">
                <a16:creationId xmlns:a16="http://schemas.microsoft.com/office/drawing/2014/main" id="{2870B9BB-8AF5-485E-B298-2F9C593D2967}"/>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Ví dụ không phải số liệu đo. Hai ngưỡng giới hạn trong miền ADC và luôn bảo đảm OFF &lt; ON.</a:t>
            </a:r>
          </a:p>
        </p:txBody>
      </p:sp>
    </p:spTree>
    <p:extLst>
      <p:ext uri="{BB962C8B-B14F-4D97-AF65-F5344CB8AC3E}">
        <p14:creationId xmlns:p14="http://schemas.microsoft.com/office/powerpoint/2010/main" val="1037429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E886673F-38D8-4C20-B6D4-18178117C7B4}"/>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Logic relay và bài thử T</a:t>
            </a:r>
          </a:p>
        </p:txBody>
      </p:sp>
      <p:sp>
        <p:nvSpPr>
          <p:cNvPr id="2" name="rule-148">
            <a:extLst>
              <a:ext uri="{FF2B5EF4-FFF2-40B4-BE49-F238E27FC236}">
                <a16:creationId xmlns:a16="http://schemas.microsoft.com/office/drawing/2014/main" id="{0C0BE396-4EBF-4E55-97CB-9A5B2038D86A}"/>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38CFABB1-D6EA-4534-BB6A-42C023A0675A}"/>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05 Cảnh báo và điều khiển</a:t>
            </a:r>
          </a:p>
        </p:txBody>
      </p:sp>
      <p:sp>
        <p:nvSpPr>
          <p:cNvPr id="4" name="slide-number">
            <a:extLst>
              <a:ext uri="{FF2B5EF4-FFF2-40B4-BE49-F238E27FC236}">
                <a16:creationId xmlns:a16="http://schemas.microsoft.com/office/drawing/2014/main" id="{BB283D0C-29B8-4706-BDE4-AF5F071E8A7E}"/>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20</a:t>
            </a:r>
          </a:p>
        </p:txBody>
      </p:sp>
      <p:sp>
        <p:nvSpPr>
          <p:cNvPr id="5" name="text-149">
            <a:extLst>
              <a:ext uri="{FF2B5EF4-FFF2-40B4-BE49-F238E27FC236}">
                <a16:creationId xmlns:a16="http://schemas.microsoft.com/office/drawing/2014/main" id="{109746BD-603F-48AA-AB00-F37B08FB8A44}"/>
              </a:ext>
            </a:extLst>
          </p:cNvPr>
          <p:cNvSpPr>
            <a:spLocks noGrp="1"/>
          </p:cNvSpPr>
          <p:nvPr/>
        </p:nvSpPr>
        <p:spPr>
          <a:xfrm>
            <a:off x="609600" y="1743075"/>
            <a:ext cx="10972800" cy="476250"/>
          </a:xfrm>
          <a:prstGeom prst="rect">
            <a:avLst/>
          </a:prstGeom>
          <a:noFill/>
          <a:ln w="0">
            <a:noFill/>
            <a:prstDash val="solid"/>
          </a:ln>
        </p:spPr>
        <p:txBody>
          <a:bodyPr wrap="square" lIns="0" tIns="0" rIns="0" bIns="0" anchor="t">
            <a:noAutofit/>
          </a:bodyPr>
          <a:lstStyle>
            <a:defPPr algn="l">
              <a:defRPr sz="2250" b="1">
                <a:solidFill>
                  <a:srgbClr val="123047"/>
                </a:solidFill>
                <a:latin typeface="DejaVu Sans Mono"/>
                <a:ea typeface="DejaVu Sans Mono"/>
                <a:cs typeface="DejaVu Sans Mono"/>
              </a:defRPr>
            </a:defPPr>
            <a:lvl1pPr algn="l">
              <a:defRPr sz="2250" b="1">
                <a:solidFill>
                  <a:srgbClr val="123047"/>
                </a:solidFill>
                <a:latin typeface="DejaVu Sans Mono"/>
                <a:ea typeface="DejaVu Sans Mono"/>
                <a:cs typeface="DejaVu Sans Mono"/>
              </a:defRPr>
            </a:lvl1pPr>
            <a:lvl2pPr algn="l">
              <a:defRPr sz="2250" b="1">
                <a:solidFill>
                  <a:srgbClr val="123047"/>
                </a:solidFill>
                <a:latin typeface="DejaVu Sans Mono"/>
                <a:ea typeface="DejaVu Sans Mono"/>
                <a:cs typeface="DejaVu Sans Mono"/>
              </a:defRPr>
            </a:lvl2pPr>
            <a:lvl3pPr algn="l">
              <a:defRPr sz="2250" b="1">
                <a:solidFill>
                  <a:srgbClr val="123047"/>
                </a:solidFill>
                <a:latin typeface="DejaVu Sans Mono"/>
                <a:ea typeface="DejaVu Sans Mono"/>
                <a:cs typeface="DejaVu Sans Mono"/>
              </a:defRPr>
            </a:lvl3pPr>
            <a:lvl4pPr algn="l">
              <a:defRPr sz="2250" b="1">
                <a:solidFill>
                  <a:srgbClr val="123047"/>
                </a:solidFill>
                <a:latin typeface="DejaVu Sans Mono"/>
                <a:ea typeface="DejaVu Sans Mono"/>
                <a:cs typeface="DejaVu Sans Mono"/>
              </a:defRPr>
            </a:lvl4pPr>
            <a:lvl5pPr algn="l">
              <a:defRPr sz="2250" b="1">
                <a:solidFill>
                  <a:srgbClr val="123047"/>
                </a:solidFill>
                <a:latin typeface="DejaVu Sans Mono"/>
                <a:ea typeface="DejaVu Sans Mono"/>
                <a:cs typeface="DejaVu Sans Mono"/>
              </a:defRPr>
            </a:lvl5pPr>
            <a:lvl6pPr algn="l">
              <a:defRPr sz="2250" b="1">
                <a:solidFill>
                  <a:srgbClr val="123047"/>
                </a:solidFill>
                <a:latin typeface="DejaVu Sans Mono"/>
                <a:ea typeface="DejaVu Sans Mono"/>
                <a:cs typeface="DejaVu Sans Mono"/>
              </a:defRPr>
            </a:lvl6pPr>
            <a:lvl7pPr algn="l">
              <a:defRPr sz="2250" b="1">
                <a:solidFill>
                  <a:srgbClr val="123047"/>
                </a:solidFill>
                <a:latin typeface="DejaVu Sans Mono"/>
                <a:ea typeface="DejaVu Sans Mono"/>
                <a:cs typeface="DejaVu Sans Mono"/>
              </a:defRPr>
            </a:lvl7pPr>
            <a:lvl8pPr algn="l">
              <a:defRPr sz="2250" b="1">
                <a:solidFill>
                  <a:srgbClr val="123047"/>
                </a:solidFill>
                <a:latin typeface="DejaVu Sans Mono"/>
                <a:ea typeface="DejaVu Sans Mono"/>
                <a:cs typeface="DejaVu Sans Mono"/>
              </a:defRPr>
            </a:lvl8pPr>
            <a:lvl9pPr algn="l">
              <a:defRPr sz="2250" b="1">
                <a:solidFill>
                  <a:srgbClr val="123047"/>
                </a:solidFill>
                <a:latin typeface="DejaVu Sans Mono"/>
                <a:ea typeface="DejaVu Sans Mono"/>
                <a:cs typeface="DejaVu Sans Mono"/>
              </a:defRPr>
            </a:lvl9pPr>
          </a:lstStyle>
          <a:p>
            <a:pPr algn="l">
              <a:lnSpc>
                <a:spcPct val="112000"/>
              </a:lnSpc>
              <a:buNone/>
              <a:defRPr sz="2250" b="1">
                <a:solidFill>
                  <a:srgbClr val="123047"/>
                </a:solidFill>
                <a:latin typeface="DejaVu Sans Mono"/>
                <a:ea typeface="DejaVu Sans Mono"/>
                <a:cs typeface="DejaVu Sans Mono"/>
              </a:defRPr>
            </a:pPr>
            <a:r>
              <a:rPr sz="2250" b="1">
                <a:solidFill>
                  <a:srgbClr val="123047"/>
                </a:solidFill>
                <a:latin typeface="DejaVu Sans Mono"/>
                <a:ea typeface="DejaVu Sans Mono"/>
                <a:cs typeface="DejaVu Sans Mono"/>
              </a:rPr>
              <a:t>relayRequested =</a:t>
            </a:r>
          </a:p>
        </p:txBody>
      </p:sp>
      <p:sp>
        <p:nvSpPr>
          <p:cNvPr id="6" name="text-150">
            <a:extLst>
              <a:ext uri="{FF2B5EF4-FFF2-40B4-BE49-F238E27FC236}">
                <a16:creationId xmlns:a16="http://schemas.microsoft.com/office/drawing/2014/main" id="{4C673B51-A926-412F-B451-D52056F9F19D}"/>
              </a:ext>
            </a:extLst>
          </p:cNvPr>
          <p:cNvSpPr>
            <a:spLocks noGrp="1"/>
          </p:cNvSpPr>
          <p:nvPr/>
        </p:nvSpPr>
        <p:spPr>
          <a:xfrm>
            <a:off x="609600" y="2438400"/>
            <a:ext cx="10972800" cy="552450"/>
          </a:xfrm>
          <a:prstGeom prst="rect">
            <a:avLst/>
          </a:prstGeom>
          <a:noFill/>
          <a:ln w="0">
            <a:noFill/>
            <a:prstDash val="solid"/>
          </a:ln>
        </p:spPr>
        <p:txBody>
          <a:bodyPr wrap="square" lIns="0" tIns="0" rIns="0" bIns="0" anchor="t">
            <a:noAutofit/>
          </a:bodyPr>
          <a:lstStyle>
            <a:defPPr algn="l">
              <a:defRPr sz="2400" b="1">
                <a:solidFill>
                  <a:srgbClr val="007E87"/>
                </a:solidFill>
                <a:latin typeface="DejaVu Sans Mono"/>
                <a:ea typeface="DejaVu Sans Mono"/>
                <a:cs typeface="DejaVu Sans Mono"/>
              </a:defRPr>
            </a:defPPr>
            <a:lvl1pPr algn="l">
              <a:defRPr sz="2400" b="1">
                <a:solidFill>
                  <a:srgbClr val="007E87"/>
                </a:solidFill>
                <a:latin typeface="DejaVu Sans Mono"/>
                <a:ea typeface="DejaVu Sans Mono"/>
                <a:cs typeface="DejaVu Sans Mono"/>
              </a:defRPr>
            </a:lvl1pPr>
            <a:lvl2pPr algn="l">
              <a:defRPr sz="2400" b="1">
                <a:solidFill>
                  <a:srgbClr val="007E87"/>
                </a:solidFill>
                <a:latin typeface="DejaVu Sans Mono"/>
                <a:ea typeface="DejaVu Sans Mono"/>
                <a:cs typeface="DejaVu Sans Mono"/>
              </a:defRPr>
            </a:lvl2pPr>
            <a:lvl3pPr algn="l">
              <a:defRPr sz="2400" b="1">
                <a:solidFill>
                  <a:srgbClr val="007E87"/>
                </a:solidFill>
                <a:latin typeface="DejaVu Sans Mono"/>
                <a:ea typeface="DejaVu Sans Mono"/>
                <a:cs typeface="DejaVu Sans Mono"/>
              </a:defRPr>
            </a:lvl3pPr>
            <a:lvl4pPr algn="l">
              <a:defRPr sz="2400" b="1">
                <a:solidFill>
                  <a:srgbClr val="007E87"/>
                </a:solidFill>
                <a:latin typeface="DejaVu Sans Mono"/>
                <a:ea typeface="DejaVu Sans Mono"/>
                <a:cs typeface="DejaVu Sans Mono"/>
              </a:defRPr>
            </a:lvl4pPr>
            <a:lvl5pPr algn="l">
              <a:defRPr sz="2400" b="1">
                <a:solidFill>
                  <a:srgbClr val="007E87"/>
                </a:solidFill>
                <a:latin typeface="DejaVu Sans Mono"/>
                <a:ea typeface="DejaVu Sans Mono"/>
                <a:cs typeface="DejaVu Sans Mono"/>
              </a:defRPr>
            </a:lvl5pPr>
            <a:lvl6pPr algn="l">
              <a:defRPr sz="2400" b="1">
                <a:solidFill>
                  <a:srgbClr val="007E87"/>
                </a:solidFill>
                <a:latin typeface="DejaVu Sans Mono"/>
                <a:ea typeface="DejaVu Sans Mono"/>
                <a:cs typeface="DejaVu Sans Mono"/>
              </a:defRPr>
            </a:lvl6pPr>
            <a:lvl7pPr algn="l">
              <a:defRPr sz="2400" b="1">
                <a:solidFill>
                  <a:srgbClr val="007E87"/>
                </a:solidFill>
                <a:latin typeface="DejaVu Sans Mono"/>
                <a:ea typeface="DejaVu Sans Mono"/>
                <a:cs typeface="DejaVu Sans Mono"/>
              </a:defRPr>
            </a:lvl7pPr>
            <a:lvl8pPr algn="l">
              <a:defRPr sz="2400" b="1">
                <a:solidFill>
                  <a:srgbClr val="007E87"/>
                </a:solidFill>
                <a:latin typeface="DejaVu Sans Mono"/>
                <a:ea typeface="DejaVu Sans Mono"/>
                <a:cs typeface="DejaVu Sans Mono"/>
              </a:defRPr>
            </a:lvl8pPr>
            <a:lvl9pPr algn="l">
              <a:defRPr sz="2400" b="1">
                <a:solidFill>
                  <a:srgbClr val="007E87"/>
                </a:solidFill>
                <a:latin typeface="DejaVu Sans Mono"/>
                <a:ea typeface="DejaVu Sans Mono"/>
                <a:cs typeface="DejaVu Sans Mono"/>
              </a:defRPr>
            </a:lvl9pPr>
          </a:lstStyle>
          <a:p>
            <a:pPr algn="l">
              <a:lnSpc>
                <a:spcPct val="112000"/>
              </a:lnSpc>
              <a:buNone/>
              <a:defRPr sz="2400" b="1">
                <a:solidFill>
                  <a:srgbClr val="007E87"/>
                </a:solidFill>
                <a:latin typeface="DejaVu Sans Mono"/>
                <a:ea typeface="DejaVu Sans Mono"/>
                <a:cs typeface="DejaVu Sans Mono"/>
              </a:defRPr>
            </a:pPr>
            <a:r>
              <a:rPr sz="2400" b="1">
                <a:solidFill>
                  <a:srgbClr val="007E87"/>
                </a:solidFill>
                <a:latin typeface="DejaVu Sans Mono"/>
                <a:ea typeface="DejaVu Sans Mono"/>
                <a:cs typeface="DejaVu Sans Mono"/>
              </a:rPr>
              <a:t>gasDanger || tempDanger || testRelayActive</a:t>
            </a:r>
          </a:p>
        </p:txBody>
      </p:sp>
      <p:sp>
        <p:nvSpPr>
          <p:cNvPr id="7" name="rule-151">
            <a:extLst>
              <a:ext uri="{FF2B5EF4-FFF2-40B4-BE49-F238E27FC236}">
                <a16:creationId xmlns:a16="http://schemas.microsoft.com/office/drawing/2014/main" id="{557C412F-656F-49B1-BE0E-E98A192CBEAD}"/>
              </a:ext>
            </a:extLst>
          </p:cNvPr>
          <p:cNvSpPr>
            <a:spLocks noGrp="1"/>
          </p:cNvSpPr>
          <p:nvPr/>
        </p:nvSpPr>
        <p:spPr>
          <a:xfrm>
            <a:off x="609600" y="3209925"/>
            <a:ext cx="10972800" cy="0"/>
          </a:xfrm>
          <a:prstGeom prst="line">
            <a:avLst/>
          </a:prstGeom>
          <a:noFill/>
          <a:ln w="9525">
            <a:solidFill>
              <a:srgbClr val="CBD7DE"/>
            </a:solidFill>
            <a:prstDash val="solid"/>
          </a:ln>
        </p:spPr>
      </p:sp>
      <p:sp>
        <p:nvSpPr>
          <p:cNvPr id="8" name="text-152">
            <a:extLst>
              <a:ext uri="{FF2B5EF4-FFF2-40B4-BE49-F238E27FC236}">
                <a16:creationId xmlns:a16="http://schemas.microsoft.com/office/drawing/2014/main" id="{70CC9E39-2453-4EB8-BB09-B1A385909C04}"/>
              </a:ext>
            </a:extLst>
          </p:cNvPr>
          <p:cNvSpPr>
            <a:spLocks noGrp="1"/>
          </p:cNvSpPr>
          <p:nvPr/>
        </p:nvSpPr>
        <p:spPr>
          <a:xfrm>
            <a:off x="609600" y="3524250"/>
            <a:ext cx="5200650" cy="476250"/>
          </a:xfrm>
          <a:prstGeom prst="rect">
            <a:avLst/>
          </a:prstGeom>
          <a:noFill/>
          <a:ln w="0">
            <a:noFill/>
            <a:prstDash val="solid"/>
          </a:ln>
        </p:spPr>
        <p:txBody>
          <a:bodyPr wrap="square" lIns="0" tIns="0" rIns="0" bIns="0" anchor="t">
            <a:noAutofit/>
          </a:bodyPr>
          <a:lstStyle>
            <a:defPPr algn="l">
              <a:defRPr sz="2100" b="1">
                <a:solidFill>
                  <a:srgbClr val="123047"/>
                </a:solidFill>
                <a:latin typeface="DejaVu Sans"/>
                <a:ea typeface="DejaVu Sans"/>
                <a:cs typeface="DejaVu Sans"/>
              </a:defRPr>
            </a:defPPr>
            <a:lvl1pPr algn="l">
              <a:defRPr sz="2100" b="1">
                <a:solidFill>
                  <a:srgbClr val="123047"/>
                </a:solidFill>
                <a:latin typeface="DejaVu Sans"/>
                <a:ea typeface="DejaVu Sans"/>
                <a:cs typeface="DejaVu Sans"/>
              </a:defRPr>
            </a:lvl1pPr>
            <a:lvl2pPr algn="l">
              <a:defRPr sz="2100" b="1">
                <a:solidFill>
                  <a:srgbClr val="123047"/>
                </a:solidFill>
                <a:latin typeface="DejaVu Sans"/>
                <a:ea typeface="DejaVu Sans"/>
                <a:cs typeface="DejaVu Sans"/>
              </a:defRPr>
            </a:lvl2pPr>
            <a:lvl3pPr algn="l">
              <a:defRPr sz="2100" b="1">
                <a:solidFill>
                  <a:srgbClr val="123047"/>
                </a:solidFill>
                <a:latin typeface="DejaVu Sans"/>
                <a:ea typeface="DejaVu Sans"/>
                <a:cs typeface="DejaVu Sans"/>
              </a:defRPr>
            </a:lvl3pPr>
            <a:lvl4pPr algn="l">
              <a:defRPr sz="2100" b="1">
                <a:solidFill>
                  <a:srgbClr val="123047"/>
                </a:solidFill>
                <a:latin typeface="DejaVu Sans"/>
                <a:ea typeface="DejaVu Sans"/>
                <a:cs typeface="DejaVu Sans"/>
              </a:defRPr>
            </a:lvl4pPr>
            <a:lvl5pPr algn="l">
              <a:defRPr sz="2100" b="1">
                <a:solidFill>
                  <a:srgbClr val="123047"/>
                </a:solidFill>
                <a:latin typeface="DejaVu Sans"/>
                <a:ea typeface="DejaVu Sans"/>
                <a:cs typeface="DejaVu Sans"/>
              </a:defRPr>
            </a:lvl5pPr>
            <a:lvl6pPr algn="l">
              <a:defRPr sz="2100" b="1">
                <a:solidFill>
                  <a:srgbClr val="123047"/>
                </a:solidFill>
                <a:latin typeface="DejaVu Sans"/>
                <a:ea typeface="DejaVu Sans"/>
                <a:cs typeface="DejaVu Sans"/>
              </a:defRPr>
            </a:lvl6pPr>
            <a:lvl7pPr algn="l">
              <a:defRPr sz="2100" b="1">
                <a:solidFill>
                  <a:srgbClr val="123047"/>
                </a:solidFill>
                <a:latin typeface="DejaVu Sans"/>
                <a:ea typeface="DejaVu Sans"/>
                <a:cs typeface="DejaVu Sans"/>
              </a:defRPr>
            </a:lvl7pPr>
            <a:lvl8pPr algn="l">
              <a:defRPr sz="2100" b="1">
                <a:solidFill>
                  <a:srgbClr val="123047"/>
                </a:solidFill>
                <a:latin typeface="DejaVu Sans"/>
                <a:ea typeface="DejaVu Sans"/>
                <a:cs typeface="DejaVu Sans"/>
              </a:defRPr>
            </a:lvl8pPr>
            <a:lvl9pPr algn="l">
              <a:defRPr sz="2100" b="1">
                <a:solidFill>
                  <a:srgbClr val="123047"/>
                </a:solidFill>
                <a:latin typeface="DejaVu Sans"/>
                <a:ea typeface="DejaVu Sans"/>
                <a:cs typeface="DejaVu Sans"/>
              </a:defRPr>
            </a:lvl9pPr>
          </a:lstStyle>
          <a:p>
            <a:pPr algn="l">
              <a:lnSpc>
                <a:spcPct val="112000"/>
              </a:lnSpc>
              <a:buNone/>
              <a:defRPr sz="2100" b="1">
                <a:solidFill>
                  <a:srgbClr val="123047"/>
                </a:solidFill>
                <a:latin typeface="DejaVu Sans"/>
                <a:ea typeface="DejaVu Sans"/>
                <a:cs typeface="DejaVu Sans"/>
              </a:defRPr>
            </a:pPr>
            <a:r>
              <a:rPr sz="2100" b="1">
                <a:solidFill>
                  <a:srgbClr val="123047"/>
                </a:solidFill>
                <a:latin typeface="DejaVu Sans"/>
                <a:ea typeface="DejaVu Sans"/>
                <a:cs typeface="DejaVu Sans"/>
              </a:rPr>
              <a:t>Điều kiện đầu ra</a:t>
            </a:r>
          </a:p>
        </p:txBody>
      </p:sp>
      <p:sp>
        <p:nvSpPr>
          <p:cNvPr id="9" name="text-153">
            <a:extLst>
              <a:ext uri="{FF2B5EF4-FFF2-40B4-BE49-F238E27FC236}">
                <a16:creationId xmlns:a16="http://schemas.microsoft.com/office/drawing/2014/main" id="{A9384C1B-0E7F-4F36-82EB-DD2EF49BB26A}"/>
              </a:ext>
            </a:extLst>
          </p:cNvPr>
          <p:cNvSpPr>
            <a:spLocks noGrp="1"/>
          </p:cNvSpPr>
          <p:nvPr/>
        </p:nvSpPr>
        <p:spPr>
          <a:xfrm>
            <a:off x="609600" y="4114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Gas cao, nhiệt độ cao hoặc bài thử 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tạo yêu cầu relay.</a:t>
            </a:r>
          </a:p>
        </p:txBody>
      </p:sp>
      <p:sp>
        <p:nvSpPr>
          <p:cNvPr id="10" name="text-154">
            <a:extLst>
              <a:ext uri="{FF2B5EF4-FFF2-40B4-BE49-F238E27FC236}">
                <a16:creationId xmlns:a16="http://schemas.microsoft.com/office/drawing/2014/main" id="{401DEBA3-9D6D-4A5A-9FF1-454417FB11CB}"/>
              </a:ext>
            </a:extLst>
          </p:cNvPr>
          <p:cNvSpPr>
            <a:spLocks noGrp="1"/>
          </p:cNvSpPr>
          <p:nvPr/>
        </p:nvSpPr>
        <p:spPr>
          <a:xfrm>
            <a:off x="609600" y="4957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Bụi cao, độ ẩm cao và lỗi cảm biến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không tự tạo yêu cầu relay.</a:t>
            </a:r>
          </a:p>
        </p:txBody>
      </p:sp>
      <p:sp>
        <p:nvSpPr>
          <p:cNvPr id="11" name="text-155">
            <a:extLst>
              <a:ext uri="{FF2B5EF4-FFF2-40B4-BE49-F238E27FC236}">
                <a16:creationId xmlns:a16="http://schemas.microsoft.com/office/drawing/2014/main" id="{AAC12F7B-5702-46F8-8341-DEC84EE1B0FF}"/>
              </a:ext>
            </a:extLst>
          </p:cNvPr>
          <p:cNvSpPr>
            <a:spLocks noGrp="1"/>
          </p:cNvSpPr>
          <p:nvPr/>
        </p:nvSpPr>
        <p:spPr>
          <a:xfrm>
            <a:off x="6381750" y="3524250"/>
            <a:ext cx="5200650" cy="476250"/>
          </a:xfrm>
          <a:prstGeom prst="rect">
            <a:avLst/>
          </a:prstGeom>
          <a:noFill/>
          <a:ln w="0">
            <a:noFill/>
            <a:prstDash val="solid"/>
          </a:ln>
        </p:spPr>
        <p:txBody>
          <a:bodyPr wrap="square" lIns="0" tIns="0" rIns="0" bIns="0" anchor="t">
            <a:noAutofit/>
          </a:bodyPr>
          <a:lstStyle>
            <a:defPPr algn="l">
              <a:defRPr sz="2100" b="1">
                <a:solidFill>
                  <a:srgbClr val="123047"/>
                </a:solidFill>
                <a:latin typeface="DejaVu Sans"/>
                <a:ea typeface="DejaVu Sans"/>
                <a:cs typeface="DejaVu Sans"/>
              </a:defRPr>
            </a:defPPr>
            <a:lvl1pPr algn="l">
              <a:defRPr sz="2100" b="1">
                <a:solidFill>
                  <a:srgbClr val="123047"/>
                </a:solidFill>
                <a:latin typeface="DejaVu Sans"/>
                <a:ea typeface="DejaVu Sans"/>
                <a:cs typeface="DejaVu Sans"/>
              </a:defRPr>
            </a:lvl1pPr>
            <a:lvl2pPr algn="l">
              <a:defRPr sz="2100" b="1">
                <a:solidFill>
                  <a:srgbClr val="123047"/>
                </a:solidFill>
                <a:latin typeface="DejaVu Sans"/>
                <a:ea typeface="DejaVu Sans"/>
                <a:cs typeface="DejaVu Sans"/>
              </a:defRPr>
            </a:lvl2pPr>
            <a:lvl3pPr algn="l">
              <a:defRPr sz="2100" b="1">
                <a:solidFill>
                  <a:srgbClr val="123047"/>
                </a:solidFill>
                <a:latin typeface="DejaVu Sans"/>
                <a:ea typeface="DejaVu Sans"/>
                <a:cs typeface="DejaVu Sans"/>
              </a:defRPr>
            </a:lvl3pPr>
            <a:lvl4pPr algn="l">
              <a:defRPr sz="2100" b="1">
                <a:solidFill>
                  <a:srgbClr val="123047"/>
                </a:solidFill>
                <a:latin typeface="DejaVu Sans"/>
                <a:ea typeface="DejaVu Sans"/>
                <a:cs typeface="DejaVu Sans"/>
              </a:defRPr>
            </a:lvl4pPr>
            <a:lvl5pPr algn="l">
              <a:defRPr sz="2100" b="1">
                <a:solidFill>
                  <a:srgbClr val="123047"/>
                </a:solidFill>
                <a:latin typeface="DejaVu Sans"/>
                <a:ea typeface="DejaVu Sans"/>
                <a:cs typeface="DejaVu Sans"/>
              </a:defRPr>
            </a:lvl5pPr>
            <a:lvl6pPr algn="l">
              <a:defRPr sz="2100" b="1">
                <a:solidFill>
                  <a:srgbClr val="123047"/>
                </a:solidFill>
                <a:latin typeface="DejaVu Sans"/>
                <a:ea typeface="DejaVu Sans"/>
                <a:cs typeface="DejaVu Sans"/>
              </a:defRPr>
            </a:lvl6pPr>
            <a:lvl7pPr algn="l">
              <a:defRPr sz="2100" b="1">
                <a:solidFill>
                  <a:srgbClr val="123047"/>
                </a:solidFill>
                <a:latin typeface="DejaVu Sans"/>
                <a:ea typeface="DejaVu Sans"/>
                <a:cs typeface="DejaVu Sans"/>
              </a:defRPr>
            </a:lvl7pPr>
            <a:lvl8pPr algn="l">
              <a:defRPr sz="2100" b="1">
                <a:solidFill>
                  <a:srgbClr val="123047"/>
                </a:solidFill>
                <a:latin typeface="DejaVu Sans"/>
                <a:ea typeface="DejaVu Sans"/>
                <a:cs typeface="DejaVu Sans"/>
              </a:defRPr>
            </a:lvl8pPr>
            <a:lvl9pPr algn="l">
              <a:defRPr sz="2100" b="1">
                <a:solidFill>
                  <a:srgbClr val="123047"/>
                </a:solidFill>
                <a:latin typeface="DejaVu Sans"/>
                <a:ea typeface="DejaVu Sans"/>
                <a:cs typeface="DejaVu Sans"/>
              </a:defRPr>
            </a:lvl9pPr>
          </a:lstStyle>
          <a:p>
            <a:pPr algn="l">
              <a:lnSpc>
                <a:spcPct val="112000"/>
              </a:lnSpc>
              <a:buNone/>
              <a:defRPr sz="2100" b="1">
                <a:solidFill>
                  <a:srgbClr val="123047"/>
                </a:solidFill>
                <a:latin typeface="DejaVu Sans"/>
                <a:ea typeface="DejaVu Sans"/>
                <a:cs typeface="DejaVu Sans"/>
              </a:defRPr>
            </a:pPr>
            <a:r>
              <a:rPr sz="2100" b="1">
                <a:solidFill>
                  <a:srgbClr val="123047"/>
                </a:solidFill>
                <a:latin typeface="DejaVu Sans"/>
                <a:ea typeface="DejaVu Sans"/>
                <a:cs typeface="DejaVu Sans"/>
              </a:rPr>
              <a:t>Thời gian hoạt động</a:t>
            </a:r>
          </a:p>
        </p:txBody>
      </p:sp>
      <p:sp>
        <p:nvSpPr>
          <p:cNvPr id="12" name="text-156">
            <a:extLst>
              <a:ext uri="{FF2B5EF4-FFF2-40B4-BE49-F238E27FC236}">
                <a16:creationId xmlns:a16="http://schemas.microsoft.com/office/drawing/2014/main" id="{C7150E7B-FA41-489C-A50A-FA60FE2D81CA}"/>
              </a:ext>
            </a:extLst>
          </p:cNvPr>
          <p:cNvSpPr>
            <a:spLocks noGrp="1"/>
          </p:cNvSpPr>
          <p:nvPr/>
        </p:nvSpPr>
        <p:spPr>
          <a:xfrm>
            <a:off x="6381750" y="4114800"/>
            <a:ext cx="5200650" cy="620078"/>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Relay chỉ tắt khi hết yêu cầu và đã bật ít</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nhất 10 giây, tính từ lần kích.</a:t>
            </a:r>
          </a:p>
        </p:txBody>
      </p:sp>
      <p:sp>
        <p:nvSpPr>
          <p:cNvPr id="13" name="text-157">
            <a:extLst>
              <a:ext uri="{FF2B5EF4-FFF2-40B4-BE49-F238E27FC236}">
                <a16:creationId xmlns:a16="http://schemas.microsoft.com/office/drawing/2014/main" id="{53A16C40-B967-44B6-BD0A-E4CDDE8419AC}"/>
              </a:ext>
            </a:extLst>
          </p:cNvPr>
          <p:cNvSpPr>
            <a:spLocks noGrp="1"/>
          </p:cNvSpPr>
          <p:nvPr/>
        </p:nvSpPr>
        <p:spPr>
          <a:xfrm>
            <a:off x="6381750" y="4906328"/>
            <a:ext cx="5200650" cy="915829"/>
          </a:xfrm>
          <a:prstGeom prst="rect">
            <a:avLst/>
          </a:prstGeom>
          <a:noFill/>
          <a:ln w="0">
            <a:noFill/>
            <a:prstDash val="solid"/>
          </a:ln>
        </p:spPr>
        <p:txBody>
          <a:bodyPr wrap="square" lIns="0" tIns="0" rIns="0" bIns="0" anchor="t">
            <a:noAutofit/>
          </a:bodyPr>
          <a:lstStyle>
            <a:defPPr algn="l">
              <a:defRPr sz="1725" b="0">
                <a:solidFill>
                  <a:srgbClr val="263E50"/>
                </a:solidFill>
                <a:latin typeface="DejaVu Sans"/>
                <a:ea typeface="DejaVu Sans"/>
                <a:cs typeface="DejaVu Sans"/>
              </a:defRPr>
            </a:defPPr>
            <a:lvl1pPr algn="l">
              <a:defRPr sz="1725" b="0">
                <a:solidFill>
                  <a:srgbClr val="263E50"/>
                </a:solidFill>
                <a:latin typeface="DejaVu Sans"/>
                <a:ea typeface="DejaVu Sans"/>
                <a:cs typeface="DejaVu Sans"/>
              </a:defRPr>
            </a:lvl1pPr>
            <a:lvl2pPr algn="l">
              <a:defRPr sz="1725" b="0">
                <a:solidFill>
                  <a:srgbClr val="263E50"/>
                </a:solidFill>
                <a:latin typeface="DejaVu Sans"/>
                <a:ea typeface="DejaVu Sans"/>
                <a:cs typeface="DejaVu Sans"/>
              </a:defRPr>
            </a:lvl2pPr>
            <a:lvl3pPr algn="l">
              <a:defRPr sz="1725" b="0">
                <a:solidFill>
                  <a:srgbClr val="263E50"/>
                </a:solidFill>
                <a:latin typeface="DejaVu Sans"/>
                <a:ea typeface="DejaVu Sans"/>
                <a:cs typeface="DejaVu Sans"/>
              </a:defRPr>
            </a:lvl3pPr>
            <a:lvl4pPr algn="l">
              <a:defRPr sz="1725" b="0">
                <a:solidFill>
                  <a:srgbClr val="263E50"/>
                </a:solidFill>
                <a:latin typeface="DejaVu Sans"/>
                <a:ea typeface="DejaVu Sans"/>
                <a:cs typeface="DejaVu Sans"/>
              </a:defRPr>
            </a:lvl4pPr>
            <a:lvl5pPr algn="l">
              <a:defRPr sz="1725" b="0">
                <a:solidFill>
                  <a:srgbClr val="263E50"/>
                </a:solidFill>
                <a:latin typeface="DejaVu Sans"/>
                <a:ea typeface="DejaVu Sans"/>
                <a:cs typeface="DejaVu Sans"/>
              </a:defRPr>
            </a:lvl5pPr>
            <a:lvl6pPr algn="l">
              <a:defRPr sz="1725" b="0">
                <a:solidFill>
                  <a:srgbClr val="263E50"/>
                </a:solidFill>
                <a:latin typeface="DejaVu Sans"/>
                <a:ea typeface="DejaVu Sans"/>
                <a:cs typeface="DejaVu Sans"/>
              </a:defRPr>
            </a:lvl6pPr>
            <a:lvl7pPr algn="l">
              <a:defRPr sz="1725" b="0">
                <a:solidFill>
                  <a:srgbClr val="263E50"/>
                </a:solidFill>
                <a:latin typeface="DejaVu Sans"/>
                <a:ea typeface="DejaVu Sans"/>
                <a:cs typeface="DejaVu Sans"/>
              </a:defRPr>
            </a:lvl7pPr>
            <a:lvl8pPr algn="l">
              <a:defRPr sz="1725" b="0">
                <a:solidFill>
                  <a:srgbClr val="263E50"/>
                </a:solidFill>
                <a:latin typeface="DejaVu Sans"/>
                <a:ea typeface="DejaVu Sans"/>
                <a:cs typeface="DejaVu Sans"/>
              </a:defRPr>
            </a:lvl8pPr>
            <a:lvl9pPr algn="l">
              <a:defRPr sz="1725" b="0">
                <a:solidFill>
                  <a:srgbClr val="263E50"/>
                </a:solidFill>
                <a:latin typeface="DejaVu Sans"/>
                <a:ea typeface="DejaVu Sans"/>
                <a:cs typeface="DejaVu Sans"/>
              </a:defRPr>
            </a:lvl9pPr>
          </a:lstStyle>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T thử khoảng 10 giây. Gas/nhiệt độ có thể</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kéo dài thời gian bật. Quạt và còi hoạt</a:t>
            </a:r>
          </a:p>
          <a:p>
            <a:pPr algn="l">
              <a:lnSpc>
                <a:spcPct val="112000"/>
              </a:lnSpc>
              <a:buNone/>
              <a:defRPr sz="1725" b="0">
                <a:solidFill>
                  <a:srgbClr val="263E50"/>
                </a:solidFill>
                <a:latin typeface="DejaVu Sans"/>
                <a:ea typeface="DejaVu Sans"/>
                <a:cs typeface="DejaVu Sans"/>
              </a:defRPr>
            </a:pPr>
            <a:r>
              <a:rPr sz="1725" b="0">
                <a:solidFill>
                  <a:srgbClr val="263E50"/>
                </a:solidFill>
                <a:latin typeface="DejaVu Sans"/>
                <a:ea typeface="DejaVu Sans"/>
                <a:cs typeface="DejaVu Sans"/>
              </a:rPr>
              <a:t>động cùng nhau.</a:t>
            </a:r>
          </a:p>
        </p:txBody>
      </p:sp>
    </p:spTree>
    <p:extLst>
      <p:ext uri="{BB962C8B-B14F-4D97-AF65-F5344CB8AC3E}">
        <p14:creationId xmlns:p14="http://schemas.microsoft.com/office/powerpoint/2010/main" val="473592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BC2333D4-68F5-4299-8635-40878CB6A17A}"/>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LCD và thứ tự ưu tiên trạng thái</a:t>
            </a:r>
          </a:p>
        </p:txBody>
      </p:sp>
      <p:sp>
        <p:nvSpPr>
          <p:cNvPr id="2" name="rule-158">
            <a:extLst>
              <a:ext uri="{FF2B5EF4-FFF2-40B4-BE49-F238E27FC236}">
                <a16:creationId xmlns:a16="http://schemas.microsoft.com/office/drawing/2014/main" id="{FB4C719B-1941-4E4E-B211-62F35E22CA6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D732853-0944-40A5-B056-365450F6497C}"/>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05 Cảnh báo và điều khiển</a:t>
            </a:r>
          </a:p>
        </p:txBody>
      </p:sp>
      <p:sp>
        <p:nvSpPr>
          <p:cNvPr id="4" name="slide-number">
            <a:extLst>
              <a:ext uri="{FF2B5EF4-FFF2-40B4-BE49-F238E27FC236}">
                <a16:creationId xmlns:a16="http://schemas.microsoft.com/office/drawing/2014/main" id="{666CF14F-B7BC-400F-9CA5-B86920813F46}"/>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21</a:t>
            </a:r>
          </a:p>
        </p:txBody>
      </p:sp>
      <p:sp>
        <p:nvSpPr>
          <p:cNvPr id="5" name="text-159">
            <a:extLst>
              <a:ext uri="{FF2B5EF4-FFF2-40B4-BE49-F238E27FC236}">
                <a16:creationId xmlns:a16="http://schemas.microsoft.com/office/drawing/2014/main" id="{DC72A259-0262-4EBB-82C9-0776013F5DA7}"/>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Thông báo ưu tiên</a:t>
            </a:r>
          </a:p>
        </p:txBody>
      </p:sp>
      <p:sp>
        <p:nvSpPr>
          <p:cNvPr id="6" name="text-160">
            <a:extLst>
              <a:ext uri="{FF2B5EF4-FFF2-40B4-BE49-F238E27FC236}">
                <a16:creationId xmlns:a16="http://schemas.microsoft.com/office/drawing/2014/main" id="{B4EACF1B-7FBB-4DD8-B6DB-2C9EE398C4BB}"/>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Thử relay nếu không có gas/nhiệt, sau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đó gas cao và nhiệt độ cao.</a:t>
            </a:r>
          </a:p>
        </p:txBody>
      </p:sp>
      <p:sp>
        <p:nvSpPr>
          <p:cNvPr id="7" name="text-161">
            <a:extLst>
              <a:ext uri="{FF2B5EF4-FFF2-40B4-BE49-F238E27FC236}">
                <a16:creationId xmlns:a16="http://schemas.microsoft.com/office/drawing/2014/main" id="{D6123FBF-8190-4683-8E90-B8E2F1EB7BD5}"/>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Tiếp đến lỗi MQ-2, lỗi bụi, lỗi DHT22,</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bụi cao và độ ẩm cao.</a:t>
            </a:r>
          </a:p>
        </p:txBody>
      </p:sp>
      <p:sp>
        <p:nvSpPr>
          <p:cNvPr id="8" name="text-162">
            <a:extLst>
              <a:ext uri="{FF2B5EF4-FFF2-40B4-BE49-F238E27FC236}">
                <a16:creationId xmlns:a16="http://schemas.microsoft.com/office/drawing/2014/main" id="{24FE2D6A-8E98-45E9-86C8-2F457E34AA5F}"/>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Cuối cùng là TRONG LANH hoặc BINH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THUONG. LCD chỉ hiển thị một trạng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thái ưu tiên.</a:t>
            </a:r>
          </a:p>
        </p:txBody>
      </p:sp>
      <p:sp>
        <p:nvSpPr>
          <p:cNvPr id="9" name="text-163">
            <a:extLst>
              <a:ext uri="{FF2B5EF4-FFF2-40B4-BE49-F238E27FC236}">
                <a16:creationId xmlns:a16="http://schemas.microsoft.com/office/drawing/2014/main" id="{2F255173-4182-4B33-BEC4-536176005DD5}"/>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Quy tắc TRONG LANH</a:t>
            </a:r>
          </a:p>
        </p:txBody>
      </p:sp>
      <p:sp>
        <p:nvSpPr>
          <p:cNvPr id="10" name="text-164">
            <a:extLst>
              <a:ext uri="{FF2B5EF4-FFF2-40B4-BE49-F238E27FC236}">
                <a16:creationId xmlns:a16="http://schemas.microsoft.com/office/drawing/2014/main" id="{C8CB5FB7-F568-4118-987D-2FEA18417216}"/>
              </a:ext>
            </a:extLst>
          </p:cNvPr>
          <p:cNvSpPr>
            <a:spLocks noGrp="1"/>
          </p:cNvSpPr>
          <p:nvPr/>
        </p:nvSpPr>
        <p:spPr>
          <a:xfrm>
            <a:off x="6381750" y="2209800"/>
            <a:ext cx="5200650" cy="350044"/>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 trong 21–32 °C, H trong 40–70%.</a:t>
            </a:r>
          </a:p>
        </p:txBody>
      </p:sp>
      <p:sp>
        <p:nvSpPr>
          <p:cNvPr id="11" name="text-165">
            <a:extLst>
              <a:ext uri="{FF2B5EF4-FFF2-40B4-BE49-F238E27FC236}">
                <a16:creationId xmlns:a16="http://schemas.microsoft.com/office/drawing/2014/main" id="{AD3CB675-7458-48CF-A71D-CA2C81C22DB1}"/>
              </a:ext>
            </a:extLst>
          </p:cNvPr>
          <p:cNvSpPr>
            <a:spLocks noGrp="1"/>
          </p:cNvSpPr>
          <p:nvPr/>
        </p:nvSpPr>
        <p:spPr>
          <a:xfrm>
            <a:off x="6381750" y="27312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dustAvg ≤ dustBase + 30 sau giới hạn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ADC, gasAvg ≤ gasOff.</a:t>
            </a:r>
          </a:p>
        </p:txBody>
      </p:sp>
      <p:sp>
        <p:nvSpPr>
          <p:cNvPr id="12" name="text-166">
            <a:extLst>
              <a:ext uri="{FF2B5EF4-FFF2-40B4-BE49-F238E27FC236}">
                <a16:creationId xmlns:a16="http://schemas.microsoft.com/office/drawing/2014/main" id="{30FF34DF-76F2-4112-A3DF-D848263E7978}"/>
              </a:ext>
            </a:extLst>
          </p:cNvPr>
          <p:cNvSpPr>
            <a:spLocks noGrp="1"/>
          </p:cNvSpPr>
          <p:nvPr/>
        </p:nvSpPr>
        <p:spPr>
          <a:xfrm>
            <a:off x="6381750" y="3574256"/>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Đây là quy tắc của mô hình. Web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 dùng mặt nạ nhiều bit để</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thể hiện nhiều vấn đề đồng thời.</a:t>
            </a:r>
          </a:p>
        </p:txBody>
      </p:sp>
    </p:spTree>
    <p:extLst>
      <p:ext uri="{BB962C8B-B14F-4D97-AF65-F5344CB8AC3E}">
        <p14:creationId xmlns:p14="http://schemas.microsoft.com/office/powerpoint/2010/main" val="192347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18B6EEAF-BE48-4F81-A7A4-8D8C83A7CD57}"/>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Nhóm hàm đo và xác nhận dữ liệu</a:t>
            </a:r>
          </a:p>
        </p:txBody>
      </p:sp>
      <p:sp>
        <p:nvSpPr>
          <p:cNvPr id="2" name="rule-167">
            <a:extLst>
              <a:ext uri="{FF2B5EF4-FFF2-40B4-BE49-F238E27FC236}">
                <a16:creationId xmlns:a16="http://schemas.microsoft.com/office/drawing/2014/main" id="{A8959673-3B78-4107-BF42-A71DB4468D3E}"/>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C31FA6E3-FF70-4DA1-BE4A-C5D05553391A}"/>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69228B73-90A8-47E6-9535-7FD0FE058D83}"/>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22</a:t>
            </a:r>
          </a:p>
        </p:txBody>
      </p:sp>
      <p:graphicFrame>
        <p:nvGraphicFramePr>
          <p:cNvPr id="5" name="Table 4">
            <a:extLst>
              <a:ext uri="{FF2B5EF4-FFF2-40B4-BE49-F238E27FC236}">
                <a16:creationId xmlns:a16="http://schemas.microsoft.com/office/drawing/2014/main" id="{D261D45D-4A55-4342-A607-54CC59DAEE1E}"/>
              </a:ext>
            </a:extLst>
          </p:cNvPr>
          <p:cNvGraphicFramePr/>
          <p:nvPr/>
        </p:nvGraphicFramePr>
        <p:xfrm>
          <a:off x="609600" y="1657350"/>
          <a:ext cx="10972800" cy="4410075"/>
        </p:xfrm>
        <a:graphic>
          <a:graphicData uri="http://schemas.openxmlformats.org/drawingml/2006/table">
            <a:tbl>
              <a:tblPr firstRow="1"/>
              <a:tblGrid>
                <a:gridCol w="5157216">
                  <a:extLst>
                    <a:ext uri="{9D8B030D-6E8A-4147-A177-3AD203B41FA5}">
                      <a16:colId xmlns:a16="http://schemas.microsoft.com/office/drawing/2014/main" val="20000"/>
                    </a:ext>
                  </a:extLst>
                </a:gridCol>
                <a:gridCol w="5815584">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Nhóm hàm</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Nhiệm vụ</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647700">
                <a:tc>
                  <a:txBody>
                    <a:bodyPr/>
                    <a:lstStyle/>
                    <a:p>
                      <a:r>
                        <a:rPr sz="1725">
                          <a:solidFill>
                            <a:srgbClr val="263E50"/>
                          </a:solidFill>
                          <a:latin typeface="DejaVu Sans"/>
                          <a:ea typeface="DejaVu Sans"/>
                          <a:cs typeface="DejaVu Sans"/>
                        </a:rPr>
                        <a:t>setup, loop</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Khởi tạo, điều phối xử lý</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725">
                          <a:solidFill>
                            <a:srgbClr val="263E50"/>
                          </a:solidFill>
                          <a:latin typeface="DejaVu Sans"/>
                          <a:ea typeface="DejaVu Sans"/>
                          <a:cs typeface="DejaVu Sans"/>
                        </a:rPr>
                        <a:t>readGas, readDustPulse</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Đọc ADC gas, điều khiển xung bụi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647700">
                <a:tc>
                  <a:txBody>
                    <a:bodyPr/>
                    <a:lstStyle/>
                    <a:p>
                      <a:r>
                        <a:rPr sz="1725">
                          <a:solidFill>
                            <a:srgbClr val="263E50"/>
                          </a:solidFill>
                          <a:latin typeface="DejaVu Sans"/>
                          <a:ea typeface="DejaVu Sans"/>
                          <a:cs typeface="DejaVu Sans"/>
                        </a:rPr>
                        <a:t>calibrateGas, calibrateDust</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Xác định nền, kiểm tra hiệu chỉnh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725">
                          <a:solidFill>
                            <a:srgbClr val="263E50"/>
                          </a:solidFill>
                          <a:latin typeface="DejaVu Sans"/>
                          <a:ea typeface="DejaVu Sans"/>
                          <a:cs typeface="DejaVu Sans"/>
                        </a:rPr>
                        <a:t>pollDHT, dhtOK</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Đọc DHT, kiểm tra tuổi dữ liệu</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647700">
                <a:tc>
                  <a:txBody>
                    <a:bodyPr/>
                    <a:lstStyle/>
                    <a:p>
                      <a:r>
                        <a:rPr sz="1725">
                          <a:solidFill>
                            <a:srgbClr val="263E50"/>
                          </a:solidFill>
                          <a:latin typeface="DejaVu Sans"/>
                          <a:ea typeface="DejaVu Sans"/>
                          <a:cs typeface="DejaVu Sans"/>
                        </a:rPr>
                        <a:t>updateGasHealth, updateDustHealth</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Nhận biết sát biên, cập nhật lọc</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647700">
                <a:tc>
                  <a:txBody>
                    <a:bodyPr/>
                    <a:lstStyle/>
                    <a:p>
                      <a:r>
                        <a:rPr sz="1725">
                          <a:solidFill>
                            <a:srgbClr val="263E50"/>
                          </a:solidFill>
                          <a:latin typeface="DejaVu Sans"/>
                          <a:ea typeface="DejaVu Sans"/>
                          <a:cs typeface="DejaVu Sans"/>
                        </a:rPr>
                        <a:t>updateFlag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Xác nhận bật hoặc xóa theo thời gian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67016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00AEE78C-2B78-4350-A70A-D0344FBBE830}"/>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Nhóm hàm hiển thị và kết nối</a:t>
            </a:r>
          </a:p>
        </p:txBody>
      </p:sp>
      <p:sp>
        <p:nvSpPr>
          <p:cNvPr id="2" name="rule-168">
            <a:extLst>
              <a:ext uri="{FF2B5EF4-FFF2-40B4-BE49-F238E27FC236}">
                <a16:creationId xmlns:a16="http://schemas.microsoft.com/office/drawing/2014/main" id="{2F3E13D3-95F7-4D52-8175-ADDA418E361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3047168C-C658-4ACC-9CA2-CD40AFB6010C}"/>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90761A57-6482-475B-9F35-AA8606C8529C}"/>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23</a:t>
            </a:r>
          </a:p>
        </p:txBody>
      </p:sp>
      <p:graphicFrame>
        <p:nvGraphicFramePr>
          <p:cNvPr id="5" name="Table 4">
            <a:extLst>
              <a:ext uri="{FF2B5EF4-FFF2-40B4-BE49-F238E27FC236}">
                <a16:creationId xmlns:a16="http://schemas.microsoft.com/office/drawing/2014/main" id="{E5D2BBCA-7537-43D9-99EF-173B422B2581}"/>
              </a:ext>
            </a:extLst>
          </p:cNvPr>
          <p:cNvGraphicFramePr/>
          <p:nvPr/>
        </p:nvGraphicFramePr>
        <p:xfrm>
          <a:off x="609600" y="1657350"/>
          <a:ext cx="10972800" cy="4410075"/>
        </p:xfrm>
        <a:graphic>
          <a:graphicData uri="http://schemas.openxmlformats.org/drawingml/2006/table">
            <a:tbl>
              <a:tblPr firstRow="1"/>
              <a:tblGrid>
                <a:gridCol w="5376672">
                  <a:extLst>
                    <a:ext uri="{9D8B030D-6E8A-4147-A177-3AD203B41FA5}">
                      <a16:colId xmlns:a16="http://schemas.microsoft.com/office/drawing/2014/main" val="20000"/>
                    </a:ext>
                  </a:extLst>
                </a:gridCol>
                <a:gridCol w="5596128">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Nhóm hàm hoặc mô-đun</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Nhiệm vụ</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647700">
                <a:tc>
                  <a:txBody>
                    <a:bodyPr/>
                    <a:lstStyle/>
                    <a:p>
                      <a:r>
                        <a:rPr sz="1725">
                          <a:solidFill>
                            <a:srgbClr val="263E50"/>
                          </a:solidFill>
                          <a:latin typeface="DejaVu Sans"/>
                          <a:ea typeface="DejaVu Sans"/>
                          <a:cs typeface="DejaVu Sans"/>
                        </a:rPr>
                        <a:t>qualityText, updateLCD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Chọn trạng thái, luân phiên trang LCD</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725">
                          <a:solidFill>
                            <a:srgbClr val="263E50"/>
                          </a:solidFill>
                          <a:latin typeface="DejaVu Sans"/>
                          <a:ea typeface="DejaVu Sans"/>
                          <a:cs typeface="DejaVu Sans"/>
                        </a:rPr>
                        <a:t>handleSerialCommand, setRelay</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Nhận lệnh thử, điều khiển đầu ra</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647700">
                <a:tc>
                  <a:txBody>
                    <a:bodyPr/>
                    <a:lstStyle/>
                    <a:p>
                      <a:r>
                        <a:rPr sz="1725">
                          <a:solidFill>
                            <a:srgbClr val="263E50"/>
                          </a:solidFill>
                          <a:latin typeface="DejaVu Sans"/>
                          <a:ea typeface="DejaVu Sans"/>
                          <a:cs typeface="DejaVu Sans"/>
                        </a:rPr>
                        <a:t>publishAirSnapshot</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Sao chép trạng thái bằng vùng khóa ngắn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725">
                          <a:solidFill>
                            <a:srgbClr val="263E50"/>
                          </a:solidFill>
                          <a:latin typeface="DejaVu Sans"/>
                          <a:ea typeface="DejaVu Sans"/>
                          <a:cs typeface="DejaVu Sans"/>
                        </a:rPr>
                        <a:t>webTask, statusJson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Phục vụ dashboard/API, cập nhật Wi-Fi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647700">
                <a:tc>
                  <a:txBody>
                    <a:bodyPr/>
                    <a:lstStyle/>
                    <a:p>
                      <a:r>
                        <a:rPr sz="1725">
                          <a:solidFill>
                            <a:srgbClr val="263E50"/>
                          </a:solidFill>
                          <a:latin typeface="DejaVu Sans"/>
                          <a:ea typeface="DejaVu Sans"/>
                          <a:cs typeface="DejaVu Sans"/>
                        </a:rPr>
                        <a:t>telegramTask, NotificationPolicy</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Gửi HTTPS, nhắc và thử lại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647700">
                <a:tc>
                  <a:txBody>
                    <a:bodyPr/>
                    <a:lstStyle/>
                    <a:p>
                      <a:r>
                        <a:rPr sz="1725">
                          <a:solidFill>
                            <a:srgbClr val="263E50"/>
                          </a:solidFill>
                          <a:latin typeface="DejaVu Sans"/>
                          <a:ea typeface="DejaVu Sans"/>
                          <a:cs typeface="DejaVu Sans"/>
                        </a:rPr>
                        <a:t>localhost_server.py</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Chuyển tiếp web/API từ ESP32 đến laptop</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9621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3A250363-5E12-4B8A-A10B-FC41760892E1}"/>
              </a:ext>
            </a:extLst>
          </p:cNvPr>
          <p:cNvCxnSpPr>
            <a:stCxn id="14" idx="3"/>
            <a:endCxn id="16" idx="1"/>
          </p:cNvCxnSpPr>
          <p:nvPr/>
        </p:nvCxnSpPr>
        <p:spPr>
          <a:xfrm>
            <a:off x="7086600" y="3814763"/>
            <a:ext cx="323850" cy="771525"/>
          </a:xfrm>
          <a:prstGeom prst="straightConnector1">
            <a:avLst/>
          </a:prstGeom>
          <a:ln w="19050">
            <a:solidFill>
              <a:srgbClr val="007E87"/>
            </a:solidFill>
            <a:prstDash val="solid"/>
            <a:tailEnd type="triangle" w="sm" len="sm"/>
          </a:ln>
        </p:spPr>
      </p:cxnSp>
      <p:cxnSp>
        <p:nvCxnSpPr>
          <p:cNvPr id="18" name="Straight Arrow Connector 17">
            <a:extLst>
              <a:ext uri="{FF2B5EF4-FFF2-40B4-BE49-F238E27FC236}">
                <a16:creationId xmlns:a16="http://schemas.microsoft.com/office/drawing/2014/main" id="{7E7B56D1-F587-424C-9A01-EEEC89115B2A}"/>
              </a:ext>
            </a:extLst>
          </p:cNvPr>
          <p:cNvCxnSpPr>
            <a:stCxn id="14" idx="3"/>
            <a:endCxn id="15" idx="1"/>
          </p:cNvCxnSpPr>
          <p:nvPr/>
        </p:nvCxnSpPr>
        <p:spPr>
          <a:xfrm flipV="1">
            <a:off x="7086600" y="2947988"/>
            <a:ext cx="323850" cy="866775"/>
          </a:xfrm>
          <a:prstGeom prst="straightConnector1">
            <a:avLst/>
          </a:prstGeom>
          <a:ln w="19050">
            <a:solidFill>
              <a:srgbClr val="007E87"/>
            </a:solidFill>
            <a:prstDash val="solid"/>
            <a:tailEnd type="triangle" w="sm" len="sm"/>
          </a:ln>
        </p:spPr>
      </p:cxnSp>
      <p:cxnSp>
        <p:nvCxnSpPr>
          <p:cNvPr id="17" name="Straight Arrow Connector 16">
            <a:extLst>
              <a:ext uri="{FF2B5EF4-FFF2-40B4-BE49-F238E27FC236}">
                <a16:creationId xmlns:a16="http://schemas.microsoft.com/office/drawing/2014/main" id="{CF8B71BC-FF1B-4633-9252-82E637F93CEE}"/>
              </a:ext>
            </a:extLst>
          </p:cNvPr>
          <p:cNvCxnSpPr>
            <a:stCxn id="10" idx="3"/>
            <a:endCxn id="14" idx="1"/>
          </p:cNvCxnSpPr>
          <p:nvPr/>
        </p:nvCxnSpPr>
        <p:spPr>
          <a:xfrm flipV="1">
            <a:off x="5619750" y="3814763"/>
            <a:ext cx="247650" cy="1404938"/>
          </a:xfrm>
          <a:prstGeom prst="straightConnector1">
            <a:avLst/>
          </a:prstGeom>
          <a:ln w="19050">
            <a:solidFill>
              <a:srgbClr val="007E87"/>
            </a:solidFill>
            <a:prstDash val="solid"/>
            <a:tailEnd type="triangle" w="sm" len="sm"/>
          </a:ln>
        </p:spPr>
      </p:cxnSp>
      <p:cxnSp>
        <p:nvCxnSpPr>
          <p:cNvPr id="13" name="Straight Arrow Connector 12">
            <a:extLst>
              <a:ext uri="{FF2B5EF4-FFF2-40B4-BE49-F238E27FC236}">
                <a16:creationId xmlns:a16="http://schemas.microsoft.com/office/drawing/2014/main" id="{C2C23A27-AEB9-4E20-A02F-3D3F7C02DB24}"/>
              </a:ext>
            </a:extLst>
          </p:cNvPr>
          <p:cNvCxnSpPr>
            <a:stCxn id="9" idx="2"/>
            <a:endCxn id="10" idx="0"/>
          </p:cNvCxnSpPr>
          <p:nvPr/>
        </p:nvCxnSpPr>
        <p:spPr>
          <a:xfrm>
            <a:off x="3114675" y="4676775"/>
            <a:ext cx="0" cy="219075"/>
          </a:xfrm>
          <a:prstGeom prst="straightConnector1">
            <a:avLst/>
          </a:prstGeom>
          <a:ln w="19050">
            <a:solidFill>
              <a:srgbClr val="007E87"/>
            </a:solidFill>
            <a:prstDash val="solid"/>
            <a:tailEnd type="triangle" w="sm" len="sm"/>
          </a:ln>
        </p:spPr>
      </p:cxnSp>
      <p:cxnSp>
        <p:nvCxnSpPr>
          <p:cNvPr id="12" name="Straight Arrow Connector 11">
            <a:extLst>
              <a:ext uri="{FF2B5EF4-FFF2-40B4-BE49-F238E27FC236}">
                <a16:creationId xmlns:a16="http://schemas.microsoft.com/office/drawing/2014/main" id="{39B108E8-CEC5-4ABF-962A-E6B7BF0412F4}"/>
              </a:ext>
            </a:extLst>
          </p:cNvPr>
          <p:cNvCxnSpPr>
            <a:stCxn id="8" idx="2"/>
            <a:endCxn id="9" idx="0"/>
          </p:cNvCxnSpPr>
          <p:nvPr/>
        </p:nvCxnSpPr>
        <p:spPr>
          <a:xfrm>
            <a:off x="3114675" y="3810000"/>
            <a:ext cx="0" cy="219075"/>
          </a:xfrm>
          <a:prstGeom prst="straightConnector1">
            <a:avLst/>
          </a:prstGeom>
          <a:ln w="19050">
            <a:solidFill>
              <a:srgbClr val="007E87"/>
            </a:solidFill>
            <a:prstDash val="solid"/>
            <a:tailEnd type="triangle" w="sm" len="sm"/>
          </a:ln>
        </p:spPr>
      </p:cxnSp>
      <p:cxnSp>
        <p:nvCxnSpPr>
          <p:cNvPr id="11" name="Straight Arrow Connector 10">
            <a:extLst>
              <a:ext uri="{FF2B5EF4-FFF2-40B4-BE49-F238E27FC236}">
                <a16:creationId xmlns:a16="http://schemas.microsoft.com/office/drawing/2014/main" id="{BADD4EA0-3A62-434A-9964-FC158DBD9D8B}"/>
              </a:ext>
            </a:extLst>
          </p:cNvPr>
          <p:cNvCxnSpPr>
            <a:stCxn id="7" idx="2"/>
            <a:endCxn id="8" idx="0"/>
          </p:cNvCxnSpPr>
          <p:nvPr/>
        </p:nvCxnSpPr>
        <p:spPr>
          <a:xfrm>
            <a:off x="3114675" y="2943225"/>
            <a:ext cx="0" cy="219075"/>
          </a:xfrm>
          <a:prstGeom prst="straightConnector1">
            <a:avLst/>
          </a:prstGeom>
          <a:ln w="19050">
            <a:solidFill>
              <a:srgbClr val="007E87"/>
            </a:solidFill>
            <a:prstDash val="solid"/>
            <a:tailEnd type="triangle" w="sm" len="sm"/>
          </a:ln>
        </p:spPr>
      </p:cxnSp>
      <p:sp>
        <p:nvSpPr>
          <p:cNvPr id="22" name="slide-title">
            <a:extLst>
              <a:ext uri="{FF2B5EF4-FFF2-40B4-BE49-F238E27FC236}">
                <a16:creationId xmlns:a16="http://schemas.microsoft.com/office/drawing/2014/main" id="{0CE813DB-5F9B-4A9A-9D43-CBACE8690314}"/>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Luồng đo và tác vụ mạng đồng thời</a:t>
            </a:r>
          </a:p>
        </p:txBody>
      </p:sp>
      <p:sp>
        <p:nvSpPr>
          <p:cNvPr id="2" name="rule-169">
            <a:extLst>
              <a:ext uri="{FF2B5EF4-FFF2-40B4-BE49-F238E27FC236}">
                <a16:creationId xmlns:a16="http://schemas.microsoft.com/office/drawing/2014/main" id="{4F9CB4E1-3BF8-440E-AF53-E6B5505FECEB}"/>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A150E30E-34CD-47B2-8EB6-DFE244E65FA0}"/>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88E13087-1815-45B9-A431-BD4D55DD10E1}"/>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24</a:t>
            </a:r>
          </a:p>
        </p:txBody>
      </p:sp>
      <p:sp>
        <p:nvSpPr>
          <p:cNvPr id="5" name="text-170">
            <a:extLst>
              <a:ext uri="{FF2B5EF4-FFF2-40B4-BE49-F238E27FC236}">
                <a16:creationId xmlns:a16="http://schemas.microsoft.com/office/drawing/2014/main" id="{8E88663F-2416-4DF9-9DA9-DFF21BC8DDA8}"/>
              </a:ext>
            </a:extLst>
          </p:cNvPr>
          <p:cNvSpPr>
            <a:spLocks noGrp="1"/>
          </p:cNvSpPr>
          <p:nvPr/>
        </p:nvSpPr>
        <p:spPr>
          <a:xfrm>
            <a:off x="609600" y="1647825"/>
            <a:ext cx="4953000" cy="457200"/>
          </a:xfrm>
          <a:prstGeom prst="rect">
            <a:avLst/>
          </a:prstGeom>
          <a:noFill/>
          <a:ln w="0">
            <a:noFill/>
            <a:prstDash val="solid"/>
          </a:ln>
        </p:spPr>
        <p:txBody>
          <a:bodyPr wrap="square" lIns="0" tIns="0" rIns="0" bIns="0" anchor="t">
            <a:noAutofit/>
          </a:bodyPr>
          <a:lstStyle>
            <a:defPPr algn="l">
              <a:defRPr sz="2175" b="1">
                <a:solidFill>
                  <a:srgbClr val="123047"/>
                </a:solidFill>
                <a:latin typeface="DejaVu Sans"/>
                <a:ea typeface="DejaVu Sans"/>
                <a:cs typeface="DejaVu Sans"/>
              </a:defRPr>
            </a:defPPr>
            <a:lvl1pPr algn="l">
              <a:defRPr sz="2175" b="1">
                <a:solidFill>
                  <a:srgbClr val="123047"/>
                </a:solidFill>
                <a:latin typeface="DejaVu Sans"/>
                <a:ea typeface="DejaVu Sans"/>
                <a:cs typeface="DejaVu Sans"/>
              </a:defRPr>
            </a:lvl1pPr>
            <a:lvl2pPr algn="l">
              <a:defRPr sz="2175" b="1">
                <a:solidFill>
                  <a:srgbClr val="123047"/>
                </a:solidFill>
                <a:latin typeface="DejaVu Sans"/>
                <a:ea typeface="DejaVu Sans"/>
                <a:cs typeface="DejaVu Sans"/>
              </a:defRPr>
            </a:lvl2pPr>
            <a:lvl3pPr algn="l">
              <a:defRPr sz="2175" b="1">
                <a:solidFill>
                  <a:srgbClr val="123047"/>
                </a:solidFill>
                <a:latin typeface="DejaVu Sans"/>
                <a:ea typeface="DejaVu Sans"/>
                <a:cs typeface="DejaVu Sans"/>
              </a:defRPr>
            </a:lvl3pPr>
            <a:lvl4pPr algn="l">
              <a:defRPr sz="2175" b="1">
                <a:solidFill>
                  <a:srgbClr val="123047"/>
                </a:solidFill>
                <a:latin typeface="DejaVu Sans"/>
                <a:ea typeface="DejaVu Sans"/>
                <a:cs typeface="DejaVu Sans"/>
              </a:defRPr>
            </a:lvl4pPr>
            <a:lvl5pPr algn="l">
              <a:defRPr sz="2175" b="1">
                <a:solidFill>
                  <a:srgbClr val="123047"/>
                </a:solidFill>
                <a:latin typeface="DejaVu Sans"/>
                <a:ea typeface="DejaVu Sans"/>
                <a:cs typeface="DejaVu Sans"/>
              </a:defRPr>
            </a:lvl5pPr>
            <a:lvl6pPr algn="l">
              <a:defRPr sz="2175" b="1">
                <a:solidFill>
                  <a:srgbClr val="123047"/>
                </a:solidFill>
                <a:latin typeface="DejaVu Sans"/>
                <a:ea typeface="DejaVu Sans"/>
                <a:cs typeface="DejaVu Sans"/>
              </a:defRPr>
            </a:lvl6pPr>
            <a:lvl7pPr algn="l">
              <a:defRPr sz="2175" b="1">
                <a:solidFill>
                  <a:srgbClr val="123047"/>
                </a:solidFill>
                <a:latin typeface="DejaVu Sans"/>
                <a:ea typeface="DejaVu Sans"/>
                <a:cs typeface="DejaVu Sans"/>
              </a:defRPr>
            </a:lvl7pPr>
            <a:lvl8pPr algn="l">
              <a:defRPr sz="2175" b="1">
                <a:solidFill>
                  <a:srgbClr val="123047"/>
                </a:solidFill>
                <a:latin typeface="DejaVu Sans"/>
                <a:ea typeface="DejaVu Sans"/>
                <a:cs typeface="DejaVu Sans"/>
              </a:defRPr>
            </a:lvl8pPr>
            <a:lvl9pPr algn="l">
              <a:defRPr sz="2175" b="1">
                <a:solidFill>
                  <a:srgbClr val="123047"/>
                </a:solidFill>
                <a:latin typeface="DejaVu Sans"/>
                <a:ea typeface="DejaVu Sans"/>
                <a:cs typeface="DejaVu Sans"/>
              </a:defRPr>
            </a:lvl9pPr>
          </a:lstStyle>
          <a:p>
            <a:pPr algn="l">
              <a:lnSpc>
                <a:spcPct val="112000"/>
              </a:lnSpc>
              <a:buNone/>
              <a:defRPr sz="2175" b="1">
                <a:solidFill>
                  <a:srgbClr val="123047"/>
                </a:solidFill>
                <a:latin typeface="DejaVu Sans"/>
                <a:ea typeface="DejaVu Sans"/>
                <a:cs typeface="DejaVu Sans"/>
              </a:defRPr>
            </a:pPr>
            <a:r>
              <a:rPr sz="2175" b="1">
                <a:solidFill>
                  <a:srgbClr val="123047"/>
                </a:solidFill>
                <a:latin typeface="DejaVu Sans"/>
                <a:ea typeface="DejaVu Sans"/>
                <a:cs typeface="DejaVu Sans"/>
              </a:rPr>
              <a:t>Lõi 1: đo và điều khiển</a:t>
            </a:r>
          </a:p>
        </p:txBody>
      </p:sp>
      <p:sp>
        <p:nvSpPr>
          <p:cNvPr id="6" name="text-171">
            <a:extLst>
              <a:ext uri="{FF2B5EF4-FFF2-40B4-BE49-F238E27FC236}">
                <a16:creationId xmlns:a16="http://schemas.microsoft.com/office/drawing/2014/main" id="{DC59D70D-F306-414C-B437-F3E6CAA36EBE}"/>
              </a:ext>
            </a:extLst>
          </p:cNvPr>
          <p:cNvSpPr>
            <a:spLocks noGrp="1"/>
          </p:cNvSpPr>
          <p:nvPr/>
        </p:nvSpPr>
        <p:spPr>
          <a:xfrm>
            <a:off x="7124700" y="1647825"/>
            <a:ext cx="4457700" cy="457200"/>
          </a:xfrm>
          <a:prstGeom prst="rect">
            <a:avLst/>
          </a:prstGeom>
          <a:noFill/>
          <a:ln w="0">
            <a:noFill/>
            <a:prstDash val="solid"/>
          </a:ln>
        </p:spPr>
        <p:txBody>
          <a:bodyPr wrap="square" lIns="0" tIns="0" rIns="0" bIns="0" anchor="t">
            <a:noAutofit/>
          </a:bodyPr>
          <a:lstStyle>
            <a:defPPr algn="l">
              <a:defRPr sz="2175" b="1">
                <a:solidFill>
                  <a:srgbClr val="123047"/>
                </a:solidFill>
                <a:latin typeface="DejaVu Sans"/>
                <a:ea typeface="DejaVu Sans"/>
                <a:cs typeface="DejaVu Sans"/>
              </a:defRPr>
            </a:defPPr>
            <a:lvl1pPr algn="l">
              <a:defRPr sz="2175" b="1">
                <a:solidFill>
                  <a:srgbClr val="123047"/>
                </a:solidFill>
                <a:latin typeface="DejaVu Sans"/>
                <a:ea typeface="DejaVu Sans"/>
                <a:cs typeface="DejaVu Sans"/>
              </a:defRPr>
            </a:lvl1pPr>
            <a:lvl2pPr algn="l">
              <a:defRPr sz="2175" b="1">
                <a:solidFill>
                  <a:srgbClr val="123047"/>
                </a:solidFill>
                <a:latin typeface="DejaVu Sans"/>
                <a:ea typeface="DejaVu Sans"/>
                <a:cs typeface="DejaVu Sans"/>
              </a:defRPr>
            </a:lvl2pPr>
            <a:lvl3pPr algn="l">
              <a:defRPr sz="2175" b="1">
                <a:solidFill>
                  <a:srgbClr val="123047"/>
                </a:solidFill>
                <a:latin typeface="DejaVu Sans"/>
                <a:ea typeface="DejaVu Sans"/>
                <a:cs typeface="DejaVu Sans"/>
              </a:defRPr>
            </a:lvl3pPr>
            <a:lvl4pPr algn="l">
              <a:defRPr sz="2175" b="1">
                <a:solidFill>
                  <a:srgbClr val="123047"/>
                </a:solidFill>
                <a:latin typeface="DejaVu Sans"/>
                <a:ea typeface="DejaVu Sans"/>
                <a:cs typeface="DejaVu Sans"/>
              </a:defRPr>
            </a:lvl4pPr>
            <a:lvl5pPr algn="l">
              <a:defRPr sz="2175" b="1">
                <a:solidFill>
                  <a:srgbClr val="123047"/>
                </a:solidFill>
                <a:latin typeface="DejaVu Sans"/>
                <a:ea typeface="DejaVu Sans"/>
                <a:cs typeface="DejaVu Sans"/>
              </a:defRPr>
            </a:lvl5pPr>
            <a:lvl6pPr algn="l">
              <a:defRPr sz="2175" b="1">
                <a:solidFill>
                  <a:srgbClr val="123047"/>
                </a:solidFill>
                <a:latin typeface="DejaVu Sans"/>
                <a:ea typeface="DejaVu Sans"/>
                <a:cs typeface="DejaVu Sans"/>
              </a:defRPr>
            </a:lvl6pPr>
            <a:lvl7pPr algn="l">
              <a:defRPr sz="2175" b="1">
                <a:solidFill>
                  <a:srgbClr val="123047"/>
                </a:solidFill>
                <a:latin typeface="DejaVu Sans"/>
                <a:ea typeface="DejaVu Sans"/>
                <a:cs typeface="DejaVu Sans"/>
              </a:defRPr>
            </a:lvl7pPr>
            <a:lvl8pPr algn="l">
              <a:defRPr sz="2175" b="1">
                <a:solidFill>
                  <a:srgbClr val="123047"/>
                </a:solidFill>
                <a:latin typeface="DejaVu Sans"/>
                <a:ea typeface="DejaVu Sans"/>
                <a:cs typeface="DejaVu Sans"/>
              </a:defRPr>
            </a:lvl8pPr>
            <a:lvl9pPr algn="l">
              <a:defRPr sz="2175" b="1">
                <a:solidFill>
                  <a:srgbClr val="123047"/>
                </a:solidFill>
                <a:latin typeface="DejaVu Sans"/>
                <a:ea typeface="DejaVu Sans"/>
                <a:cs typeface="DejaVu Sans"/>
              </a:defRPr>
            </a:lvl9pPr>
          </a:lstStyle>
          <a:p>
            <a:pPr algn="l">
              <a:lnSpc>
                <a:spcPct val="112000"/>
              </a:lnSpc>
              <a:buNone/>
              <a:defRPr sz="2175" b="1">
                <a:solidFill>
                  <a:srgbClr val="123047"/>
                </a:solidFill>
                <a:latin typeface="DejaVu Sans"/>
                <a:ea typeface="DejaVu Sans"/>
                <a:cs typeface="DejaVu Sans"/>
              </a:defRPr>
            </a:pPr>
            <a:r>
              <a:rPr sz="2175" b="1">
                <a:solidFill>
                  <a:srgbClr val="123047"/>
                </a:solidFill>
                <a:latin typeface="DejaVu Sans"/>
                <a:ea typeface="DejaVu Sans"/>
                <a:cs typeface="DejaVu Sans"/>
              </a:rPr>
              <a:t>Lõi 0: mạng</a:t>
            </a:r>
          </a:p>
        </p:txBody>
      </p:sp>
      <p:sp>
        <p:nvSpPr>
          <p:cNvPr id="7" name="node-172">
            <a:extLst>
              <a:ext uri="{FF2B5EF4-FFF2-40B4-BE49-F238E27FC236}">
                <a16:creationId xmlns:a16="http://schemas.microsoft.com/office/drawing/2014/main" id="{188C5371-AFDF-418C-9B45-FC5D3E817B62}"/>
              </a:ext>
            </a:extLst>
          </p:cNvPr>
          <p:cNvSpPr>
            <a:spLocks noGrp="1"/>
          </p:cNvSpPr>
          <p:nvPr/>
        </p:nvSpPr>
        <p:spPr>
          <a:xfrm>
            <a:off x="609600" y="2295525"/>
            <a:ext cx="5010150" cy="6477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Serial, DHT22, thử T</a:t>
            </a:r>
          </a:p>
        </p:txBody>
      </p:sp>
      <p:sp>
        <p:nvSpPr>
          <p:cNvPr id="8" name="node-173">
            <a:extLst>
              <a:ext uri="{FF2B5EF4-FFF2-40B4-BE49-F238E27FC236}">
                <a16:creationId xmlns:a16="http://schemas.microsoft.com/office/drawing/2014/main" id="{BC31F45B-84C5-4449-8BC0-9A9B4009E9C5}"/>
              </a:ext>
            </a:extLst>
          </p:cNvPr>
          <p:cNvSpPr>
            <a:spLocks noGrp="1"/>
          </p:cNvSpPr>
          <p:nvPr/>
        </p:nvSpPr>
        <p:spPr>
          <a:xfrm>
            <a:off x="609600" y="3162300"/>
            <a:ext cx="5010150" cy="6477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Đọc gas / bụi, kiểm tra và lọc</a:t>
            </a:r>
          </a:p>
        </p:txBody>
      </p:sp>
      <p:sp>
        <p:nvSpPr>
          <p:cNvPr id="9" name="node-174">
            <a:extLst>
              <a:ext uri="{FF2B5EF4-FFF2-40B4-BE49-F238E27FC236}">
                <a16:creationId xmlns:a16="http://schemas.microsoft.com/office/drawing/2014/main" id="{BDFC5BF3-A1B6-4802-855B-5EF371FF98DD}"/>
              </a:ext>
            </a:extLst>
          </p:cNvPr>
          <p:cNvSpPr>
            <a:spLocks noGrp="1"/>
          </p:cNvSpPr>
          <p:nvPr/>
        </p:nvSpPr>
        <p:spPr>
          <a:xfrm>
            <a:off x="609600" y="4029075"/>
            <a:ext cx="5010150" cy="6477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Xác nhận cờ, quyết định relay</a:t>
            </a:r>
          </a:p>
        </p:txBody>
      </p:sp>
      <p:sp>
        <p:nvSpPr>
          <p:cNvPr id="10" name="node-175">
            <a:extLst>
              <a:ext uri="{FF2B5EF4-FFF2-40B4-BE49-F238E27FC236}">
                <a16:creationId xmlns:a16="http://schemas.microsoft.com/office/drawing/2014/main" id="{FA2A4E28-3143-4BDA-AF15-3C87710214F6}"/>
              </a:ext>
            </a:extLst>
          </p:cNvPr>
          <p:cNvSpPr>
            <a:spLocks noGrp="1"/>
          </p:cNvSpPr>
          <p:nvPr/>
        </p:nvSpPr>
        <p:spPr>
          <a:xfrm>
            <a:off x="609600" y="4895850"/>
            <a:ext cx="5010150" cy="647700"/>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00" b="0">
                <a:solidFill>
                  <a:srgbClr val="123047"/>
                </a:solidFill>
                <a:latin typeface="DejaVu Sans"/>
                <a:ea typeface="DejaVu Sans"/>
                <a:cs typeface="DejaVu Sans"/>
              </a:defRPr>
            </a:defPPr>
            <a:lvl1pPr algn="ctr">
              <a:defRPr sz="1800" b="0">
                <a:solidFill>
                  <a:srgbClr val="123047"/>
                </a:solidFill>
                <a:latin typeface="DejaVu Sans"/>
                <a:ea typeface="DejaVu Sans"/>
                <a:cs typeface="DejaVu Sans"/>
              </a:defRPr>
            </a:lvl1pPr>
            <a:lvl2pPr algn="ctr">
              <a:defRPr sz="1800" b="0">
                <a:solidFill>
                  <a:srgbClr val="123047"/>
                </a:solidFill>
                <a:latin typeface="DejaVu Sans"/>
                <a:ea typeface="DejaVu Sans"/>
                <a:cs typeface="DejaVu Sans"/>
              </a:defRPr>
            </a:lvl2pPr>
            <a:lvl3pPr algn="ctr">
              <a:defRPr sz="1800" b="0">
                <a:solidFill>
                  <a:srgbClr val="123047"/>
                </a:solidFill>
                <a:latin typeface="DejaVu Sans"/>
                <a:ea typeface="DejaVu Sans"/>
                <a:cs typeface="DejaVu Sans"/>
              </a:defRPr>
            </a:lvl3pPr>
            <a:lvl4pPr algn="ctr">
              <a:defRPr sz="1800" b="0">
                <a:solidFill>
                  <a:srgbClr val="123047"/>
                </a:solidFill>
                <a:latin typeface="DejaVu Sans"/>
                <a:ea typeface="DejaVu Sans"/>
                <a:cs typeface="DejaVu Sans"/>
              </a:defRPr>
            </a:lvl4pPr>
            <a:lvl5pPr algn="ctr">
              <a:defRPr sz="1800" b="0">
                <a:solidFill>
                  <a:srgbClr val="123047"/>
                </a:solidFill>
                <a:latin typeface="DejaVu Sans"/>
                <a:ea typeface="DejaVu Sans"/>
                <a:cs typeface="DejaVu Sans"/>
              </a:defRPr>
            </a:lvl5pPr>
            <a:lvl6pPr algn="ctr">
              <a:defRPr sz="1800" b="0">
                <a:solidFill>
                  <a:srgbClr val="123047"/>
                </a:solidFill>
                <a:latin typeface="DejaVu Sans"/>
                <a:ea typeface="DejaVu Sans"/>
                <a:cs typeface="DejaVu Sans"/>
              </a:defRPr>
            </a:lvl6pPr>
            <a:lvl7pPr algn="ctr">
              <a:defRPr sz="1800" b="0">
                <a:solidFill>
                  <a:srgbClr val="123047"/>
                </a:solidFill>
                <a:latin typeface="DejaVu Sans"/>
                <a:ea typeface="DejaVu Sans"/>
                <a:cs typeface="DejaVu Sans"/>
              </a:defRPr>
            </a:lvl7pPr>
            <a:lvl8pPr algn="ctr">
              <a:defRPr sz="1800" b="0">
                <a:solidFill>
                  <a:srgbClr val="123047"/>
                </a:solidFill>
                <a:latin typeface="DejaVu Sans"/>
                <a:ea typeface="DejaVu Sans"/>
                <a:cs typeface="DejaVu Sans"/>
              </a:defRPr>
            </a:lvl8pPr>
            <a:lvl9pPr algn="ctr">
              <a:defRPr sz="1800" b="0">
                <a:solidFill>
                  <a:srgbClr val="123047"/>
                </a:solidFill>
                <a:latin typeface="DejaVu Sans"/>
                <a:ea typeface="DejaVu Sans"/>
                <a:cs typeface="DejaVu Sans"/>
              </a:defRPr>
            </a:lvl9pPr>
          </a:lstStyle>
          <a:p>
            <a:pPr algn="ctr">
              <a:lnSpc>
                <a:spcPct val="105000"/>
              </a:lnSpc>
              <a:buNone/>
              <a:defRPr sz="1800" b="0">
                <a:solidFill>
                  <a:srgbClr val="123047"/>
                </a:solidFill>
                <a:latin typeface="DejaVu Sans"/>
                <a:ea typeface="DejaVu Sans"/>
                <a:cs typeface="DejaVu Sans"/>
              </a:defRPr>
            </a:pPr>
            <a:r>
              <a:rPr sz="1800" b="0">
                <a:solidFill>
                  <a:srgbClr val="123047"/>
                </a:solidFill>
                <a:latin typeface="DejaVu Sans"/>
                <a:ea typeface="DejaVu Sans"/>
                <a:cs typeface="DejaVu Sans"/>
              </a:rPr>
              <a:t>LCD / Serial, công bố AirSnapshot</a:t>
            </a:r>
          </a:p>
        </p:txBody>
      </p:sp>
      <p:sp>
        <p:nvSpPr>
          <p:cNvPr id="14" name="node-176">
            <a:extLst>
              <a:ext uri="{FF2B5EF4-FFF2-40B4-BE49-F238E27FC236}">
                <a16:creationId xmlns:a16="http://schemas.microsoft.com/office/drawing/2014/main" id="{26CE8A98-9531-44AE-932B-A9579F1AF0DC}"/>
              </a:ext>
            </a:extLst>
          </p:cNvPr>
          <p:cNvSpPr>
            <a:spLocks noGrp="1"/>
          </p:cNvSpPr>
          <p:nvPr/>
        </p:nvSpPr>
        <p:spPr>
          <a:xfrm>
            <a:off x="5867400" y="3371850"/>
            <a:ext cx="1219200" cy="885825"/>
          </a:xfrm>
          <a:prstGeom prst="rect">
            <a:avLst/>
          </a:prstGeom>
          <a:solidFill>
            <a:srgbClr val="EAF2F4"/>
          </a:solidFill>
          <a:ln w="17145">
            <a:solidFill>
              <a:srgbClr val="007E87"/>
            </a:solidFill>
            <a:prstDash val="solid"/>
          </a:ln>
        </p:spPr>
        <p:txBody>
          <a:bodyPr wrap="square" lIns="114300" tIns="95250" rIns="114300" bIns="95250" anchor="ctr">
            <a:noAutofit/>
          </a:bodyPr>
          <a:lstStyle>
            <a:defPPr algn="ctr">
              <a:defRPr sz="1500" b="0">
                <a:solidFill>
                  <a:srgbClr val="123047"/>
                </a:solidFill>
                <a:latin typeface="DejaVu Sans"/>
                <a:ea typeface="DejaVu Sans"/>
                <a:cs typeface="DejaVu Sans"/>
              </a:defRPr>
            </a:defPPr>
            <a:lvl1pPr algn="ctr">
              <a:defRPr sz="1500" b="0">
                <a:solidFill>
                  <a:srgbClr val="123047"/>
                </a:solidFill>
                <a:latin typeface="DejaVu Sans"/>
                <a:ea typeface="DejaVu Sans"/>
                <a:cs typeface="DejaVu Sans"/>
              </a:defRPr>
            </a:lvl1pPr>
            <a:lvl2pPr algn="ctr">
              <a:defRPr sz="1500" b="0">
                <a:solidFill>
                  <a:srgbClr val="123047"/>
                </a:solidFill>
                <a:latin typeface="DejaVu Sans"/>
                <a:ea typeface="DejaVu Sans"/>
                <a:cs typeface="DejaVu Sans"/>
              </a:defRPr>
            </a:lvl2pPr>
            <a:lvl3pPr algn="ctr">
              <a:defRPr sz="1500" b="0">
                <a:solidFill>
                  <a:srgbClr val="123047"/>
                </a:solidFill>
                <a:latin typeface="DejaVu Sans"/>
                <a:ea typeface="DejaVu Sans"/>
                <a:cs typeface="DejaVu Sans"/>
              </a:defRPr>
            </a:lvl3pPr>
            <a:lvl4pPr algn="ctr">
              <a:defRPr sz="1500" b="0">
                <a:solidFill>
                  <a:srgbClr val="123047"/>
                </a:solidFill>
                <a:latin typeface="DejaVu Sans"/>
                <a:ea typeface="DejaVu Sans"/>
                <a:cs typeface="DejaVu Sans"/>
              </a:defRPr>
            </a:lvl4pPr>
            <a:lvl5pPr algn="ctr">
              <a:defRPr sz="1500" b="0">
                <a:solidFill>
                  <a:srgbClr val="123047"/>
                </a:solidFill>
                <a:latin typeface="DejaVu Sans"/>
                <a:ea typeface="DejaVu Sans"/>
                <a:cs typeface="DejaVu Sans"/>
              </a:defRPr>
            </a:lvl5pPr>
            <a:lvl6pPr algn="ctr">
              <a:defRPr sz="1500" b="0">
                <a:solidFill>
                  <a:srgbClr val="123047"/>
                </a:solidFill>
                <a:latin typeface="DejaVu Sans"/>
                <a:ea typeface="DejaVu Sans"/>
                <a:cs typeface="DejaVu Sans"/>
              </a:defRPr>
            </a:lvl6pPr>
            <a:lvl7pPr algn="ctr">
              <a:defRPr sz="1500" b="0">
                <a:solidFill>
                  <a:srgbClr val="123047"/>
                </a:solidFill>
                <a:latin typeface="DejaVu Sans"/>
                <a:ea typeface="DejaVu Sans"/>
                <a:cs typeface="DejaVu Sans"/>
              </a:defRPr>
            </a:lvl7pPr>
            <a:lvl8pPr algn="ctr">
              <a:defRPr sz="1500" b="0">
                <a:solidFill>
                  <a:srgbClr val="123047"/>
                </a:solidFill>
                <a:latin typeface="DejaVu Sans"/>
                <a:ea typeface="DejaVu Sans"/>
                <a:cs typeface="DejaVu Sans"/>
              </a:defRPr>
            </a:lvl8pPr>
            <a:lvl9pPr algn="ctr">
              <a:defRPr sz="1500" b="0">
                <a:solidFill>
                  <a:srgbClr val="123047"/>
                </a:solidFill>
                <a:latin typeface="DejaVu Sans"/>
                <a:ea typeface="DejaVu Sans"/>
                <a:cs typeface="DejaVu Sans"/>
              </a:defRPr>
            </a:lvl9pPr>
          </a:lstStyle>
          <a:p>
            <a:pPr algn="ctr">
              <a:lnSpc>
                <a:spcPct val="105000"/>
              </a:lnSpc>
              <a:buNone/>
              <a:defRPr sz="1500" b="0">
                <a:solidFill>
                  <a:srgbClr val="123047"/>
                </a:solidFill>
                <a:latin typeface="DejaVu Sans"/>
                <a:ea typeface="DejaVu Sans"/>
                <a:cs typeface="DejaVu Sans"/>
              </a:defRPr>
            </a:pPr>
            <a:r>
              <a:rPr sz="1500" b="0">
                <a:solidFill>
                  <a:srgbClr val="123047"/>
                </a:solidFill>
                <a:latin typeface="DejaVu Sans"/>
                <a:ea typeface="DejaVu Sans"/>
                <a:cs typeface="DejaVu Sans"/>
              </a:rPr>
              <a:t>Bản sao</a:t>
            </a:r>
          </a:p>
          <a:p>
            <a:pPr algn="ctr">
              <a:lnSpc>
                <a:spcPct val="105000"/>
              </a:lnSpc>
              <a:buNone/>
              <a:defRPr sz="1500" b="0">
                <a:solidFill>
                  <a:srgbClr val="123047"/>
                </a:solidFill>
                <a:latin typeface="DejaVu Sans"/>
                <a:ea typeface="DejaVu Sans"/>
                <a:cs typeface="DejaVu Sans"/>
              </a:defRPr>
            </a:pPr>
            <a:r>
              <a:rPr sz="1500" b="0">
                <a:solidFill>
                  <a:srgbClr val="123047"/>
                </a:solidFill>
                <a:latin typeface="DejaVu Sans"/>
                <a:ea typeface="DejaVu Sans"/>
                <a:cs typeface="DejaVu Sans"/>
              </a:rPr>
              <a:t>trạng thái</a:t>
            </a:r>
          </a:p>
        </p:txBody>
      </p:sp>
      <p:sp>
        <p:nvSpPr>
          <p:cNvPr id="15" name="node-177">
            <a:extLst>
              <a:ext uri="{FF2B5EF4-FFF2-40B4-BE49-F238E27FC236}">
                <a16:creationId xmlns:a16="http://schemas.microsoft.com/office/drawing/2014/main" id="{30FDFC7B-A8F9-434A-A665-83350249D8C3}"/>
              </a:ext>
            </a:extLst>
          </p:cNvPr>
          <p:cNvSpPr>
            <a:spLocks noGrp="1"/>
          </p:cNvSpPr>
          <p:nvPr/>
        </p:nvSpPr>
        <p:spPr>
          <a:xfrm>
            <a:off x="7410450" y="2428875"/>
            <a:ext cx="4171950" cy="10382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75" b="0">
                <a:solidFill>
                  <a:srgbClr val="123047"/>
                </a:solidFill>
                <a:latin typeface="DejaVu Sans"/>
                <a:ea typeface="DejaVu Sans"/>
                <a:cs typeface="DejaVu Sans"/>
              </a:defRPr>
            </a:defPPr>
            <a:lvl1pPr algn="ctr">
              <a:defRPr sz="1875" b="0">
                <a:solidFill>
                  <a:srgbClr val="123047"/>
                </a:solidFill>
                <a:latin typeface="DejaVu Sans"/>
                <a:ea typeface="DejaVu Sans"/>
                <a:cs typeface="DejaVu Sans"/>
              </a:defRPr>
            </a:lvl1pPr>
            <a:lvl2pPr algn="ctr">
              <a:defRPr sz="1875" b="0">
                <a:solidFill>
                  <a:srgbClr val="123047"/>
                </a:solidFill>
                <a:latin typeface="DejaVu Sans"/>
                <a:ea typeface="DejaVu Sans"/>
                <a:cs typeface="DejaVu Sans"/>
              </a:defRPr>
            </a:lvl2pPr>
            <a:lvl3pPr algn="ctr">
              <a:defRPr sz="1875" b="0">
                <a:solidFill>
                  <a:srgbClr val="123047"/>
                </a:solidFill>
                <a:latin typeface="DejaVu Sans"/>
                <a:ea typeface="DejaVu Sans"/>
                <a:cs typeface="DejaVu Sans"/>
              </a:defRPr>
            </a:lvl3pPr>
            <a:lvl4pPr algn="ctr">
              <a:defRPr sz="1875" b="0">
                <a:solidFill>
                  <a:srgbClr val="123047"/>
                </a:solidFill>
                <a:latin typeface="DejaVu Sans"/>
                <a:ea typeface="DejaVu Sans"/>
                <a:cs typeface="DejaVu Sans"/>
              </a:defRPr>
            </a:lvl4pPr>
            <a:lvl5pPr algn="ctr">
              <a:defRPr sz="1875" b="0">
                <a:solidFill>
                  <a:srgbClr val="123047"/>
                </a:solidFill>
                <a:latin typeface="DejaVu Sans"/>
                <a:ea typeface="DejaVu Sans"/>
                <a:cs typeface="DejaVu Sans"/>
              </a:defRPr>
            </a:lvl5pPr>
            <a:lvl6pPr algn="ctr">
              <a:defRPr sz="1875" b="0">
                <a:solidFill>
                  <a:srgbClr val="123047"/>
                </a:solidFill>
                <a:latin typeface="DejaVu Sans"/>
                <a:ea typeface="DejaVu Sans"/>
                <a:cs typeface="DejaVu Sans"/>
              </a:defRPr>
            </a:lvl6pPr>
            <a:lvl7pPr algn="ctr">
              <a:defRPr sz="1875" b="0">
                <a:solidFill>
                  <a:srgbClr val="123047"/>
                </a:solidFill>
                <a:latin typeface="DejaVu Sans"/>
                <a:ea typeface="DejaVu Sans"/>
                <a:cs typeface="DejaVu Sans"/>
              </a:defRPr>
            </a:lvl7pPr>
            <a:lvl8pPr algn="ctr">
              <a:defRPr sz="1875" b="0">
                <a:solidFill>
                  <a:srgbClr val="123047"/>
                </a:solidFill>
                <a:latin typeface="DejaVu Sans"/>
                <a:ea typeface="DejaVu Sans"/>
                <a:cs typeface="DejaVu Sans"/>
              </a:defRPr>
            </a:lvl8pPr>
            <a:lvl9pPr algn="ctr">
              <a:defRPr sz="1875" b="0">
                <a:solidFill>
                  <a:srgbClr val="123047"/>
                </a:solidFill>
                <a:latin typeface="DejaVu Sans"/>
                <a:ea typeface="DejaVu Sans"/>
                <a:cs typeface="DejaVu Sans"/>
              </a:defRPr>
            </a:lvl9pPr>
          </a:lstStyle>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webTask</a:t>
            </a:r>
          </a:p>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Dashboard và API</a:t>
            </a:r>
          </a:p>
        </p:txBody>
      </p:sp>
      <p:sp>
        <p:nvSpPr>
          <p:cNvPr id="16" name="node-178">
            <a:extLst>
              <a:ext uri="{FF2B5EF4-FFF2-40B4-BE49-F238E27FC236}">
                <a16:creationId xmlns:a16="http://schemas.microsoft.com/office/drawing/2014/main" id="{5FC3D6CC-87ED-45D3-AFAF-6BFA1112FFB6}"/>
              </a:ext>
            </a:extLst>
          </p:cNvPr>
          <p:cNvSpPr>
            <a:spLocks noGrp="1"/>
          </p:cNvSpPr>
          <p:nvPr/>
        </p:nvSpPr>
        <p:spPr>
          <a:xfrm>
            <a:off x="7410450" y="4067175"/>
            <a:ext cx="4171950" cy="10382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75" b="0">
                <a:solidFill>
                  <a:srgbClr val="123047"/>
                </a:solidFill>
                <a:latin typeface="DejaVu Sans"/>
                <a:ea typeface="DejaVu Sans"/>
                <a:cs typeface="DejaVu Sans"/>
              </a:defRPr>
            </a:defPPr>
            <a:lvl1pPr algn="ctr">
              <a:defRPr sz="1875" b="0">
                <a:solidFill>
                  <a:srgbClr val="123047"/>
                </a:solidFill>
                <a:latin typeface="DejaVu Sans"/>
                <a:ea typeface="DejaVu Sans"/>
                <a:cs typeface="DejaVu Sans"/>
              </a:defRPr>
            </a:lvl1pPr>
            <a:lvl2pPr algn="ctr">
              <a:defRPr sz="1875" b="0">
                <a:solidFill>
                  <a:srgbClr val="123047"/>
                </a:solidFill>
                <a:latin typeface="DejaVu Sans"/>
                <a:ea typeface="DejaVu Sans"/>
                <a:cs typeface="DejaVu Sans"/>
              </a:defRPr>
            </a:lvl2pPr>
            <a:lvl3pPr algn="ctr">
              <a:defRPr sz="1875" b="0">
                <a:solidFill>
                  <a:srgbClr val="123047"/>
                </a:solidFill>
                <a:latin typeface="DejaVu Sans"/>
                <a:ea typeface="DejaVu Sans"/>
                <a:cs typeface="DejaVu Sans"/>
              </a:defRPr>
            </a:lvl3pPr>
            <a:lvl4pPr algn="ctr">
              <a:defRPr sz="1875" b="0">
                <a:solidFill>
                  <a:srgbClr val="123047"/>
                </a:solidFill>
                <a:latin typeface="DejaVu Sans"/>
                <a:ea typeface="DejaVu Sans"/>
                <a:cs typeface="DejaVu Sans"/>
              </a:defRPr>
            </a:lvl4pPr>
            <a:lvl5pPr algn="ctr">
              <a:defRPr sz="1875" b="0">
                <a:solidFill>
                  <a:srgbClr val="123047"/>
                </a:solidFill>
                <a:latin typeface="DejaVu Sans"/>
                <a:ea typeface="DejaVu Sans"/>
                <a:cs typeface="DejaVu Sans"/>
              </a:defRPr>
            </a:lvl5pPr>
            <a:lvl6pPr algn="ctr">
              <a:defRPr sz="1875" b="0">
                <a:solidFill>
                  <a:srgbClr val="123047"/>
                </a:solidFill>
                <a:latin typeface="DejaVu Sans"/>
                <a:ea typeface="DejaVu Sans"/>
                <a:cs typeface="DejaVu Sans"/>
              </a:defRPr>
            </a:lvl6pPr>
            <a:lvl7pPr algn="ctr">
              <a:defRPr sz="1875" b="0">
                <a:solidFill>
                  <a:srgbClr val="123047"/>
                </a:solidFill>
                <a:latin typeface="DejaVu Sans"/>
                <a:ea typeface="DejaVu Sans"/>
                <a:cs typeface="DejaVu Sans"/>
              </a:defRPr>
            </a:lvl7pPr>
            <a:lvl8pPr algn="ctr">
              <a:defRPr sz="1875" b="0">
                <a:solidFill>
                  <a:srgbClr val="123047"/>
                </a:solidFill>
                <a:latin typeface="DejaVu Sans"/>
                <a:ea typeface="DejaVu Sans"/>
                <a:cs typeface="DejaVu Sans"/>
              </a:defRPr>
            </a:lvl8pPr>
            <a:lvl9pPr algn="ctr">
              <a:defRPr sz="1875" b="0">
                <a:solidFill>
                  <a:srgbClr val="123047"/>
                </a:solidFill>
                <a:latin typeface="DejaVu Sans"/>
                <a:ea typeface="DejaVu Sans"/>
                <a:cs typeface="DejaVu Sans"/>
              </a:defRPr>
            </a:lvl9pPr>
          </a:lstStyle>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telegramTask</a:t>
            </a:r>
          </a:p>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HTTPS và chính sách thông báo</a:t>
            </a:r>
          </a:p>
        </p:txBody>
      </p:sp>
      <p:sp>
        <p:nvSpPr>
          <p:cNvPr id="20" name="text-179">
            <a:extLst>
              <a:ext uri="{FF2B5EF4-FFF2-40B4-BE49-F238E27FC236}">
                <a16:creationId xmlns:a16="http://schemas.microsoft.com/office/drawing/2014/main" id="{BA93C70F-86AB-4F0E-B0D0-9A16DC92D93A}"/>
              </a:ext>
            </a:extLst>
          </p:cNvPr>
          <p:cNvSpPr>
            <a:spLocks noGrp="1"/>
          </p:cNvSpPr>
          <p:nvPr/>
        </p:nvSpPr>
        <p:spPr>
          <a:xfrm>
            <a:off x="7467600" y="3619500"/>
            <a:ext cx="4095750" cy="295275"/>
          </a:xfrm>
          <a:prstGeom prst="rect">
            <a:avLst/>
          </a:prstGeom>
          <a:noFill/>
          <a:ln w="0">
            <a:noFill/>
            <a:prstDash val="solid"/>
          </a:ln>
        </p:spPr>
        <p:txBody>
          <a:bodyPr wrap="square" lIns="0" tIns="0" rIns="0" bIns="0" anchor="t">
            <a:noAutofit/>
          </a:bodyPr>
          <a:lstStyle>
            <a:defPPr algn="l">
              <a:defRPr sz="1500" b="0">
                <a:solidFill>
                  <a:srgbClr val="536B7B"/>
                </a:solidFill>
                <a:latin typeface="DejaVu Sans"/>
                <a:ea typeface="DejaVu Sans"/>
                <a:cs typeface="DejaVu Sans"/>
              </a:defRPr>
            </a:defPPr>
            <a:lvl1pPr algn="l">
              <a:defRPr sz="1500" b="0">
                <a:solidFill>
                  <a:srgbClr val="536B7B"/>
                </a:solidFill>
                <a:latin typeface="DejaVu Sans"/>
                <a:ea typeface="DejaVu Sans"/>
                <a:cs typeface="DejaVu Sans"/>
              </a:defRPr>
            </a:lvl1pPr>
            <a:lvl2pPr algn="l">
              <a:defRPr sz="1500" b="0">
                <a:solidFill>
                  <a:srgbClr val="536B7B"/>
                </a:solidFill>
                <a:latin typeface="DejaVu Sans"/>
                <a:ea typeface="DejaVu Sans"/>
                <a:cs typeface="DejaVu Sans"/>
              </a:defRPr>
            </a:lvl2pPr>
            <a:lvl3pPr algn="l">
              <a:defRPr sz="1500" b="0">
                <a:solidFill>
                  <a:srgbClr val="536B7B"/>
                </a:solidFill>
                <a:latin typeface="DejaVu Sans"/>
                <a:ea typeface="DejaVu Sans"/>
                <a:cs typeface="DejaVu Sans"/>
              </a:defRPr>
            </a:lvl3pPr>
            <a:lvl4pPr algn="l">
              <a:defRPr sz="1500" b="0">
                <a:solidFill>
                  <a:srgbClr val="536B7B"/>
                </a:solidFill>
                <a:latin typeface="DejaVu Sans"/>
                <a:ea typeface="DejaVu Sans"/>
                <a:cs typeface="DejaVu Sans"/>
              </a:defRPr>
            </a:lvl4pPr>
            <a:lvl5pPr algn="l">
              <a:defRPr sz="1500" b="0">
                <a:solidFill>
                  <a:srgbClr val="536B7B"/>
                </a:solidFill>
                <a:latin typeface="DejaVu Sans"/>
                <a:ea typeface="DejaVu Sans"/>
                <a:cs typeface="DejaVu Sans"/>
              </a:defRPr>
            </a:lvl5pPr>
            <a:lvl6pPr algn="l">
              <a:defRPr sz="1500" b="0">
                <a:solidFill>
                  <a:srgbClr val="536B7B"/>
                </a:solidFill>
                <a:latin typeface="DejaVu Sans"/>
                <a:ea typeface="DejaVu Sans"/>
                <a:cs typeface="DejaVu Sans"/>
              </a:defRPr>
            </a:lvl6pPr>
            <a:lvl7pPr algn="l">
              <a:defRPr sz="1500" b="0">
                <a:solidFill>
                  <a:srgbClr val="536B7B"/>
                </a:solidFill>
                <a:latin typeface="DejaVu Sans"/>
                <a:ea typeface="DejaVu Sans"/>
                <a:cs typeface="DejaVu Sans"/>
              </a:defRPr>
            </a:lvl7pPr>
            <a:lvl8pPr algn="l">
              <a:defRPr sz="1500" b="0">
                <a:solidFill>
                  <a:srgbClr val="536B7B"/>
                </a:solidFill>
                <a:latin typeface="DejaVu Sans"/>
                <a:ea typeface="DejaVu Sans"/>
                <a:cs typeface="DejaVu Sans"/>
              </a:defRPr>
            </a:lvl8pPr>
            <a:lvl9pPr algn="l">
              <a:defRPr sz="1500" b="0">
                <a:solidFill>
                  <a:srgbClr val="536B7B"/>
                </a:solidFill>
                <a:latin typeface="DejaVu Sans"/>
                <a:ea typeface="DejaVu Sans"/>
                <a:cs typeface="DejaVu Sans"/>
              </a:defRPr>
            </a:lvl9pPr>
          </a:lstStyle>
          <a:p>
            <a:pPr algn="l">
              <a:lnSpc>
                <a:spcPct val="112000"/>
              </a:lnSpc>
              <a:buNone/>
              <a:defRPr sz="1500" b="0">
                <a:solidFill>
                  <a:srgbClr val="536B7B"/>
                </a:solidFill>
                <a:latin typeface="DejaVu Sans"/>
                <a:ea typeface="DejaVu Sans"/>
                <a:cs typeface="DejaVu Sans"/>
              </a:defRPr>
            </a:pPr>
            <a:r>
              <a:rPr sz="1500" b="0">
                <a:solidFill>
                  <a:srgbClr val="536B7B"/>
                </a:solidFill>
                <a:latin typeface="DejaVu Sans"/>
                <a:ea typeface="DejaVu Sans"/>
                <a:cs typeface="DejaVu Sans"/>
              </a:rPr>
              <a:t>HTTP chạy ngoài khóa</a:t>
            </a:r>
          </a:p>
        </p:txBody>
      </p:sp>
      <p:sp>
        <p:nvSpPr>
          <p:cNvPr id="21" name="text-180">
            <a:extLst>
              <a:ext uri="{FF2B5EF4-FFF2-40B4-BE49-F238E27FC236}">
                <a16:creationId xmlns:a16="http://schemas.microsoft.com/office/drawing/2014/main" id="{E60835C6-6F32-4F37-BF09-3C4366A3DE76}"/>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Đây là mô hình soft real-time. Cần đo độ trễ thực tế trên phần cứng.</a:t>
            </a:r>
          </a:p>
        </p:txBody>
      </p:sp>
    </p:spTree>
    <p:extLst>
      <p:ext uri="{BB962C8B-B14F-4D97-AF65-F5344CB8AC3E}">
        <p14:creationId xmlns:p14="http://schemas.microsoft.com/office/powerpoint/2010/main" val="1895706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41CEB55B-4226-4F38-927F-3A8B85179041}"/>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Chu kỳ đo, hiển thị và chẩn đoán</a:t>
            </a:r>
          </a:p>
        </p:txBody>
      </p:sp>
      <p:sp>
        <p:nvSpPr>
          <p:cNvPr id="2" name="rule-181">
            <a:extLst>
              <a:ext uri="{FF2B5EF4-FFF2-40B4-BE49-F238E27FC236}">
                <a16:creationId xmlns:a16="http://schemas.microsoft.com/office/drawing/2014/main" id="{DD1B8326-CC3D-4B06-84F7-8BB3E7637B4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BAE97381-6F4E-428A-BEA0-41EB61692F58}"/>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E4B0BFEA-1369-46FF-8539-7E1DD0E64B44}"/>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25</a:t>
            </a:r>
          </a:p>
        </p:txBody>
      </p:sp>
      <p:graphicFrame>
        <p:nvGraphicFramePr>
          <p:cNvPr id="5" name="Table 4">
            <a:extLst>
              <a:ext uri="{FF2B5EF4-FFF2-40B4-BE49-F238E27FC236}">
                <a16:creationId xmlns:a16="http://schemas.microsoft.com/office/drawing/2014/main" id="{E099757D-BA11-4BE7-A4EB-80D74C315222}"/>
              </a:ext>
            </a:extLst>
          </p:cNvPr>
          <p:cNvGraphicFramePr/>
          <p:nvPr/>
        </p:nvGraphicFramePr>
        <p:xfrm>
          <a:off x="609600" y="1657350"/>
          <a:ext cx="10972800" cy="4410075"/>
        </p:xfrm>
        <a:graphic>
          <a:graphicData uri="http://schemas.openxmlformats.org/drawingml/2006/table">
            <a:tbl>
              <a:tblPr firstRow="1"/>
              <a:tblGrid>
                <a:gridCol w="493776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Tác vụ</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Thông số chương trình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647700">
                <a:tc>
                  <a:txBody>
                    <a:bodyPr/>
                    <a:lstStyle/>
                    <a:p>
                      <a:r>
                        <a:rPr sz="1725">
                          <a:solidFill>
                            <a:srgbClr val="263E50"/>
                          </a:solidFill>
                          <a:latin typeface="DejaVu Sans"/>
                          <a:ea typeface="DejaVu Sans"/>
                          <a:cs typeface="DejaVu Sans"/>
                        </a:rPr>
                        <a:t>Đọc DHT22</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2500 ms giữa các lần hỏi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725">
                          <a:solidFill>
                            <a:srgbClr val="263E50"/>
                          </a:solidFill>
                          <a:latin typeface="DejaVu Sans"/>
                          <a:ea typeface="DejaVu Sans"/>
                          <a:cs typeface="DejaVu Sans"/>
                        </a:rPr>
                        <a:t>Làm mới LCD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Khoảng 400 ms khi vòng lặp cho phép</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647700">
                <a:tc>
                  <a:txBody>
                    <a:bodyPr/>
                    <a:lstStyle/>
                    <a:p>
                      <a:r>
                        <a:rPr sz="1725">
                          <a:solidFill>
                            <a:srgbClr val="263E50"/>
                          </a:solidFill>
                          <a:latin typeface="DejaVu Sans"/>
                          <a:ea typeface="DejaVu Sans"/>
                          <a:cs typeface="DejaVu Sans"/>
                        </a:rPr>
                        <a:t>Chuyển trang LCD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2500 ms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725">
                          <a:solidFill>
                            <a:srgbClr val="263E50"/>
                          </a:solidFill>
                          <a:latin typeface="DejaVu Sans"/>
                          <a:ea typeface="DejaVu Sans"/>
                          <a:cs typeface="DejaVu Sans"/>
                        </a:rPr>
                        <a:t>Xuất bản tin Serial</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Khoảng 1000 ms khi vòng lặp cho phép</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647700">
                <a:tc>
                  <a:txBody>
                    <a:bodyPr/>
                    <a:lstStyle/>
                    <a:p>
                      <a:r>
                        <a:rPr sz="1725">
                          <a:solidFill>
                            <a:srgbClr val="263E50"/>
                          </a:solidFill>
                          <a:latin typeface="DejaVu Sans"/>
                          <a:ea typeface="DejaVu Sans"/>
                          <a:cs typeface="DejaVu Sans"/>
                        </a:rPr>
                        <a:t>Xác nhận analog sát biên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5000 ms liên tục</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647700">
                <a:tc>
                  <a:txBody>
                    <a:bodyPr/>
                    <a:lstStyle/>
                    <a:p>
                      <a:r>
                        <a:rPr sz="1725">
                          <a:solidFill>
                            <a:srgbClr val="263E50"/>
                          </a:solidFill>
                          <a:latin typeface="DejaVu Sans"/>
                          <a:ea typeface="DejaVu Sans"/>
                          <a:cs typeface="DejaVu Sans"/>
                        </a:rPr>
                        <a:t>Hết hạn dữ liệu DHT22</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30000 ms không có mẫu tốt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6493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DF0CBE3B-0EC9-400D-8D62-1F2378555F07}"/>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Chu kỳ mạng và thời gian đáp ứng</a:t>
            </a:r>
          </a:p>
        </p:txBody>
      </p:sp>
      <p:sp>
        <p:nvSpPr>
          <p:cNvPr id="2" name="rule-182">
            <a:extLst>
              <a:ext uri="{FF2B5EF4-FFF2-40B4-BE49-F238E27FC236}">
                <a16:creationId xmlns:a16="http://schemas.microsoft.com/office/drawing/2014/main" id="{41CBA6C4-CFD3-4D38-87DB-47FCF9B04786}"/>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FCE8CA3-9AC5-4E74-8406-EFFF6F62503A}"/>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7BFAC8E1-B371-491D-9B9F-73DC0DF8F728}"/>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26</a:t>
            </a:r>
          </a:p>
        </p:txBody>
      </p:sp>
      <p:graphicFrame>
        <p:nvGraphicFramePr>
          <p:cNvPr id="5" name="Table 4">
            <a:extLst>
              <a:ext uri="{FF2B5EF4-FFF2-40B4-BE49-F238E27FC236}">
                <a16:creationId xmlns:a16="http://schemas.microsoft.com/office/drawing/2014/main" id="{4AE8DCE8-6420-417E-BFD3-59D8432967FC}"/>
              </a:ext>
            </a:extLst>
          </p:cNvPr>
          <p:cNvGraphicFramePr/>
          <p:nvPr/>
        </p:nvGraphicFramePr>
        <p:xfrm>
          <a:off x="609600" y="1657350"/>
          <a:ext cx="10972800" cy="4152903"/>
        </p:xfrm>
        <a:graphic>
          <a:graphicData uri="http://schemas.openxmlformats.org/drawingml/2006/table">
            <a:tbl>
              <a:tblPr firstRow="1"/>
              <a:tblGrid>
                <a:gridCol w="4169664">
                  <a:extLst>
                    <a:ext uri="{9D8B030D-6E8A-4147-A177-3AD203B41FA5}">
                      <a16:colId xmlns:a16="http://schemas.microsoft.com/office/drawing/2014/main" val="20000"/>
                    </a:ext>
                  </a:extLst>
                </a:gridCol>
                <a:gridCol w="6803136">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Tác vụ</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Thông số chương trình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604838">
                <a:tc>
                  <a:txBody>
                    <a:bodyPr/>
                    <a:lstStyle/>
                    <a:p>
                      <a:r>
                        <a:rPr sz="1725">
                          <a:solidFill>
                            <a:srgbClr val="263E50"/>
                          </a:solidFill>
                          <a:latin typeface="DejaVu Sans"/>
                          <a:ea typeface="DejaVu Sans"/>
                          <a:cs typeface="DejaVu Sans"/>
                        </a:rPr>
                        <a:t>Web gọi API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Khoảng 1000 ms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604838">
                <a:tc>
                  <a:txBody>
                    <a:bodyPr/>
                    <a:lstStyle/>
                    <a:p>
                      <a:r>
                        <a:rPr sz="1725">
                          <a:solidFill>
                            <a:srgbClr val="263E50"/>
                          </a:solidFill>
                          <a:latin typeface="DejaVu Sans"/>
                          <a:ea typeface="DejaVu Sans"/>
                          <a:cs typeface="DejaVu Sans"/>
                        </a:rPr>
                        <a:t>Đọc gas / bụi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8 mẫu × 2 ms / 4 xung × ít nhất 10 ms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604838">
                <a:tc>
                  <a:txBody>
                    <a:bodyPr/>
                    <a:lstStyle/>
                    <a:p>
                      <a:r>
                        <a:rPr sz="1725">
                          <a:solidFill>
                            <a:srgbClr val="263E50"/>
                          </a:solidFill>
                          <a:latin typeface="DejaVu Sans"/>
                          <a:ea typeface="DejaVu Sans"/>
                          <a:cs typeface="DejaVu Sans"/>
                        </a:rPr>
                        <a:t>Giữ relay / thử T</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Tối thiểu 10000 ms / thử khoảng 10000 ms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604838">
                <a:tc>
                  <a:txBody>
                    <a:bodyPr/>
                    <a:lstStyle/>
                    <a:p>
                      <a:r>
                        <a:rPr sz="1725">
                          <a:solidFill>
                            <a:srgbClr val="263E50"/>
                          </a:solidFill>
                          <a:latin typeface="DejaVu Sans"/>
                          <a:ea typeface="DejaVu Sans"/>
                          <a:cs typeface="DejaVu Sans"/>
                        </a:rPr>
                        <a:t>Nhắc Telegram</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300000 ms khi còn cảnh báo</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604838">
                <a:tc>
                  <a:txBody>
                    <a:bodyPr/>
                    <a:lstStyle/>
                    <a:p>
                      <a:r>
                        <a:rPr sz="1725">
                          <a:solidFill>
                            <a:srgbClr val="263E50"/>
                          </a:solidFill>
                          <a:latin typeface="DejaVu Sans"/>
                          <a:ea typeface="DejaVu Sans"/>
                          <a:cs typeface="DejaVu Sans"/>
                        </a:rPr>
                        <a:t>Thử lại gửi tự động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30000 đến 300000 ms, theo retry_after</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604838">
                <a:tc>
                  <a:txBody>
                    <a:bodyPr/>
                    <a:lstStyle/>
                    <a:p>
                      <a:r>
                        <a:rPr sz="1725">
                          <a:solidFill>
                            <a:srgbClr val="263E50"/>
                          </a:solidFill>
                          <a:latin typeface="DejaVu Sans"/>
                          <a:ea typeface="DejaVu Sans"/>
                          <a:cs typeface="DejaVu Sans"/>
                        </a:rPr>
                        <a:t>Chẩn đoán mạng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Khoảng 15000 ms giữa các log NETWORK</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
        <p:nvSpPr>
          <p:cNvPr id="6" name="text-183">
            <a:extLst>
              <a:ext uri="{FF2B5EF4-FFF2-40B4-BE49-F238E27FC236}">
                <a16:creationId xmlns:a16="http://schemas.microsoft.com/office/drawing/2014/main" id="{C6E3014E-839D-46D2-ABD4-4B4A2DBE2F59}"/>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Đọc analog ≈56 ms, chưa gồm delay(25), DHT và hiển thị. Đây là ước lượng từ mã nguồn.</a:t>
            </a:r>
          </a:p>
        </p:txBody>
      </p:sp>
    </p:spTree>
    <p:extLst>
      <p:ext uri="{BB962C8B-B14F-4D97-AF65-F5344CB8AC3E}">
        <p14:creationId xmlns:p14="http://schemas.microsoft.com/office/powerpoint/2010/main" val="1758039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C6663F8C-04C4-46E5-A149-29D7A7857251}"/>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Dashboard web theo dõi trạng thái</a:t>
            </a:r>
          </a:p>
        </p:txBody>
      </p:sp>
      <p:sp>
        <p:nvSpPr>
          <p:cNvPr id="2" name="rule-184">
            <a:extLst>
              <a:ext uri="{FF2B5EF4-FFF2-40B4-BE49-F238E27FC236}">
                <a16:creationId xmlns:a16="http://schemas.microsoft.com/office/drawing/2014/main" id="{7B4C6C76-1875-4603-ACBD-C3742EED51C9}"/>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F5E92D0-A303-49C9-B130-E8E9153A1706}"/>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91F4B483-4AB4-44A1-881A-C33DF8297250}"/>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27</a:t>
            </a:r>
          </a:p>
        </p:txBody>
      </p:sp>
      <p:sp>
        <p:nvSpPr>
          <p:cNvPr id="5" name="text-185">
            <a:extLst>
              <a:ext uri="{FF2B5EF4-FFF2-40B4-BE49-F238E27FC236}">
                <a16:creationId xmlns:a16="http://schemas.microsoft.com/office/drawing/2014/main" id="{EAD6516D-2AAB-42FD-AEDA-79E114E6F8C3}"/>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Dữ liệu từ ESP32</a:t>
            </a:r>
          </a:p>
        </p:txBody>
      </p:sp>
      <p:sp>
        <p:nvSpPr>
          <p:cNvPr id="6" name="text-186">
            <a:extLst>
              <a:ext uri="{FF2B5EF4-FFF2-40B4-BE49-F238E27FC236}">
                <a16:creationId xmlns:a16="http://schemas.microsoft.com/office/drawing/2014/main" id="{33D1893F-FEE8-4A87-9C77-79B04AC6C802}"/>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WebServer phục vụ giao diện tiếng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Việt và GET /api/status.</a:t>
            </a:r>
          </a:p>
        </p:txBody>
      </p:sp>
      <p:sp>
        <p:nvSpPr>
          <p:cNvPr id="7" name="text-187">
            <a:extLst>
              <a:ext uri="{FF2B5EF4-FFF2-40B4-BE49-F238E27FC236}">
                <a16:creationId xmlns:a16="http://schemas.microsoft.com/office/drawing/2014/main" id="{3E5ACF9F-FB72-4420-B9EC-414FFE980952}"/>
              </a:ext>
            </a:extLst>
          </p:cNvPr>
          <p:cNvSpPr>
            <a:spLocks noGrp="1"/>
          </p:cNvSpPr>
          <p:nvPr/>
        </p:nvSpPr>
        <p:spPr>
          <a:xfrm>
            <a:off x="60960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Trình duyệt gọi API khoảng mỗi giây,</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hiển thị số đo, ngưỡng, relay và sức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khỏe cảm biến.</a:t>
            </a:r>
          </a:p>
        </p:txBody>
      </p:sp>
      <p:sp>
        <p:nvSpPr>
          <p:cNvPr id="8" name="text-188">
            <a:extLst>
              <a:ext uri="{FF2B5EF4-FFF2-40B4-BE49-F238E27FC236}">
                <a16:creationId xmlns:a16="http://schemas.microsoft.com/office/drawing/2014/main" id="{C7E74556-F7E8-42E1-9C3A-BD6A05F21815}"/>
              </a:ext>
            </a:extLst>
          </p:cNvPr>
          <p:cNvSpPr>
            <a:spLocks noGrp="1"/>
          </p:cNvSpPr>
          <p:nvPr/>
        </p:nvSpPr>
        <p:spPr>
          <a:xfrm>
            <a:off x="609600" y="4217194"/>
            <a:ext cx="5200650" cy="131445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giai đoạn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warming/calibration/ready và kết quả</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gửi Telegram. Dữ liệu không hợp lệ trả</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null.</a:t>
            </a:r>
          </a:p>
        </p:txBody>
      </p:sp>
      <p:sp>
        <p:nvSpPr>
          <p:cNvPr id="9" name="text-189">
            <a:extLst>
              <a:ext uri="{FF2B5EF4-FFF2-40B4-BE49-F238E27FC236}">
                <a16:creationId xmlns:a16="http://schemas.microsoft.com/office/drawing/2014/main" id="{3B9A7E64-665C-4CD8-8D70-E43B4131A562}"/>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Biểu đồ và cảnh báo</a:t>
            </a:r>
          </a:p>
        </p:txBody>
      </p:sp>
      <p:sp>
        <p:nvSpPr>
          <p:cNvPr id="10" name="text-190">
            <a:extLst>
              <a:ext uri="{FF2B5EF4-FFF2-40B4-BE49-F238E27FC236}">
                <a16:creationId xmlns:a16="http://schemas.microsoft.com/office/drawing/2014/main" id="{705AE112-D551-4681-A32A-0AE38AEB4EC6}"/>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Bốn biểu đồ tối đa 5 phút, nhật ký 30</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sự kiện trong phiên.</a:t>
            </a:r>
          </a:p>
        </p:txBody>
      </p:sp>
      <p:sp>
        <p:nvSpPr>
          <p:cNvPr id="11" name="text-191">
            <a:extLst>
              <a:ext uri="{FF2B5EF4-FFF2-40B4-BE49-F238E27FC236}">
                <a16:creationId xmlns:a16="http://schemas.microsoft.com/office/drawing/2014/main" id="{00CFF9E7-1D9F-4BD2-8BF8-424937D4339A}"/>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Dữ liệu quá cũ được báo mất kết nối,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không tạo số đo giả.</a:t>
            </a:r>
          </a:p>
        </p:txBody>
      </p:sp>
      <p:sp>
        <p:nvSpPr>
          <p:cNvPr id="12" name="text-192">
            <a:extLst>
              <a:ext uri="{FF2B5EF4-FFF2-40B4-BE49-F238E27FC236}">
                <a16:creationId xmlns:a16="http://schemas.microsoft.com/office/drawing/2014/main" id="{5E2F1DAF-FF57-46BB-A0B3-52AEA2BDDCBA}"/>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Nút Bật âm báo phát khi có cảnh báo</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mới, nhắc 30 giây. Phụ thuộc quyền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hoạt động của trình duyệt.</a:t>
            </a:r>
          </a:p>
        </p:txBody>
      </p:sp>
    </p:spTree>
    <p:extLst>
      <p:ext uri="{BB962C8B-B14F-4D97-AF65-F5344CB8AC3E}">
        <p14:creationId xmlns:p14="http://schemas.microsoft.com/office/powerpoint/2010/main" val="1639710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F74E8ED0-CC0B-43D4-8F67-CAC09CFC35D8}"/>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Thông báo Telegram tự động</a:t>
            </a:r>
          </a:p>
        </p:txBody>
      </p:sp>
      <p:sp>
        <p:nvSpPr>
          <p:cNvPr id="2" name="rule-193">
            <a:extLst>
              <a:ext uri="{FF2B5EF4-FFF2-40B4-BE49-F238E27FC236}">
                <a16:creationId xmlns:a16="http://schemas.microsoft.com/office/drawing/2014/main" id="{AD4019C9-CD67-4FD4-914F-0479476B7655}"/>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D6F87C1A-CE5B-4B5D-8A28-CD498DC94C8F}"/>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D0C5B1C4-459C-4116-B723-FC0B5DF268ED}"/>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28</a:t>
            </a:r>
          </a:p>
        </p:txBody>
      </p:sp>
      <p:sp>
        <p:nvSpPr>
          <p:cNvPr id="5" name="text-194">
            <a:extLst>
              <a:ext uri="{FF2B5EF4-FFF2-40B4-BE49-F238E27FC236}">
                <a16:creationId xmlns:a16="http://schemas.microsoft.com/office/drawing/2014/main" id="{E30232AB-EDD6-4958-A86A-E661E7B7B805}"/>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Nội dung và thời điểm gửi</a:t>
            </a:r>
          </a:p>
        </p:txBody>
      </p:sp>
      <p:sp>
        <p:nvSpPr>
          <p:cNvPr id="6" name="text-195">
            <a:extLst>
              <a:ext uri="{FF2B5EF4-FFF2-40B4-BE49-F238E27FC236}">
                <a16:creationId xmlns:a16="http://schemas.microsoft.com/office/drawing/2014/main" id="{264F4A0C-CF18-4288-995E-DF78E51BA536}"/>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ESP32 gửi HTTPS sendMessage trực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tiếp, không cần mở laptop hoặc web.</a:t>
            </a:r>
          </a:p>
        </p:txBody>
      </p:sp>
      <p:sp>
        <p:nvSpPr>
          <p:cNvPr id="7" name="text-196">
            <a:extLst>
              <a:ext uri="{FF2B5EF4-FFF2-40B4-BE49-F238E27FC236}">
                <a16:creationId xmlns:a16="http://schemas.microsoft.com/office/drawing/2014/main" id="{E140C12E-7C17-4E80-8DDB-E5558E806891}"/>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Bảy bit: gas, bụi, nhiệt độ, độ ẩm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lỗi MQ-2, bụi, DHT22.</a:t>
            </a:r>
          </a:p>
        </p:txBody>
      </p:sp>
      <p:sp>
        <p:nvSpPr>
          <p:cNvPr id="8" name="text-197">
            <a:extLst>
              <a:ext uri="{FF2B5EF4-FFF2-40B4-BE49-F238E27FC236}">
                <a16:creationId xmlns:a16="http://schemas.microsoft.com/office/drawing/2014/main" id="{5605278E-AE6C-4FAC-95A2-C0D245A106CE}"/>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Tin đầu sau ready, tin khi tập cảnh báo</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thay đổi/hết, nhắc mỗi 5 phút. Lỗi DHT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kéo dài có thể gửi trước ready.</a:t>
            </a:r>
          </a:p>
        </p:txBody>
      </p:sp>
      <p:sp>
        <p:nvSpPr>
          <p:cNvPr id="9" name="text-198">
            <a:extLst>
              <a:ext uri="{FF2B5EF4-FFF2-40B4-BE49-F238E27FC236}">
                <a16:creationId xmlns:a16="http://schemas.microsoft.com/office/drawing/2014/main" id="{5B4E4337-4F91-454B-9F85-493C9D97DEDA}"/>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Chính sách gửi</a:t>
            </a:r>
          </a:p>
        </p:txBody>
      </p:sp>
      <p:sp>
        <p:nvSpPr>
          <p:cNvPr id="10" name="text-199">
            <a:extLst>
              <a:ext uri="{FF2B5EF4-FFF2-40B4-BE49-F238E27FC236}">
                <a16:creationId xmlns:a16="http://schemas.microsoft.com/office/drawing/2014/main" id="{DAC8E399-CAE7-4CFB-8031-734978E8D96A}"/>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Tự gửi cách nhau ít nhất 5 giây sau lần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gửi thành công.</a:t>
            </a:r>
          </a:p>
        </p:txBody>
      </p:sp>
      <p:sp>
        <p:nvSpPr>
          <p:cNvPr id="11" name="text-200">
            <a:extLst>
              <a:ext uri="{FF2B5EF4-FFF2-40B4-BE49-F238E27FC236}">
                <a16:creationId xmlns:a16="http://schemas.microsoft.com/office/drawing/2014/main" id="{F7441017-638C-4269-956E-C8D7E390BBDF}"/>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Thất bại chờ từ 30 giây, tăng tới 5</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phút. HTTP 429 theo retry_after.</a:t>
            </a:r>
          </a:p>
        </p:txBody>
      </p:sp>
      <p:sp>
        <p:nvSpPr>
          <p:cNvPr id="12" name="text-201">
            <a:extLst>
              <a:ext uri="{FF2B5EF4-FFF2-40B4-BE49-F238E27FC236}">
                <a16:creationId xmlns:a16="http://schemas.microsoft.com/office/drawing/2014/main" id="{311F25D2-49ED-46FD-BCF5-6C753D6D25C0}"/>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Mất mạng chưa lưu đủ mọi sự kiện, khi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nối lại gửi trạng thái hiện tại. N thử</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gửi, bot chưa nhận lệnh hội thoại.</a:t>
            </a:r>
          </a:p>
        </p:txBody>
      </p:sp>
    </p:spTree>
    <p:extLst>
      <p:ext uri="{BB962C8B-B14F-4D97-AF65-F5344CB8AC3E}">
        <p14:creationId xmlns:p14="http://schemas.microsoft.com/office/powerpoint/2010/main" val="2131899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F61A1CA-8699-421F-9E09-873C17D26865}"/>
              </a:ext>
            </a:extLst>
          </p:cNvPr>
          <p:cNvCxnSpPr>
            <a:stCxn id="7" idx="3"/>
            <a:endCxn id="9" idx="1"/>
          </p:cNvCxnSpPr>
          <p:nvPr/>
        </p:nvCxnSpPr>
        <p:spPr>
          <a:xfrm>
            <a:off x="7277100" y="4529138"/>
            <a:ext cx="1438275" cy="0"/>
          </a:xfrm>
          <a:prstGeom prst="straightConnector1">
            <a:avLst/>
          </a:prstGeom>
          <a:ln w="19050">
            <a:solidFill>
              <a:srgbClr val="007E87"/>
            </a:solidFill>
            <a:prstDash val="solid"/>
            <a:tailEnd type="triangle" w="sm" len="sm"/>
          </a:ln>
        </p:spPr>
      </p:cxnSp>
      <p:cxnSp>
        <p:nvCxnSpPr>
          <p:cNvPr id="12" name="Straight Arrow Connector 11">
            <a:extLst>
              <a:ext uri="{FF2B5EF4-FFF2-40B4-BE49-F238E27FC236}">
                <a16:creationId xmlns:a16="http://schemas.microsoft.com/office/drawing/2014/main" id="{01C76B25-2F33-4CD0-A0A9-B08CC433687A}"/>
              </a:ext>
            </a:extLst>
          </p:cNvPr>
          <p:cNvCxnSpPr>
            <a:stCxn id="6" idx="3"/>
            <a:endCxn id="8" idx="1"/>
          </p:cNvCxnSpPr>
          <p:nvPr/>
        </p:nvCxnSpPr>
        <p:spPr>
          <a:xfrm>
            <a:off x="7277100" y="2205038"/>
            <a:ext cx="1438275" cy="0"/>
          </a:xfrm>
          <a:prstGeom prst="straightConnector1">
            <a:avLst/>
          </a:prstGeom>
          <a:ln w="19050">
            <a:solidFill>
              <a:srgbClr val="007E87"/>
            </a:solidFill>
            <a:prstDash val="solid"/>
            <a:tailEnd type="triangle" w="sm" len="sm"/>
          </a:ln>
        </p:spPr>
      </p:cxnSp>
      <p:cxnSp>
        <p:nvCxnSpPr>
          <p:cNvPr id="11" name="Straight Arrow Connector 10">
            <a:extLst>
              <a:ext uri="{FF2B5EF4-FFF2-40B4-BE49-F238E27FC236}">
                <a16:creationId xmlns:a16="http://schemas.microsoft.com/office/drawing/2014/main" id="{85F2D92D-7093-429F-A38A-1A4993C708BA}"/>
              </a:ext>
            </a:extLst>
          </p:cNvPr>
          <p:cNvCxnSpPr>
            <a:stCxn id="5" idx="3"/>
            <a:endCxn id="7" idx="1"/>
          </p:cNvCxnSpPr>
          <p:nvPr/>
        </p:nvCxnSpPr>
        <p:spPr>
          <a:xfrm>
            <a:off x="2876550" y="3362325"/>
            <a:ext cx="1257300" cy="1166813"/>
          </a:xfrm>
          <a:prstGeom prst="straightConnector1">
            <a:avLst/>
          </a:prstGeom>
          <a:ln w="19050">
            <a:solidFill>
              <a:srgbClr val="007E87"/>
            </a:solidFill>
            <a:prstDash val="solid"/>
            <a:tailEnd type="triangle" w="sm" len="sm"/>
          </a:ln>
        </p:spPr>
      </p:cxnSp>
      <p:cxnSp>
        <p:nvCxnSpPr>
          <p:cNvPr id="10" name="Straight Arrow Connector 9">
            <a:extLst>
              <a:ext uri="{FF2B5EF4-FFF2-40B4-BE49-F238E27FC236}">
                <a16:creationId xmlns:a16="http://schemas.microsoft.com/office/drawing/2014/main" id="{BC268267-EBA5-4A24-8A10-1B9F86FBEB57}"/>
              </a:ext>
            </a:extLst>
          </p:cNvPr>
          <p:cNvCxnSpPr>
            <a:stCxn id="5" idx="3"/>
            <a:endCxn id="6" idx="1"/>
          </p:cNvCxnSpPr>
          <p:nvPr/>
        </p:nvCxnSpPr>
        <p:spPr>
          <a:xfrm flipV="1">
            <a:off x="2876550" y="2205038"/>
            <a:ext cx="1257300" cy="1157288"/>
          </a:xfrm>
          <a:prstGeom prst="straightConnector1">
            <a:avLst/>
          </a:prstGeom>
          <a:ln w="19050">
            <a:solidFill>
              <a:srgbClr val="007E87"/>
            </a:solidFill>
            <a:prstDash val="solid"/>
            <a:tailEnd type="triangle" w="sm" len="sm"/>
          </a:ln>
        </p:spPr>
      </p:cxnSp>
      <p:sp>
        <p:nvSpPr>
          <p:cNvPr id="16" name="slide-title">
            <a:extLst>
              <a:ext uri="{FF2B5EF4-FFF2-40B4-BE49-F238E27FC236}">
                <a16:creationId xmlns:a16="http://schemas.microsoft.com/office/drawing/2014/main" id="{67F53267-ACD1-4F58-AF05-28A7F6B144ED}"/>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AP+STA, NTP và bản chụp trạng thái</a:t>
            </a:r>
          </a:p>
        </p:txBody>
      </p:sp>
      <p:sp>
        <p:nvSpPr>
          <p:cNvPr id="2" name="rule-202">
            <a:extLst>
              <a:ext uri="{FF2B5EF4-FFF2-40B4-BE49-F238E27FC236}">
                <a16:creationId xmlns:a16="http://schemas.microsoft.com/office/drawing/2014/main" id="{D333FA09-11E5-4D1C-8839-663FE2CC6465}"/>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A0561708-D927-4599-A7BD-EDA79F73F110}"/>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06 Phần mềm và thời gian thực</a:t>
            </a:r>
          </a:p>
        </p:txBody>
      </p:sp>
      <p:sp>
        <p:nvSpPr>
          <p:cNvPr id="4" name="slide-number">
            <a:extLst>
              <a:ext uri="{FF2B5EF4-FFF2-40B4-BE49-F238E27FC236}">
                <a16:creationId xmlns:a16="http://schemas.microsoft.com/office/drawing/2014/main" id="{82E6B42B-0961-4B50-A9BA-FD9A7A3F7944}"/>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29</a:t>
            </a:r>
          </a:p>
        </p:txBody>
      </p:sp>
      <p:sp>
        <p:nvSpPr>
          <p:cNvPr id="5" name="node-203">
            <a:extLst>
              <a:ext uri="{FF2B5EF4-FFF2-40B4-BE49-F238E27FC236}">
                <a16:creationId xmlns:a16="http://schemas.microsoft.com/office/drawing/2014/main" id="{909DD177-8D10-45A0-BD35-A22EBD618DD5}"/>
              </a:ext>
            </a:extLst>
          </p:cNvPr>
          <p:cNvSpPr>
            <a:spLocks noGrp="1"/>
          </p:cNvSpPr>
          <p:nvPr/>
        </p:nvSpPr>
        <p:spPr>
          <a:xfrm>
            <a:off x="609600" y="2724150"/>
            <a:ext cx="2266950" cy="1276350"/>
          </a:xfrm>
          <a:prstGeom prst="rect">
            <a:avLst/>
          </a:prstGeom>
          <a:solidFill>
            <a:srgbClr val="EAF2F4"/>
          </a:solidFill>
          <a:ln w="17145">
            <a:solidFill>
              <a:srgbClr val="007E87"/>
            </a:solidFill>
            <a:prstDash val="solid"/>
          </a:ln>
        </p:spPr>
        <p:txBody>
          <a:bodyPr wrap="square" lIns="114300" tIns="95250" rIns="114300" bIns="95250" anchor="ctr">
            <a:noAutofit/>
          </a:bodyPr>
          <a:lstStyle>
            <a:defPPr algn="ctr">
              <a:defRPr sz="2100" b="1">
                <a:solidFill>
                  <a:srgbClr val="123047"/>
                </a:solidFill>
                <a:latin typeface="DejaVu Sans"/>
                <a:ea typeface="DejaVu Sans"/>
                <a:cs typeface="DejaVu Sans"/>
              </a:defRPr>
            </a:defPPr>
            <a:lvl1pPr algn="ctr">
              <a:defRPr sz="2100" b="1">
                <a:solidFill>
                  <a:srgbClr val="123047"/>
                </a:solidFill>
                <a:latin typeface="DejaVu Sans"/>
                <a:ea typeface="DejaVu Sans"/>
                <a:cs typeface="DejaVu Sans"/>
              </a:defRPr>
            </a:lvl1pPr>
            <a:lvl2pPr algn="ctr">
              <a:defRPr sz="2100" b="1">
                <a:solidFill>
                  <a:srgbClr val="123047"/>
                </a:solidFill>
                <a:latin typeface="DejaVu Sans"/>
                <a:ea typeface="DejaVu Sans"/>
                <a:cs typeface="DejaVu Sans"/>
              </a:defRPr>
            </a:lvl2pPr>
            <a:lvl3pPr algn="ctr">
              <a:defRPr sz="2100" b="1">
                <a:solidFill>
                  <a:srgbClr val="123047"/>
                </a:solidFill>
                <a:latin typeface="DejaVu Sans"/>
                <a:ea typeface="DejaVu Sans"/>
                <a:cs typeface="DejaVu Sans"/>
              </a:defRPr>
            </a:lvl3pPr>
            <a:lvl4pPr algn="ctr">
              <a:defRPr sz="2100" b="1">
                <a:solidFill>
                  <a:srgbClr val="123047"/>
                </a:solidFill>
                <a:latin typeface="DejaVu Sans"/>
                <a:ea typeface="DejaVu Sans"/>
                <a:cs typeface="DejaVu Sans"/>
              </a:defRPr>
            </a:lvl4pPr>
            <a:lvl5pPr algn="ctr">
              <a:defRPr sz="2100" b="1">
                <a:solidFill>
                  <a:srgbClr val="123047"/>
                </a:solidFill>
                <a:latin typeface="DejaVu Sans"/>
                <a:ea typeface="DejaVu Sans"/>
                <a:cs typeface="DejaVu Sans"/>
              </a:defRPr>
            </a:lvl5pPr>
            <a:lvl6pPr algn="ctr">
              <a:defRPr sz="2100" b="1">
                <a:solidFill>
                  <a:srgbClr val="123047"/>
                </a:solidFill>
                <a:latin typeface="DejaVu Sans"/>
                <a:ea typeface="DejaVu Sans"/>
                <a:cs typeface="DejaVu Sans"/>
              </a:defRPr>
            </a:lvl6pPr>
            <a:lvl7pPr algn="ctr">
              <a:defRPr sz="2100" b="1">
                <a:solidFill>
                  <a:srgbClr val="123047"/>
                </a:solidFill>
                <a:latin typeface="DejaVu Sans"/>
                <a:ea typeface="DejaVu Sans"/>
                <a:cs typeface="DejaVu Sans"/>
              </a:defRPr>
            </a:lvl7pPr>
            <a:lvl8pPr algn="ctr">
              <a:defRPr sz="2100" b="1">
                <a:solidFill>
                  <a:srgbClr val="123047"/>
                </a:solidFill>
                <a:latin typeface="DejaVu Sans"/>
                <a:ea typeface="DejaVu Sans"/>
                <a:cs typeface="DejaVu Sans"/>
              </a:defRPr>
            </a:lvl8pPr>
            <a:lvl9pPr algn="ctr">
              <a:defRPr sz="2100" b="1">
                <a:solidFill>
                  <a:srgbClr val="123047"/>
                </a:solidFill>
                <a:latin typeface="DejaVu Sans"/>
                <a:ea typeface="DejaVu Sans"/>
                <a:cs typeface="DejaVu Sans"/>
              </a:defRPr>
            </a:lvl9pPr>
          </a:lstStyle>
          <a:p>
            <a:pPr algn="ctr">
              <a:lnSpc>
                <a:spcPct val="105000"/>
              </a:lnSpc>
              <a:buNone/>
              <a:defRPr sz="2100" b="1">
                <a:solidFill>
                  <a:srgbClr val="123047"/>
                </a:solidFill>
                <a:latin typeface="DejaVu Sans"/>
                <a:ea typeface="DejaVu Sans"/>
                <a:cs typeface="DejaVu Sans"/>
              </a:defRPr>
            </a:pPr>
            <a:r>
              <a:rPr sz="2100" b="1">
                <a:solidFill>
                  <a:srgbClr val="123047"/>
                </a:solidFill>
                <a:latin typeface="DejaVu Sans"/>
                <a:ea typeface="DejaVu Sans"/>
                <a:cs typeface="DejaVu Sans"/>
              </a:rPr>
              <a:t>ESP32-S3</a:t>
            </a:r>
          </a:p>
          <a:p>
            <a:pPr algn="ctr">
              <a:lnSpc>
                <a:spcPct val="105000"/>
              </a:lnSpc>
              <a:buNone/>
              <a:defRPr sz="2100" b="1">
                <a:solidFill>
                  <a:srgbClr val="123047"/>
                </a:solidFill>
                <a:latin typeface="DejaVu Sans"/>
                <a:ea typeface="DejaVu Sans"/>
                <a:cs typeface="DejaVu Sans"/>
              </a:defRPr>
            </a:pPr>
            <a:r>
              <a:rPr sz="2100" b="1">
                <a:solidFill>
                  <a:srgbClr val="123047"/>
                </a:solidFill>
                <a:latin typeface="DejaVu Sans"/>
                <a:ea typeface="DejaVu Sans"/>
                <a:cs typeface="DejaVu Sans"/>
              </a:rPr>
              <a:t>AP + STA</a:t>
            </a:r>
          </a:p>
        </p:txBody>
      </p:sp>
      <p:sp>
        <p:nvSpPr>
          <p:cNvPr id="6" name="node-204">
            <a:extLst>
              <a:ext uri="{FF2B5EF4-FFF2-40B4-BE49-F238E27FC236}">
                <a16:creationId xmlns:a16="http://schemas.microsoft.com/office/drawing/2014/main" id="{724508DE-091F-42F1-A74E-D8CC3C4D1AC1}"/>
              </a:ext>
            </a:extLst>
          </p:cNvPr>
          <p:cNvSpPr>
            <a:spLocks noGrp="1"/>
          </p:cNvSpPr>
          <p:nvPr/>
        </p:nvSpPr>
        <p:spPr>
          <a:xfrm>
            <a:off x="4133850" y="1704975"/>
            <a:ext cx="3143250" cy="10001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950" b="0">
                <a:solidFill>
                  <a:srgbClr val="123047"/>
                </a:solidFill>
                <a:latin typeface="DejaVu Sans"/>
                <a:ea typeface="DejaVu Sans"/>
                <a:cs typeface="DejaVu Sans"/>
              </a:defRPr>
            </a:defPPr>
            <a:lvl1pPr algn="ctr">
              <a:defRPr sz="1950" b="0">
                <a:solidFill>
                  <a:srgbClr val="123047"/>
                </a:solidFill>
                <a:latin typeface="DejaVu Sans"/>
                <a:ea typeface="DejaVu Sans"/>
                <a:cs typeface="DejaVu Sans"/>
              </a:defRPr>
            </a:lvl1pPr>
            <a:lvl2pPr algn="ctr">
              <a:defRPr sz="1950" b="0">
                <a:solidFill>
                  <a:srgbClr val="123047"/>
                </a:solidFill>
                <a:latin typeface="DejaVu Sans"/>
                <a:ea typeface="DejaVu Sans"/>
                <a:cs typeface="DejaVu Sans"/>
              </a:defRPr>
            </a:lvl2pPr>
            <a:lvl3pPr algn="ctr">
              <a:defRPr sz="1950" b="0">
                <a:solidFill>
                  <a:srgbClr val="123047"/>
                </a:solidFill>
                <a:latin typeface="DejaVu Sans"/>
                <a:ea typeface="DejaVu Sans"/>
                <a:cs typeface="DejaVu Sans"/>
              </a:defRPr>
            </a:lvl3pPr>
            <a:lvl4pPr algn="ctr">
              <a:defRPr sz="1950" b="0">
                <a:solidFill>
                  <a:srgbClr val="123047"/>
                </a:solidFill>
                <a:latin typeface="DejaVu Sans"/>
                <a:ea typeface="DejaVu Sans"/>
                <a:cs typeface="DejaVu Sans"/>
              </a:defRPr>
            </a:lvl4pPr>
            <a:lvl5pPr algn="ctr">
              <a:defRPr sz="1950" b="0">
                <a:solidFill>
                  <a:srgbClr val="123047"/>
                </a:solidFill>
                <a:latin typeface="DejaVu Sans"/>
                <a:ea typeface="DejaVu Sans"/>
                <a:cs typeface="DejaVu Sans"/>
              </a:defRPr>
            </a:lvl5pPr>
            <a:lvl6pPr algn="ctr">
              <a:defRPr sz="1950" b="0">
                <a:solidFill>
                  <a:srgbClr val="123047"/>
                </a:solidFill>
                <a:latin typeface="DejaVu Sans"/>
                <a:ea typeface="DejaVu Sans"/>
                <a:cs typeface="DejaVu Sans"/>
              </a:defRPr>
            </a:lvl6pPr>
            <a:lvl7pPr algn="ctr">
              <a:defRPr sz="1950" b="0">
                <a:solidFill>
                  <a:srgbClr val="123047"/>
                </a:solidFill>
                <a:latin typeface="DejaVu Sans"/>
                <a:ea typeface="DejaVu Sans"/>
                <a:cs typeface="DejaVu Sans"/>
              </a:defRPr>
            </a:lvl7pPr>
            <a:lvl8pPr algn="ctr">
              <a:defRPr sz="1950" b="0">
                <a:solidFill>
                  <a:srgbClr val="123047"/>
                </a:solidFill>
                <a:latin typeface="DejaVu Sans"/>
                <a:ea typeface="DejaVu Sans"/>
                <a:cs typeface="DejaVu Sans"/>
              </a:defRPr>
            </a:lvl8pPr>
            <a:lvl9pPr algn="ctr">
              <a:defRPr sz="1950" b="0">
                <a:solidFill>
                  <a:srgbClr val="123047"/>
                </a:solidFill>
                <a:latin typeface="DejaVu Sans"/>
                <a:ea typeface="DejaVu Sans"/>
                <a:cs typeface="DejaVu Sans"/>
              </a:defRPr>
            </a:lvl9pPr>
          </a:lstStyle>
          <a:p>
            <a:pPr algn="ctr">
              <a:lnSpc>
                <a:spcPct val="105000"/>
              </a:lnSpc>
              <a:buNone/>
              <a:defRPr sz="1950" b="0">
                <a:solidFill>
                  <a:srgbClr val="123047"/>
                </a:solidFill>
                <a:latin typeface="DejaVu Sans"/>
                <a:ea typeface="DejaVu Sans"/>
                <a:cs typeface="DejaVu Sans"/>
              </a:defRPr>
            </a:pPr>
            <a:r>
              <a:rPr sz="1950" b="0">
                <a:solidFill>
                  <a:srgbClr val="123047"/>
                </a:solidFill>
                <a:latin typeface="DejaVu Sans"/>
                <a:ea typeface="DejaVu Sans"/>
                <a:cs typeface="DejaVu Sans"/>
              </a:rPr>
              <a:t>AP AirMonitor-xxxx</a:t>
            </a:r>
          </a:p>
          <a:p>
            <a:pPr algn="ctr">
              <a:lnSpc>
                <a:spcPct val="105000"/>
              </a:lnSpc>
              <a:buNone/>
              <a:defRPr sz="1950" b="0">
                <a:solidFill>
                  <a:srgbClr val="123047"/>
                </a:solidFill>
                <a:latin typeface="DejaVu Sans"/>
                <a:ea typeface="DejaVu Sans"/>
                <a:cs typeface="DejaVu Sans"/>
              </a:defRPr>
            </a:pPr>
            <a:r>
              <a:rPr sz="1950" b="0">
                <a:solidFill>
                  <a:srgbClr val="123047"/>
                </a:solidFill>
                <a:latin typeface="DejaVu Sans"/>
                <a:ea typeface="DejaVu Sans"/>
                <a:cs typeface="DejaVu Sans"/>
              </a:rPr>
              <a:t>192.168.4.1</a:t>
            </a:r>
          </a:p>
        </p:txBody>
      </p:sp>
      <p:sp>
        <p:nvSpPr>
          <p:cNvPr id="7" name="node-205">
            <a:extLst>
              <a:ext uri="{FF2B5EF4-FFF2-40B4-BE49-F238E27FC236}">
                <a16:creationId xmlns:a16="http://schemas.microsoft.com/office/drawing/2014/main" id="{7367E572-F23A-499F-90B6-93FC44F3B555}"/>
              </a:ext>
            </a:extLst>
          </p:cNvPr>
          <p:cNvSpPr>
            <a:spLocks noGrp="1"/>
          </p:cNvSpPr>
          <p:nvPr/>
        </p:nvSpPr>
        <p:spPr>
          <a:xfrm>
            <a:off x="4133850" y="4029075"/>
            <a:ext cx="3143250" cy="10001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950" b="0">
                <a:solidFill>
                  <a:srgbClr val="123047"/>
                </a:solidFill>
                <a:latin typeface="DejaVu Sans"/>
                <a:ea typeface="DejaVu Sans"/>
                <a:cs typeface="DejaVu Sans"/>
              </a:defRPr>
            </a:defPPr>
            <a:lvl1pPr algn="ctr">
              <a:defRPr sz="1950" b="0">
                <a:solidFill>
                  <a:srgbClr val="123047"/>
                </a:solidFill>
                <a:latin typeface="DejaVu Sans"/>
                <a:ea typeface="DejaVu Sans"/>
                <a:cs typeface="DejaVu Sans"/>
              </a:defRPr>
            </a:lvl1pPr>
            <a:lvl2pPr algn="ctr">
              <a:defRPr sz="1950" b="0">
                <a:solidFill>
                  <a:srgbClr val="123047"/>
                </a:solidFill>
                <a:latin typeface="DejaVu Sans"/>
                <a:ea typeface="DejaVu Sans"/>
                <a:cs typeface="DejaVu Sans"/>
              </a:defRPr>
            </a:lvl2pPr>
            <a:lvl3pPr algn="ctr">
              <a:defRPr sz="1950" b="0">
                <a:solidFill>
                  <a:srgbClr val="123047"/>
                </a:solidFill>
                <a:latin typeface="DejaVu Sans"/>
                <a:ea typeface="DejaVu Sans"/>
                <a:cs typeface="DejaVu Sans"/>
              </a:defRPr>
            </a:lvl3pPr>
            <a:lvl4pPr algn="ctr">
              <a:defRPr sz="1950" b="0">
                <a:solidFill>
                  <a:srgbClr val="123047"/>
                </a:solidFill>
                <a:latin typeface="DejaVu Sans"/>
                <a:ea typeface="DejaVu Sans"/>
                <a:cs typeface="DejaVu Sans"/>
              </a:defRPr>
            </a:lvl4pPr>
            <a:lvl5pPr algn="ctr">
              <a:defRPr sz="1950" b="0">
                <a:solidFill>
                  <a:srgbClr val="123047"/>
                </a:solidFill>
                <a:latin typeface="DejaVu Sans"/>
                <a:ea typeface="DejaVu Sans"/>
                <a:cs typeface="DejaVu Sans"/>
              </a:defRPr>
            </a:lvl5pPr>
            <a:lvl6pPr algn="ctr">
              <a:defRPr sz="1950" b="0">
                <a:solidFill>
                  <a:srgbClr val="123047"/>
                </a:solidFill>
                <a:latin typeface="DejaVu Sans"/>
                <a:ea typeface="DejaVu Sans"/>
                <a:cs typeface="DejaVu Sans"/>
              </a:defRPr>
            </a:lvl6pPr>
            <a:lvl7pPr algn="ctr">
              <a:defRPr sz="1950" b="0">
                <a:solidFill>
                  <a:srgbClr val="123047"/>
                </a:solidFill>
                <a:latin typeface="DejaVu Sans"/>
                <a:ea typeface="DejaVu Sans"/>
                <a:cs typeface="DejaVu Sans"/>
              </a:defRPr>
            </a:lvl7pPr>
            <a:lvl8pPr algn="ctr">
              <a:defRPr sz="1950" b="0">
                <a:solidFill>
                  <a:srgbClr val="123047"/>
                </a:solidFill>
                <a:latin typeface="DejaVu Sans"/>
                <a:ea typeface="DejaVu Sans"/>
                <a:cs typeface="DejaVu Sans"/>
              </a:defRPr>
            </a:lvl8pPr>
            <a:lvl9pPr algn="ctr">
              <a:defRPr sz="1950" b="0">
                <a:solidFill>
                  <a:srgbClr val="123047"/>
                </a:solidFill>
                <a:latin typeface="DejaVu Sans"/>
                <a:ea typeface="DejaVu Sans"/>
                <a:cs typeface="DejaVu Sans"/>
              </a:defRPr>
            </a:lvl9pPr>
          </a:lstStyle>
          <a:p>
            <a:pPr algn="ctr">
              <a:lnSpc>
                <a:spcPct val="105000"/>
              </a:lnSpc>
              <a:buNone/>
              <a:defRPr sz="1950" b="0">
                <a:solidFill>
                  <a:srgbClr val="123047"/>
                </a:solidFill>
                <a:latin typeface="DejaVu Sans"/>
                <a:ea typeface="DejaVu Sans"/>
                <a:cs typeface="DejaVu Sans"/>
              </a:defRPr>
            </a:pPr>
            <a:r>
              <a:rPr sz="1950" b="0">
                <a:solidFill>
                  <a:srgbClr val="123047"/>
                </a:solidFill>
                <a:latin typeface="DejaVu Sans"/>
                <a:ea typeface="DejaVu Sans"/>
                <a:cs typeface="DejaVu Sans"/>
              </a:rPr>
              <a:t>STA Wi-Fi 2,4 GHz</a:t>
            </a:r>
          </a:p>
          <a:p>
            <a:pPr algn="ctr">
              <a:lnSpc>
                <a:spcPct val="105000"/>
              </a:lnSpc>
              <a:buNone/>
              <a:defRPr sz="1950" b="0">
                <a:solidFill>
                  <a:srgbClr val="123047"/>
                </a:solidFill>
                <a:latin typeface="DejaVu Sans"/>
                <a:ea typeface="DejaVu Sans"/>
                <a:cs typeface="DejaVu Sans"/>
              </a:defRPr>
            </a:pPr>
            <a:r>
              <a:rPr sz="1950" b="0">
                <a:solidFill>
                  <a:srgbClr val="123047"/>
                </a:solidFill>
                <a:latin typeface="DejaVu Sans"/>
                <a:ea typeface="DejaVu Sans"/>
                <a:cs typeface="DejaVu Sans"/>
              </a:rPr>
              <a:t>Router / hotspot</a:t>
            </a:r>
          </a:p>
        </p:txBody>
      </p:sp>
      <p:sp>
        <p:nvSpPr>
          <p:cNvPr id="8" name="node-206">
            <a:extLst>
              <a:ext uri="{FF2B5EF4-FFF2-40B4-BE49-F238E27FC236}">
                <a16:creationId xmlns:a16="http://schemas.microsoft.com/office/drawing/2014/main" id="{5EF93DB7-1B15-4946-92A7-DB73BFBD8698}"/>
              </a:ext>
            </a:extLst>
          </p:cNvPr>
          <p:cNvSpPr>
            <a:spLocks noGrp="1"/>
          </p:cNvSpPr>
          <p:nvPr/>
        </p:nvSpPr>
        <p:spPr>
          <a:xfrm>
            <a:off x="8715375" y="1704975"/>
            <a:ext cx="2867025" cy="10001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75" b="0">
                <a:solidFill>
                  <a:srgbClr val="123047"/>
                </a:solidFill>
                <a:latin typeface="DejaVu Sans"/>
                <a:ea typeface="DejaVu Sans"/>
                <a:cs typeface="DejaVu Sans"/>
              </a:defRPr>
            </a:defPPr>
            <a:lvl1pPr algn="ctr">
              <a:defRPr sz="1875" b="0">
                <a:solidFill>
                  <a:srgbClr val="123047"/>
                </a:solidFill>
                <a:latin typeface="DejaVu Sans"/>
                <a:ea typeface="DejaVu Sans"/>
                <a:cs typeface="DejaVu Sans"/>
              </a:defRPr>
            </a:lvl1pPr>
            <a:lvl2pPr algn="ctr">
              <a:defRPr sz="1875" b="0">
                <a:solidFill>
                  <a:srgbClr val="123047"/>
                </a:solidFill>
                <a:latin typeface="DejaVu Sans"/>
                <a:ea typeface="DejaVu Sans"/>
                <a:cs typeface="DejaVu Sans"/>
              </a:defRPr>
            </a:lvl2pPr>
            <a:lvl3pPr algn="ctr">
              <a:defRPr sz="1875" b="0">
                <a:solidFill>
                  <a:srgbClr val="123047"/>
                </a:solidFill>
                <a:latin typeface="DejaVu Sans"/>
                <a:ea typeface="DejaVu Sans"/>
                <a:cs typeface="DejaVu Sans"/>
              </a:defRPr>
            </a:lvl3pPr>
            <a:lvl4pPr algn="ctr">
              <a:defRPr sz="1875" b="0">
                <a:solidFill>
                  <a:srgbClr val="123047"/>
                </a:solidFill>
                <a:latin typeface="DejaVu Sans"/>
                <a:ea typeface="DejaVu Sans"/>
                <a:cs typeface="DejaVu Sans"/>
              </a:defRPr>
            </a:lvl4pPr>
            <a:lvl5pPr algn="ctr">
              <a:defRPr sz="1875" b="0">
                <a:solidFill>
                  <a:srgbClr val="123047"/>
                </a:solidFill>
                <a:latin typeface="DejaVu Sans"/>
                <a:ea typeface="DejaVu Sans"/>
                <a:cs typeface="DejaVu Sans"/>
              </a:defRPr>
            </a:lvl5pPr>
            <a:lvl6pPr algn="ctr">
              <a:defRPr sz="1875" b="0">
                <a:solidFill>
                  <a:srgbClr val="123047"/>
                </a:solidFill>
                <a:latin typeface="DejaVu Sans"/>
                <a:ea typeface="DejaVu Sans"/>
                <a:cs typeface="DejaVu Sans"/>
              </a:defRPr>
            </a:lvl6pPr>
            <a:lvl7pPr algn="ctr">
              <a:defRPr sz="1875" b="0">
                <a:solidFill>
                  <a:srgbClr val="123047"/>
                </a:solidFill>
                <a:latin typeface="DejaVu Sans"/>
                <a:ea typeface="DejaVu Sans"/>
                <a:cs typeface="DejaVu Sans"/>
              </a:defRPr>
            </a:lvl7pPr>
            <a:lvl8pPr algn="ctr">
              <a:defRPr sz="1875" b="0">
                <a:solidFill>
                  <a:srgbClr val="123047"/>
                </a:solidFill>
                <a:latin typeface="DejaVu Sans"/>
                <a:ea typeface="DejaVu Sans"/>
                <a:cs typeface="DejaVu Sans"/>
              </a:defRPr>
            </a:lvl8pPr>
            <a:lvl9pPr algn="ctr">
              <a:defRPr sz="1875" b="0">
                <a:solidFill>
                  <a:srgbClr val="123047"/>
                </a:solidFill>
                <a:latin typeface="DejaVu Sans"/>
                <a:ea typeface="DejaVu Sans"/>
                <a:cs typeface="DejaVu Sans"/>
              </a:defRPr>
            </a:lvl9pPr>
          </a:lstStyle>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Điện thoại / laptop</a:t>
            </a:r>
          </a:p>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Web nội bộ</a:t>
            </a:r>
          </a:p>
        </p:txBody>
      </p:sp>
      <p:sp>
        <p:nvSpPr>
          <p:cNvPr id="9" name="node-207">
            <a:extLst>
              <a:ext uri="{FF2B5EF4-FFF2-40B4-BE49-F238E27FC236}">
                <a16:creationId xmlns:a16="http://schemas.microsoft.com/office/drawing/2014/main" id="{442422F3-B16D-4F4A-85A5-40BD4428F305}"/>
              </a:ext>
            </a:extLst>
          </p:cNvPr>
          <p:cNvSpPr>
            <a:spLocks noGrp="1"/>
          </p:cNvSpPr>
          <p:nvPr/>
        </p:nvSpPr>
        <p:spPr>
          <a:xfrm>
            <a:off x="8715375" y="4029075"/>
            <a:ext cx="2867025" cy="1000125"/>
          </a:xfrm>
          <a:prstGeom prst="rect">
            <a:avLst/>
          </a:prstGeom>
          <a:solidFill>
            <a:srgbClr val="FFFFFF"/>
          </a:solidFill>
          <a:ln w="17145">
            <a:solidFill>
              <a:srgbClr val="007E87"/>
            </a:solidFill>
            <a:prstDash val="solid"/>
          </a:ln>
        </p:spPr>
        <p:txBody>
          <a:bodyPr wrap="square" lIns="114300" tIns="95250" rIns="114300" bIns="95250" anchor="ctr">
            <a:noAutofit/>
          </a:bodyPr>
          <a:lstStyle>
            <a:defPPr algn="ctr">
              <a:defRPr sz="1875" b="0">
                <a:solidFill>
                  <a:srgbClr val="123047"/>
                </a:solidFill>
                <a:latin typeface="DejaVu Sans"/>
                <a:ea typeface="DejaVu Sans"/>
                <a:cs typeface="DejaVu Sans"/>
              </a:defRPr>
            </a:defPPr>
            <a:lvl1pPr algn="ctr">
              <a:defRPr sz="1875" b="0">
                <a:solidFill>
                  <a:srgbClr val="123047"/>
                </a:solidFill>
                <a:latin typeface="DejaVu Sans"/>
                <a:ea typeface="DejaVu Sans"/>
                <a:cs typeface="DejaVu Sans"/>
              </a:defRPr>
            </a:lvl1pPr>
            <a:lvl2pPr algn="ctr">
              <a:defRPr sz="1875" b="0">
                <a:solidFill>
                  <a:srgbClr val="123047"/>
                </a:solidFill>
                <a:latin typeface="DejaVu Sans"/>
                <a:ea typeface="DejaVu Sans"/>
                <a:cs typeface="DejaVu Sans"/>
              </a:defRPr>
            </a:lvl2pPr>
            <a:lvl3pPr algn="ctr">
              <a:defRPr sz="1875" b="0">
                <a:solidFill>
                  <a:srgbClr val="123047"/>
                </a:solidFill>
                <a:latin typeface="DejaVu Sans"/>
                <a:ea typeface="DejaVu Sans"/>
                <a:cs typeface="DejaVu Sans"/>
              </a:defRPr>
            </a:lvl3pPr>
            <a:lvl4pPr algn="ctr">
              <a:defRPr sz="1875" b="0">
                <a:solidFill>
                  <a:srgbClr val="123047"/>
                </a:solidFill>
                <a:latin typeface="DejaVu Sans"/>
                <a:ea typeface="DejaVu Sans"/>
                <a:cs typeface="DejaVu Sans"/>
              </a:defRPr>
            </a:lvl4pPr>
            <a:lvl5pPr algn="ctr">
              <a:defRPr sz="1875" b="0">
                <a:solidFill>
                  <a:srgbClr val="123047"/>
                </a:solidFill>
                <a:latin typeface="DejaVu Sans"/>
                <a:ea typeface="DejaVu Sans"/>
                <a:cs typeface="DejaVu Sans"/>
              </a:defRPr>
            </a:lvl5pPr>
            <a:lvl6pPr algn="ctr">
              <a:defRPr sz="1875" b="0">
                <a:solidFill>
                  <a:srgbClr val="123047"/>
                </a:solidFill>
                <a:latin typeface="DejaVu Sans"/>
                <a:ea typeface="DejaVu Sans"/>
                <a:cs typeface="DejaVu Sans"/>
              </a:defRPr>
            </a:lvl6pPr>
            <a:lvl7pPr algn="ctr">
              <a:defRPr sz="1875" b="0">
                <a:solidFill>
                  <a:srgbClr val="123047"/>
                </a:solidFill>
                <a:latin typeface="DejaVu Sans"/>
                <a:ea typeface="DejaVu Sans"/>
                <a:cs typeface="DejaVu Sans"/>
              </a:defRPr>
            </a:lvl7pPr>
            <a:lvl8pPr algn="ctr">
              <a:defRPr sz="1875" b="0">
                <a:solidFill>
                  <a:srgbClr val="123047"/>
                </a:solidFill>
                <a:latin typeface="DejaVu Sans"/>
                <a:ea typeface="DejaVu Sans"/>
                <a:cs typeface="DejaVu Sans"/>
              </a:defRPr>
            </a:lvl8pPr>
            <a:lvl9pPr algn="ctr">
              <a:defRPr sz="1875" b="0">
                <a:solidFill>
                  <a:srgbClr val="123047"/>
                </a:solidFill>
                <a:latin typeface="DejaVu Sans"/>
                <a:ea typeface="DejaVu Sans"/>
                <a:cs typeface="DejaVu Sans"/>
              </a:defRPr>
            </a:lvl9pPr>
          </a:lstStyle>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Internet + NTP</a:t>
            </a:r>
          </a:p>
          <a:p>
            <a:pPr algn="ctr">
              <a:lnSpc>
                <a:spcPct val="105000"/>
              </a:lnSpc>
              <a:buNone/>
              <a:defRPr sz="1875" b="0">
                <a:solidFill>
                  <a:srgbClr val="123047"/>
                </a:solidFill>
                <a:latin typeface="DejaVu Sans"/>
                <a:ea typeface="DejaVu Sans"/>
                <a:cs typeface="DejaVu Sans"/>
              </a:defRPr>
            </a:pPr>
            <a:r>
              <a:rPr sz="1875" b="0">
                <a:solidFill>
                  <a:srgbClr val="123047"/>
                </a:solidFill>
                <a:latin typeface="DejaVu Sans"/>
                <a:ea typeface="DejaVu Sans"/>
                <a:cs typeface="DejaVu Sans"/>
              </a:rPr>
              <a:t>Telegram HTTPS</a:t>
            </a:r>
          </a:p>
        </p:txBody>
      </p:sp>
      <p:sp>
        <p:nvSpPr>
          <p:cNvPr id="14" name="text-208">
            <a:extLst>
              <a:ext uri="{FF2B5EF4-FFF2-40B4-BE49-F238E27FC236}">
                <a16:creationId xmlns:a16="http://schemas.microsoft.com/office/drawing/2014/main" id="{9FCF0B10-989E-4B95-A840-4531F8274239}"/>
              </a:ext>
            </a:extLst>
          </p:cNvPr>
          <p:cNvSpPr>
            <a:spLocks noGrp="1"/>
          </p:cNvSpPr>
          <p:nvPr/>
        </p:nvSpPr>
        <p:spPr>
          <a:xfrm>
            <a:off x="609600" y="5324475"/>
            <a:ext cx="10972800" cy="59055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AirSnapshot cung cấp dữ liệu cho tác vụ mạng. Mất Wi-Fi không làm dừng vòng đo hoặc đổi lệnh relay.</a:t>
            </a:r>
          </a:p>
        </p:txBody>
      </p:sp>
      <p:sp>
        <p:nvSpPr>
          <p:cNvPr id="15" name="text-209">
            <a:extLst>
              <a:ext uri="{FF2B5EF4-FFF2-40B4-BE49-F238E27FC236}">
                <a16:creationId xmlns:a16="http://schemas.microsoft.com/office/drawing/2014/main" id="{9DF90A9E-CDD1-4C23-9833-C01FBFB4BAC2}"/>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Log NETWORK khoảng 15 giây giúp phân biệt Wi-Fi, NTP và Telegram.</a:t>
            </a:r>
          </a:p>
        </p:txBody>
      </p:sp>
    </p:spTree>
    <p:extLst>
      <p:ext uri="{BB962C8B-B14F-4D97-AF65-F5344CB8AC3E}">
        <p14:creationId xmlns:p14="http://schemas.microsoft.com/office/powerpoint/2010/main" val="1155327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E707CDBD-C10A-4449-BC5E-ECD0B6EB604B}"/>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Môi trường Arduino IDE và mã nguồn</a:t>
            </a:r>
          </a:p>
        </p:txBody>
      </p:sp>
      <p:sp>
        <p:nvSpPr>
          <p:cNvPr id="2" name="rule-210">
            <a:extLst>
              <a:ext uri="{FF2B5EF4-FFF2-40B4-BE49-F238E27FC236}">
                <a16:creationId xmlns:a16="http://schemas.microsoft.com/office/drawing/2014/main" id="{3A6A5172-D776-450F-80B4-3BF5A49A9AB2}"/>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D276691F-8CFF-48EB-93BC-919A37C52467}"/>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B13A9115-C57F-4A18-8109-DB541E2662BA}"/>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30</a:t>
            </a:r>
          </a:p>
        </p:txBody>
      </p:sp>
      <p:sp>
        <p:nvSpPr>
          <p:cNvPr id="5" name="text-211">
            <a:extLst>
              <a:ext uri="{FF2B5EF4-FFF2-40B4-BE49-F238E27FC236}">
                <a16:creationId xmlns:a16="http://schemas.microsoft.com/office/drawing/2014/main" id="{B30BD8EB-8F51-4620-9DA7-ADD92557305F}"/>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Cấu hình đã dùng</a:t>
            </a:r>
          </a:p>
        </p:txBody>
      </p:sp>
      <p:sp>
        <p:nvSpPr>
          <p:cNvPr id="6" name="text-212">
            <a:extLst>
              <a:ext uri="{FF2B5EF4-FFF2-40B4-BE49-F238E27FC236}">
                <a16:creationId xmlns:a16="http://schemas.microsoft.com/office/drawing/2014/main" id="{2D9696A4-A27C-40F8-BECB-D1F4ADBBC0A9}"/>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ESP32 core 3.3.12, ESP32S3 Dev</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Module.</a:t>
            </a:r>
          </a:p>
        </p:txBody>
      </p:sp>
      <p:sp>
        <p:nvSpPr>
          <p:cNvPr id="7" name="text-213">
            <a:extLst>
              <a:ext uri="{FF2B5EF4-FFF2-40B4-BE49-F238E27FC236}">
                <a16:creationId xmlns:a16="http://schemas.microsoft.com/office/drawing/2014/main" id="{8BADA524-7ADB-4653-BAEF-6150DF2349AA}"/>
              </a:ext>
            </a:extLst>
          </p:cNvPr>
          <p:cNvSpPr>
            <a:spLocks noGrp="1"/>
          </p:cNvSpPr>
          <p:nvPr/>
        </p:nvSpPr>
        <p:spPr>
          <a:xfrm>
            <a:off x="60960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Flash 16 MB, QIO 80 MHz, OPI PSRAM.</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Phân vùng 16M Flash: 2MB</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APP/12.5MB FATFS.</a:t>
            </a:r>
          </a:p>
        </p:txBody>
      </p:sp>
      <p:sp>
        <p:nvSpPr>
          <p:cNvPr id="8" name="text-214">
            <a:extLst>
              <a:ext uri="{FF2B5EF4-FFF2-40B4-BE49-F238E27FC236}">
                <a16:creationId xmlns:a16="http://schemas.microsoft.com/office/drawing/2014/main" id="{2664154F-B72B-46FA-B324-B5CD8336A9B2}"/>
              </a:ext>
            </a:extLst>
          </p:cNvPr>
          <p:cNvSpPr>
            <a:spLocks noGrp="1"/>
          </p:cNvSpPr>
          <p:nvPr/>
        </p:nvSpPr>
        <p:spPr>
          <a:xfrm>
            <a:off x="60960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USB Mode Hardware CDC and JTAG,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USB CDC On Boot Enabled.</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Flash/PSRAM phải khớp board.</a:t>
            </a:r>
          </a:p>
        </p:txBody>
      </p:sp>
      <p:sp>
        <p:nvSpPr>
          <p:cNvPr id="9" name="text-215">
            <a:extLst>
              <a:ext uri="{FF2B5EF4-FFF2-40B4-BE49-F238E27FC236}">
                <a16:creationId xmlns:a16="http://schemas.microsoft.com/office/drawing/2014/main" id="{9E274DA8-495A-4845-9B61-4547A4F06CA6}"/>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Thư viện và tệp chương trình</a:t>
            </a:r>
          </a:p>
        </p:txBody>
      </p:sp>
      <p:sp>
        <p:nvSpPr>
          <p:cNvPr id="10" name="text-216">
            <a:extLst>
              <a:ext uri="{FF2B5EF4-FFF2-40B4-BE49-F238E27FC236}">
                <a16:creationId xmlns:a16="http://schemas.microsoft.com/office/drawing/2014/main" id="{DC6A42EF-B5EE-4CEF-B704-4A9C6367CE99}"/>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DHT sensor library, Adafruit Unified</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Sensor, LiquidCrystal I2C tương thích.</a:t>
            </a:r>
          </a:p>
        </p:txBody>
      </p:sp>
      <p:sp>
        <p:nvSpPr>
          <p:cNvPr id="11" name="text-217">
            <a:extLst>
              <a:ext uri="{FF2B5EF4-FFF2-40B4-BE49-F238E27FC236}">
                <a16:creationId xmlns:a16="http://schemas.microsoft.com/office/drawing/2014/main" id="{928B77E9-5F3D-4D33-9056-40DF01E252E6}"/>
              </a:ext>
            </a:extLst>
          </p:cNvPr>
          <p:cNvSpPr>
            <a:spLocks noGrp="1"/>
          </p:cNvSpPr>
          <p:nvPr/>
        </p:nvSpPr>
        <p:spPr>
          <a:xfrm>
            <a:off x="638175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WiFi, WebServer, HTTPClient,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NetworkClientSecure và FreeRTOS</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thuộc ESP32 core.</a:t>
            </a:r>
          </a:p>
        </p:txBody>
      </p:sp>
      <p:sp>
        <p:nvSpPr>
          <p:cNvPr id="12" name="text-218">
            <a:extLst>
              <a:ext uri="{FF2B5EF4-FFF2-40B4-BE49-F238E27FC236}">
                <a16:creationId xmlns:a16="http://schemas.microsoft.com/office/drawing/2014/main" id="{09169AD4-9E99-45DD-80D1-F99639B2AD9A}"/>
              </a:ext>
            </a:extLst>
          </p:cNvPr>
          <p:cNvSpPr>
            <a:spLocks noGrp="1"/>
          </p:cNvSpPr>
          <p:nvPr/>
        </p:nvSpPr>
        <p:spPr>
          <a:xfrm>
            <a:off x="6381750" y="4217194"/>
            <a:ext cx="5200650" cy="131445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Giữ .ino, AirMonitorConfig.h,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AirMonitorNetwork.h/.cpp,</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Dashboard.h, NotificationPolicy.h cùng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sketch và chỉ một setup()/loop().</a:t>
            </a:r>
          </a:p>
        </p:txBody>
      </p:sp>
    </p:spTree>
    <p:extLst>
      <p:ext uri="{BB962C8B-B14F-4D97-AF65-F5344CB8AC3E}">
        <p14:creationId xmlns:p14="http://schemas.microsoft.com/office/powerpoint/2010/main" val="1191770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1D4BC0B9-AB7C-4C0C-B2B3-68D5B1749F1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Nạp chương trình và vận hành thường ngày</a:t>
            </a:r>
          </a:p>
        </p:txBody>
      </p:sp>
      <p:sp>
        <p:nvSpPr>
          <p:cNvPr id="2" name="rule-219">
            <a:extLst>
              <a:ext uri="{FF2B5EF4-FFF2-40B4-BE49-F238E27FC236}">
                <a16:creationId xmlns:a16="http://schemas.microsoft.com/office/drawing/2014/main" id="{01EA41E5-A544-4B72-B701-6098B2E995C7}"/>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F8927FE7-A3B4-45E9-A343-48B29564FEF8}"/>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6D785B28-F832-411E-A169-2DDA05EC2F1E}"/>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31</a:t>
            </a:r>
          </a:p>
        </p:txBody>
      </p:sp>
      <p:sp>
        <p:nvSpPr>
          <p:cNvPr id="5" name="text-220">
            <a:extLst>
              <a:ext uri="{FF2B5EF4-FFF2-40B4-BE49-F238E27FC236}">
                <a16:creationId xmlns:a16="http://schemas.microsoft.com/office/drawing/2014/main" id="{49D3D169-5615-42DA-9F46-9DA7F6EC16D1}"/>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Biên dịch và nạp</a:t>
            </a:r>
          </a:p>
        </p:txBody>
      </p:sp>
      <p:sp>
        <p:nvSpPr>
          <p:cNvPr id="6" name="text-221">
            <a:extLst>
              <a:ext uri="{FF2B5EF4-FFF2-40B4-BE49-F238E27FC236}">
                <a16:creationId xmlns:a16="http://schemas.microsoft.com/office/drawing/2014/main" id="{519E99F0-9FA8-4A8B-A4C5-D73BE47083B6}"/>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Mở đúng thư mục BUI1500_180s,</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Verify rồi Upload vào đúng cổng COM.</a:t>
            </a:r>
          </a:p>
        </p:txBody>
      </p:sp>
      <p:sp>
        <p:nvSpPr>
          <p:cNvPr id="7" name="text-222">
            <a:extLst>
              <a:ext uri="{FF2B5EF4-FFF2-40B4-BE49-F238E27FC236}">
                <a16:creationId xmlns:a16="http://schemas.microsoft.com/office/drawing/2014/main" id="{26882753-C2B2-4F04-9CD3-5BC33A180679}"/>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Kiểm tra thư viện khi thiếu DHT.h hoặc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LiquidCrystal_I2C.h.</a:t>
            </a:r>
          </a:p>
        </p:txBody>
      </p:sp>
      <p:sp>
        <p:nvSpPr>
          <p:cNvPr id="8" name="text-223">
            <a:extLst>
              <a:ext uri="{FF2B5EF4-FFF2-40B4-BE49-F238E27FC236}">
                <a16:creationId xmlns:a16="http://schemas.microsoft.com/office/drawing/2014/main" id="{C87E9B5A-0618-42B4-B51A-F25427BE780C}"/>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Serial 115200 phải có dòng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FIRMWARE: BUI1500_180s WEB +</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 sau reset.</a:t>
            </a:r>
          </a:p>
        </p:txBody>
      </p:sp>
      <p:sp>
        <p:nvSpPr>
          <p:cNvPr id="9" name="text-224">
            <a:extLst>
              <a:ext uri="{FF2B5EF4-FFF2-40B4-BE49-F238E27FC236}">
                <a16:creationId xmlns:a16="http://schemas.microsoft.com/office/drawing/2014/main" id="{5AA4BA94-8510-4A41-85C3-A7D7E5414810}"/>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Đặt máy và quan sát</a:t>
            </a:r>
          </a:p>
        </p:txBody>
      </p:sp>
      <p:sp>
        <p:nvSpPr>
          <p:cNvPr id="10" name="text-225">
            <a:extLst>
              <a:ext uri="{FF2B5EF4-FFF2-40B4-BE49-F238E27FC236}">
                <a16:creationId xmlns:a16="http://schemas.microsoft.com/office/drawing/2014/main" id="{0714B7D3-4490-4747-BF8A-CE0B76920AD9}"/>
              </a:ext>
            </a:extLst>
          </p:cNvPr>
          <p:cNvSpPr>
            <a:spLocks noGrp="1"/>
          </p:cNvSpPr>
          <p:nvPr/>
        </p:nvSpPr>
        <p:spPr>
          <a:xfrm>
            <a:off x="638175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Đặt cảm biến thông thoáng, tránh hơi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nước trực tiếp và quạt thổi vào cửa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cảm biến bụi.</a:t>
            </a:r>
          </a:p>
        </p:txBody>
      </p:sp>
      <p:sp>
        <p:nvSpPr>
          <p:cNvPr id="11" name="text-226">
            <a:extLst>
              <a:ext uri="{FF2B5EF4-FFF2-40B4-BE49-F238E27FC236}">
                <a16:creationId xmlns:a16="http://schemas.microsoft.com/office/drawing/2014/main" id="{C9654F5A-E760-436A-80F5-373AFF651279}"/>
              </a:ext>
            </a:extLst>
          </p:cNvPr>
          <p:cNvSpPr>
            <a:spLocks noGrp="1"/>
          </p:cNvSpPr>
          <p:nvPr/>
        </p:nvSpPr>
        <p:spPr>
          <a:xfrm>
            <a:off x="6381750" y="3374231"/>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Giữ môi trường sạch khi lấy nền, chờ</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SYSTEM READY rồi kiểm tra dữ liệu/cờ</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trạng thái.</a:t>
            </a:r>
          </a:p>
        </p:txBody>
      </p:sp>
      <p:sp>
        <p:nvSpPr>
          <p:cNvPr id="12" name="text-227">
            <a:extLst>
              <a:ext uri="{FF2B5EF4-FFF2-40B4-BE49-F238E27FC236}">
                <a16:creationId xmlns:a16="http://schemas.microsoft.com/office/drawing/2014/main" id="{5B79D2EF-FCAB-4080-A155-1B347C3742DF}"/>
              </a:ext>
            </a:extLst>
          </p:cNvPr>
          <p:cNvSpPr>
            <a:spLocks noGrp="1"/>
          </p:cNvSpPr>
          <p:nvPr/>
        </p:nvSpPr>
        <p:spPr>
          <a:xfrm>
            <a:off x="6381750" y="45386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LCD dòng đầu là trạng thái, dòng sau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luân phiên T/H và G/B. T: °C, H: %,</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G/B: ADC đã lọc.</a:t>
            </a:r>
          </a:p>
        </p:txBody>
      </p:sp>
    </p:spTree>
    <p:extLst>
      <p:ext uri="{BB962C8B-B14F-4D97-AF65-F5344CB8AC3E}">
        <p14:creationId xmlns:p14="http://schemas.microsoft.com/office/powerpoint/2010/main" val="568654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F6487243-FAFB-4F07-9FA6-00AC8742DB4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Lệnh Serial hỗ trợ</a:t>
            </a:r>
          </a:p>
        </p:txBody>
      </p:sp>
      <p:sp>
        <p:nvSpPr>
          <p:cNvPr id="2" name="rule-228">
            <a:extLst>
              <a:ext uri="{FF2B5EF4-FFF2-40B4-BE49-F238E27FC236}">
                <a16:creationId xmlns:a16="http://schemas.microsoft.com/office/drawing/2014/main" id="{8D8AA74B-DFB3-41AB-9770-9D3D17EABA2B}"/>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36E143D9-A1A1-4F5E-9BA7-91636DA2357F}"/>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07CFED0A-2CB6-47EE-AEAC-0149FF9B5803}"/>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32</a:t>
            </a:r>
          </a:p>
        </p:txBody>
      </p:sp>
      <p:graphicFrame>
        <p:nvGraphicFramePr>
          <p:cNvPr id="5" name="Table 4">
            <a:extLst>
              <a:ext uri="{FF2B5EF4-FFF2-40B4-BE49-F238E27FC236}">
                <a16:creationId xmlns:a16="http://schemas.microsoft.com/office/drawing/2014/main" id="{74C98BAA-1CE8-4DDF-8690-499A50E63A8E}"/>
              </a:ext>
            </a:extLst>
          </p:cNvPr>
          <p:cNvGraphicFramePr/>
          <p:nvPr/>
        </p:nvGraphicFramePr>
        <p:xfrm>
          <a:off x="609600" y="1657350"/>
          <a:ext cx="10972800" cy="4410073"/>
        </p:xfrm>
        <a:graphic>
          <a:graphicData uri="http://schemas.openxmlformats.org/drawingml/2006/table">
            <a:tbl>
              <a:tblPr firstRow="1"/>
              <a:tblGrid>
                <a:gridCol w="2523744">
                  <a:extLst>
                    <a:ext uri="{9D8B030D-6E8A-4147-A177-3AD203B41FA5}">
                      <a16:colId xmlns:a16="http://schemas.microsoft.com/office/drawing/2014/main" val="20000"/>
                    </a:ext>
                  </a:extLst>
                </a:gridCol>
                <a:gridCol w="8449056">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Thiết lập/lệnh</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Cách sử dụng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555171">
                <a:tc>
                  <a:txBody>
                    <a:bodyPr/>
                    <a:lstStyle/>
                    <a:p>
                      <a:r>
                        <a:rPr sz="1725">
                          <a:solidFill>
                            <a:srgbClr val="263E50"/>
                          </a:solidFill>
                          <a:latin typeface="DejaVu Sans"/>
                          <a:ea typeface="DejaVu Sans"/>
                          <a:cs typeface="DejaVu Sans"/>
                        </a:rPr>
                        <a:t>115200 baud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Tốc độ Serial Monitor</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555171">
                <a:tc>
                  <a:txBody>
                    <a:bodyPr/>
                    <a:lstStyle/>
                    <a:p>
                      <a:r>
                        <a:rPr sz="1725">
                          <a:solidFill>
                            <a:srgbClr val="263E50"/>
                          </a:solidFill>
                          <a:latin typeface="DejaVu Sans"/>
                          <a:ea typeface="DejaVu Sans"/>
                          <a:cs typeface="DejaVu Sans"/>
                        </a:rPr>
                        <a:t>T hoặc t</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Sau ready, thử relay khoảng 10 s khi không có gas/nhiệt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555171">
                <a:tc>
                  <a:txBody>
                    <a:bodyPr/>
                    <a:lstStyle/>
                    <a:p>
                      <a:r>
                        <a:rPr sz="1725">
                          <a:solidFill>
                            <a:srgbClr val="263E50"/>
                          </a:solidFill>
                          <a:latin typeface="DejaVu Sans"/>
                          <a:ea typeface="DejaVu Sans"/>
                          <a:cs typeface="DejaVu Sans"/>
                        </a:rPr>
                        <a:t>D hoặc d</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Hiệu chỉnh bụi trong khí sạch, từ chối khi relay/bài thử bật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555171">
                <a:tc>
                  <a:txBody>
                    <a:bodyPr/>
                    <a:lstStyle/>
                    <a:p>
                      <a:r>
                        <a:rPr sz="1725">
                          <a:solidFill>
                            <a:srgbClr val="263E50"/>
                          </a:solidFill>
                          <a:latin typeface="DejaVu Sans"/>
                          <a:ea typeface="DejaVu Sans"/>
                          <a:cs typeface="DejaVu Sans"/>
                        </a:rPr>
                        <a:t>Theo dõi bản tin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DHT_OK, GAS_OK, BUI_OK, raw, avg, ON/OFF và đầu ra</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1110343">
                <a:tc>
                  <a:txBody>
                    <a:bodyPr/>
                    <a:lstStyle/>
                    <a:p>
                      <a:r>
                        <a:rPr sz="1725">
                          <a:solidFill>
                            <a:srgbClr val="263E50"/>
                          </a:solidFill>
                          <a:latin typeface="DejaVu Sans"/>
                          <a:ea typeface="DejaVu Sans"/>
                          <a:cs typeface="DejaVu Sans"/>
                        </a:rPr>
                        <a:t>N hoặc n</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Thử Telegram, không bật relay. Dùng lúc warming nếu mạng/NTP sẵn sàng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555171">
                <a:tc>
                  <a:txBody>
                    <a:bodyPr/>
                    <a:lstStyle/>
                    <a:p>
                      <a:r>
                        <a:rPr sz="1725">
                          <a:solidFill>
                            <a:srgbClr val="263E50"/>
                          </a:solidFill>
                          <a:latin typeface="DejaVu Sans"/>
                          <a:ea typeface="DejaVu Sans"/>
                          <a:cs typeface="DejaVu Sans"/>
                        </a:rPr>
                        <a:t>J hoặc j</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Trả một dòng AIRJSON chỉ đọc, không cần cho localhost Wi-Fi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5606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561D7B11-7ED6-47C7-8C48-9662CCC9ADE0}"/>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Cấu hình Wi-Fi và bot Telegram</a:t>
            </a:r>
          </a:p>
        </p:txBody>
      </p:sp>
      <p:sp>
        <p:nvSpPr>
          <p:cNvPr id="2" name="rule-229">
            <a:extLst>
              <a:ext uri="{FF2B5EF4-FFF2-40B4-BE49-F238E27FC236}">
                <a16:creationId xmlns:a16="http://schemas.microsoft.com/office/drawing/2014/main" id="{7717EBAD-43EE-4CE3-84EB-9C2B07732BF8}"/>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FDE3DFAA-B971-4D6B-87E9-C4643608CC9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601D0414-F955-4E25-934C-2887EC697C0C}"/>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33</a:t>
            </a:r>
          </a:p>
        </p:txBody>
      </p:sp>
      <p:sp>
        <p:nvSpPr>
          <p:cNvPr id="5" name="text-230">
            <a:extLst>
              <a:ext uri="{FF2B5EF4-FFF2-40B4-BE49-F238E27FC236}">
                <a16:creationId xmlns:a16="http://schemas.microsoft.com/office/drawing/2014/main" id="{F5452A6B-F4BA-4E4B-A78F-D95660097DDA}"/>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Các biến cấu hình</a:t>
            </a:r>
          </a:p>
        </p:txBody>
      </p:sp>
      <p:sp>
        <p:nvSpPr>
          <p:cNvPr id="6" name="text-231">
            <a:extLst>
              <a:ext uri="{FF2B5EF4-FFF2-40B4-BE49-F238E27FC236}">
                <a16:creationId xmlns:a16="http://schemas.microsoft.com/office/drawing/2014/main" id="{9C4E2443-A0C6-4E16-9536-FD997A89C6F3}"/>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WIFI_SSID, WIFI_PASSWORD,</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AP_PASSWORD.</a:t>
            </a:r>
          </a:p>
        </p:txBody>
      </p:sp>
      <p:sp>
        <p:nvSpPr>
          <p:cNvPr id="7" name="text-232">
            <a:extLst>
              <a:ext uri="{FF2B5EF4-FFF2-40B4-BE49-F238E27FC236}">
                <a16:creationId xmlns:a16="http://schemas.microsoft.com/office/drawing/2014/main" id="{3E2AA174-31B8-45BC-9485-0D8649B48E62}"/>
              </a:ext>
            </a:extLst>
          </p:cNvPr>
          <p:cNvSpPr>
            <a:spLocks noGrp="1"/>
          </p:cNvSpPr>
          <p:nvPr/>
        </p:nvSpPr>
        <p:spPr>
          <a:xfrm>
            <a:off x="60960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TELEGRAM_BOT_TOKEN,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TELEGRAM_CHAT_ID,</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TELEGRAM_ENABLED = true.</a:t>
            </a:r>
          </a:p>
        </p:txBody>
      </p:sp>
      <p:sp>
        <p:nvSpPr>
          <p:cNvPr id="8" name="text-233">
            <a:extLst>
              <a:ext uri="{FF2B5EF4-FFF2-40B4-BE49-F238E27FC236}">
                <a16:creationId xmlns:a16="http://schemas.microsoft.com/office/drawing/2014/main" id="{AC0F1FA2-8085-4FEF-A2E7-F9BFB586A69F}"/>
              </a:ext>
            </a:extLst>
          </p:cNvPr>
          <p:cNvSpPr>
            <a:spLocks noGrp="1"/>
          </p:cNvSpPr>
          <p:nvPr/>
        </p:nvSpPr>
        <p:spPr>
          <a:xfrm>
            <a:off x="60960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REMINDER_MS = 300000UL tương ứng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5 phút. Chỉ trình bày tên biến, giữ</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thông tin riêng ngoài báo cáo.</a:t>
            </a:r>
          </a:p>
        </p:txBody>
      </p:sp>
      <p:sp>
        <p:nvSpPr>
          <p:cNvPr id="9" name="text-234">
            <a:extLst>
              <a:ext uri="{FF2B5EF4-FFF2-40B4-BE49-F238E27FC236}">
                <a16:creationId xmlns:a16="http://schemas.microsoft.com/office/drawing/2014/main" id="{B3110ED9-3290-4DBA-90A8-7213511B7805}"/>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Tạo bot và kiểm tra</a:t>
            </a:r>
          </a:p>
        </p:txBody>
      </p:sp>
      <p:sp>
        <p:nvSpPr>
          <p:cNvPr id="10" name="text-235">
            <a:extLst>
              <a:ext uri="{FF2B5EF4-FFF2-40B4-BE49-F238E27FC236}">
                <a16:creationId xmlns:a16="http://schemas.microsoft.com/office/drawing/2014/main" id="{FFAA0B41-8753-44A9-B61C-D29D062D4CFB}"/>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Tạo qua @BotFather, lấy token, mở</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bot và bấm Start rồi gửi một tin nhắn.</a:t>
            </a:r>
          </a:p>
        </p:txBody>
      </p:sp>
      <p:sp>
        <p:nvSpPr>
          <p:cNvPr id="11" name="text-236">
            <a:extLst>
              <a:ext uri="{FF2B5EF4-FFF2-40B4-BE49-F238E27FC236}">
                <a16:creationId xmlns:a16="http://schemas.microsoft.com/office/drawing/2014/main" id="{ACB62BB8-BAE4-45B3-AC21-5BBAC4DB0D61}"/>
              </a:ext>
            </a:extLst>
          </p:cNvPr>
          <p:cNvSpPr>
            <a:spLocks noGrp="1"/>
          </p:cNvSpPr>
          <p:nvPr/>
        </p:nvSpPr>
        <p:spPr>
          <a:xfrm>
            <a:off x="6381750" y="3052763"/>
            <a:ext cx="5200650" cy="131445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Lấy message.chat.id từ getUpdates,</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không dùng message_id hoặc ID của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bot. URL bắt buộc có tiền tố</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bot&lt;TOKEN&gt;.</a:t>
            </a:r>
          </a:p>
        </p:txBody>
      </p:sp>
      <p:sp>
        <p:nvSpPr>
          <p:cNvPr id="12" name="text-237">
            <a:extLst>
              <a:ext uri="{FF2B5EF4-FFF2-40B4-BE49-F238E27FC236}">
                <a16:creationId xmlns:a16="http://schemas.microsoft.com/office/drawing/2014/main" id="{86787830-72E0-4B5A-8202-7604734F1E7F}"/>
              </a:ext>
            </a:extLst>
          </p:cNvPr>
          <p:cNvSpPr>
            <a:spLocks noGrp="1"/>
          </p:cNvSpPr>
          <p:nvPr/>
        </p:nvSpPr>
        <p:spPr>
          <a:xfrm>
            <a:off x="6381750" y="45386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Nạp firmware lại sau sửa cấu hình. Khi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Internet/NTP hợp lệ, gửi N và kiểm</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tra đúng cuộc trò chuyện.</a:t>
            </a:r>
          </a:p>
        </p:txBody>
      </p:sp>
    </p:spTree>
    <p:extLst>
      <p:ext uri="{BB962C8B-B14F-4D97-AF65-F5344CB8AC3E}">
        <p14:creationId xmlns:p14="http://schemas.microsoft.com/office/powerpoint/2010/main" val="307725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CD730ED1-6C6F-4190-B157-4EC506FDCF0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Truy cập web trực tiếp và localhost</a:t>
            </a:r>
          </a:p>
        </p:txBody>
      </p:sp>
      <p:sp>
        <p:nvSpPr>
          <p:cNvPr id="2" name="rule-238">
            <a:extLst>
              <a:ext uri="{FF2B5EF4-FFF2-40B4-BE49-F238E27FC236}">
                <a16:creationId xmlns:a16="http://schemas.microsoft.com/office/drawing/2014/main" id="{C146E455-DE35-4863-8CC0-E6A66F78258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29B70D50-0A5D-4211-8EEE-1EF47EDE7825}"/>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75463DAA-AB23-4E27-A38C-094544782298}"/>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34</a:t>
            </a:r>
          </a:p>
        </p:txBody>
      </p:sp>
      <p:sp>
        <p:nvSpPr>
          <p:cNvPr id="5" name="text-239">
            <a:extLst>
              <a:ext uri="{FF2B5EF4-FFF2-40B4-BE49-F238E27FC236}">
                <a16:creationId xmlns:a16="http://schemas.microsoft.com/office/drawing/2014/main" id="{AE7BB366-C7EB-44F0-AAC4-0EDC5795E469}"/>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Điện thoại hoặc laptop</a:t>
            </a:r>
          </a:p>
        </p:txBody>
      </p:sp>
      <p:sp>
        <p:nvSpPr>
          <p:cNvPr id="6" name="text-240">
            <a:extLst>
              <a:ext uri="{FF2B5EF4-FFF2-40B4-BE49-F238E27FC236}">
                <a16:creationId xmlns:a16="http://schemas.microsoft.com/office/drawing/2014/main" id="{5634E0EC-034B-4FFB-BD32-BBD35E337880}"/>
              </a:ext>
            </a:extLst>
          </p:cNvPr>
          <p:cNvSpPr>
            <a:spLocks noGrp="1"/>
          </p:cNvSpPr>
          <p:nvPr/>
        </p:nvSpPr>
        <p:spPr>
          <a:xfrm>
            <a:off x="60960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Kết nối AirMonitor-xxxx và mở</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http://192.168.4.1 với mật khẩu AP đã</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cấu hình.</a:t>
            </a:r>
          </a:p>
        </p:txBody>
      </p:sp>
      <p:sp>
        <p:nvSpPr>
          <p:cNvPr id="7" name="text-241">
            <a:extLst>
              <a:ext uri="{FF2B5EF4-FFF2-40B4-BE49-F238E27FC236}">
                <a16:creationId xmlns:a16="http://schemas.microsoft.com/office/drawing/2014/main" id="{BEC28ECC-EC2E-41F6-A4DE-92482A4E97B9}"/>
              </a:ext>
            </a:extLst>
          </p:cNvPr>
          <p:cNvSpPr>
            <a:spLocks noGrp="1"/>
          </p:cNvSpPr>
          <p:nvPr/>
        </p:nvSpPr>
        <p:spPr>
          <a:xfrm>
            <a:off x="609600" y="3374231"/>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Hoặc cùng router/hotspot với ESP32,</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mở IP LAN từ Serial/Telegram. IP DHCP</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thể đổi.</a:t>
            </a:r>
          </a:p>
        </p:txBody>
      </p:sp>
      <p:sp>
        <p:nvSpPr>
          <p:cNvPr id="8" name="text-242">
            <a:extLst>
              <a:ext uri="{FF2B5EF4-FFF2-40B4-BE49-F238E27FC236}">
                <a16:creationId xmlns:a16="http://schemas.microsoft.com/office/drawing/2014/main" id="{7281F7B2-7577-43DA-915E-8BE0F65F25AE}"/>
              </a:ext>
            </a:extLst>
          </p:cNvPr>
          <p:cNvSpPr>
            <a:spLocks noGrp="1"/>
          </p:cNvSpPr>
          <p:nvPr/>
        </p:nvSpPr>
        <p:spPr>
          <a:xfrm>
            <a:off x="609600" y="45386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Thiết bị ở mạng khác không truy cập</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được IP nội bộ.</a:t>
            </a:r>
          </a:p>
        </p:txBody>
      </p:sp>
      <p:sp>
        <p:nvSpPr>
          <p:cNvPr id="9" name="text-243">
            <a:extLst>
              <a:ext uri="{FF2B5EF4-FFF2-40B4-BE49-F238E27FC236}">
                <a16:creationId xmlns:a16="http://schemas.microsoft.com/office/drawing/2014/main" id="{FF1B222F-8AE8-4FED-BBBD-31D5073B3477}"/>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Localhost trên laptop</a:t>
            </a:r>
          </a:p>
        </p:txBody>
      </p:sp>
      <p:sp>
        <p:nvSpPr>
          <p:cNvPr id="10" name="text-244">
            <a:extLst>
              <a:ext uri="{FF2B5EF4-FFF2-40B4-BE49-F238E27FC236}">
                <a16:creationId xmlns:a16="http://schemas.microsoft.com/office/drawing/2014/main" id="{059595E9-13B6-4E6A-A568-C65F21D081D8}"/>
              </a:ext>
            </a:extLst>
          </p:cNvPr>
          <p:cNvSpPr>
            <a:spLocks noGrp="1"/>
          </p:cNvSpPr>
          <p:nvPr/>
        </p:nvSpPr>
        <p:spPr>
          <a:xfrm>
            <a:off x="638175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Chạy CHAY_WEB_LOCALHOST.cmd rồi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mở http://localhost:8765. Python 3</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chuyển tiếp API thật qua Wi-Fi.</a:t>
            </a:r>
          </a:p>
        </p:txBody>
      </p:sp>
      <p:sp>
        <p:nvSpPr>
          <p:cNvPr id="11" name="text-245">
            <a:extLst>
              <a:ext uri="{FF2B5EF4-FFF2-40B4-BE49-F238E27FC236}">
                <a16:creationId xmlns:a16="http://schemas.microsoft.com/office/drawing/2014/main" id="{010F2BE3-3C27-4561-B93D-D98FAA55A93A}"/>
              </a:ext>
            </a:extLst>
          </p:cNvPr>
          <p:cNvSpPr>
            <a:spLocks noGrp="1"/>
          </p:cNvSpPr>
          <p:nvPr/>
        </p:nvSpPr>
        <p:spPr>
          <a:xfrm>
            <a:off x="6381750" y="3374231"/>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Máy chủ chỉ nghe 127.0.0.1. Localhost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trên điện thoại trỏ vào chính điện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thoại.</a:t>
            </a:r>
          </a:p>
        </p:txBody>
      </p:sp>
      <p:sp>
        <p:nvSpPr>
          <p:cNvPr id="12" name="text-246">
            <a:extLst>
              <a:ext uri="{FF2B5EF4-FFF2-40B4-BE49-F238E27FC236}">
                <a16:creationId xmlns:a16="http://schemas.microsoft.com/office/drawing/2014/main" id="{33EF177C-5C83-4568-B8AB-4BE4FE812AE5}"/>
              </a:ext>
            </a:extLst>
          </p:cNvPr>
          <p:cNvSpPr>
            <a:spLocks noGrp="1"/>
          </p:cNvSpPr>
          <p:nvPr/>
        </p:nvSpPr>
        <p:spPr>
          <a:xfrm>
            <a:off x="6381750" y="45386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Đổi IP thì cập nhật --esp http://IP_MOI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--port 8765. Giữ máy chủ chạy, không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cần đóng Serial Monitor.</a:t>
            </a:r>
          </a:p>
        </p:txBody>
      </p:sp>
    </p:spTree>
    <p:extLst>
      <p:ext uri="{BB962C8B-B14F-4D97-AF65-F5344CB8AC3E}">
        <p14:creationId xmlns:p14="http://schemas.microsoft.com/office/powerpoint/2010/main" val="69919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6BFE5680-BCE5-4505-B5A2-840C8CA2BEE7}"/>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Chẩn đoán mạng và cảnh báo giữ lâu</a:t>
            </a:r>
          </a:p>
        </p:txBody>
      </p:sp>
      <p:sp>
        <p:nvSpPr>
          <p:cNvPr id="2" name="rule-247">
            <a:extLst>
              <a:ext uri="{FF2B5EF4-FFF2-40B4-BE49-F238E27FC236}">
                <a16:creationId xmlns:a16="http://schemas.microsoft.com/office/drawing/2014/main" id="{5375A2B9-C1DD-4DC8-8A9A-8D5CAE49A6A3}"/>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AEFD9761-E749-42FC-8A31-FCE79C8CA548}"/>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07 Cài đặt và vận hành</a:t>
            </a:r>
          </a:p>
        </p:txBody>
      </p:sp>
      <p:sp>
        <p:nvSpPr>
          <p:cNvPr id="4" name="slide-number">
            <a:extLst>
              <a:ext uri="{FF2B5EF4-FFF2-40B4-BE49-F238E27FC236}">
                <a16:creationId xmlns:a16="http://schemas.microsoft.com/office/drawing/2014/main" id="{C149FD6E-7C88-4D23-95F5-ADB8F0F8515F}"/>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35</a:t>
            </a:r>
          </a:p>
        </p:txBody>
      </p:sp>
      <p:sp>
        <p:nvSpPr>
          <p:cNvPr id="5" name="text-248">
            <a:extLst>
              <a:ext uri="{FF2B5EF4-FFF2-40B4-BE49-F238E27FC236}">
                <a16:creationId xmlns:a16="http://schemas.microsoft.com/office/drawing/2014/main" id="{365D9101-D70F-4517-88D6-252DF743E44C}"/>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Web và Telegram</a:t>
            </a:r>
          </a:p>
        </p:txBody>
      </p:sp>
      <p:sp>
        <p:nvSpPr>
          <p:cNvPr id="6" name="text-249">
            <a:extLst>
              <a:ext uri="{FF2B5EF4-FFF2-40B4-BE49-F238E27FC236}">
                <a16:creationId xmlns:a16="http://schemas.microsoft.com/office/drawing/2014/main" id="{9CAFBE4C-E168-47C9-A97B-F51AA0B1A175}"/>
              </a:ext>
            </a:extLst>
          </p:cNvPr>
          <p:cNvSpPr>
            <a:spLocks noGrp="1"/>
          </p:cNvSpPr>
          <p:nvPr/>
        </p:nvSpPr>
        <p:spPr>
          <a:xfrm>
            <a:off x="60960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Kiểm tra cùng Wi-Fi, IP mới nhất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chế độ cách ly máy khách. Tránh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reconnect liên tục lúc STA đang nối.</a:t>
            </a:r>
          </a:p>
        </p:txBody>
      </p:sp>
      <p:sp>
        <p:nvSpPr>
          <p:cNvPr id="7" name="text-250">
            <a:extLst>
              <a:ext uri="{FF2B5EF4-FFF2-40B4-BE49-F238E27FC236}">
                <a16:creationId xmlns:a16="http://schemas.microsoft.com/office/drawing/2014/main" id="{11FB4C27-2002-4204-8106-EC0ACA0BF3F6}"/>
              </a:ext>
            </a:extLst>
          </p:cNvPr>
          <p:cNvSpPr>
            <a:spLocks noGrp="1"/>
          </p:cNvSpPr>
          <p:nvPr/>
        </p:nvSpPr>
        <p:spPr>
          <a:xfrm>
            <a:off x="609600" y="337423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Telegram: Internet, NTP, bật chức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năng, token/chat ID và Start bot.</a:t>
            </a:r>
          </a:p>
        </p:txBody>
      </p:sp>
      <p:sp>
        <p:nvSpPr>
          <p:cNvPr id="8" name="text-251">
            <a:extLst>
              <a:ext uri="{FF2B5EF4-FFF2-40B4-BE49-F238E27FC236}">
                <a16:creationId xmlns:a16="http://schemas.microsoft.com/office/drawing/2014/main" id="{AD2E5816-EFE5-42D9-B886-3449DE9587CB}"/>
              </a:ext>
            </a:extLst>
          </p:cNvPr>
          <p:cNvSpPr>
            <a:spLocks noGrp="1"/>
          </p:cNvSpPr>
          <p:nvPr/>
        </p:nvSpPr>
        <p:spPr>
          <a:xfrm>
            <a:off x="609600" y="4217194"/>
            <a:ext cx="5200650" cy="1314450"/>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HTTP thường liên quan: 400 tham số,</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401 token, 403 quyền/bị chặn, 429</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cần chờ. Mã âm: xem</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DNS/TCP/TLS/timeout và mô tả lỗi.</a:t>
            </a:r>
          </a:p>
        </p:txBody>
      </p:sp>
      <p:sp>
        <p:nvSpPr>
          <p:cNvPr id="9" name="text-252">
            <a:extLst>
              <a:ext uri="{FF2B5EF4-FFF2-40B4-BE49-F238E27FC236}">
                <a16:creationId xmlns:a16="http://schemas.microsoft.com/office/drawing/2014/main" id="{8CA76255-6D2B-41E3-8E5D-59DB0087D158}"/>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Gas chưa hết cảnh báo</a:t>
            </a:r>
          </a:p>
        </p:txBody>
      </p:sp>
      <p:sp>
        <p:nvSpPr>
          <p:cNvPr id="10" name="text-253">
            <a:extLst>
              <a:ext uri="{FF2B5EF4-FFF2-40B4-BE49-F238E27FC236}">
                <a16:creationId xmlns:a16="http://schemas.microsoft.com/office/drawing/2014/main" id="{45FF0AC7-E105-4AE7-B9C1-201E201E62EE}"/>
              </a:ext>
            </a:extLst>
          </p:cNvPr>
          <p:cNvSpPr>
            <a:spLocks noGrp="1"/>
          </p:cNvSpPr>
          <p:nvPr/>
        </p:nvSpPr>
        <p:spPr>
          <a:xfrm>
            <a:off x="638175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Cờ chỉ xóa khi gasAvg ≤ gasOff liên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tục 5 giây. Vùng giữa OFF/ON giữ</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trạng thái.</a:t>
            </a:r>
          </a:p>
        </p:txBody>
      </p:sp>
      <p:sp>
        <p:nvSpPr>
          <p:cNvPr id="11" name="text-254">
            <a:extLst>
              <a:ext uri="{FF2B5EF4-FFF2-40B4-BE49-F238E27FC236}">
                <a16:creationId xmlns:a16="http://schemas.microsoft.com/office/drawing/2014/main" id="{56A65FA9-6D05-4300-95BE-2A7C4598BFE2}"/>
              </a:ext>
            </a:extLst>
          </p:cNvPr>
          <p:cNvSpPr>
            <a:spLocks noGrp="1"/>
          </p:cNvSpPr>
          <p:nvPr/>
        </p:nvSpPr>
        <p:spPr>
          <a:xfrm>
            <a:off x="6381750" y="337423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Bộ lọc và hồi phục MQ-2 có thể kéo dài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quá trình.</a:t>
            </a:r>
          </a:p>
        </p:txBody>
      </p:sp>
      <p:sp>
        <p:nvSpPr>
          <p:cNvPr id="12" name="text-255">
            <a:extLst>
              <a:ext uri="{FF2B5EF4-FFF2-40B4-BE49-F238E27FC236}">
                <a16:creationId xmlns:a16="http://schemas.microsoft.com/office/drawing/2014/main" id="{53DB1E09-90A9-49BF-B83A-D370436253C7}"/>
              </a:ext>
            </a:extLst>
          </p:cNvPr>
          <p:cNvSpPr>
            <a:spLocks noGrp="1"/>
          </p:cNvSpPr>
          <p:nvPr/>
        </p:nvSpPr>
        <p:spPr>
          <a:xfrm>
            <a:off x="638175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Xem raw, avg, ON/OFF, GAS_OK.</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Không ép tắt hoặc hiệu chỉnh khi môi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trường còn nghi ngờ có khí.</a:t>
            </a:r>
          </a:p>
        </p:txBody>
      </p:sp>
    </p:spTree>
    <p:extLst>
      <p:ext uri="{BB962C8B-B14F-4D97-AF65-F5344CB8AC3E}">
        <p14:creationId xmlns:p14="http://schemas.microsoft.com/office/powerpoint/2010/main" val="1080101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9148CF48-0067-4EAD-AE66-EB712259DD4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Ràng buộc thiết kế hệ thống nhúng</a:t>
            </a:r>
          </a:p>
        </p:txBody>
      </p:sp>
      <p:sp>
        <p:nvSpPr>
          <p:cNvPr id="2" name="rule-256">
            <a:extLst>
              <a:ext uri="{FF2B5EF4-FFF2-40B4-BE49-F238E27FC236}">
                <a16:creationId xmlns:a16="http://schemas.microsoft.com/office/drawing/2014/main" id="{1B478904-FF3E-4AC4-9810-08EE6A596D60}"/>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21D4C244-F4ED-4E31-B8A7-973E5479F897}"/>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08 Phân tích hệ thống nhúng</a:t>
            </a:r>
          </a:p>
        </p:txBody>
      </p:sp>
      <p:sp>
        <p:nvSpPr>
          <p:cNvPr id="4" name="slide-number">
            <a:extLst>
              <a:ext uri="{FF2B5EF4-FFF2-40B4-BE49-F238E27FC236}">
                <a16:creationId xmlns:a16="http://schemas.microsoft.com/office/drawing/2014/main" id="{D6D569FC-4D6E-4C77-886F-234D11389805}"/>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36</a:t>
            </a:r>
          </a:p>
        </p:txBody>
      </p:sp>
      <p:sp>
        <p:nvSpPr>
          <p:cNvPr id="5" name="text-257">
            <a:extLst>
              <a:ext uri="{FF2B5EF4-FFF2-40B4-BE49-F238E27FC236}">
                <a16:creationId xmlns:a16="http://schemas.microsoft.com/office/drawing/2014/main" id="{4C89276C-1B53-4406-ACA4-41ECD913FB3D}"/>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Phần cứng và giao diện</a:t>
            </a:r>
          </a:p>
        </p:txBody>
      </p:sp>
      <p:sp>
        <p:nvSpPr>
          <p:cNvPr id="6" name="text-258">
            <a:extLst>
              <a:ext uri="{FF2B5EF4-FFF2-40B4-BE49-F238E27FC236}">
                <a16:creationId xmlns:a16="http://schemas.microsoft.com/office/drawing/2014/main" id="{DB18D24B-3E7A-4EA4-9BF1-C4AF9439EBDA}"/>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Ràng buộc GPIO, điện áp, dòng nguồn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và kích thước lắp ráp.</a:t>
            </a:r>
          </a:p>
        </p:txBody>
      </p:sp>
      <p:sp>
        <p:nvSpPr>
          <p:cNvPr id="7" name="text-259">
            <a:extLst>
              <a:ext uri="{FF2B5EF4-FFF2-40B4-BE49-F238E27FC236}">
                <a16:creationId xmlns:a16="http://schemas.microsoft.com/office/drawing/2014/main" id="{2341AFC2-F2C5-4575-BC4A-A488BAB65039}"/>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ADC cần giới hạn điện áp, I2C cần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tương thích mức logic.</a:t>
            </a:r>
          </a:p>
        </p:txBody>
      </p:sp>
      <p:sp>
        <p:nvSpPr>
          <p:cNvPr id="8" name="text-260">
            <a:extLst>
              <a:ext uri="{FF2B5EF4-FFF2-40B4-BE49-F238E27FC236}">
                <a16:creationId xmlns:a16="http://schemas.microsoft.com/office/drawing/2014/main" id="{BA2E20B8-12C8-4331-B782-EA9570CEDB1F}"/>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LCD 16 × 2 phải luân phiên trang, rút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gọn thông báo. Cần cố định dây/tiếp</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xúc breadboard.</a:t>
            </a:r>
          </a:p>
        </p:txBody>
      </p:sp>
      <p:sp>
        <p:nvSpPr>
          <p:cNvPr id="9" name="text-261">
            <a:extLst>
              <a:ext uri="{FF2B5EF4-FFF2-40B4-BE49-F238E27FC236}">
                <a16:creationId xmlns:a16="http://schemas.microsoft.com/office/drawing/2014/main" id="{C43D951F-D965-4C2C-99C8-BFBBFB12C2CF}"/>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Phân chia trách nhiệm</a:t>
            </a:r>
          </a:p>
        </p:txBody>
      </p:sp>
      <p:sp>
        <p:nvSpPr>
          <p:cNvPr id="10" name="text-262">
            <a:extLst>
              <a:ext uri="{FF2B5EF4-FFF2-40B4-BE49-F238E27FC236}">
                <a16:creationId xmlns:a16="http://schemas.microsoft.com/office/drawing/2014/main" id="{E6BA799D-6236-44A0-8CC6-056F288BD559}"/>
              </a:ext>
            </a:extLst>
          </p:cNvPr>
          <p:cNvSpPr>
            <a:spLocks noGrp="1"/>
          </p:cNvSpPr>
          <p:nvPr/>
        </p:nvSpPr>
        <p:spPr>
          <a:xfrm>
            <a:off x="638175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Phần cứng tạo tín hiệu và đóng cắt tải,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phần mềm kiểm tra mẫu, lọc và quyết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định hành động.</a:t>
            </a:r>
          </a:p>
        </p:txBody>
      </p:sp>
      <p:sp>
        <p:nvSpPr>
          <p:cNvPr id="11" name="text-263">
            <a:extLst>
              <a:ext uri="{FF2B5EF4-FFF2-40B4-BE49-F238E27FC236}">
                <a16:creationId xmlns:a16="http://schemas.microsoft.com/office/drawing/2014/main" id="{581140D5-4D90-451B-B19A-649A5A4E7900}"/>
              </a:ext>
            </a:extLst>
          </p:cNvPr>
          <p:cNvSpPr>
            <a:spLocks noGrp="1"/>
          </p:cNvSpPr>
          <p:nvPr/>
        </p:nvSpPr>
        <p:spPr>
          <a:xfrm>
            <a:off x="6381750" y="3374231"/>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Lệnh relay chưa chứng minh quạt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quay. Cần phản hồi dòng hoặc tốc độ</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để phát hiện hỏng tải.</a:t>
            </a:r>
          </a:p>
        </p:txBody>
      </p:sp>
      <p:sp>
        <p:nvSpPr>
          <p:cNvPr id="12" name="text-264">
            <a:extLst>
              <a:ext uri="{FF2B5EF4-FFF2-40B4-BE49-F238E27FC236}">
                <a16:creationId xmlns:a16="http://schemas.microsoft.com/office/drawing/2014/main" id="{872DF17B-049D-4BB2-B19D-CA18B959D38A}"/>
              </a:ext>
            </a:extLst>
          </p:cNvPr>
          <p:cNvSpPr>
            <a:spLocks noGrp="1"/>
          </p:cNvSpPr>
          <p:nvPr/>
        </p:nvSpPr>
        <p:spPr>
          <a:xfrm>
            <a:off x="6381750" y="45386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millis() và FreeRTOS hỗ trợ soft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real-time. Hằng số thời gian không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phải cam kết đáp ứng cứng.</a:t>
            </a:r>
          </a:p>
        </p:txBody>
      </p:sp>
    </p:spTree>
    <p:extLst>
      <p:ext uri="{BB962C8B-B14F-4D97-AF65-F5344CB8AC3E}">
        <p14:creationId xmlns:p14="http://schemas.microsoft.com/office/powerpoint/2010/main" val="996344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E332C6BA-7E3B-48CB-8223-DBBC375EDA4C}"/>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Xử lý lỗi và giữ trạng thái</a:t>
            </a:r>
          </a:p>
        </p:txBody>
      </p:sp>
      <p:sp>
        <p:nvSpPr>
          <p:cNvPr id="2" name="rule-265">
            <a:extLst>
              <a:ext uri="{FF2B5EF4-FFF2-40B4-BE49-F238E27FC236}">
                <a16:creationId xmlns:a16="http://schemas.microsoft.com/office/drawing/2014/main" id="{6121C3F0-D725-44E0-8AE6-BBAB5F3AB29B}"/>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8A963BC5-4FA5-4F8A-8353-3B5E5A667D60}"/>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08 Phân tích hệ thống nhúng</a:t>
            </a:r>
          </a:p>
        </p:txBody>
      </p:sp>
      <p:sp>
        <p:nvSpPr>
          <p:cNvPr id="4" name="slide-number">
            <a:extLst>
              <a:ext uri="{FF2B5EF4-FFF2-40B4-BE49-F238E27FC236}">
                <a16:creationId xmlns:a16="http://schemas.microsoft.com/office/drawing/2014/main" id="{5087031D-CBCB-4889-B922-6A99AA009E5D}"/>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37</a:t>
            </a:r>
          </a:p>
        </p:txBody>
      </p:sp>
      <p:sp>
        <p:nvSpPr>
          <p:cNvPr id="5" name="text-266">
            <a:extLst>
              <a:ext uri="{FF2B5EF4-FFF2-40B4-BE49-F238E27FC236}">
                <a16:creationId xmlns:a16="http://schemas.microsoft.com/office/drawing/2014/main" id="{91BBD38A-E8C2-4941-A846-B8E48E6A7922}"/>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Sức khỏe cảm biến</a:t>
            </a:r>
          </a:p>
        </p:txBody>
      </p:sp>
      <p:sp>
        <p:nvSpPr>
          <p:cNvPr id="6" name="text-267">
            <a:extLst>
              <a:ext uri="{FF2B5EF4-FFF2-40B4-BE49-F238E27FC236}">
                <a16:creationId xmlns:a16="http://schemas.microsoft.com/office/drawing/2014/main" id="{48DD3F50-2245-461A-BA41-6081ECE2B530}"/>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Sau khi có nền hợp lệ, raw ≤ 5 hoặc ≥</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4090 liên tục 5 giây tạo lỗi analog.</a:t>
            </a:r>
          </a:p>
        </p:txBody>
      </p:sp>
      <p:sp>
        <p:nvSpPr>
          <p:cNvPr id="7" name="text-268">
            <a:extLst>
              <a:ext uri="{FF2B5EF4-FFF2-40B4-BE49-F238E27FC236}">
                <a16:creationId xmlns:a16="http://schemas.microsoft.com/office/drawing/2014/main" id="{741406F5-9FC4-4640-B32F-74FA2A143150}"/>
              </a:ext>
            </a:extLst>
          </p:cNvPr>
          <p:cNvSpPr>
            <a:spLocks noGrp="1"/>
          </p:cNvSpPr>
          <p:nvPr/>
        </p:nvSpPr>
        <p:spPr>
          <a:xfrm>
            <a:off x="60960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Tín hiệu tốt có thể khôi phục sức khỏe.</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Hiệu chỉnh khởi động thất bại cần hiệu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chỉnh lại hoặc reset.</a:t>
            </a:r>
          </a:p>
        </p:txBody>
      </p:sp>
      <p:sp>
        <p:nvSpPr>
          <p:cNvPr id="8" name="text-269">
            <a:extLst>
              <a:ext uri="{FF2B5EF4-FFF2-40B4-BE49-F238E27FC236}">
                <a16:creationId xmlns:a16="http://schemas.microsoft.com/office/drawing/2014/main" id="{2795051C-8113-44BC-A5BF-F877CFD52A0D}"/>
              </a:ext>
            </a:extLst>
          </p:cNvPr>
          <p:cNvSpPr>
            <a:spLocks noGrp="1"/>
          </p:cNvSpPr>
          <p:nvPr/>
        </p:nvSpPr>
        <p:spPr>
          <a:xfrm>
            <a:off x="609600" y="42171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Một mẫu tốt không tự sửa cờ hiệu</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chỉnh thất bại.</a:t>
            </a:r>
          </a:p>
        </p:txBody>
      </p:sp>
      <p:sp>
        <p:nvSpPr>
          <p:cNvPr id="9" name="text-270">
            <a:extLst>
              <a:ext uri="{FF2B5EF4-FFF2-40B4-BE49-F238E27FC236}">
                <a16:creationId xmlns:a16="http://schemas.microsoft.com/office/drawing/2014/main" id="{369497D9-40D9-43A9-9BFB-E1B9C5E99B58}"/>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Hành vi khi mất dữ liệu</a:t>
            </a:r>
          </a:p>
        </p:txBody>
      </p:sp>
      <p:sp>
        <p:nvSpPr>
          <p:cNvPr id="10" name="text-271">
            <a:extLst>
              <a:ext uri="{FF2B5EF4-FFF2-40B4-BE49-F238E27FC236}">
                <a16:creationId xmlns:a16="http://schemas.microsoft.com/office/drawing/2014/main" id="{C002B6B9-3B53-4C1A-B7C3-CA606A721460}"/>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MQ-2 lỗi: giữ cảnh báo gas đến khi có</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dữ liệu hợp lệ đủ điều kiện xóa.</a:t>
            </a:r>
          </a:p>
        </p:txBody>
      </p:sp>
      <p:sp>
        <p:nvSpPr>
          <p:cNvPr id="11" name="text-272">
            <a:extLst>
              <a:ext uri="{FF2B5EF4-FFF2-40B4-BE49-F238E27FC236}">
                <a16:creationId xmlns:a16="http://schemas.microsoft.com/office/drawing/2014/main" id="{2A242E90-A776-4E74-B442-F1EBC65DE92D}"/>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Bụi lỗi: xóa cờ bụi và các bộ đếm xác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nhận.</a:t>
            </a:r>
          </a:p>
        </p:txBody>
      </p:sp>
      <p:sp>
        <p:nvSpPr>
          <p:cNvPr id="12" name="text-273">
            <a:extLst>
              <a:ext uri="{FF2B5EF4-FFF2-40B4-BE49-F238E27FC236}">
                <a16:creationId xmlns:a16="http://schemas.microsoft.com/office/drawing/2014/main" id="{D076B2EF-99E5-41E1-82EF-7B6F96073648}"/>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DHT hết hạn: giữ cờ nhiệt/ẩm trước đó,</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thể giữ relay đang bật vì nhiệt độ.</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Cần kiểm thử hành vi này.</a:t>
            </a:r>
          </a:p>
        </p:txBody>
      </p:sp>
    </p:spTree>
    <p:extLst>
      <p:ext uri="{BB962C8B-B14F-4D97-AF65-F5344CB8AC3E}">
        <p14:creationId xmlns:p14="http://schemas.microsoft.com/office/powerpoint/2010/main" val="14529933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99F12CA8-79C6-4257-8C9E-6982E1017F07}"/>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Giới hạn chẩn đoán và cách kiểm thử</a:t>
            </a:r>
          </a:p>
        </p:txBody>
      </p:sp>
      <p:sp>
        <p:nvSpPr>
          <p:cNvPr id="2" name="rule-274">
            <a:extLst>
              <a:ext uri="{FF2B5EF4-FFF2-40B4-BE49-F238E27FC236}">
                <a16:creationId xmlns:a16="http://schemas.microsoft.com/office/drawing/2014/main" id="{31D0C561-ABCD-49FD-8E0C-9CA78C5F0DFC}"/>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ED9B2A2-8E2C-47E1-8CC9-6E01D06B5BF5}"/>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08–09 Phân tích và kiểm thử</a:t>
            </a:r>
          </a:p>
        </p:txBody>
      </p:sp>
      <p:sp>
        <p:nvSpPr>
          <p:cNvPr id="4" name="slide-number">
            <a:extLst>
              <a:ext uri="{FF2B5EF4-FFF2-40B4-BE49-F238E27FC236}">
                <a16:creationId xmlns:a16="http://schemas.microsoft.com/office/drawing/2014/main" id="{85EF9485-A6D4-41A3-8C1F-D61BEE2B97DA}"/>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38</a:t>
            </a:r>
          </a:p>
        </p:txBody>
      </p:sp>
      <p:sp>
        <p:nvSpPr>
          <p:cNvPr id="5" name="text-275">
            <a:extLst>
              <a:ext uri="{FF2B5EF4-FFF2-40B4-BE49-F238E27FC236}">
                <a16:creationId xmlns:a16="http://schemas.microsoft.com/office/drawing/2014/main" id="{7D27E939-D7E3-4379-AF68-56B7D0D0B007}"/>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Giới hạn hiện tại</a:t>
            </a:r>
          </a:p>
        </p:txBody>
      </p:sp>
      <p:sp>
        <p:nvSpPr>
          <p:cNvPr id="6" name="text-276">
            <a:extLst>
              <a:ext uri="{FF2B5EF4-FFF2-40B4-BE49-F238E27FC236}">
                <a16:creationId xmlns:a16="http://schemas.microsoft.com/office/drawing/2014/main" id="{8F72AA07-FE43-4EF8-A0B9-E58CDC1E45D5}"/>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Sát biên ADC chưa phát hiện mọi dây</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đứt hoặc sai lệch.</a:t>
            </a:r>
          </a:p>
        </p:txBody>
      </p:sp>
      <p:sp>
        <p:nvSpPr>
          <p:cNvPr id="7" name="text-277">
            <a:extLst>
              <a:ext uri="{FF2B5EF4-FFF2-40B4-BE49-F238E27FC236}">
                <a16:creationId xmlns:a16="http://schemas.microsoft.com/office/drawing/2014/main" id="{351617DB-B78B-4091-9629-D8387241AB7E}"/>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phản hồi quạt/relay, giám sát</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nguồn hoặc kiểm tra LCD.</a:t>
            </a:r>
          </a:p>
        </p:txBody>
      </p:sp>
      <p:sp>
        <p:nvSpPr>
          <p:cNvPr id="8" name="text-278">
            <a:extLst>
              <a:ext uri="{FF2B5EF4-FFF2-40B4-BE49-F238E27FC236}">
                <a16:creationId xmlns:a16="http://schemas.microsoft.com/office/drawing/2014/main" id="{3ECEC0BB-D42A-4AC5-AA43-8C269966912D}"/>
              </a:ext>
            </a:extLst>
          </p:cNvPr>
          <p:cNvSpPr>
            <a:spLocks noGrp="1"/>
          </p:cNvSpPr>
          <p:nvPr/>
        </p:nvSpPr>
        <p:spPr>
          <a:xfrm>
            <a:off x="60960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Web trả null/trạng thái chưa xác định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khi dữ liệu lỗi/quá cũ. HTTP nội bộ</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có đăng nhập.</a:t>
            </a:r>
          </a:p>
        </p:txBody>
      </p:sp>
      <p:sp>
        <p:nvSpPr>
          <p:cNvPr id="9" name="text-279">
            <a:extLst>
              <a:ext uri="{FF2B5EF4-FFF2-40B4-BE49-F238E27FC236}">
                <a16:creationId xmlns:a16="http://schemas.microsoft.com/office/drawing/2014/main" id="{CB95F4CC-C339-4692-8BC7-EAABCB990291}"/>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Ghi nhận và điều kiện thử</a:t>
            </a:r>
          </a:p>
        </p:txBody>
      </p:sp>
      <p:sp>
        <p:nvSpPr>
          <p:cNvPr id="10" name="text-280">
            <a:extLst>
              <a:ext uri="{FF2B5EF4-FFF2-40B4-BE49-F238E27FC236}">
                <a16:creationId xmlns:a16="http://schemas.microsoft.com/office/drawing/2014/main" id="{5CEBE2F1-A3CD-4994-AD9D-350AB49FD353}"/>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Ghi thời điểm, điều kiện đầu, raw/avg,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cờ, LCD, quạt và còi.</a:t>
            </a:r>
          </a:p>
        </p:txBody>
      </p:sp>
      <p:sp>
        <p:nvSpPr>
          <p:cNvPr id="11" name="text-281">
            <a:extLst>
              <a:ext uri="{FF2B5EF4-FFF2-40B4-BE49-F238E27FC236}">
                <a16:creationId xmlns:a16="http://schemas.microsoft.com/office/drawing/2014/main" id="{170BAE27-94A1-4BF2-BA53-F17D414FB871}"/>
              </a:ext>
            </a:extLst>
          </p:cNvPr>
          <p:cNvSpPr>
            <a:spLocks noGrp="1"/>
          </p:cNvSpPr>
          <p:nvPr/>
        </p:nvSpPr>
        <p:spPr>
          <a:xfrm>
            <a:off x="638175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Ưu tiên lệnh T, điều kiện thông thường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hoặc tín hiệu mô phỏng có kiểm soát.</a:t>
            </a:r>
          </a:p>
        </p:txBody>
      </p:sp>
      <p:sp>
        <p:nvSpPr>
          <p:cNvPr id="12" name="text-282">
            <a:extLst>
              <a:ext uri="{FF2B5EF4-FFF2-40B4-BE49-F238E27FC236}">
                <a16:creationId xmlns:a16="http://schemas.microsoft.com/office/drawing/2014/main" id="{B70EF0B8-8248-4022-BF76-97808B89D967}"/>
              </a:ext>
            </a:extLst>
          </p:cNvPr>
          <p:cNvSpPr>
            <a:spLocks noGrp="1"/>
          </p:cNvSpPr>
          <p:nvPr/>
        </p:nvSpPr>
        <p:spPr>
          <a:xfrm>
            <a:off x="6381750" y="3895725"/>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Không tạo rò khí dễ cháy gần relay.</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Các bảng sau là kết quả mong đợi, chỉ</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ghi Đạt sau khi thử trên phần cứng.</a:t>
            </a:r>
          </a:p>
        </p:txBody>
      </p:sp>
    </p:spTree>
    <p:extLst>
      <p:ext uri="{BB962C8B-B14F-4D97-AF65-F5344CB8AC3E}">
        <p14:creationId xmlns:p14="http://schemas.microsoft.com/office/powerpoint/2010/main" val="2337770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26C31C11-C7A9-4D38-BD7B-29CCA1ADBA4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Kiểm thử KT01–KT06</a:t>
            </a:r>
          </a:p>
        </p:txBody>
      </p:sp>
      <p:sp>
        <p:nvSpPr>
          <p:cNvPr id="2" name="rule-283">
            <a:extLst>
              <a:ext uri="{FF2B5EF4-FFF2-40B4-BE49-F238E27FC236}">
                <a16:creationId xmlns:a16="http://schemas.microsoft.com/office/drawing/2014/main" id="{7880C4B0-AFDA-4511-8EEF-51839702EF0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721FC0A0-7DB7-4E3D-90AE-8442D95D1954}"/>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09 Phương án kiểm thử</a:t>
            </a:r>
          </a:p>
        </p:txBody>
      </p:sp>
      <p:sp>
        <p:nvSpPr>
          <p:cNvPr id="4" name="slide-number">
            <a:extLst>
              <a:ext uri="{FF2B5EF4-FFF2-40B4-BE49-F238E27FC236}">
                <a16:creationId xmlns:a16="http://schemas.microsoft.com/office/drawing/2014/main" id="{8D3FC894-06B0-4601-88C9-6F92C921E011}"/>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39</a:t>
            </a:r>
          </a:p>
        </p:txBody>
      </p:sp>
      <p:graphicFrame>
        <p:nvGraphicFramePr>
          <p:cNvPr id="5" name="Table 4">
            <a:extLst>
              <a:ext uri="{FF2B5EF4-FFF2-40B4-BE49-F238E27FC236}">
                <a16:creationId xmlns:a16="http://schemas.microsoft.com/office/drawing/2014/main" id="{413D3675-580F-4FC3-9176-16C2A843E172}"/>
              </a:ext>
            </a:extLst>
          </p:cNvPr>
          <p:cNvGraphicFramePr/>
          <p:nvPr/>
        </p:nvGraphicFramePr>
        <p:xfrm>
          <a:off x="609600" y="1657350"/>
          <a:ext cx="10972800" cy="4152899"/>
        </p:xfrm>
        <a:graphic>
          <a:graphicData uri="http://schemas.openxmlformats.org/drawingml/2006/table">
            <a:tbl>
              <a:tblPr firstRow="1"/>
              <a:tblGrid>
                <a:gridCol w="1097280">
                  <a:extLst>
                    <a:ext uri="{9D8B030D-6E8A-4147-A177-3AD203B41FA5}">
                      <a16:colId xmlns:a16="http://schemas.microsoft.com/office/drawing/2014/main" val="20000"/>
                    </a:ext>
                  </a:extLst>
                </a:gridCol>
                <a:gridCol w="4169664">
                  <a:extLst>
                    <a:ext uri="{9D8B030D-6E8A-4147-A177-3AD203B41FA5}">
                      <a16:colId xmlns:a16="http://schemas.microsoft.com/office/drawing/2014/main" val="20001"/>
                    </a:ext>
                  </a:extLst>
                </a:gridCol>
                <a:gridCol w="5705856">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Mã</a:t>
                      </a:r>
                    </a:p>
                  </a:txBody>
                  <a:tcPr marL="123825" marR="123825" marT="38100" marB="3810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Tình huống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Kết quả mong đợi</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453628">
                <a:tc>
                  <a:txBody>
                    <a:bodyPr/>
                    <a:lstStyle/>
                    <a:p>
                      <a:r>
                        <a:rPr sz="1725">
                          <a:solidFill>
                            <a:srgbClr val="263E50"/>
                          </a:solidFill>
                          <a:latin typeface="DejaVu Sans"/>
                          <a:ea typeface="DejaVu Sans"/>
                          <a:cs typeface="DejaVu Sans"/>
                        </a:rPr>
                        <a:t>KT01</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Cấp nguồn, môi trường sạch</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Relay OFF, qua warming/hiệu chỉnh rồi hiển thị</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907256">
                <a:tc>
                  <a:txBody>
                    <a:bodyPr/>
                    <a:lstStyle/>
                    <a:p>
                      <a:r>
                        <a:rPr sz="1725">
                          <a:solidFill>
                            <a:srgbClr val="263E50"/>
                          </a:solidFill>
                          <a:latin typeface="DejaVu Sans"/>
                          <a:ea typeface="DejaVu Sans"/>
                          <a:cs typeface="DejaVu Sans"/>
                        </a:rPr>
                        <a:t>KT02</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Gửi T, không có gas/nhiệt</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Quạt/còi cùng bật khoảng 10 s, tắt khi hết yêu cầu</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453628">
                <a:tc>
                  <a:txBody>
                    <a:bodyPr/>
                    <a:lstStyle/>
                    <a:p>
                      <a:r>
                        <a:rPr sz="1725">
                          <a:solidFill>
                            <a:srgbClr val="263E50"/>
                          </a:solidFill>
                          <a:latin typeface="DejaVu Sans"/>
                          <a:ea typeface="DejaVu Sans"/>
                          <a:cs typeface="DejaVu Sans"/>
                        </a:rPr>
                        <a:t>KT03</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gasAvg ≥ gasOn liên tục</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Sau ít nhất 1,8 s bật gasDanger, yêu cầu relay</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907256">
                <a:tc>
                  <a:txBody>
                    <a:bodyPr/>
                    <a:lstStyle/>
                    <a:p>
                      <a:r>
                        <a:rPr sz="1725">
                          <a:solidFill>
                            <a:srgbClr val="263E50"/>
                          </a:solidFill>
                          <a:latin typeface="DejaVu Sans"/>
                          <a:ea typeface="DejaVu Sans"/>
                          <a:cs typeface="DejaVu Sans"/>
                        </a:rPr>
                        <a:t>KT04</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gasAvg ≤ gasOff</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Sau ít nhất 5 s xóa gasDanger, relay theo yêu cầu tổng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453628">
                <a:tc>
                  <a:txBody>
                    <a:bodyPr/>
                    <a:lstStyle/>
                    <a:p>
                      <a:r>
                        <a:rPr sz="1725">
                          <a:solidFill>
                            <a:srgbClr val="263E50"/>
                          </a:solidFill>
                          <a:latin typeface="DejaVu Sans"/>
                          <a:ea typeface="DejaVu Sans"/>
                          <a:cs typeface="DejaVu Sans"/>
                        </a:rPr>
                        <a:t>KT05</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Bụi &gt;1500 rồi ≤1450</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Mỗi điều kiện 0,5 s bật/xóa cờ, không tự bật relay</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453628">
                <a:tc>
                  <a:txBody>
                    <a:bodyPr/>
                    <a:lstStyle/>
                    <a:p>
                      <a:r>
                        <a:rPr sz="1725">
                          <a:solidFill>
                            <a:srgbClr val="263E50"/>
                          </a:solidFill>
                          <a:latin typeface="DejaVu Sans"/>
                          <a:ea typeface="DejaVu Sans"/>
                          <a:cs typeface="DejaVu Sans"/>
                        </a:rPr>
                        <a:t>KT06</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DHT qua 35 °C rồi ≤33 °C</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Bật/xóa cờ nhiệt, relay theo điều kiện tổng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
        <p:nvSpPr>
          <p:cNvPr id="6" name="text-284">
            <a:extLst>
              <a:ext uri="{FF2B5EF4-FFF2-40B4-BE49-F238E27FC236}">
                <a16:creationId xmlns:a16="http://schemas.microsoft.com/office/drawing/2014/main" id="{E2AC4470-A5E1-4024-AFC4-D09910A30CF6}"/>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Kết quả mong đợi từ thuật toán, chưa tự đánh dấu Đạt.</a:t>
            </a:r>
          </a:p>
        </p:txBody>
      </p:sp>
    </p:spTree>
    <p:extLst>
      <p:ext uri="{BB962C8B-B14F-4D97-AF65-F5344CB8AC3E}">
        <p14:creationId xmlns:p14="http://schemas.microsoft.com/office/powerpoint/2010/main" val="1636903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5BD44BA2-66B2-4ECB-80EC-562DC1E7B24F}"/>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Kiểm thử KT07–KT12</a:t>
            </a:r>
          </a:p>
        </p:txBody>
      </p:sp>
      <p:sp>
        <p:nvSpPr>
          <p:cNvPr id="2" name="rule-285">
            <a:extLst>
              <a:ext uri="{FF2B5EF4-FFF2-40B4-BE49-F238E27FC236}">
                <a16:creationId xmlns:a16="http://schemas.microsoft.com/office/drawing/2014/main" id="{7B00047B-2325-414A-A310-B8476A0EDBE2}"/>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A80FA990-C985-41DD-84D0-747DD9327413}"/>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09 Phương án kiểm thử</a:t>
            </a:r>
          </a:p>
        </p:txBody>
      </p:sp>
      <p:sp>
        <p:nvSpPr>
          <p:cNvPr id="4" name="slide-number">
            <a:extLst>
              <a:ext uri="{FF2B5EF4-FFF2-40B4-BE49-F238E27FC236}">
                <a16:creationId xmlns:a16="http://schemas.microsoft.com/office/drawing/2014/main" id="{C8FAE5AF-F323-4E0F-A41E-CADA15ECB4C8}"/>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40</a:t>
            </a:r>
          </a:p>
        </p:txBody>
      </p:sp>
      <p:graphicFrame>
        <p:nvGraphicFramePr>
          <p:cNvPr id="5" name="Table 4">
            <a:extLst>
              <a:ext uri="{FF2B5EF4-FFF2-40B4-BE49-F238E27FC236}">
                <a16:creationId xmlns:a16="http://schemas.microsoft.com/office/drawing/2014/main" id="{926B8127-F27F-40DB-BE30-D185F3C0D493}"/>
              </a:ext>
            </a:extLst>
          </p:cNvPr>
          <p:cNvGraphicFramePr/>
          <p:nvPr/>
        </p:nvGraphicFramePr>
        <p:xfrm>
          <a:off x="609600" y="1657350"/>
          <a:ext cx="10972800" cy="4152899"/>
        </p:xfrm>
        <a:graphic>
          <a:graphicData uri="http://schemas.openxmlformats.org/drawingml/2006/table">
            <a:tbl>
              <a:tblPr firstRow="1"/>
              <a:tblGrid>
                <a:gridCol w="1097280">
                  <a:extLst>
                    <a:ext uri="{9D8B030D-6E8A-4147-A177-3AD203B41FA5}">
                      <a16:colId xmlns:a16="http://schemas.microsoft.com/office/drawing/2014/main" val="20000"/>
                    </a:ext>
                  </a:extLst>
                </a:gridCol>
                <a:gridCol w="4169664">
                  <a:extLst>
                    <a:ext uri="{9D8B030D-6E8A-4147-A177-3AD203B41FA5}">
                      <a16:colId xmlns:a16="http://schemas.microsoft.com/office/drawing/2014/main" val="20001"/>
                    </a:ext>
                  </a:extLst>
                </a:gridCol>
                <a:gridCol w="5705856">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Mã</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Tình huống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Kết quả mong đợi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453628">
                <a:tc>
                  <a:txBody>
                    <a:bodyPr/>
                    <a:lstStyle/>
                    <a:p>
                      <a:r>
                        <a:rPr sz="1725">
                          <a:solidFill>
                            <a:srgbClr val="263E50"/>
                          </a:solidFill>
                          <a:latin typeface="DejaVu Sans"/>
                          <a:ea typeface="DejaVu Sans"/>
                          <a:cs typeface="DejaVu Sans"/>
                        </a:rPr>
                        <a:t>KT07</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H qua 80% rồi ≤76%</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Bật/xóa cờ ẩm, không tự bật relay</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453628">
                <a:tc>
                  <a:txBody>
                    <a:bodyPr/>
                    <a:lstStyle/>
                    <a:p>
                      <a:r>
                        <a:rPr sz="1725">
                          <a:solidFill>
                            <a:srgbClr val="263E50"/>
                          </a:solidFill>
                          <a:latin typeface="DejaVu Sans"/>
                          <a:ea typeface="DejaVu Sans"/>
                          <a:cs typeface="DejaVu Sans"/>
                        </a:rPr>
                        <a:t>KT08</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DHT thiếu mẫu tốt &gt;30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DHT_OK = 0, T/H hiện gạch, giữ cờ nhiệt cũ</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453628">
                <a:tc>
                  <a:txBody>
                    <a:bodyPr/>
                    <a:lstStyle/>
                    <a:p>
                      <a:r>
                        <a:rPr sz="1725">
                          <a:solidFill>
                            <a:srgbClr val="263E50"/>
                          </a:solidFill>
                          <a:latin typeface="DejaVu Sans"/>
                          <a:ea typeface="DejaVu Sans"/>
                          <a:cs typeface="DejaVu Sans"/>
                        </a:rPr>
                        <a:t>KT09</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Analog sát biên liên tục 5 s</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Cờ sức khỏe về 0, kiểm tra giữ gas/xóa bụi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453628">
                <a:tc>
                  <a:txBody>
                    <a:bodyPr/>
                    <a:lstStyle/>
                    <a:p>
                      <a:r>
                        <a:rPr sz="1725">
                          <a:solidFill>
                            <a:srgbClr val="263E50"/>
                          </a:solidFill>
                          <a:latin typeface="DejaVu Sans"/>
                          <a:ea typeface="DejaVu Sans"/>
                          <a:cs typeface="DejaVu Sans"/>
                        </a:rPr>
                        <a:t>KT10</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Gửi D khi relay tắt rồi bật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Hiệu chỉnh bụi khi tắt, từ chối khi đang bật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907256">
                <a:tc>
                  <a:txBody>
                    <a:bodyPr/>
                    <a:lstStyle/>
                    <a:p>
                      <a:r>
                        <a:rPr sz="1725">
                          <a:solidFill>
                            <a:srgbClr val="263E50"/>
                          </a:solidFill>
                          <a:latin typeface="DejaVu Sans"/>
                          <a:ea typeface="DejaVu Sans"/>
                          <a:cs typeface="DejaVu Sans"/>
                        </a:rPr>
                        <a:t>KT11</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Theo dõi LCD và Serial</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Đổi trang khoảng 2,5 s, Serial khoảng 1 s, không dư ký tự</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907256">
                <a:tc>
                  <a:txBody>
                    <a:bodyPr/>
                    <a:lstStyle/>
                    <a:p>
                      <a:r>
                        <a:rPr sz="1725">
                          <a:solidFill>
                            <a:srgbClr val="263E50"/>
                          </a:solidFill>
                          <a:latin typeface="DejaVu Sans"/>
                          <a:ea typeface="DejaVu Sans"/>
                          <a:cs typeface="DejaVu Sans"/>
                        </a:rPr>
                        <a:t>KT12</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AP+STA, mất/nối lại mạng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Web AP còn, vòng đo/relay tiếp tục, Telegram chờ mạng/NTP</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
        <p:nvSpPr>
          <p:cNvPr id="6" name="text-286">
            <a:extLst>
              <a:ext uri="{FF2B5EF4-FFF2-40B4-BE49-F238E27FC236}">
                <a16:creationId xmlns:a16="http://schemas.microsoft.com/office/drawing/2014/main" id="{D8D9FA9F-83AB-436E-9BDD-CE97BF6596EE}"/>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Cần ghi giá trị thực tế, đầu ra và thời điểm khi chạy trên phần cứng.</a:t>
            </a:r>
          </a:p>
        </p:txBody>
      </p:sp>
    </p:spTree>
    <p:extLst>
      <p:ext uri="{BB962C8B-B14F-4D97-AF65-F5344CB8AC3E}">
        <p14:creationId xmlns:p14="http://schemas.microsoft.com/office/powerpoint/2010/main" val="10148847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E64EA6B3-5657-4B07-BB38-AE5D4D1BDB7D}"/>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Kiểm thử KT13–KT18</a:t>
            </a:r>
          </a:p>
        </p:txBody>
      </p:sp>
      <p:sp>
        <p:nvSpPr>
          <p:cNvPr id="2" name="rule-287">
            <a:extLst>
              <a:ext uri="{FF2B5EF4-FFF2-40B4-BE49-F238E27FC236}">
                <a16:creationId xmlns:a16="http://schemas.microsoft.com/office/drawing/2014/main" id="{057DFDC1-9576-4E7F-9F30-166CC43EC662}"/>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9A405F44-C463-4755-835E-CEF21E6EF2C6}"/>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09 Phương án kiểm thử</a:t>
            </a:r>
          </a:p>
        </p:txBody>
      </p:sp>
      <p:sp>
        <p:nvSpPr>
          <p:cNvPr id="4" name="slide-number">
            <a:extLst>
              <a:ext uri="{FF2B5EF4-FFF2-40B4-BE49-F238E27FC236}">
                <a16:creationId xmlns:a16="http://schemas.microsoft.com/office/drawing/2014/main" id="{8A6D9C84-AC31-4C71-8C01-8B3B129922C9}"/>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41</a:t>
            </a:r>
          </a:p>
        </p:txBody>
      </p:sp>
      <p:graphicFrame>
        <p:nvGraphicFramePr>
          <p:cNvPr id="5" name="Table 4">
            <a:extLst>
              <a:ext uri="{FF2B5EF4-FFF2-40B4-BE49-F238E27FC236}">
                <a16:creationId xmlns:a16="http://schemas.microsoft.com/office/drawing/2014/main" id="{22B22D1D-2E9F-4C60-9B85-D64CB9651734}"/>
              </a:ext>
            </a:extLst>
          </p:cNvPr>
          <p:cNvGraphicFramePr/>
          <p:nvPr/>
        </p:nvGraphicFramePr>
        <p:xfrm>
          <a:off x="609600" y="1657350"/>
          <a:ext cx="10972800" cy="4152901"/>
        </p:xfrm>
        <a:graphic>
          <a:graphicData uri="http://schemas.openxmlformats.org/drawingml/2006/table">
            <a:tbl>
              <a:tblPr firstRow="1"/>
              <a:tblGrid>
                <a:gridCol w="1097280">
                  <a:extLst>
                    <a:ext uri="{9D8B030D-6E8A-4147-A177-3AD203B41FA5}">
                      <a16:colId xmlns:a16="http://schemas.microsoft.com/office/drawing/2014/main" val="20000"/>
                    </a:ext>
                  </a:extLst>
                </a:gridCol>
                <a:gridCol w="4059936">
                  <a:extLst>
                    <a:ext uri="{9D8B030D-6E8A-4147-A177-3AD203B41FA5}">
                      <a16:colId xmlns:a16="http://schemas.microsoft.com/office/drawing/2014/main" val="20001"/>
                    </a:ext>
                  </a:extLst>
                </a:gridCol>
                <a:gridCol w="5815584">
                  <a:extLst>
                    <a:ext uri="{9D8B030D-6E8A-4147-A177-3AD203B41FA5}">
                      <a16:colId xmlns:a16="http://schemas.microsoft.com/office/drawing/2014/main" val="20002"/>
                    </a:ext>
                  </a:extLst>
                </a:gridCol>
              </a:tblGrid>
              <a:tr h="523875">
                <a:tc>
                  <a:txBody>
                    <a:bodyPr/>
                    <a:lstStyle/>
                    <a:p>
                      <a:r>
                        <a:rPr sz="1725" b="1">
                          <a:solidFill>
                            <a:srgbClr val="FFFFFF"/>
                          </a:solidFill>
                          <a:latin typeface="DejaVu Sans"/>
                          <a:ea typeface="DejaVu Sans"/>
                          <a:cs typeface="DejaVu Sans"/>
                        </a:rPr>
                        <a:t>Mã</a:t>
                      </a:r>
                    </a:p>
                  </a:txBody>
                  <a:tcPr marL="123825" marR="123825" marT="38100" marB="3810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Tình huống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Kết quả mong đợi</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362903">
                <a:tc>
                  <a:txBody>
                    <a:bodyPr/>
                    <a:lstStyle/>
                    <a:p>
                      <a:r>
                        <a:rPr sz="1725">
                          <a:solidFill>
                            <a:srgbClr val="263E50"/>
                          </a:solidFill>
                          <a:latin typeface="DejaVu Sans"/>
                          <a:ea typeface="DejaVu Sans"/>
                          <a:cs typeface="DejaVu Sans"/>
                        </a:rPr>
                        <a:t>KT13</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Dashboard mất đường lấy dữ liệu</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Báo lỗi/quá cũ, không hiển thị số đo giả</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725805">
                <a:tc>
                  <a:txBody>
                    <a:bodyPr/>
                    <a:lstStyle/>
                    <a:p>
                      <a:r>
                        <a:rPr sz="1725">
                          <a:solidFill>
                            <a:srgbClr val="263E50"/>
                          </a:solidFill>
                          <a:latin typeface="DejaVu Sans"/>
                          <a:ea typeface="DejaVu Sans"/>
                          <a:cs typeface="DejaVu Sans"/>
                        </a:rPr>
                        <a:t>KT14</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Localhost cùng mạng, đổi IP ESP32</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Đọc API thật, cập nhật IP đích, báo lỗi khi không tới được</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725805">
                <a:tc>
                  <a:txBody>
                    <a:bodyPr/>
                    <a:lstStyle/>
                    <a:p>
                      <a:r>
                        <a:rPr sz="1725">
                          <a:solidFill>
                            <a:srgbClr val="263E50"/>
                          </a:solidFill>
                          <a:latin typeface="DejaVu Sans"/>
                          <a:ea typeface="DejaVu Sans"/>
                          <a:cs typeface="DejaVu Sans"/>
                        </a:rPr>
                        <a:t>KT15</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Gửi N lúc warming và ready</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Thử Telegram khi mạng/NTP hợp lệ, relay không bật</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725805">
                <a:tc>
                  <a:txBody>
                    <a:bodyPr/>
                    <a:lstStyle/>
                    <a:p>
                      <a:r>
                        <a:rPr sz="1725">
                          <a:solidFill>
                            <a:srgbClr val="263E50"/>
                          </a:solidFill>
                          <a:latin typeface="DejaVu Sans"/>
                          <a:ea typeface="DejaVu Sans"/>
                          <a:cs typeface="DejaVu Sans"/>
                        </a:rPr>
                        <a:t>KT16</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Đổi cờ, hết cờ, giữ cảnh báo</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Gửi thay đổi/hết, nhắc 5 phút, ghi thời gian thực tế</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362903">
                <a:tc>
                  <a:txBody>
                    <a:bodyPr/>
                    <a:lstStyle/>
                    <a:p>
                      <a:r>
                        <a:rPr sz="1725">
                          <a:solidFill>
                            <a:srgbClr val="263E50"/>
                          </a:solidFill>
                          <a:latin typeface="DejaVu Sans"/>
                          <a:ea typeface="DejaVu Sans"/>
                          <a:cs typeface="DejaVu Sans"/>
                        </a:rPr>
                        <a:t>KT17</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Sai bot, mất Internet hoặc NTP lỗi</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Báo gửi lỗi, thử lại giới hạn, đo/relay không dừng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r h="725805">
                <a:tc>
                  <a:txBody>
                    <a:bodyPr/>
                    <a:lstStyle/>
                    <a:p>
                      <a:r>
                        <a:rPr sz="1725">
                          <a:solidFill>
                            <a:srgbClr val="263E50"/>
                          </a:solidFill>
                          <a:latin typeface="DejaVu Sans"/>
                          <a:ea typeface="DejaVu Sans"/>
                          <a:cs typeface="DejaVu Sans"/>
                        </a:rPr>
                        <a:t>KT18</a:t>
                      </a:r>
                    </a:p>
                  </a:txBody>
                  <a:tcPr marL="123825" marR="123825" marT="38100" marB="3810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DHT thiếu mẫu &gt;30 s lúc warming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Có lỗi DHT trên web và đủ điều kiện Telegram, chờ thử riêng</a:t>
                      </a:r>
                    </a:p>
                  </a:txBody>
                  <a:tcPr marL="123825" marR="123825" marT="38100" marB="3810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6"/>
                  </a:ext>
                </a:extLst>
              </a:tr>
            </a:tbl>
          </a:graphicData>
        </a:graphic>
      </p:graphicFrame>
      <p:sp>
        <p:nvSpPr>
          <p:cNvPr id="6" name="text-288">
            <a:extLst>
              <a:ext uri="{FF2B5EF4-FFF2-40B4-BE49-F238E27FC236}">
                <a16:creationId xmlns:a16="http://schemas.microsoft.com/office/drawing/2014/main" id="{A89329FF-5606-45DF-A29B-36AC10BFF881}"/>
              </a:ext>
            </a:extLst>
          </p:cNvPr>
          <p:cNvSpPr>
            <a:spLocks noGrp="1"/>
          </p:cNvSpPr>
          <p:nvPr/>
        </p:nvSpPr>
        <p:spPr>
          <a:xfrm>
            <a:off x="609600" y="6019800"/>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Các ca mất mạng, nhắc 5 phút, lỗi cảm biến và độ trễ còn cần số đo kiểm chứng.</a:t>
            </a:r>
          </a:p>
        </p:txBody>
      </p:sp>
    </p:spTree>
    <p:extLst>
      <p:ext uri="{BB962C8B-B14F-4D97-AF65-F5344CB8AC3E}">
        <p14:creationId xmlns:p14="http://schemas.microsoft.com/office/powerpoint/2010/main" val="20074174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3A325FE9-D0C0-4BD0-9BB1-BA18DAE0CD0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Kết quả ghi nhận khi tích hợp</a:t>
            </a:r>
          </a:p>
        </p:txBody>
      </p:sp>
      <p:sp>
        <p:nvSpPr>
          <p:cNvPr id="2" name="rule-289">
            <a:extLst>
              <a:ext uri="{FF2B5EF4-FFF2-40B4-BE49-F238E27FC236}">
                <a16:creationId xmlns:a16="http://schemas.microsoft.com/office/drawing/2014/main" id="{BB6D216F-25D5-4D8B-A2CC-A001C9E83FC6}"/>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42BA9D46-AC0F-43B9-A67F-B0DA4C7EC1DA}"/>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09 Phương án kiểm thử</a:t>
            </a:r>
          </a:p>
        </p:txBody>
      </p:sp>
      <p:sp>
        <p:nvSpPr>
          <p:cNvPr id="4" name="slide-number">
            <a:extLst>
              <a:ext uri="{FF2B5EF4-FFF2-40B4-BE49-F238E27FC236}">
                <a16:creationId xmlns:a16="http://schemas.microsoft.com/office/drawing/2014/main" id="{B01711B1-7EE1-4204-9FA2-D368EAB8904F}"/>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42</a:t>
            </a:r>
          </a:p>
        </p:txBody>
      </p:sp>
      <p:sp>
        <p:nvSpPr>
          <p:cNvPr id="5" name="text-290">
            <a:extLst>
              <a:ext uri="{FF2B5EF4-FFF2-40B4-BE49-F238E27FC236}">
                <a16:creationId xmlns:a16="http://schemas.microsoft.com/office/drawing/2014/main" id="{3E3D6D58-843A-4CAA-929E-7EA215E049BF}"/>
              </a:ext>
            </a:extLst>
          </p:cNvPr>
          <p:cNvSpPr>
            <a:spLocks noGrp="1"/>
          </p:cNvSpPr>
          <p:nvPr/>
        </p:nvSpPr>
        <p:spPr>
          <a:xfrm>
            <a:off x="609600" y="1695450"/>
            <a:ext cx="5200650" cy="714375"/>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Biên dịch theo log trong báo cáo</a:t>
            </a:r>
          </a:p>
        </p:txBody>
      </p:sp>
      <p:sp>
        <p:nvSpPr>
          <p:cNvPr id="6" name="text-291">
            <a:extLst>
              <a:ext uri="{FF2B5EF4-FFF2-40B4-BE49-F238E27FC236}">
                <a16:creationId xmlns:a16="http://schemas.microsoft.com/office/drawing/2014/main" id="{9EAE7A95-D7D7-4982-99FF-6ABB5DA06975}"/>
              </a:ext>
            </a:extLst>
          </p:cNvPr>
          <p:cNvSpPr>
            <a:spLocks noGrp="1"/>
          </p:cNvSpPr>
          <p:nvPr/>
        </p:nvSpPr>
        <p:spPr>
          <a:xfrm>
            <a:off x="609600" y="2543175"/>
            <a:ext cx="1857375" cy="971550"/>
          </a:xfrm>
          <a:prstGeom prst="rect">
            <a:avLst/>
          </a:prstGeom>
          <a:noFill/>
          <a:ln w="0">
            <a:noFill/>
            <a:prstDash val="solid"/>
          </a:ln>
        </p:spPr>
        <p:txBody>
          <a:bodyPr wrap="square" lIns="0" tIns="0" rIns="0" bIns="0" anchor="t">
            <a:noAutofit/>
          </a:bodyPr>
          <a:lstStyle>
            <a:defPPr algn="l">
              <a:defRPr sz="5100" b="1">
                <a:solidFill>
                  <a:srgbClr val="123047"/>
                </a:solidFill>
                <a:latin typeface="DejaVu Sans"/>
                <a:ea typeface="DejaVu Sans"/>
                <a:cs typeface="DejaVu Sans"/>
              </a:defRPr>
            </a:defPPr>
            <a:lvl1pPr algn="l">
              <a:defRPr sz="5100" b="1">
                <a:solidFill>
                  <a:srgbClr val="123047"/>
                </a:solidFill>
                <a:latin typeface="DejaVu Sans"/>
                <a:ea typeface="DejaVu Sans"/>
                <a:cs typeface="DejaVu Sans"/>
              </a:defRPr>
            </a:lvl1pPr>
            <a:lvl2pPr algn="l">
              <a:defRPr sz="5100" b="1">
                <a:solidFill>
                  <a:srgbClr val="123047"/>
                </a:solidFill>
                <a:latin typeface="DejaVu Sans"/>
                <a:ea typeface="DejaVu Sans"/>
                <a:cs typeface="DejaVu Sans"/>
              </a:defRPr>
            </a:lvl2pPr>
            <a:lvl3pPr algn="l">
              <a:defRPr sz="5100" b="1">
                <a:solidFill>
                  <a:srgbClr val="123047"/>
                </a:solidFill>
                <a:latin typeface="DejaVu Sans"/>
                <a:ea typeface="DejaVu Sans"/>
                <a:cs typeface="DejaVu Sans"/>
              </a:defRPr>
            </a:lvl3pPr>
            <a:lvl4pPr algn="l">
              <a:defRPr sz="5100" b="1">
                <a:solidFill>
                  <a:srgbClr val="123047"/>
                </a:solidFill>
                <a:latin typeface="DejaVu Sans"/>
                <a:ea typeface="DejaVu Sans"/>
                <a:cs typeface="DejaVu Sans"/>
              </a:defRPr>
            </a:lvl4pPr>
            <a:lvl5pPr algn="l">
              <a:defRPr sz="5100" b="1">
                <a:solidFill>
                  <a:srgbClr val="123047"/>
                </a:solidFill>
                <a:latin typeface="DejaVu Sans"/>
                <a:ea typeface="DejaVu Sans"/>
                <a:cs typeface="DejaVu Sans"/>
              </a:defRPr>
            </a:lvl5pPr>
            <a:lvl6pPr algn="l">
              <a:defRPr sz="5100" b="1">
                <a:solidFill>
                  <a:srgbClr val="123047"/>
                </a:solidFill>
                <a:latin typeface="DejaVu Sans"/>
                <a:ea typeface="DejaVu Sans"/>
                <a:cs typeface="DejaVu Sans"/>
              </a:defRPr>
            </a:lvl6pPr>
            <a:lvl7pPr algn="l">
              <a:defRPr sz="5100" b="1">
                <a:solidFill>
                  <a:srgbClr val="123047"/>
                </a:solidFill>
                <a:latin typeface="DejaVu Sans"/>
                <a:ea typeface="DejaVu Sans"/>
                <a:cs typeface="DejaVu Sans"/>
              </a:defRPr>
            </a:lvl7pPr>
            <a:lvl8pPr algn="l">
              <a:defRPr sz="5100" b="1">
                <a:solidFill>
                  <a:srgbClr val="123047"/>
                </a:solidFill>
                <a:latin typeface="DejaVu Sans"/>
                <a:ea typeface="DejaVu Sans"/>
                <a:cs typeface="DejaVu Sans"/>
              </a:defRPr>
            </a:lvl8pPr>
            <a:lvl9pPr algn="l">
              <a:defRPr sz="5100" b="1">
                <a:solidFill>
                  <a:srgbClr val="123047"/>
                </a:solidFill>
                <a:latin typeface="DejaVu Sans"/>
                <a:ea typeface="DejaVu Sans"/>
                <a:cs typeface="DejaVu Sans"/>
              </a:defRPr>
            </a:lvl9pPr>
          </a:lstStyle>
          <a:p>
            <a:pPr algn="l">
              <a:lnSpc>
                <a:spcPct val="112000"/>
              </a:lnSpc>
              <a:buNone/>
              <a:defRPr sz="5100" b="1">
                <a:solidFill>
                  <a:srgbClr val="123047"/>
                </a:solidFill>
                <a:latin typeface="DejaVu Sans"/>
                <a:ea typeface="DejaVu Sans"/>
                <a:cs typeface="DejaVu Sans"/>
              </a:defRPr>
            </a:pPr>
            <a:r>
              <a:rPr sz="5100" b="1">
                <a:solidFill>
                  <a:srgbClr val="123047"/>
                </a:solidFill>
                <a:latin typeface="DejaVu Sans"/>
                <a:ea typeface="DejaVu Sans"/>
                <a:cs typeface="DejaVu Sans"/>
              </a:rPr>
              <a:t>56%</a:t>
            </a:r>
          </a:p>
        </p:txBody>
      </p:sp>
      <p:sp>
        <p:nvSpPr>
          <p:cNvPr id="7" name="text-292">
            <a:extLst>
              <a:ext uri="{FF2B5EF4-FFF2-40B4-BE49-F238E27FC236}">
                <a16:creationId xmlns:a16="http://schemas.microsoft.com/office/drawing/2014/main" id="{BF2189A9-D175-4C78-A51F-D342AF494D9F}"/>
              </a:ext>
            </a:extLst>
          </p:cNvPr>
          <p:cNvSpPr>
            <a:spLocks noGrp="1"/>
          </p:cNvSpPr>
          <p:nvPr/>
        </p:nvSpPr>
        <p:spPr>
          <a:xfrm>
            <a:off x="2695575" y="2657475"/>
            <a:ext cx="3238500" cy="847725"/>
          </a:xfrm>
          <a:prstGeom prst="rect">
            <a:avLst/>
          </a:prstGeom>
          <a:noFill/>
          <a:ln w="0">
            <a:noFill/>
            <a:prstDash val="solid"/>
          </a:ln>
        </p:spPr>
        <p:txBody>
          <a:bodyPr wrap="square" lIns="0" tIns="0" rIns="0" bIns="0" anchor="t">
            <a:noAutofit/>
          </a:bodyPr>
          <a:lstStyle>
            <a:defPPr algn="l">
              <a:defRPr sz="1650" b="0">
                <a:solidFill>
                  <a:srgbClr val="263E50"/>
                </a:solidFill>
                <a:latin typeface="DejaVu Sans"/>
                <a:ea typeface="DejaVu Sans"/>
                <a:cs typeface="DejaVu Sans"/>
              </a:defRPr>
            </a:defPPr>
            <a:lvl1pPr algn="l">
              <a:defRPr sz="1650" b="0">
                <a:solidFill>
                  <a:srgbClr val="263E50"/>
                </a:solidFill>
                <a:latin typeface="DejaVu Sans"/>
                <a:ea typeface="DejaVu Sans"/>
                <a:cs typeface="DejaVu Sans"/>
              </a:defRPr>
            </a:lvl1pPr>
            <a:lvl2pPr algn="l">
              <a:defRPr sz="1650" b="0">
                <a:solidFill>
                  <a:srgbClr val="263E50"/>
                </a:solidFill>
                <a:latin typeface="DejaVu Sans"/>
                <a:ea typeface="DejaVu Sans"/>
                <a:cs typeface="DejaVu Sans"/>
              </a:defRPr>
            </a:lvl2pPr>
            <a:lvl3pPr algn="l">
              <a:defRPr sz="1650" b="0">
                <a:solidFill>
                  <a:srgbClr val="263E50"/>
                </a:solidFill>
                <a:latin typeface="DejaVu Sans"/>
                <a:ea typeface="DejaVu Sans"/>
                <a:cs typeface="DejaVu Sans"/>
              </a:defRPr>
            </a:lvl3pPr>
            <a:lvl4pPr algn="l">
              <a:defRPr sz="1650" b="0">
                <a:solidFill>
                  <a:srgbClr val="263E50"/>
                </a:solidFill>
                <a:latin typeface="DejaVu Sans"/>
                <a:ea typeface="DejaVu Sans"/>
                <a:cs typeface="DejaVu Sans"/>
              </a:defRPr>
            </a:lvl4pPr>
            <a:lvl5pPr algn="l">
              <a:defRPr sz="1650" b="0">
                <a:solidFill>
                  <a:srgbClr val="263E50"/>
                </a:solidFill>
                <a:latin typeface="DejaVu Sans"/>
                <a:ea typeface="DejaVu Sans"/>
                <a:cs typeface="DejaVu Sans"/>
              </a:defRPr>
            </a:lvl5pPr>
            <a:lvl6pPr algn="l">
              <a:defRPr sz="1650" b="0">
                <a:solidFill>
                  <a:srgbClr val="263E50"/>
                </a:solidFill>
                <a:latin typeface="DejaVu Sans"/>
                <a:ea typeface="DejaVu Sans"/>
                <a:cs typeface="DejaVu Sans"/>
              </a:defRPr>
            </a:lvl6pPr>
            <a:lvl7pPr algn="l">
              <a:defRPr sz="1650" b="0">
                <a:solidFill>
                  <a:srgbClr val="263E50"/>
                </a:solidFill>
                <a:latin typeface="DejaVu Sans"/>
                <a:ea typeface="DejaVu Sans"/>
                <a:cs typeface="DejaVu Sans"/>
              </a:defRPr>
            </a:lvl7pPr>
            <a:lvl8pPr algn="l">
              <a:defRPr sz="1650" b="0">
                <a:solidFill>
                  <a:srgbClr val="263E50"/>
                </a:solidFill>
                <a:latin typeface="DejaVu Sans"/>
                <a:ea typeface="DejaVu Sans"/>
                <a:cs typeface="DejaVu Sans"/>
              </a:defRPr>
            </a:lvl8pPr>
            <a:lvl9pPr algn="l">
              <a:defRPr sz="1650" b="0">
                <a:solidFill>
                  <a:srgbClr val="263E50"/>
                </a:solidFill>
                <a:latin typeface="DejaVu Sans"/>
                <a:ea typeface="DejaVu Sans"/>
                <a:cs typeface="DejaVu Sans"/>
              </a:defRPr>
            </a:lvl9pPr>
          </a:lstStyle>
          <a:p>
            <a:pPr algn="l">
              <a:lnSpc>
                <a:spcPct val="112000"/>
              </a:lnSpc>
              <a:buNone/>
              <a:defRPr sz="1650" b="0">
                <a:solidFill>
                  <a:srgbClr val="263E50"/>
                </a:solidFill>
                <a:latin typeface="DejaVu Sans"/>
                <a:ea typeface="DejaVu Sans"/>
                <a:cs typeface="DejaVu Sans"/>
              </a:defRPr>
            </a:pPr>
            <a:r>
              <a:rPr sz="1650" b="0">
                <a:solidFill>
                  <a:srgbClr val="263E50"/>
                </a:solidFill>
                <a:latin typeface="DejaVu Sans"/>
                <a:ea typeface="DejaVu Sans"/>
                <a:cs typeface="DejaVu Sans"/>
              </a:rPr>
              <a:t>Bộ nhớ chương trình</a:t>
            </a:r>
          </a:p>
          <a:p>
            <a:pPr algn="l">
              <a:lnSpc>
                <a:spcPct val="112000"/>
              </a:lnSpc>
              <a:buNone/>
              <a:defRPr sz="1650" b="0">
                <a:solidFill>
                  <a:srgbClr val="263E50"/>
                </a:solidFill>
                <a:latin typeface="DejaVu Sans"/>
                <a:ea typeface="DejaVu Sans"/>
                <a:cs typeface="DejaVu Sans"/>
              </a:defRPr>
            </a:pPr>
            <a:r>
              <a:rPr sz="1650" b="0">
                <a:solidFill>
                  <a:srgbClr val="263E50"/>
                </a:solidFill>
                <a:latin typeface="DejaVu Sans"/>
                <a:ea typeface="DejaVu Sans"/>
                <a:cs typeface="DejaVu Sans"/>
              </a:rPr>
              <a:t>1.178.315 / 2.097.152 byte</a:t>
            </a:r>
          </a:p>
        </p:txBody>
      </p:sp>
      <p:sp>
        <p:nvSpPr>
          <p:cNvPr id="8" name="text-293">
            <a:extLst>
              <a:ext uri="{FF2B5EF4-FFF2-40B4-BE49-F238E27FC236}">
                <a16:creationId xmlns:a16="http://schemas.microsoft.com/office/drawing/2014/main" id="{BC1E86FA-5040-4B5D-A52B-49519187E86F}"/>
              </a:ext>
            </a:extLst>
          </p:cNvPr>
          <p:cNvSpPr>
            <a:spLocks noGrp="1"/>
          </p:cNvSpPr>
          <p:nvPr/>
        </p:nvSpPr>
        <p:spPr>
          <a:xfrm>
            <a:off x="609600" y="3829050"/>
            <a:ext cx="1857375" cy="971550"/>
          </a:xfrm>
          <a:prstGeom prst="rect">
            <a:avLst/>
          </a:prstGeom>
          <a:noFill/>
          <a:ln w="0">
            <a:noFill/>
            <a:prstDash val="solid"/>
          </a:ln>
        </p:spPr>
        <p:txBody>
          <a:bodyPr wrap="square" lIns="0" tIns="0" rIns="0" bIns="0" anchor="t">
            <a:noAutofit/>
          </a:bodyPr>
          <a:lstStyle>
            <a:defPPr algn="l">
              <a:defRPr sz="5100" b="1">
                <a:solidFill>
                  <a:srgbClr val="123047"/>
                </a:solidFill>
                <a:latin typeface="DejaVu Sans"/>
                <a:ea typeface="DejaVu Sans"/>
                <a:cs typeface="DejaVu Sans"/>
              </a:defRPr>
            </a:defPPr>
            <a:lvl1pPr algn="l">
              <a:defRPr sz="5100" b="1">
                <a:solidFill>
                  <a:srgbClr val="123047"/>
                </a:solidFill>
                <a:latin typeface="DejaVu Sans"/>
                <a:ea typeface="DejaVu Sans"/>
                <a:cs typeface="DejaVu Sans"/>
              </a:defRPr>
            </a:lvl1pPr>
            <a:lvl2pPr algn="l">
              <a:defRPr sz="5100" b="1">
                <a:solidFill>
                  <a:srgbClr val="123047"/>
                </a:solidFill>
                <a:latin typeface="DejaVu Sans"/>
                <a:ea typeface="DejaVu Sans"/>
                <a:cs typeface="DejaVu Sans"/>
              </a:defRPr>
            </a:lvl2pPr>
            <a:lvl3pPr algn="l">
              <a:defRPr sz="5100" b="1">
                <a:solidFill>
                  <a:srgbClr val="123047"/>
                </a:solidFill>
                <a:latin typeface="DejaVu Sans"/>
                <a:ea typeface="DejaVu Sans"/>
                <a:cs typeface="DejaVu Sans"/>
              </a:defRPr>
            </a:lvl3pPr>
            <a:lvl4pPr algn="l">
              <a:defRPr sz="5100" b="1">
                <a:solidFill>
                  <a:srgbClr val="123047"/>
                </a:solidFill>
                <a:latin typeface="DejaVu Sans"/>
                <a:ea typeface="DejaVu Sans"/>
                <a:cs typeface="DejaVu Sans"/>
              </a:defRPr>
            </a:lvl4pPr>
            <a:lvl5pPr algn="l">
              <a:defRPr sz="5100" b="1">
                <a:solidFill>
                  <a:srgbClr val="123047"/>
                </a:solidFill>
                <a:latin typeface="DejaVu Sans"/>
                <a:ea typeface="DejaVu Sans"/>
                <a:cs typeface="DejaVu Sans"/>
              </a:defRPr>
            </a:lvl5pPr>
            <a:lvl6pPr algn="l">
              <a:defRPr sz="5100" b="1">
                <a:solidFill>
                  <a:srgbClr val="123047"/>
                </a:solidFill>
                <a:latin typeface="DejaVu Sans"/>
                <a:ea typeface="DejaVu Sans"/>
                <a:cs typeface="DejaVu Sans"/>
              </a:defRPr>
            </a:lvl6pPr>
            <a:lvl7pPr algn="l">
              <a:defRPr sz="5100" b="1">
                <a:solidFill>
                  <a:srgbClr val="123047"/>
                </a:solidFill>
                <a:latin typeface="DejaVu Sans"/>
                <a:ea typeface="DejaVu Sans"/>
                <a:cs typeface="DejaVu Sans"/>
              </a:defRPr>
            </a:lvl7pPr>
            <a:lvl8pPr algn="l">
              <a:defRPr sz="5100" b="1">
                <a:solidFill>
                  <a:srgbClr val="123047"/>
                </a:solidFill>
                <a:latin typeface="DejaVu Sans"/>
                <a:ea typeface="DejaVu Sans"/>
                <a:cs typeface="DejaVu Sans"/>
              </a:defRPr>
            </a:lvl8pPr>
            <a:lvl9pPr algn="l">
              <a:defRPr sz="5100" b="1">
                <a:solidFill>
                  <a:srgbClr val="123047"/>
                </a:solidFill>
                <a:latin typeface="DejaVu Sans"/>
                <a:ea typeface="DejaVu Sans"/>
                <a:cs typeface="DejaVu Sans"/>
              </a:defRPr>
            </a:lvl9pPr>
          </a:lstStyle>
          <a:p>
            <a:pPr algn="l">
              <a:lnSpc>
                <a:spcPct val="112000"/>
              </a:lnSpc>
              <a:buNone/>
              <a:defRPr sz="5100" b="1">
                <a:solidFill>
                  <a:srgbClr val="123047"/>
                </a:solidFill>
                <a:latin typeface="DejaVu Sans"/>
                <a:ea typeface="DejaVu Sans"/>
                <a:cs typeface="DejaVu Sans"/>
              </a:defRPr>
            </a:pPr>
            <a:r>
              <a:rPr sz="5100" b="1">
                <a:solidFill>
                  <a:srgbClr val="123047"/>
                </a:solidFill>
                <a:latin typeface="DejaVu Sans"/>
                <a:ea typeface="DejaVu Sans"/>
                <a:cs typeface="DejaVu Sans"/>
              </a:rPr>
              <a:t>15%</a:t>
            </a:r>
          </a:p>
        </p:txBody>
      </p:sp>
      <p:sp>
        <p:nvSpPr>
          <p:cNvPr id="9" name="text-294">
            <a:extLst>
              <a:ext uri="{FF2B5EF4-FFF2-40B4-BE49-F238E27FC236}">
                <a16:creationId xmlns:a16="http://schemas.microsoft.com/office/drawing/2014/main" id="{6A23BFBC-016A-42E1-9E88-703E9C3E33FE}"/>
              </a:ext>
            </a:extLst>
          </p:cNvPr>
          <p:cNvSpPr>
            <a:spLocks noGrp="1"/>
          </p:cNvSpPr>
          <p:nvPr/>
        </p:nvSpPr>
        <p:spPr>
          <a:xfrm>
            <a:off x="2695575" y="3943350"/>
            <a:ext cx="3238500" cy="847725"/>
          </a:xfrm>
          <a:prstGeom prst="rect">
            <a:avLst/>
          </a:prstGeom>
          <a:noFill/>
          <a:ln w="0">
            <a:noFill/>
            <a:prstDash val="solid"/>
          </a:ln>
        </p:spPr>
        <p:txBody>
          <a:bodyPr wrap="square" lIns="0" tIns="0" rIns="0" bIns="0" anchor="t">
            <a:noAutofit/>
          </a:bodyPr>
          <a:lstStyle>
            <a:defPPr algn="l">
              <a:defRPr sz="1650" b="0">
                <a:solidFill>
                  <a:srgbClr val="263E50"/>
                </a:solidFill>
                <a:latin typeface="DejaVu Sans"/>
                <a:ea typeface="DejaVu Sans"/>
                <a:cs typeface="DejaVu Sans"/>
              </a:defRPr>
            </a:defPPr>
            <a:lvl1pPr algn="l">
              <a:defRPr sz="1650" b="0">
                <a:solidFill>
                  <a:srgbClr val="263E50"/>
                </a:solidFill>
                <a:latin typeface="DejaVu Sans"/>
                <a:ea typeface="DejaVu Sans"/>
                <a:cs typeface="DejaVu Sans"/>
              </a:defRPr>
            </a:lvl1pPr>
            <a:lvl2pPr algn="l">
              <a:defRPr sz="1650" b="0">
                <a:solidFill>
                  <a:srgbClr val="263E50"/>
                </a:solidFill>
                <a:latin typeface="DejaVu Sans"/>
                <a:ea typeface="DejaVu Sans"/>
                <a:cs typeface="DejaVu Sans"/>
              </a:defRPr>
            </a:lvl2pPr>
            <a:lvl3pPr algn="l">
              <a:defRPr sz="1650" b="0">
                <a:solidFill>
                  <a:srgbClr val="263E50"/>
                </a:solidFill>
                <a:latin typeface="DejaVu Sans"/>
                <a:ea typeface="DejaVu Sans"/>
                <a:cs typeface="DejaVu Sans"/>
              </a:defRPr>
            </a:lvl3pPr>
            <a:lvl4pPr algn="l">
              <a:defRPr sz="1650" b="0">
                <a:solidFill>
                  <a:srgbClr val="263E50"/>
                </a:solidFill>
                <a:latin typeface="DejaVu Sans"/>
                <a:ea typeface="DejaVu Sans"/>
                <a:cs typeface="DejaVu Sans"/>
              </a:defRPr>
            </a:lvl4pPr>
            <a:lvl5pPr algn="l">
              <a:defRPr sz="1650" b="0">
                <a:solidFill>
                  <a:srgbClr val="263E50"/>
                </a:solidFill>
                <a:latin typeface="DejaVu Sans"/>
                <a:ea typeface="DejaVu Sans"/>
                <a:cs typeface="DejaVu Sans"/>
              </a:defRPr>
            </a:lvl5pPr>
            <a:lvl6pPr algn="l">
              <a:defRPr sz="1650" b="0">
                <a:solidFill>
                  <a:srgbClr val="263E50"/>
                </a:solidFill>
                <a:latin typeface="DejaVu Sans"/>
                <a:ea typeface="DejaVu Sans"/>
                <a:cs typeface="DejaVu Sans"/>
              </a:defRPr>
            </a:lvl6pPr>
            <a:lvl7pPr algn="l">
              <a:defRPr sz="1650" b="0">
                <a:solidFill>
                  <a:srgbClr val="263E50"/>
                </a:solidFill>
                <a:latin typeface="DejaVu Sans"/>
                <a:ea typeface="DejaVu Sans"/>
                <a:cs typeface="DejaVu Sans"/>
              </a:defRPr>
            </a:lvl7pPr>
            <a:lvl8pPr algn="l">
              <a:defRPr sz="1650" b="0">
                <a:solidFill>
                  <a:srgbClr val="263E50"/>
                </a:solidFill>
                <a:latin typeface="DejaVu Sans"/>
                <a:ea typeface="DejaVu Sans"/>
                <a:cs typeface="DejaVu Sans"/>
              </a:defRPr>
            </a:lvl8pPr>
            <a:lvl9pPr algn="l">
              <a:defRPr sz="1650" b="0">
                <a:solidFill>
                  <a:srgbClr val="263E50"/>
                </a:solidFill>
                <a:latin typeface="DejaVu Sans"/>
                <a:ea typeface="DejaVu Sans"/>
                <a:cs typeface="DejaVu Sans"/>
              </a:defRPr>
            </a:lvl9pPr>
          </a:lstStyle>
          <a:p>
            <a:pPr algn="l">
              <a:lnSpc>
                <a:spcPct val="112000"/>
              </a:lnSpc>
              <a:buNone/>
              <a:defRPr sz="1650" b="0">
                <a:solidFill>
                  <a:srgbClr val="263E50"/>
                </a:solidFill>
                <a:latin typeface="DejaVu Sans"/>
                <a:ea typeface="DejaVu Sans"/>
                <a:cs typeface="DejaVu Sans"/>
              </a:defRPr>
            </a:pPr>
            <a:r>
              <a:rPr sz="1650" b="0">
                <a:solidFill>
                  <a:srgbClr val="263E50"/>
                </a:solidFill>
                <a:latin typeface="DejaVu Sans"/>
                <a:ea typeface="DejaVu Sans"/>
                <a:cs typeface="DejaVu Sans"/>
              </a:rPr>
              <a:t>Biến toàn cục</a:t>
            </a:r>
          </a:p>
          <a:p>
            <a:pPr algn="l">
              <a:lnSpc>
                <a:spcPct val="112000"/>
              </a:lnSpc>
              <a:buNone/>
              <a:defRPr sz="1650" b="0">
                <a:solidFill>
                  <a:srgbClr val="263E50"/>
                </a:solidFill>
                <a:latin typeface="DejaVu Sans"/>
                <a:ea typeface="DejaVu Sans"/>
                <a:cs typeface="DejaVu Sans"/>
              </a:defRPr>
            </a:pPr>
            <a:r>
              <a:rPr sz="1650" b="0">
                <a:solidFill>
                  <a:srgbClr val="263E50"/>
                </a:solidFill>
                <a:latin typeface="DejaVu Sans"/>
                <a:ea typeface="DejaVu Sans"/>
                <a:cs typeface="DejaVu Sans"/>
              </a:rPr>
              <a:t>49.572 / 327.680 byte</a:t>
            </a:r>
          </a:p>
        </p:txBody>
      </p:sp>
      <p:sp>
        <p:nvSpPr>
          <p:cNvPr id="10" name="text-295">
            <a:extLst>
              <a:ext uri="{FF2B5EF4-FFF2-40B4-BE49-F238E27FC236}">
                <a16:creationId xmlns:a16="http://schemas.microsoft.com/office/drawing/2014/main" id="{5D2A5BCD-3F3D-45D6-83EB-5FDDF5FBDFCA}"/>
              </a:ext>
            </a:extLst>
          </p:cNvPr>
          <p:cNvSpPr>
            <a:spLocks noGrp="1"/>
          </p:cNvSpPr>
          <p:nvPr/>
        </p:nvSpPr>
        <p:spPr>
          <a:xfrm>
            <a:off x="609600" y="5229225"/>
            <a:ext cx="5267325" cy="676275"/>
          </a:xfrm>
          <a:prstGeom prst="rect">
            <a:avLst/>
          </a:prstGeom>
          <a:noFill/>
          <a:ln w="0">
            <a:noFill/>
            <a:prstDash val="solid"/>
          </a:ln>
        </p:spPr>
        <p:txBody>
          <a:bodyPr wrap="square" lIns="0" tIns="0" rIns="0" bIns="0" anchor="t">
            <a:noAutofit/>
          </a:bodyPr>
          <a:lstStyle>
            <a:defPPr algn="l">
              <a:defRPr sz="1650" b="0">
                <a:solidFill>
                  <a:srgbClr val="536B7B"/>
                </a:solidFill>
                <a:latin typeface="DejaVu Sans"/>
                <a:ea typeface="DejaVu Sans"/>
                <a:cs typeface="DejaVu Sans"/>
              </a:defRPr>
            </a:defPPr>
            <a:lvl1pPr algn="l">
              <a:defRPr sz="1650" b="0">
                <a:solidFill>
                  <a:srgbClr val="536B7B"/>
                </a:solidFill>
                <a:latin typeface="DejaVu Sans"/>
                <a:ea typeface="DejaVu Sans"/>
                <a:cs typeface="DejaVu Sans"/>
              </a:defRPr>
            </a:lvl1pPr>
            <a:lvl2pPr algn="l">
              <a:defRPr sz="1650" b="0">
                <a:solidFill>
                  <a:srgbClr val="536B7B"/>
                </a:solidFill>
                <a:latin typeface="DejaVu Sans"/>
                <a:ea typeface="DejaVu Sans"/>
                <a:cs typeface="DejaVu Sans"/>
              </a:defRPr>
            </a:lvl2pPr>
            <a:lvl3pPr algn="l">
              <a:defRPr sz="1650" b="0">
                <a:solidFill>
                  <a:srgbClr val="536B7B"/>
                </a:solidFill>
                <a:latin typeface="DejaVu Sans"/>
                <a:ea typeface="DejaVu Sans"/>
                <a:cs typeface="DejaVu Sans"/>
              </a:defRPr>
            </a:lvl3pPr>
            <a:lvl4pPr algn="l">
              <a:defRPr sz="1650" b="0">
                <a:solidFill>
                  <a:srgbClr val="536B7B"/>
                </a:solidFill>
                <a:latin typeface="DejaVu Sans"/>
                <a:ea typeface="DejaVu Sans"/>
                <a:cs typeface="DejaVu Sans"/>
              </a:defRPr>
            </a:lvl4pPr>
            <a:lvl5pPr algn="l">
              <a:defRPr sz="1650" b="0">
                <a:solidFill>
                  <a:srgbClr val="536B7B"/>
                </a:solidFill>
                <a:latin typeface="DejaVu Sans"/>
                <a:ea typeface="DejaVu Sans"/>
                <a:cs typeface="DejaVu Sans"/>
              </a:defRPr>
            </a:lvl5pPr>
            <a:lvl6pPr algn="l">
              <a:defRPr sz="1650" b="0">
                <a:solidFill>
                  <a:srgbClr val="536B7B"/>
                </a:solidFill>
                <a:latin typeface="DejaVu Sans"/>
                <a:ea typeface="DejaVu Sans"/>
                <a:cs typeface="DejaVu Sans"/>
              </a:defRPr>
            </a:lvl6pPr>
            <a:lvl7pPr algn="l">
              <a:defRPr sz="1650" b="0">
                <a:solidFill>
                  <a:srgbClr val="536B7B"/>
                </a:solidFill>
                <a:latin typeface="DejaVu Sans"/>
                <a:ea typeface="DejaVu Sans"/>
                <a:cs typeface="DejaVu Sans"/>
              </a:defRPr>
            </a:lvl7pPr>
            <a:lvl8pPr algn="l">
              <a:defRPr sz="1650" b="0">
                <a:solidFill>
                  <a:srgbClr val="536B7B"/>
                </a:solidFill>
                <a:latin typeface="DejaVu Sans"/>
                <a:ea typeface="DejaVu Sans"/>
                <a:cs typeface="DejaVu Sans"/>
              </a:defRPr>
            </a:lvl8pPr>
            <a:lvl9pPr algn="l">
              <a:defRPr sz="1650" b="0">
                <a:solidFill>
                  <a:srgbClr val="536B7B"/>
                </a:solidFill>
                <a:latin typeface="DejaVu Sans"/>
                <a:ea typeface="DejaVu Sans"/>
                <a:cs typeface="DejaVu Sans"/>
              </a:defRPr>
            </a:lvl9pPr>
          </a:lstStyle>
          <a:p>
            <a:pPr algn="l">
              <a:lnSpc>
                <a:spcPct val="112000"/>
              </a:lnSpc>
              <a:buNone/>
              <a:defRPr sz="1650" b="0">
                <a:solidFill>
                  <a:srgbClr val="536B7B"/>
                </a:solidFill>
                <a:latin typeface="DejaVu Sans"/>
                <a:ea typeface="DejaVu Sans"/>
                <a:cs typeface="DejaVu Sans"/>
              </a:defRPr>
            </a:pPr>
            <a:r>
              <a:rPr sz="1650" b="0">
                <a:solidFill>
                  <a:srgbClr val="536B7B"/>
                </a:solidFill>
                <a:latin typeface="DejaVu Sans"/>
                <a:ea typeface="DejaVu Sans"/>
                <a:cs typeface="DejaVu Sans"/>
              </a:rPr>
              <a:t>Còn cảnh báo thư viện LiquidCrystal I2C</a:t>
            </a:r>
          </a:p>
          <a:p>
            <a:pPr algn="l">
              <a:lnSpc>
                <a:spcPct val="112000"/>
              </a:lnSpc>
              <a:buNone/>
              <a:defRPr sz="1650" b="0">
                <a:solidFill>
                  <a:srgbClr val="536B7B"/>
                </a:solidFill>
                <a:latin typeface="DejaVu Sans"/>
                <a:ea typeface="DejaVu Sans"/>
                <a:cs typeface="DejaVu Sans"/>
              </a:defRPr>
            </a:pPr>
            <a:r>
              <a:rPr sz="1650" b="0">
                <a:solidFill>
                  <a:srgbClr val="536B7B"/>
                </a:solidFill>
                <a:latin typeface="DejaVu Sans"/>
                <a:ea typeface="DejaVu Sans"/>
                <a:cs typeface="DejaVu Sans"/>
              </a:rPr>
              <a:t>khai báo kiến trúc AVR.</a:t>
            </a:r>
          </a:p>
        </p:txBody>
      </p:sp>
      <p:sp>
        <p:nvSpPr>
          <p:cNvPr id="11" name="text-296">
            <a:extLst>
              <a:ext uri="{FF2B5EF4-FFF2-40B4-BE49-F238E27FC236}">
                <a16:creationId xmlns:a16="http://schemas.microsoft.com/office/drawing/2014/main" id="{E8733801-8DCA-46EA-A9D2-8A12D1B2DEC2}"/>
              </a:ext>
            </a:extLst>
          </p:cNvPr>
          <p:cNvSpPr>
            <a:spLocks noGrp="1"/>
          </p:cNvSpPr>
          <p:nvPr/>
        </p:nvSpPr>
        <p:spPr>
          <a:xfrm>
            <a:off x="6381750" y="1695450"/>
            <a:ext cx="5200650" cy="45720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Một tin Telegram đã nhận</a:t>
            </a:r>
          </a:p>
        </p:txBody>
      </p:sp>
      <p:sp>
        <p:nvSpPr>
          <p:cNvPr id="12" name="text-297">
            <a:extLst>
              <a:ext uri="{FF2B5EF4-FFF2-40B4-BE49-F238E27FC236}">
                <a16:creationId xmlns:a16="http://schemas.microsoft.com/office/drawing/2014/main" id="{ED015D42-871F-453D-A95A-D8F7C53B6EAF}"/>
              </a:ext>
            </a:extLst>
          </p:cNvPr>
          <p:cNvSpPr>
            <a:spLocks noGrp="1"/>
          </p:cNvSpPr>
          <p:nvPr/>
        </p:nvSpPr>
        <p:spPr>
          <a:xfrm>
            <a:off x="6381750" y="2400300"/>
            <a:ext cx="5200650" cy="466725"/>
          </a:xfrm>
          <a:prstGeom prst="rect">
            <a:avLst/>
          </a:prstGeom>
          <a:noFill/>
          <a:ln w="0">
            <a:noFill/>
            <a:prstDash val="solid"/>
          </a:ln>
        </p:spPr>
        <p:txBody>
          <a:bodyPr wrap="square" lIns="0" tIns="0" rIns="0" bIns="0" anchor="t">
            <a:noAutofit/>
          </a:bodyPr>
          <a:lstStyle>
            <a:defPPr algn="l">
              <a:defRPr sz="1950" b="1">
                <a:solidFill>
                  <a:srgbClr val="123047"/>
                </a:solidFill>
                <a:latin typeface="DejaVu Sans Mono"/>
                <a:ea typeface="DejaVu Sans Mono"/>
                <a:cs typeface="DejaVu Sans Mono"/>
              </a:defRPr>
            </a:defPPr>
            <a:lvl1pPr algn="l">
              <a:defRPr sz="1950" b="1">
                <a:solidFill>
                  <a:srgbClr val="123047"/>
                </a:solidFill>
                <a:latin typeface="DejaVu Sans Mono"/>
                <a:ea typeface="DejaVu Sans Mono"/>
                <a:cs typeface="DejaVu Sans Mono"/>
              </a:defRPr>
            </a:lvl1pPr>
            <a:lvl2pPr algn="l">
              <a:defRPr sz="1950" b="1">
                <a:solidFill>
                  <a:srgbClr val="123047"/>
                </a:solidFill>
                <a:latin typeface="DejaVu Sans Mono"/>
                <a:ea typeface="DejaVu Sans Mono"/>
                <a:cs typeface="DejaVu Sans Mono"/>
              </a:defRPr>
            </a:lvl2pPr>
            <a:lvl3pPr algn="l">
              <a:defRPr sz="1950" b="1">
                <a:solidFill>
                  <a:srgbClr val="123047"/>
                </a:solidFill>
                <a:latin typeface="DejaVu Sans Mono"/>
                <a:ea typeface="DejaVu Sans Mono"/>
                <a:cs typeface="DejaVu Sans Mono"/>
              </a:defRPr>
            </a:lvl3pPr>
            <a:lvl4pPr algn="l">
              <a:defRPr sz="1950" b="1">
                <a:solidFill>
                  <a:srgbClr val="123047"/>
                </a:solidFill>
                <a:latin typeface="DejaVu Sans Mono"/>
                <a:ea typeface="DejaVu Sans Mono"/>
                <a:cs typeface="DejaVu Sans Mono"/>
              </a:defRPr>
            </a:lvl4pPr>
            <a:lvl5pPr algn="l">
              <a:defRPr sz="1950" b="1">
                <a:solidFill>
                  <a:srgbClr val="123047"/>
                </a:solidFill>
                <a:latin typeface="DejaVu Sans Mono"/>
                <a:ea typeface="DejaVu Sans Mono"/>
                <a:cs typeface="DejaVu Sans Mono"/>
              </a:defRPr>
            </a:lvl5pPr>
            <a:lvl6pPr algn="l">
              <a:defRPr sz="1950" b="1">
                <a:solidFill>
                  <a:srgbClr val="123047"/>
                </a:solidFill>
                <a:latin typeface="DejaVu Sans Mono"/>
                <a:ea typeface="DejaVu Sans Mono"/>
                <a:cs typeface="DejaVu Sans Mono"/>
              </a:defRPr>
            </a:lvl6pPr>
            <a:lvl7pPr algn="l">
              <a:defRPr sz="1950" b="1">
                <a:solidFill>
                  <a:srgbClr val="123047"/>
                </a:solidFill>
                <a:latin typeface="DejaVu Sans Mono"/>
                <a:ea typeface="DejaVu Sans Mono"/>
                <a:cs typeface="DejaVu Sans Mono"/>
              </a:defRPr>
            </a:lvl7pPr>
            <a:lvl8pPr algn="l">
              <a:defRPr sz="1950" b="1">
                <a:solidFill>
                  <a:srgbClr val="123047"/>
                </a:solidFill>
                <a:latin typeface="DejaVu Sans Mono"/>
                <a:ea typeface="DejaVu Sans Mono"/>
                <a:cs typeface="DejaVu Sans Mono"/>
              </a:defRPr>
            </a:lvl8pPr>
            <a:lvl9pPr algn="l">
              <a:defRPr sz="1950" b="1">
                <a:solidFill>
                  <a:srgbClr val="123047"/>
                </a:solidFill>
                <a:latin typeface="DejaVu Sans Mono"/>
                <a:ea typeface="DejaVu Sans Mono"/>
                <a:cs typeface="DejaVu Sans Mono"/>
              </a:defRPr>
            </a:lvl9pPr>
          </a:lstStyle>
          <a:p>
            <a:pPr algn="l">
              <a:lnSpc>
                <a:spcPct val="112000"/>
              </a:lnSpc>
              <a:buNone/>
              <a:defRPr sz="1950" b="1">
                <a:solidFill>
                  <a:srgbClr val="123047"/>
                </a:solidFill>
                <a:latin typeface="DejaVu Sans Mono"/>
                <a:ea typeface="DejaVu Sans Mono"/>
                <a:cs typeface="DejaVu Sans Mono"/>
              </a:defRPr>
            </a:pPr>
            <a:r>
              <a:rPr sz="1950" b="1">
                <a:solidFill>
                  <a:srgbClr val="123047"/>
                </a:solidFill>
                <a:latin typeface="DejaVu Sans Mono"/>
                <a:ea typeface="DejaVu Sans Mono"/>
                <a:cs typeface="DejaVu Sans Mono"/>
              </a:rPr>
              <a:t>DA HET CANH BAO</a:t>
            </a:r>
          </a:p>
        </p:txBody>
      </p:sp>
      <p:sp>
        <p:nvSpPr>
          <p:cNvPr id="13" name="text-298">
            <a:extLst>
              <a:ext uri="{FF2B5EF4-FFF2-40B4-BE49-F238E27FC236}">
                <a16:creationId xmlns:a16="http://schemas.microsoft.com/office/drawing/2014/main" id="{471777A5-AE3D-42B0-8FC4-C10D5CC1986A}"/>
              </a:ext>
            </a:extLst>
          </p:cNvPr>
          <p:cNvSpPr>
            <a:spLocks noGrp="1"/>
          </p:cNvSpPr>
          <p:nvPr/>
        </p:nvSpPr>
        <p:spPr>
          <a:xfrm>
            <a:off x="6381750" y="3048000"/>
            <a:ext cx="5200650" cy="33718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T = 23,2 °C, H = 64,1%.</a:t>
            </a:r>
          </a:p>
        </p:txBody>
      </p:sp>
      <p:sp>
        <p:nvSpPr>
          <p:cNvPr id="14" name="text-299">
            <a:extLst>
              <a:ext uri="{FF2B5EF4-FFF2-40B4-BE49-F238E27FC236}">
                <a16:creationId xmlns:a16="http://schemas.microsoft.com/office/drawing/2014/main" id="{6AFACB45-52AA-40A6-9F49-272E231C2BA3}"/>
              </a:ext>
            </a:extLst>
          </p:cNvPr>
          <p:cNvSpPr>
            <a:spLocks noGrp="1"/>
          </p:cNvSpPr>
          <p:nvPr/>
        </p:nvSpPr>
        <p:spPr>
          <a:xfrm>
            <a:off x="6381750" y="3556635"/>
            <a:ext cx="5200650" cy="33718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Gas = 79, bụi = 1355 ADC.</a:t>
            </a:r>
          </a:p>
        </p:txBody>
      </p:sp>
      <p:sp>
        <p:nvSpPr>
          <p:cNvPr id="15" name="text-300">
            <a:extLst>
              <a:ext uri="{FF2B5EF4-FFF2-40B4-BE49-F238E27FC236}">
                <a16:creationId xmlns:a16="http://schemas.microsoft.com/office/drawing/2014/main" id="{76CB6001-71C4-4284-AB7E-A7D1778EE3C8}"/>
              </a:ext>
            </a:extLst>
          </p:cNvPr>
          <p:cNvSpPr>
            <a:spLocks noGrp="1"/>
          </p:cNvSpPr>
          <p:nvPr/>
        </p:nvSpPr>
        <p:spPr>
          <a:xfrm>
            <a:off x="6381750" y="4065270"/>
            <a:ext cx="5200650"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Relay TẮT, giai đoạn ready, uptime 210</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giây.</a:t>
            </a:r>
          </a:p>
        </p:txBody>
      </p:sp>
      <p:sp>
        <p:nvSpPr>
          <p:cNvPr id="16" name="text-301">
            <a:extLst>
              <a:ext uri="{FF2B5EF4-FFF2-40B4-BE49-F238E27FC236}">
                <a16:creationId xmlns:a16="http://schemas.microsoft.com/office/drawing/2014/main" id="{AC95B119-FEE3-42FA-AE8C-004E6E6D74CF}"/>
              </a:ext>
            </a:extLst>
          </p:cNvPr>
          <p:cNvSpPr>
            <a:spLocks noGrp="1"/>
          </p:cNvSpPr>
          <p:nvPr/>
        </p:nvSpPr>
        <p:spPr>
          <a:xfrm>
            <a:off x="6381750" y="4882515"/>
            <a:ext cx="5200650" cy="645795"/>
          </a:xfrm>
          <a:prstGeom prst="rect">
            <a:avLst/>
          </a:prstGeom>
          <a:noFill/>
          <a:ln w="0">
            <a:noFill/>
            <a:prstDash val="solid"/>
          </a:ln>
        </p:spPr>
        <p:txBody>
          <a:bodyPr wrap="square" lIns="0" tIns="0" rIns="0" bIns="0" anchor="t">
            <a:noAutofit/>
          </a:bodyPr>
          <a:lstStyle>
            <a:defPPr algn="l">
              <a:defRPr sz="1800" b="0">
                <a:solidFill>
                  <a:srgbClr val="263E50"/>
                </a:solidFill>
                <a:latin typeface="DejaVu Sans"/>
                <a:ea typeface="DejaVu Sans"/>
                <a:cs typeface="DejaVu Sans"/>
              </a:defRPr>
            </a:defPPr>
            <a:lvl1pPr algn="l">
              <a:defRPr sz="1800" b="0">
                <a:solidFill>
                  <a:srgbClr val="263E50"/>
                </a:solidFill>
                <a:latin typeface="DejaVu Sans"/>
                <a:ea typeface="DejaVu Sans"/>
                <a:cs typeface="DejaVu Sans"/>
              </a:defRPr>
            </a:lvl1pPr>
            <a:lvl2pPr algn="l">
              <a:defRPr sz="1800" b="0">
                <a:solidFill>
                  <a:srgbClr val="263E50"/>
                </a:solidFill>
                <a:latin typeface="DejaVu Sans"/>
                <a:ea typeface="DejaVu Sans"/>
                <a:cs typeface="DejaVu Sans"/>
              </a:defRPr>
            </a:lvl2pPr>
            <a:lvl3pPr algn="l">
              <a:defRPr sz="1800" b="0">
                <a:solidFill>
                  <a:srgbClr val="263E50"/>
                </a:solidFill>
                <a:latin typeface="DejaVu Sans"/>
                <a:ea typeface="DejaVu Sans"/>
                <a:cs typeface="DejaVu Sans"/>
              </a:defRPr>
            </a:lvl3pPr>
            <a:lvl4pPr algn="l">
              <a:defRPr sz="1800" b="0">
                <a:solidFill>
                  <a:srgbClr val="263E50"/>
                </a:solidFill>
                <a:latin typeface="DejaVu Sans"/>
                <a:ea typeface="DejaVu Sans"/>
                <a:cs typeface="DejaVu Sans"/>
              </a:defRPr>
            </a:lvl4pPr>
            <a:lvl5pPr algn="l">
              <a:defRPr sz="1800" b="0">
                <a:solidFill>
                  <a:srgbClr val="263E50"/>
                </a:solidFill>
                <a:latin typeface="DejaVu Sans"/>
                <a:ea typeface="DejaVu Sans"/>
                <a:cs typeface="DejaVu Sans"/>
              </a:defRPr>
            </a:lvl5pPr>
            <a:lvl6pPr algn="l">
              <a:defRPr sz="1800" b="0">
                <a:solidFill>
                  <a:srgbClr val="263E50"/>
                </a:solidFill>
                <a:latin typeface="DejaVu Sans"/>
                <a:ea typeface="DejaVu Sans"/>
                <a:cs typeface="DejaVu Sans"/>
              </a:defRPr>
            </a:lvl6pPr>
            <a:lvl7pPr algn="l">
              <a:defRPr sz="1800" b="0">
                <a:solidFill>
                  <a:srgbClr val="263E50"/>
                </a:solidFill>
                <a:latin typeface="DejaVu Sans"/>
                <a:ea typeface="DejaVu Sans"/>
                <a:cs typeface="DejaVu Sans"/>
              </a:defRPr>
            </a:lvl7pPr>
            <a:lvl8pPr algn="l">
              <a:defRPr sz="1800" b="0">
                <a:solidFill>
                  <a:srgbClr val="263E50"/>
                </a:solidFill>
                <a:latin typeface="DejaVu Sans"/>
                <a:ea typeface="DejaVu Sans"/>
                <a:cs typeface="DejaVu Sans"/>
              </a:defRPr>
            </a:lvl8pPr>
            <a:lvl9pPr algn="l">
              <a:defRPr sz="1800" b="0">
                <a:solidFill>
                  <a:srgbClr val="263E50"/>
                </a:solidFill>
                <a:latin typeface="DejaVu Sans"/>
                <a:ea typeface="DejaVu Sans"/>
                <a:cs typeface="DejaVu Sans"/>
              </a:defRPr>
            </a:lvl9pPr>
          </a:lstStyle>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Người vận hành xác nhận điện thoại mở</a:t>
            </a:r>
          </a:p>
          <a:p>
            <a:pPr algn="l">
              <a:lnSpc>
                <a:spcPct val="112000"/>
              </a:lnSpc>
              <a:buNone/>
              <a:defRPr sz="1800" b="0">
                <a:solidFill>
                  <a:srgbClr val="263E50"/>
                </a:solidFill>
                <a:latin typeface="DejaVu Sans"/>
                <a:ea typeface="DejaVu Sans"/>
                <a:cs typeface="DejaVu Sans"/>
              </a:defRPr>
            </a:pPr>
            <a:r>
              <a:rPr sz="1800" b="0">
                <a:solidFill>
                  <a:srgbClr val="263E50"/>
                </a:solidFill>
                <a:latin typeface="DejaVu Sans"/>
                <a:ea typeface="DejaVu Sans"/>
                <a:cs typeface="DejaVu Sans"/>
              </a:rPr>
              <a:t>được web.</a:t>
            </a:r>
          </a:p>
        </p:txBody>
      </p:sp>
      <p:sp>
        <p:nvSpPr>
          <p:cNvPr id="17" name="text-302">
            <a:extLst>
              <a:ext uri="{FF2B5EF4-FFF2-40B4-BE49-F238E27FC236}">
                <a16:creationId xmlns:a16="http://schemas.microsoft.com/office/drawing/2014/main" id="{5038AEA2-F39D-4500-B64B-0BFA4CCC4976}"/>
              </a:ext>
            </a:extLst>
          </p:cNvPr>
          <p:cNvSpPr>
            <a:spLocks noGrp="1"/>
          </p:cNvSpPr>
          <p:nvPr/>
        </p:nvSpPr>
        <p:spPr>
          <a:xfrm>
            <a:off x="609600" y="5953125"/>
            <a:ext cx="10972800" cy="409575"/>
          </a:xfrm>
          <a:prstGeom prst="rect">
            <a:avLst/>
          </a:prstGeom>
          <a:noFill/>
          <a:ln w="0">
            <a:noFill/>
            <a:prstDash val="solid"/>
          </a:ln>
        </p:spPr>
        <p:txBody>
          <a:bodyPr wrap="square" lIns="0" tIns="0" rIns="0" bIns="0" anchor="t">
            <a:noAutofit/>
          </a:bodyPr>
          <a:lstStyle>
            <a:defPPr algn="l">
              <a:defRPr sz="1500" b="0">
                <a:solidFill>
                  <a:srgbClr val="A44632"/>
                </a:solidFill>
                <a:latin typeface="DejaVu Sans"/>
                <a:ea typeface="DejaVu Sans"/>
                <a:cs typeface="DejaVu Sans"/>
              </a:defRPr>
            </a:defPPr>
            <a:lvl1pPr algn="l">
              <a:defRPr sz="1500" b="0">
                <a:solidFill>
                  <a:srgbClr val="A44632"/>
                </a:solidFill>
                <a:latin typeface="DejaVu Sans"/>
                <a:ea typeface="DejaVu Sans"/>
                <a:cs typeface="DejaVu Sans"/>
              </a:defRPr>
            </a:lvl1pPr>
            <a:lvl2pPr algn="l">
              <a:defRPr sz="1500" b="0">
                <a:solidFill>
                  <a:srgbClr val="A44632"/>
                </a:solidFill>
                <a:latin typeface="DejaVu Sans"/>
                <a:ea typeface="DejaVu Sans"/>
                <a:cs typeface="DejaVu Sans"/>
              </a:defRPr>
            </a:lvl2pPr>
            <a:lvl3pPr algn="l">
              <a:defRPr sz="1500" b="0">
                <a:solidFill>
                  <a:srgbClr val="A44632"/>
                </a:solidFill>
                <a:latin typeface="DejaVu Sans"/>
                <a:ea typeface="DejaVu Sans"/>
                <a:cs typeface="DejaVu Sans"/>
              </a:defRPr>
            </a:lvl3pPr>
            <a:lvl4pPr algn="l">
              <a:defRPr sz="1500" b="0">
                <a:solidFill>
                  <a:srgbClr val="A44632"/>
                </a:solidFill>
                <a:latin typeface="DejaVu Sans"/>
                <a:ea typeface="DejaVu Sans"/>
                <a:cs typeface="DejaVu Sans"/>
              </a:defRPr>
            </a:lvl4pPr>
            <a:lvl5pPr algn="l">
              <a:defRPr sz="1500" b="0">
                <a:solidFill>
                  <a:srgbClr val="A44632"/>
                </a:solidFill>
                <a:latin typeface="DejaVu Sans"/>
                <a:ea typeface="DejaVu Sans"/>
                <a:cs typeface="DejaVu Sans"/>
              </a:defRPr>
            </a:lvl5pPr>
            <a:lvl6pPr algn="l">
              <a:defRPr sz="1500" b="0">
                <a:solidFill>
                  <a:srgbClr val="A44632"/>
                </a:solidFill>
                <a:latin typeface="DejaVu Sans"/>
                <a:ea typeface="DejaVu Sans"/>
                <a:cs typeface="DejaVu Sans"/>
              </a:defRPr>
            </a:lvl6pPr>
            <a:lvl7pPr algn="l">
              <a:defRPr sz="1500" b="0">
                <a:solidFill>
                  <a:srgbClr val="A44632"/>
                </a:solidFill>
                <a:latin typeface="DejaVu Sans"/>
                <a:ea typeface="DejaVu Sans"/>
                <a:cs typeface="DejaVu Sans"/>
              </a:defRPr>
            </a:lvl7pPr>
            <a:lvl8pPr algn="l">
              <a:defRPr sz="1500" b="0">
                <a:solidFill>
                  <a:srgbClr val="A44632"/>
                </a:solidFill>
                <a:latin typeface="DejaVu Sans"/>
                <a:ea typeface="DejaVu Sans"/>
                <a:cs typeface="DejaVu Sans"/>
              </a:defRPr>
            </a:lvl8pPr>
            <a:lvl9pPr algn="l">
              <a:defRPr sz="1500" b="0">
                <a:solidFill>
                  <a:srgbClr val="A44632"/>
                </a:solidFill>
                <a:latin typeface="DejaVu Sans"/>
                <a:ea typeface="DejaVu Sans"/>
                <a:cs typeface="DejaVu Sans"/>
              </a:defRPr>
            </a:lvl9pPr>
          </a:lstStyle>
          <a:p>
            <a:pPr algn="l">
              <a:lnSpc>
                <a:spcPct val="112000"/>
              </a:lnSpc>
              <a:buNone/>
              <a:defRPr sz="1500" b="0">
                <a:solidFill>
                  <a:srgbClr val="A44632"/>
                </a:solidFill>
                <a:latin typeface="DejaVu Sans"/>
                <a:ea typeface="DejaVu Sans"/>
                <a:cs typeface="DejaVu Sans"/>
              </a:defRPr>
            </a:pPr>
            <a:r>
              <a:rPr sz="1500" b="0">
                <a:solidFill>
                  <a:srgbClr val="A44632"/>
                </a:solidFill>
                <a:latin typeface="DejaVu Sans"/>
                <a:ea typeface="DejaVu Sans"/>
                <a:cs typeface="DejaVu Sans"/>
              </a:rPr>
              <a:t>Một quan sát trạng thái chưa đủ kết luận về sai số, độ trễ hoặc toàn bộ 18 ca kiểm thử.</a:t>
            </a:r>
          </a:p>
        </p:txBody>
      </p:sp>
    </p:spTree>
    <p:extLst>
      <p:ext uri="{BB962C8B-B14F-4D97-AF65-F5344CB8AC3E}">
        <p14:creationId xmlns:p14="http://schemas.microsoft.com/office/powerpoint/2010/main" val="1443957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81EF53C3-1647-464B-8E49-653F79E5133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Đánh giá chức năng tại thiết bị</a:t>
            </a:r>
          </a:p>
        </p:txBody>
      </p:sp>
      <p:sp>
        <p:nvSpPr>
          <p:cNvPr id="2" name="rule-303">
            <a:extLst>
              <a:ext uri="{FF2B5EF4-FFF2-40B4-BE49-F238E27FC236}">
                <a16:creationId xmlns:a16="http://schemas.microsoft.com/office/drawing/2014/main" id="{00FFE94C-F108-48CB-81C1-83537D1A8E23}"/>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18F70AE0-7ABF-4A05-98EE-C66F382B37D6}"/>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10 Đánh giá và phát triển</a:t>
            </a:r>
          </a:p>
        </p:txBody>
      </p:sp>
      <p:sp>
        <p:nvSpPr>
          <p:cNvPr id="4" name="slide-number">
            <a:extLst>
              <a:ext uri="{FF2B5EF4-FFF2-40B4-BE49-F238E27FC236}">
                <a16:creationId xmlns:a16="http://schemas.microsoft.com/office/drawing/2014/main" id="{10768447-E83F-4B60-A820-92330EF5CAEA}"/>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43</a:t>
            </a:r>
          </a:p>
        </p:txBody>
      </p:sp>
      <p:graphicFrame>
        <p:nvGraphicFramePr>
          <p:cNvPr id="5" name="Table 4">
            <a:extLst>
              <a:ext uri="{FF2B5EF4-FFF2-40B4-BE49-F238E27FC236}">
                <a16:creationId xmlns:a16="http://schemas.microsoft.com/office/drawing/2014/main" id="{B0D8E42F-5FD0-46E3-A9B9-09BB043E872F}"/>
              </a:ext>
            </a:extLst>
          </p:cNvPr>
          <p:cNvGraphicFramePr/>
          <p:nvPr/>
        </p:nvGraphicFramePr>
        <p:xfrm>
          <a:off x="609600" y="1657350"/>
          <a:ext cx="10972800" cy="4410075"/>
        </p:xfrm>
        <a:graphic>
          <a:graphicData uri="http://schemas.openxmlformats.org/drawingml/2006/table">
            <a:tbl>
              <a:tblPr firstRow="1"/>
              <a:tblGrid>
                <a:gridCol w="4828032">
                  <a:extLst>
                    <a:ext uri="{9D8B030D-6E8A-4147-A177-3AD203B41FA5}">
                      <a16:colId xmlns:a16="http://schemas.microsoft.com/office/drawing/2014/main" val="20000"/>
                    </a:ext>
                  </a:extLst>
                </a:gridCol>
                <a:gridCol w="6144768">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Nội dung</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Tình trạng trong chương trình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777240">
                <a:tc>
                  <a:txBody>
                    <a:bodyPr/>
                    <a:lstStyle/>
                    <a:p>
                      <a:r>
                        <a:rPr sz="1725">
                          <a:solidFill>
                            <a:srgbClr val="263E50"/>
                          </a:solidFill>
                          <a:latin typeface="DejaVu Sans"/>
                          <a:ea typeface="DejaVu Sans"/>
                          <a:cs typeface="DejaVu Sans"/>
                        </a:rPr>
                        <a:t>Đọc gas, bụi, nhiệt độ, độ ẩm</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Đã có trong mã nguồn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777240">
                <a:tc>
                  <a:txBody>
                    <a:bodyPr/>
                    <a:lstStyle/>
                    <a:p>
                      <a:r>
                        <a:rPr sz="1725">
                          <a:solidFill>
                            <a:srgbClr val="263E50"/>
                          </a:solidFill>
                          <a:latin typeface="DejaVu Sans"/>
                          <a:ea typeface="DejaVu Sans"/>
                          <a:cs typeface="DejaVu Sans"/>
                        </a:rPr>
                        <a:t>LCD và Serial</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Đã có, LCD hiển thị trạng thái cụ thể</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777240">
                <a:tc>
                  <a:txBody>
                    <a:bodyPr/>
                    <a:lstStyle/>
                    <a:p>
                      <a:r>
                        <a:rPr sz="1725">
                          <a:solidFill>
                            <a:srgbClr val="263E50"/>
                          </a:solidFill>
                          <a:latin typeface="DejaVu Sans"/>
                          <a:ea typeface="DejaVu Sans"/>
                          <a:cs typeface="DejaVu Sans"/>
                        </a:rPr>
                        <a:t>Quạt và còi qua relay</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Có logic theo gas, nhiệt độ và thử T</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777240">
                <a:tc>
                  <a:txBody>
                    <a:bodyPr/>
                    <a:lstStyle/>
                    <a:p>
                      <a:r>
                        <a:rPr sz="1725">
                          <a:solidFill>
                            <a:srgbClr val="263E50"/>
                          </a:solidFill>
                          <a:latin typeface="DejaVu Sans"/>
                          <a:ea typeface="DejaVu Sans"/>
                          <a:cs typeface="DejaVu Sans"/>
                        </a:rPr>
                        <a:t>Cảnh báo bụi và độ ẩm</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Có LCD/web/Telegram, không tự yêu cầu relay</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777240">
                <a:tc>
                  <a:txBody>
                    <a:bodyPr/>
                    <a:lstStyle/>
                    <a:p>
                      <a:r>
                        <a:rPr sz="1725">
                          <a:solidFill>
                            <a:srgbClr val="263E50"/>
                          </a:solidFill>
                          <a:latin typeface="DejaVu Sans"/>
                          <a:ea typeface="DejaVu Sans"/>
                          <a:cs typeface="DejaVu Sans"/>
                        </a:rPr>
                        <a:t>Lịch sử Flash hoặc thẻ nhớ</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Chưa triển khai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455587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AEB06EA8-AAF1-4009-A7CA-6AE31BF6EAEB}"/>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Đánh giá kết nối và dữ liệu</a:t>
            </a:r>
          </a:p>
        </p:txBody>
      </p:sp>
      <p:sp>
        <p:nvSpPr>
          <p:cNvPr id="2" name="rule-304">
            <a:extLst>
              <a:ext uri="{FF2B5EF4-FFF2-40B4-BE49-F238E27FC236}">
                <a16:creationId xmlns:a16="http://schemas.microsoft.com/office/drawing/2014/main" id="{BAF7DD6A-2863-4479-9B15-027EC6364D0B}"/>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3B2CB86B-3079-404C-99F1-422190ACB3D2}"/>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10 Đánh giá và phát triển</a:t>
            </a:r>
          </a:p>
        </p:txBody>
      </p:sp>
      <p:sp>
        <p:nvSpPr>
          <p:cNvPr id="4" name="slide-number">
            <a:extLst>
              <a:ext uri="{FF2B5EF4-FFF2-40B4-BE49-F238E27FC236}">
                <a16:creationId xmlns:a16="http://schemas.microsoft.com/office/drawing/2014/main" id="{E8ADEED3-CDF0-48C2-A6F3-2A420C0AC527}"/>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44</a:t>
            </a:r>
          </a:p>
        </p:txBody>
      </p:sp>
      <p:graphicFrame>
        <p:nvGraphicFramePr>
          <p:cNvPr id="5" name="Table 4">
            <a:extLst>
              <a:ext uri="{FF2B5EF4-FFF2-40B4-BE49-F238E27FC236}">
                <a16:creationId xmlns:a16="http://schemas.microsoft.com/office/drawing/2014/main" id="{4F3C5F55-82D8-43BC-8BB6-0E629B9A6672}"/>
              </a:ext>
            </a:extLst>
          </p:cNvPr>
          <p:cNvGraphicFramePr/>
          <p:nvPr/>
        </p:nvGraphicFramePr>
        <p:xfrm>
          <a:off x="609600" y="1657350"/>
          <a:ext cx="10972800" cy="4410075"/>
        </p:xfrm>
        <a:graphic>
          <a:graphicData uri="http://schemas.openxmlformats.org/drawingml/2006/table">
            <a:tbl>
              <a:tblPr firstRow="1"/>
              <a:tblGrid>
                <a:gridCol w="4718304">
                  <a:extLst>
                    <a:ext uri="{9D8B030D-6E8A-4147-A177-3AD203B41FA5}">
                      <a16:colId xmlns:a16="http://schemas.microsoft.com/office/drawing/2014/main" val="20000"/>
                    </a:ext>
                  </a:extLst>
                </a:gridCol>
                <a:gridCol w="6254496">
                  <a:extLst>
                    <a:ext uri="{9D8B030D-6E8A-4147-A177-3AD203B41FA5}">
                      <a16:colId xmlns:a16="http://schemas.microsoft.com/office/drawing/2014/main" val="20001"/>
                    </a:ext>
                  </a:extLst>
                </a:gridCol>
              </a:tblGrid>
              <a:tr h="523875">
                <a:tc>
                  <a:txBody>
                    <a:bodyPr/>
                    <a:lstStyle/>
                    <a:p>
                      <a:r>
                        <a:rPr sz="1725" b="1">
                          <a:solidFill>
                            <a:srgbClr val="FFFFFF"/>
                          </a:solidFill>
                          <a:latin typeface="DejaVu Sans"/>
                          <a:ea typeface="DejaVu Sans"/>
                          <a:cs typeface="DejaVu Sans"/>
                        </a:rPr>
                        <a:t>Nội dung</a:t>
                      </a:r>
                    </a:p>
                  </a:txBody>
                  <a:tcPr marL="123825" marR="123825" marT="57150" marB="57150" anchor="ctr">
                    <a:lnL w="9525">
                      <a:solidFill>
                        <a:srgbClr val="CBD7DE"/>
                      </a:solidFill>
                      <a:prstDash val="soli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tc>
                  <a:txBody>
                    <a:bodyPr/>
                    <a:lstStyle/>
                    <a:p>
                      <a:r>
                        <a:rPr sz="1725" b="1">
                          <a:solidFill>
                            <a:srgbClr val="FFFFFF"/>
                          </a:solidFill>
                          <a:latin typeface="DejaVu Sans"/>
                          <a:ea typeface="DejaVu Sans"/>
                          <a:cs typeface="DejaVu Sans"/>
                        </a:rPr>
                        <a:t>Tình trạng trong chương trình</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a:solidFill>
                        <a:srgbClr val="CBD7DE"/>
                      </a:solidFill>
                      <a:prstDash val="solid"/>
                    </a:lnT>
                    <a:lnB w="9525">
                      <a:solidFill>
                        <a:srgbClr val="CBD7DE"/>
                      </a:solidFill>
                      <a:prstDash val="solid"/>
                    </a:lnB>
                    <a:solidFill>
                      <a:srgbClr val="123047"/>
                    </a:solidFill>
                  </a:tcPr>
                </a:tc>
                <a:extLst>
                  <a:ext uri="{0D108BD9-81ED-4DB2-BD59-A6C34878D82A}">
                    <a16:rowId xmlns:a16="http://schemas.microsoft.com/office/drawing/2014/main" val="10000"/>
                  </a:ext>
                </a:extLst>
              </a:tr>
              <a:tr h="777240">
                <a:tc>
                  <a:txBody>
                    <a:bodyPr/>
                    <a:lstStyle/>
                    <a:p>
                      <a:r>
                        <a:rPr sz="1725">
                          <a:solidFill>
                            <a:srgbClr val="263E50"/>
                          </a:solidFill>
                          <a:latin typeface="DejaVu Sans"/>
                          <a:ea typeface="DejaVu Sans"/>
                          <a:cs typeface="DejaVu Sans"/>
                        </a:rPr>
                        <a:t>Wi-Fi, thời gian và xem từ xa</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AP+STA, web/API, NTP, localhost trên laptop</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1"/>
                  </a:ext>
                </a:extLst>
              </a:tr>
              <a:tr h="777240">
                <a:tc>
                  <a:txBody>
                    <a:bodyPr/>
                    <a:lstStyle/>
                    <a:p>
                      <a:r>
                        <a:rPr sz="1725">
                          <a:solidFill>
                            <a:srgbClr val="263E50"/>
                          </a:solidFill>
                          <a:latin typeface="DejaVu Sans"/>
                          <a:ea typeface="DejaVu Sans"/>
                          <a:cs typeface="DejaVu Sans"/>
                        </a:rPr>
                        <a:t>Quy đổi ppm, µg/m³ hoặc AQI</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Chưa triển khai, chưa hiệu chuẩn</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2"/>
                  </a:ext>
                </a:extLst>
              </a:tr>
              <a:tr h="777240">
                <a:tc>
                  <a:txBody>
                    <a:bodyPr/>
                    <a:lstStyle/>
                    <a:p>
                      <a:r>
                        <a:rPr sz="1725">
                          <a:solidFill>
                            <a:srgbClr val="263E50"/>
                          </a:solidFill>
                          <a:latin typeface="DejaVu Sans"/>
                          <a:ea typeface="DejaVu Sans"/>
                          <a:cs typeface="DejaVu Sans"/>
                        </a:rPr>
                        <a:t>Sai số, độ trễ, độ bền thực tế</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Cần đo và ghi nhận thử nghiệm</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3"/>
                  </a:ext>
                </a:extLst>
              </a:tr>
              <a:tr h="777240">
                <a:tc>
                  <a:txBody>
                    <a:bodyPr/>
                    <a:lstStyle/>
                    <a:p>
                      <a:r>
                        <a:rPr sz="1725">
                          <a:solidFill>
                            <a:srgbClr val="263E50"/>
                          </a:solidFill>
                          <a:latin typeface="DejaVu Sans"/>
                          <a:ea typeface="DejaVu Sans"/>
                          <a:cs typeface="DejaVu Sans"/>
                        </a:rPr>
                        <a:t>Telegram tự động</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tc>
                  <a:txBody>
                    <a:bodyPr/>
                    <a:lstStyle/>
                    <a:p>
                      <a:r>
                        <a:rPr sz="1725">
                          <a:solidFill>
                            <a:srgbClr val="263E50"/>
                          </a:solidFill>
                          <a:latin typeface="DejaVu Sans"/>
                          <a:ea typeface="DejaVu Sans"/>
                          <a:cs typeface="DejaVu Sans"/>
                        </a:rPr>
                        <a:t>Gửi thay đổi/hết, nhắc, thử lại, chưa nhận hội thoại</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EAF2F4"/>
                    </a:solidFill>
                  </a:tcPr>
                </a:tc>
                <a:extLst>
                  <a:ext uri="{0D108BD9-81ED-4DB2-BD59-A6C34878D82A}">
                    <a16:rowId xmlns:a16="http://schemas.microsoft.com/office/drawing/2014/main" val="10004"/>
                  </a:ext>
                </a:extLst>
              </a:tr>
              <a:tr h="777240">
                <a:tc>
                  <a:txBody>
                    <a:bodyPr/>
                    <a:lstStyle/>
                    <a:p>
                      <a:r>
                        <a:rPr sz="1725">
                          <a:solidFill>
                            <a:srgbClr val="263E50"/>
                          </a:solidFill>
                          <a:latin typeface="DejaVu Sans"/>
                          <a:ea typeface="DejaVu Sans"/>
                          <a:cs typeface="DejaVu Sans"/>
                        </a:rPr>
                        <a:t>Biểu đồ và sự kiện web</a:t>
                      </a:r>
                    </a:p>
                  </a:txBody>
                  <a:tcPr marL="123825" marR="123825" marT="57150" marB="57150" anchor="ctr">
                    <a:lnL w="9525">
                      <a:solidFill>
                        <a:srgbClr val="CBD7DE"/>
                      </a:solidFill>
                      <a:prstDash val="soli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tc>
                  <a:txBody>
                    <a:bodyPr/>
                    <a:lstStyle/>
                    <a:p>
                      <a:r>
                        <a:rPr sz="1725">
                          <a:solidFill>
                            <a:srgbClr val="263E50"/>
                          </a:solidFill>
                          <a:latin typeface="DejaVu Sans"/>
                          <a:ea typeface="DejaVu Sans"/>
                          <a:cs typeface="DejaVu Sans"/>
                        </a:rPr>
                        <a:t>5 phút, 30 sự kiện trong phiên, chưa lưu bền vững</a:t>
                      </a:r>
                    </a:p>
                  </a:txBody>
                  <a:tcPr marL="123825" marR="123825" marT="57150" marB="57150" anchor="ctr">
                    <a:lnL w="9525" cap="flat" cmpd="sng" algn="ctr">
                      <a:solidFill>
                        <a:srgbClr val="CBD7DE"/>
                      </a:solidFill>
                      <a:prstDash val="solid"/>
                      <a:round/>
                      <a:headEnd type="none" w="med" len="med"/>
                      <a:tailEnd type="none" w="med" len="med"/>
                    </a:lnL>
                    <a:lnR w="9525">
                      <a:solidFill>
                        <a:srgbClr val="CBD7DE"/>
                      </a:solidFill>
                      <a:prstDash val="solid"/>
                    </a:lnR>
                    <a:lnT w="9525" cap="flat" cmpd="sng" algn="ctr">
                      <a:solidFill>
                        <a:srgbClr val="CBD7DE"/>
                      </a:solidFill>
                      <a:prstDash val="solid"/>
                      <a:round/>
                      <a:headEnd type="none" w="med" len="med"/>
                      <a:tailEnd type="none" w="med" len="med"/>
                    </a:lnT>
                    <a:lnB w="9525">
                      <a:solidFill>
                        <a:srgbClr val="CBD7DE"/>
                      </a:solidFill>
                      <a:prstDash val="soli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505274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B9892900-646E-41BD-97A3-345932E76E25}"/>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Hạn chế cần hoàn thiện</a:t>
            </a:r>
          </a:p>
        </p:txBody>
      </p:sp>
      <p:sp>
        <p:nvSpPr>
          <p:cNvPr id="2" name="rule-305">
            <a:extLst>
              <a:ext uri="{FF2B5EF4-FFF2-40B4-BE49-F238E27FC236}">
                <a16:creationId xmlns:a16="http://schemas.microsoft.com/office/drawing/2014/main" id="{585CB256-85E3-4E1A-AAA7-6BC3CD76CAC1}"/>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747DD441-9BDA-4173-9006-2E619CC4F59E}"/>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10 Đánh giá và phát triển</a:t>
            </a:r>
          </a:p>
        </p:txBody>
      </p:sp>
      <p:sp>
        <p:nvSpPr>
          <p:cNvPr id="4" name="slide-number">
            <a:extLst>
              <a:ext uri="{FF2B5EF4-FFF2-40B4-BE49-F238E27FC236}">
                <a16:creationId xmlns:a16="http://schemas.microsoft.com/office/drawing/2014/main" id="{9D6E0C34-1AE9-4F74-8358-58668EF0BD2C}"/>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45</a:t>
            </a:r>
          </a:p>
        </p:txBody>
      </p:sp>
      <p:sp>
        <p:nvSpPr>
          <p:cNvPr id="5" name="text-306">
            <a:extLst>
              <a:ext uri="{FF2B5EF4-FFF2-40B4-BE49-F238E27FC236}">
                <a16:creationId xmlns:a16="http://schemas.microsoft.com/office/drawing/2014/main" id="{1DE169DF-E00A-4D3B-A321-B979C1B1F656}"/>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Cảm biến và phần cứng</a:t>
            </a:r>
          </a:p>
        </p:txBody>
      </p:sp>
      <p:sp>
        <p:nvSpPr>
          <p:cNvPr id="6" name="text-307">
            <a:extLst>
              <a:ext uri="{FF2B5EF4-FFF2-40B4-BE49-F238E27FC236}">
                <a16:creationId xmlns:a16="http://schemas.microsoft.com/office/drawing/2014/main" id="{9CEFAC3B-4E42-4443-AAF4-1EEFDD0820E2}"/>
              </a:ext>
            </a:extLst>
          </p:cNvPr>
          <p:cNvSpPr>
            <a:spLocks noGrp="1"/>
          </p:cNvSpPr>
          <p:nvPr/>
        </p:nvSpPr>
        <p:spPr>
          <a:xfrm>
            <a:off x="60960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Ngưỡng bụi 1500/1450 là ADC của mô</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hình, chưa chuẩn nồng độ.</a:t>
            </a:r>
          </a:p>
        </p:txBody>
      </p:sp>
      <p:sp>
        <p:nvSpPr>
          <p:cNvPr id="7" name="text-308">
            <a:extLst>
              <a:ext uri="{FF2B5EF4-FFF2-40B4-BE49-F238E27FC236}">
                <a16:creationId xmlns:a16="http://schemas.microsoft.com/office/drawing/2014/main" id="{37C24CFA-D8F1-4239-866D-7FF2506CD0BC}"/>
              </a:ext>
            </a:extLst>
          </p:cNvPr>
          <p:cNvSpPr>
            <a:spLocks noGrp="1"/>
          </p:cNvSpPr>
          <p:nvPr/>
        </p:nvSpPr>
        <p:spPr>
          <a:xfrm>
            <a:off x="609600" y="3052763"/>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MQ-2 có thể trôi sau 180 giây. Giảm</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mẫu có thể làm tín hiệu dao động hơn.</a:t>
            </a:r>
          </a:p>
        </p:txBody>
      </p:sp>
      <p:sp>
        <p:nvSpPr>
          <p:cNvPr id="8" name="text-309">
            <a:extLst>
              <a:ext uri="{FF2B5EF4-FFF2-40B4-BE49-F238E27FC236}">
                <a16:creationId xmlns:a16="http://schemas.microsoft.com/office/drawing/2014/main" id="{3AD0EB2A-77DE-47A6-8D0C-7C1FDF792E6D}"/>
              </a:ext>
            </a:extLst>
          </p:cNvPr>
          <p:cNvSpPr>
            <a:spLocks noGrp="1"/>
          </p:cNvSpPr>
          <p:nvPr/>
        </p:nvSpPr>
        <p:spPr>
          <a:xfrm>
            <a:off x="609600" y="3895725"/>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Cần xác nhận mã GP2Y, điện trở LED,</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nguồn và các phép thử lỗi.</a:t>
            </a:r>
          </a:p>
        </p:txBody>
      </p:sp>
      <p:sp>
        <p:nvSpPr>
          <p:cNvPr id="9" name="text-310">
            <a:extLst>
              <a:ext uri="{FF2B5EF4-FFF2-40B4-BE49-F238E27FC236}">
                <a16:creationId xmlns:a16="http://schemas.microsoft.com/office/drawing/2014/main" id="{D25A85F9-9C62-4A9E-B67A-13DF64B66A06}"/>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Dữ liệu và kiểm chứng</a:t>
            </a:r>
          </a:p>
        </p:txBody>
      </p:sp>
      <p:sp>
        <p:nvSpPr>
          <p:cNvPr id="10" name="text-311">
            <a:extLst>
              <a:ext uri="{FF2B5EF4-FFF2-40B4-BE49-F238E27FC236}">
                <a16:creationId xmlns:a16="http://schemas.microsoft.com/office/drawing/2014/main" id="{855934F3-926A-4004-83BA-8A461024D3E8}"/>
              </a:ext>
            </a:extLst>
          </p:cNvPr>
          <p:cNvSpPr>
            <a:spLocks noGrp="1"/>
          </p:cNvSpPr>
          <p:nvPr/>
        </p:nvSpPr>
        <p:spPr>
          <a:xfrm>
            <a:off x="638175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Biểu đồ/nhật ký chỉ trong phiên, chưa</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lưu bền vững hoặc hàng đợi đầy đủ</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khi mất mạng.</a:t>
            </a:r>
          </a:p>
        </p:txBody>
      </p:sp>
      <p:sp>
        <p:nvSpPr>
          <p:cNvPr id="11" name="text-312">
            <a:extLst>
              <a:ext uri="{FF2B5EF4-FFF2-40B4-BE49-F238E27FC236}">
                <a16:creationId xmlns:a16="http://schemas.microsoft.com/office/drawing/2014/main" id="{3AB4056D-53F5-42B1-BEFE-A893996B945D}"/>
              </a:ext>
            </a:extLst>
          </p:cNvPr>
          <p:cNvSpPr>
            <a:spLocks noGrp="1"/>
          </p:cNvSpPr>
          <p:nvPr/>
        </p:nvSpPr>
        <p:spPr>
          <a:xfrm>
            <a:off x="6381750" y="337423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Web HTTP nội bộ chưa xác thực người</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xem.</a:t>
            </a:r>
          </a:p>
        </p:txBody>
      </p:sp>
      <p:sp>
        <p:nvSpPr>
          <p:cNvPr id="12" name="text-313">
            <a:extLst>
              <a:ext uri="{FF2B5EF4-FFF2-40B4-BE49-F238E27FC236}">
                <a16:creationId xmlns:a16="http://schemas.microsoft.com/office/drawing/2014/main" id="{64EAB56B-2C30-4E51-8160-7AE54DA0FF8A}"/>
              </a:ext>
            </a:extLst>
          </p:cNvPr>
          <p:cNvSpPr>
            <a:spLocks noGrp="1"/>
          </p:cNvSpPr>
          <p:nvPr/>
        </p:nvSpPr>
        <p:spPr>
          <a:xfrm>
            <a:off x="638175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Chưa đủ dữ liệu định lượng về sai số,</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độ trễ và độ bền để kết luận mọi tình</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huống đều đạt.</a:t>
            </a:r>
          </a:p>
        </p:txBody>
      </p:sp>
    </p:spTree>
    <p:extLst>
      <p:ext uri="{BB962C8B-B14F-4D97-AF65-F5344CB8AC3E}">
        <p14:creationId xmlns:p14="http://schemas.microsoft.com/office/powerpoint/2010/main" val="1577291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CAE316F1-6BED-4AA8-A748-5E554D045909}"/>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Hướng phát triển tiếp theo</a:t>
            </a:r>
          </a:p>
        </p:txBody>
      </p:sp>
      <p:sp>
        <p:nvSpPr>
          <p:cNvPr id="2" name="rule-314">
            <a:extLst>
              <a:ext uri="{FF2B5EF4-FFF2-40B4-BE49-F238E27FC236}">
                <a16:creationId xmlns:a16="http://schemas.microsoft.com/office/drawing/2014/main" id="{2E0DB057-F9DB-4FFB-BD9C-BA20AEA107C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F9BEA7C4-66E2-4AB7-8E49-E7224688CFB0}"/>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10 Đánh giá và phát triển</a:t>
            </a:r>
          </a:p>
        </p:txBody>
      </p:sp>
      <p:sp>
        <p:nvSpPr>
          <p:cNvPr id="4" name="slide-number">
            <a:extLst>
              <a:ext uri="{FF2B5EF4-FFF2-40B4-BE49-F238E27FC236}">
                <a16:creationId xmlns:a16="http://schemas.microsoft.com/office/drawing/2014/main" id="{5BF23F90-76AA-4737-980C-38E3A57EE515}"/>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46</a:t>
            </a:r>
          </a:p>
        </p:txBody>
      </p:sp>
      <p:sp>
        <p:nvSpPr>
          <p:cNvPr id="5" name="text-315">
            <a:extLst>
              <a:ext uri="{FF2B5EF4-FFF2-40B4-BE49-F238E27FC236}">
                <a16:creationId xmlns:a16="http://schemas.microsoft.com/office/drawing/2014/main" id="{34BB3DE2-6B0B-443D-B948-088C51FAF59C}"/>
              </a:ext>
            </a:extLst>
          </p:cNvPr>
          <p:cNvSpPr>
            <a:spLocks noGrp="1"/>
          </p:cNvSpPr>
          <p:nvPr/>
        </p:nvSpPr>
        <p:spPr>
          <a:xfrm>
            <a:off x="60960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Ưu tiên hoàn thiện</a:t>
            </a:r>
          </a:p>
        </p:txBody>
      </p:sp>
      <p:sp>
        <p:nvSpPr>
          <p:cNvPr id="6" name="text-316">
            <a:extLst>
              <a:ext uri="{FF2B5EF4-FFF2-40B4-BE49-F238E27FC236}">
                <a16:creationId xmlns:a16="http://schemas.microsoft.com/office/drawing/2014/main" id="{E7CD0E6A-C5CF-4446-B876-64C6625FEA82}"/>
              </a:ext>
            </a:extLst>
          </p:cNvPr>
          <p:cNvSpPr>
            <a:spLocks noGrp="1"/>
          </p:cNvSpPr>
          <p:nvPr/>
        </p:nvSpPr>
        <p:spPr>
          <a:xfrm>
            <a:off x="609600" y="220980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Đo định thời, thử lỗi DHT, mất mạng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và các chuyển trạng thái. Xác nhận sơ</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đồ, điện áp.</a:t>
            </a:r>
          </a:p>
        </p:txBody>
      </p:sp>
      <p:sp>
        <p:nvSpPr>
          <p:cNvPr id="7" name="text-317">
            <a:extLst>
              <a:ext uri="{FF2B5EF4-FFF2-40B4-BE49-F238E27FC236}">
                <a16:creationId xmlns:a16="http://schemas.microsoft.com/office/drawing/2014/main" id="{F5C138F5-A5AB-4F3C-BD58-A7E72A7283CD}"/>
              </a:ext>
            </a:extLst>
          </p:cNvPr>
          <p:cNvSpPr>
            <a:spLocks noGrp="1"/>
          </p:cNvSpPr>
          <p:nvPr/>
        </p:nvSpPr>
        <p:spPr>
          <a:xfrm>
            <a:off x="609600" y="337423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Lưu CSV bằng LittleFS/thẻ nhớ/máy</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chủ, quản lý vòng và thời gian sự kiện.</a:t>
            </a:r>
          </a:p>
        </p:txBody>
      </p:sp>
      <p:sp>
        <p:nvSpPr>
          <p:cNvPr id="8" name="text-318">
            <a:extLst>
              <a:ext uri="{FF2B5EF4-FFF2-40B4-BE49-F238E27FC236}">
                <a16:creationId xmlns:a16="http://schemas.microsoft.com/office/drawing/2014/main" id="{579021FE-E071-4A08-A584-58E97688CBA6}"/>
              </a:ext>
            </a:extLst>
          </p:cNvPr>
          <p:cNvSpPr>
            <a:spLocks noGrp="1"/>
          </p:cNvSpPr>
          <p:nvPr/>
        </p:nvSpPr>
        <p:spPr>
          <a:xfrm>
            <a:off x="609600" y="4217194"/>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Bổ sung RTC nếu cần giữ giờ khi không</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có mạng.</a:t>
            </a:r>
          </a:p>
        </p:txBody>
      </p:sp>
      <p:sp>
        <p:nvSpPr>
          <p:cNvPr id="9" name="text-319">
            <a:extLst>
              <a:ext uri="{FF2B5EF4-FFF2-40B4-BE49-F238E27FC236}">
                <a16:creationId xmlns:a16="http://schemas.microsoft.com/office/drawing/2014/main" id="{6929E715-AF9F-4110-A364-CD9D8536D013}"/>
              </a:ext>
            </a:extLst>
          </p:cNvPr>
          <p:cNvSpPr>
            <a:spLocks noGrp="1"/>
          </p:cNvSpPr>
          <p:nvPr/>
        </p:nvSpPr>
        <p:spPr>
          <a:xfrm>
            <a:off x="6381750" y="169545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Mở rộng chức năng</a:t>
            </a:r>
          </a:p>
        </p:txBody>
      </p:sp>
      <p:sp>
        <p:nvSpPr>
          <p:cNvPr id="10" name="text-320">
            <a:extLst>
              <a:ext uri="{FF2B5EF4-FFF2-40B4-BE49-F238E27FC236}">
                <a16:creationId xmlns:a16="http://schemas.microsoft.com/office/drawing/2014/main" id="{0A848FDC-0140-4F7A-842C-A33CADCE211D}"/>
              </a:ext>
            </a:extLst>
          </p:cNvPr>
          <p:cNvSpPr>
            <a:spLocks noGrp="1"/>
          </p:cNvSpPr>
          <p:nvPr/>
        </p:nvSpPr>
        <p:spPr>
          <a:xfrm>
            <a:off x="6381750" y="220980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Hàng đợi ngoại tuyến, xác thực web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cấu hình ngưỡng có kiểm soát.</a:t>
            </a:r>
          </a:p>
        </p:txBody>
      </p:sp>
      <p:sp>
        <p:nvSpPr>
          <p:cNvPr id="11" name="text-321">
            <a:extLst>
              <a:ext uri="{FF2B5EF4-FFF2-40B4-BE49-F238E27FC236}">
                <a16:creationId xmlns:a16="http://schemas.microsoft.com/office/drawing/2014/main" id="{4472FDCE-9D03-4FD1-BF05-349ED1F22C83}"/>
              </a:ext>
            </a:extLst>
          </p:cNvPr>
          <p:cNvSpPr>
            <a:spLocks noGrp="1"/>
          </p:cNvSpPr>
          <p:nvPr/>
        </p:nvSpPr>
        <p:spPr>
          <a:xfrm>
            <a:off x="6381750" y="305276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Phản hồi tốc độ/dòng quạt, điều khiển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còi riêng. Bot nhận lệnh cần quyền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điều kiện an toàn.</a:t>
            </a:r>
          </a:p>
        </p:txBody>
      </p:sp>
      <p:sp>
        <p:nvSpPr>
          <p:cNvPr id="12" name="text-322">
            <a:extLst>
              <a:ext uri="{FF2B5EF4-FFF2-40B4-BE49-F238E27FC236}">
                <a16:creationId xmlns:a16="http://schemas.microsoft.com/office/drawing/2014/main" id="{A382C12A-1F4E-40F7-8592-E90560644BF2}"/>
              </a:ext>
            </a:extLst>
          </p:cNvPr>
          <p:cNvSpPr>
            <a:spLocks noGrp="1"/>
          </p:cNvSpPr>
          <p:nvPr/>
        </p:nvSpPr>
        <p:spPr>
          <a:xfrm>
            <a:off x="6381750" y="4217194"/>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Đo PM2.5/AQI cần phương pháp phù</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hợp, hiệu chuẩn thiết bị tham chiếu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tiêu chuẩn áp dụng.</a:t>
            </a:r>
          </a:p>
        </p:txBody>
      </p:sp>
    </p:spTree>
    <p:extLst>
      <p:ext uri="{BB962C8B-B14F-4D97-AF65-F5344CB8AC3E}">
        <p14:creationId xmlns:p14="http://schemas.microsoft.com/office/powerpoint/2010/main" val="3019728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BFA2B93A-7543-4D01-9B2A-3199D896F2D6}"/>
              </a:ext>
            </a:extLst>
          </p:cNvPr>
          <p:cNvSpPr>
            <a:spLocks noGrp="1"/>
          </p:cNvSpPr>
          <p:nvPr/>
        </p:nvSpPr>
        <p:spPr>
          <a:xfrm>
            <a:off x="609600" y="419100"/>
            <a:ext cx="10972800" cy="952500"/>
          </a:xfrm>
          <a:prstGeom prst="rect">
            <a:avLst/>
          </a:prstGeom>
          <a:noFill/>
          <a:ln w="0">
            <a:noFill/>
            <a:prstDash val="solid"/>
          </a:ln>
        </p:spPr>
        <p:txBody>
          <a:bodyPr wrap="square" lIns="0" tIns="0" rIns="0" bIns="0" anchor="t">
            <a:noAutofit/>
          </a:bodyPr>
          <a:lstStyle>
            <a:defPPr algn="l">
              <a:defRPr sz="3150" b="1">
                <a:solidFill>
                  <a:srgbClr val="123047"/>
                </a:solidFill>
                <a:latin typeface="DejaVu Sans"/>
                <a:ea typeface="DejaVu Sans"/>
                <a:cs typeface="DejaVu Sans"/>
              </a:defRPr>
            </a:defPPr>
            <a:lvl1pPr algn="l">
              <a:defRPr sz="3150" b="1">
                <a:solidFill>
                  <a:srgbClr val="123047"/>
                </a:solidFill>
                <a:latin typeface="DejaVu Sans"/>
                <a:ea typeface="DejaVu Sans"/>
                <a:cs typeface="DejaVu Sans"/>
              </a:defRPr>
            </a:lvl1pPr>
            <a:lvl2pPr algn="l">
              <a:defRPr sz="3150" b="1">
                <a:solidFill>
                  <a:srgbClr val="123047"/>
                </a:solidFill>
                <a:latin typeface="DejaVu Sans"/>
                <a:ea typeface="DejaVu Sans"/>
                <a:cs typeface="DejaVu Sans"/>
              </a:defRPr>
            </a:lvl2pPr>
            <a:lvl3pPr algn="l">
              <a:defRPr sz="3150" b="1">
                <a:solidFill>
                  <a:srgbClr val="123047"/>
                </a:solidFill>
                <a:latin typeface="DejaVu Sans"/>
                <a:ea typeface="DejaVu Sans"/>
                <a:cs typeface="DejaVu Sans"/>
              </a:defRPr>
            </a:lvl3pPr>
            <a:lvl4pPr algn="l">
              <a:defRPr sz="3150" b="1">
                <a:solidFill>
                  <a:srgbClr val="123047"/>
                </a:solidFill>
                <a:latin typeface="DejaVu Sans"/>
                <a:ea typeface="DejaVu Sans"/>
                <a:cs typeface="DejaVu Sans"/>
              </a:defRPr>
            </a:lvl4pPr>
            <a:lvl5pPr algn="l">
              <a:defRPr sz="3150" b="1">
                <a:solidFill>
                  <a:srgbClr val="123047"/>
                </a:solidFill>
                <a:latin typeface="DejaVu Sans"/>
                <a:ea typeface="DejaVu Sans"/>
                <a:cs typeface="DejaVu Sans"/>
              </a:defRPr>
            </a:lvl5pPr>
            <a:lvl6pPr algn="l">
              <a:defRPr sz="3150" b="1">
                <a:solidFill>
                  <a:srgbClr val="123047"/>
                </a:solidFill>
                <a:latin typeface="DejaVu Sans"/>
                <a:ea typeface="DejaVu Sans"/>
                <a:cs typeface="DejaVu Sans"/>
              </a:defRPr>
            </a:lvl6pPr>
            <a:lvl7pPr algn="l">
              <a:defRPr sz="3150" b="1">
                <a:solidFill>
                  <a:srgbClr val="123047"/>
                </a:solidFill>
                <a:latin typeface="DejaVu Sans"/>
                <a:ea typeface="DejaVu Sans"/>
                <a:cs typeface="DejaVu Sans"/>
              </a:defRPr>
            </a:lvl7pPr>
            <a:lvl8pPr algn="l">
              <a:defRPr sz="3150" b="1">
                <a:solidFill>
                  <a:srgbClr val="123047"/>
                </a:solidFill>
                <a:latin typeface="DejaVu Sans"/>
                <a:ea typeface="DejaVu Sans"/>
                <a:cs typeface="DejaVu Sans"/>
              </a:defRPr>
            </a:lvl8pPr>
            <a:lvl9pPr algn="l">
              <a:defRPr sz="3150" b="1">
                <a:solidFill>
                  <a:srgbClr val="123047"/>
                </a:solidFill>
                <a:latin typeface="DejaVu Sans"/>
                <a:ea typeface="DejaVu Sans"/>
                <a:cs typeface="DejaVu Sans"/>
              </a:defRPr>
            </a:lvl9pPr>
          </a:lstStyle>
          <a:p>
            <a:pPr algn="l">
              <a:lnSpc>
                <a:spcPct val="112000"/>
              </a:lnSpc>
              <a:buNone/>
              <a:defRPr sz="3150" b="1">
                <a:solidFill>
                  <a:srgbClr val="123047"/>
                </a:solidFill>
                <a:latin typeface="DejaVu Sans"/>
                <a:ea typeface="DejaVu Sans"/>
                <a:cs typeface="DejaVu Sans"/>
              </a:defRPr>
            </a:pPr>
            <a:r>
              <a:rPr sz="3150" b="1">
                <a:solidFill>
                  <a:srgbClr val="123047"/>
                </a:solidFill>
                <a:latin typeface="DejaVu Sans"/>
                <a:ea typeface="DejaVu Sans"/>
                <a:cs typeface="DejaVu Sans"/>
              </a:rPr>
              <a:t>Kết luận</a:t>
            </a:r>
          </a:p>
        </p:txBody>
      </p:sp>
      <p:sp>
        <p:nvSpPr>
          <p:cNvPr id="2" name="rule-323">
            <a:extLst>
              <a:ext uri="{FF2B5EF4-FFF2-40B4-BE49-F238E27FC236}">
                <a16:creationId xmlns:a16="http://schemas.microsoft.com/office/drawing/2014/main" id="{B6C1EAAC-A82B-4C40-AE4B-77751A4EF7AF}"/>
              </a:ext>
            </a:extLst>
          </p:cNvPr>
          <p:cNvSpPr>
            <a:spLocks noGrp="1"/>
          </p:cNvSpPr>
          <p:nvPr/>
        </p:nvSpPr>
        <p:spPr>
          <a:xfrm>
            <a:off x="609600" y="1371600"/>
            <a:ext cx="10972800" cy="0"/>
          </a:xfrm>
          <a:prstGeom prst="line">
            <a:avLst/>
          </a:prstGeom>
          <a:noFill/>
          <a:ln w="9525">
            <a:solidFill>
              <a:srgbClr val="CBD7DE"/>
            </a:solidFill>
            <a:prstDash val="solid"/>
          </a:ln>
        </p:spPr>
      </p:sp>
      <p:sp>
        <p:nvSpPr>
          <p:cNvPr id="3" name="section-label">
            <a:extLst>
              <a:ext uri="{FF2B5EF4-FFF2-40B4-BE49-F238E27FC236}">
                <a16:creationId xmlns:a16="http://schemas.microsoft.com/office/drawing/2014/main" id="{F6A9CB0A-6E90-4DE3-88E6-8577EA46A0DB}"/>
              </a:ext>
            </a:extLst>
          </p:cNvPr>
          <p:cNvSpPr>
            <a:spLocks noGrp="1"/>
          </p:cNvSpPr>
          <p:nvPr/>
        </p:nvSpPr>
        <p:spPr>
          <a:xfrm>
            <a:off x="609600" y="6457950"/>
            <a:ext cx="10191750" cy="209550"/>
          </a:xfrm>
          <a:prstGeom prst="rect">
            <a:avLst/>
          </a:prstGeom>
          <a:noFill/>
          <a:ln w="0">
            <a:noFill/>
            <a:prstDash val="solid"/>
          </a:ln>
        </p:spPr>
        <p:txBody>
          <a:bodyPr wrap="square" lIns="0" tIns="0" rIns="0" bIns="0" anchor="t">
            <a:noAutofit/>
          </a:bodyPr>
          <a:lstStyle>
            <a:defPPr algn="l">
              <a:defRPr sz="1050" b="0">
                <a:solidFill>
                  <a:srgbClr val="536B7B"/>
                </a:solidFill>
                <a:latin typeface="DejaVu Sans"/>
                <a:ea typeface="DejaVu Sans"/>
                <a:cs typeface="DejaVu Sans"/>
              </a:defRPr>
            </a:defPPr>
            <a:lvl1pPr algn="l">
              <a:defRPr sz="1050" b="0">
                <a:solidFill>
                  <a:srgbClr val="536B7B"/>
                </a:solidFill>
                <a:latin typeface="DejaVu Sans"/>
                <a:ea typeface="DejaVu Sans"/>
                <a:cs typeface="DejaVu Sans"/>
              </a:defRPr>
            </a:lvl1pPr>
            <a:lvl2pPr algn="l">
              <a:defRPr sz="1050" b="0">
                <a:solidFill>
                  <a:srgbClr val="536B7B"/>
                </a:solidFill>
                <a:latin typeface="DejaVu Sans"/>
                <a:ea typeface="DejaVu Sans"/>
                <a:cs typeface="DejaVu Sans"/>
              </a:defRPr>
            </a:lvl2pPr>
            <a:lvl3pPr algn="l">
              <a:defRPr sz="1050" b="0">
                <a:solidFill>
                  <a:srgbClr val="536B7B"/>
                </a:solidFill>
                <a:latin typeface="DejaVu Sans"/>
                <a:ea typeface="DejaVu Sans"/>
                <a:cs typeface="DejaVu Sans"/>
              </a:defRPr>
            </a:lvl3pPr>
            <a:lvl4pPr algn="l">
              <a:defRPr sz="1050" b="0">
                <a:solidFill>
                  <a:srgbClr val="536B7B"/>
                </a:solidFill>
                <a:latin typeface="DejaVu Sans"/>
                <a:ea typeface="DejaVu Sans"/>
                <a:cs typeface="DejaVu Sans"/>
              </a:defRPr>
            </a:lvl4pPr>
            <a:lvl5pPr algn="l">
              <a:defRPr sz="1050" b="0">
                <a:solidFill>
                  <a:srgbClr val="536B7B"/>
                </a:solidFill>
                <a:latin typeface="DejaVu Sans"/>
                <a:ea typeface="DejaVu Sans"/>
                <a:cs typeface="DejaVu Sans"/>
              </a:defRPr>
            </a:lvl5pPr>
            <a:lvl6pPr algn="l">
              <a:defRPr sz="1050" b="0">
                <a:solidFill>
                  <a:srgbClr val="536B7B"/>
                </a:solidFill>
                <a:latin typeface="DejaVu Sans"/>
                <a:ea typeface="DejaVu Sans"/>
                <a:cs typeface="DejaVu Sans"/>
              </a:defRPr>
            </a:lvl6pPr>
            <a:lvl7pPr algn="l">
              <a:defRPr sz="1050" b="0">
                <a:solidFill>
                  <a:srgbClr val="536B7B"/>
                </a:solidFill>
                <a:latin typeface="DejaVu Sans"/>
                <a:ea typeface="DejaVu Sans"/>
                <a:cs typeface="DejaVu Sans"/>
              </a:defRPr>
            </a:lvl7pPr>
            <a:lvl8pPr algn="l">
              <a:defRPr sz="1050" b="0">
                <a:solidFill>
                  <a:srgbClr val="536B7B"/>
                </a:solidFill>
                <a:latin typeface="DejaVu Sans"/>
                <a:ea typeface="DejaVu Sans"/>
                <a:cs typeface="DejaVu Sans"/>
              </a:defRPr>
            </a:lvl8pPr>
            <a:lvl9pPr algn="l">
              <a:defRPr sz="1050" b="0">
                <a:solidFill>
                  <a:srgbClr val="536B7B"/>
                </a:solidFill>
                <a:latin typeface="DejaVu Sans"/>
                <a:ea typeface="DejaVu Sans"/>
                <a:cs typeface="DejaVu Sans"/>
              </a:defRPr>
            </a:lvl9pPr>
          </a:lstStyle>
          <a:p>
            <a:pPr algn="l">
              <a:lnSpc>
                <a:spcPct val="112000"/>
              </a:lnSpc>
              <a:buNone/>
              <a:defRPr sz="1050" b="0">
                <a:solidFill>
                  <a:srgbClr val="536B7B"/>
                </a:solidFill>
                <a:latin typeface="DejaVu Sans"/>
                <a:ea typeface="DejaVu Sans"/>
                <a:cs typeface="DejaVu Sans"/>
              </a:defRPr>
            </a:pPr>
            <a:r>
              <a:rPr sz="1050" b="0">
                <a:solidFill>
                  <a:srgbClr val="536B7B"/>
                </a:solidFill>
                <a:latin typeface="DejaVu Sans"/>
                <a:ea typeface="DejaVu Sans"/>
                <a:cs typeface="DejaVu Sans"/>
              </a:rPr>
              <a:t>10 Đánh giá và phát triển</a:t>
            </a:r>
          </a:p>
        </p:txBody>
      </p:sp>
      <p:sp>
        <p:nvSpPr>
          <p:cNvPr id="4" name="slide-number">
            <a:extLst>
              <a:ext uri="{FF2B5EF4-FFF2-40B4-BE49-F238E27FC236}">
                <a16:creationId xmlns:a16="http://schemas.microsoft.com/office/drawing/2014/main" id="{04A6FF07-4A17-4955-83BA-ECFC384011B8}"/>
              </a:ext>
            </a:extLst>
          </p:cNvPr>
          <p:cNvSpPr>
            <a:spLocks noGrp="1"/>
          </p:cNvSpPr>
          <p:nvPr/>
        </p:nvSpPr>
        <p:spPr>
          <a:xfrm>
            <a:off x="10982325" y="6438900"/>
            <a:ext cx="600075" cy="247650"/>
          </a:xfrm>
          <a:prstGeom prst="rect">
            <a:avLst/>
          </a:prstGeom>
          <a:noFill/>
          <a:ln w="0">
            <a:noFill/>
            <a:prstDash val="solid"/>
          </a:ln>
        </p:spPr>
        <p:txBody>
          <a:bodyPr wrap="square" lIns="0" tIns="0" rIns="0" bIns="0" anchor="t">
            <a:noAutofit/>
          </a:bodyPr>
          <a:lstStyle>
            <a:defPPr algn="r">
              <a:defRPr sz="1275" b="0">
                <a:solidFill>
                  <a:srgbClr val="536B7B"/>
                </a:solidFill>
                <a:latin typeface="DejaVu Sans"/>
                <a:ea typeface="DejaVu Sans"/>
                <a:cs typeface="DejaVu Sans"/>
              </a:defRPr>
            </a:defPPr>
            <a:lvl1pPr algn="r">
              <a:defRPr sz="1275" b="0">
                <a:solidFill>
                  <a:srgbClr val="536B7B"/>
                </a:solidFill>
                <a:latin typeface="DejaVu Sans"/>
                <a:ea typeface="DejaVu Sans"/>
                <a:cs typeface="DejaVu Sans"/>
              </a:defRPr>
            </a:lvl1pPr>
            <a:lvl2pPr algn="r">
              <a:defRPr sz="1275" b="0">
                <a:solidFill>
                  <a:srgbClr val="536B7B"/>
                </a:solidFill>
                <a:latin typeface="DejaVu Sans"/>
                <a:ea typeface="DejaVu Sans"/>
                <a:cs typeface="DejaVu Sans"/>
              </a:defRPr>
            </a:lvl2pPr>
            <a:lvl3pPr algn="r">
              <a:defRPr sz="1275" b="0">
                <a:solidFill>
                  <a:srgbClr val="536B7B"/>
                </a:solidFill>
                <a:latin typeface="DejaVu Sans"/>
                <a:ea typeface="DejaVu Sans"/>
                <a:cs typeface="DejaVu Sans"/>
              </a:defRPr>
            </a:lvl3pPr>
            <a:lvl4pPr algn="r">
              <a:defRPr sz="1275" b="0">
                <a:solidFill>
                  <a:srgbClr val="536B7B"/>
                </a:solidFill>
                <a:latin typeface="DejaVu Sans"/>
                <a:ea typeface="DejaVu Sans"/>
                <a:cs typeface="DejaVu Sans"/>
              </a:defRPr>
            </a:lvl4pPr>
            <a:lvl5pPr algn="r">
              <a:defRPr sz="1275" b="0">
                <a:solidFill>
                  <a:srgbClr val="536B7B"/>
                </a:solidFill>
                <a:latin typeface="DejaVu Sans"/>
                <a:ea typeface="DejaVu Sans"/>
                <a:cs typeface="DejaVu Sans"/>
              </a:defRPr>
            </a:lvl5pPr>
            <a:lvl6pPr algn="r">
              <a:defRPr sz="1275" b="0">
                <a:solidFill>
                  <a:srgbClr val="536B7B"/>
                </a:solidFill>
                <a:latin typeface="DejaVu Sans"/>
                <a:ea typeface="DejaVu Sans"/>
                <a:cs typeface="DejaVu Sans"/>
              </a:defRPr>
            </a:lvl6pPr>
            <a:lvl7pPr algn="r">
              <a:defRPr sz="1275" b="0">
                <a:solidFill>
                  <a:srgbClr val="536B7B"/>
                </a:solidFill>
                <a:latin typeface="DejaVu Sans"/>
                <a:ea typeface="DejaVu Sans"/>
                <a:cs typeface="DejaVu Sans"/>
              </a:defRPr>
            </a:lvl7pPr>
            <a:lvl8pPr algn="r">
              <a:defRPr sz="1275" b="0">
                <a:solidFill>
                  <a:srgbClr val="536B7B"/>
                </a:solidFill>
                <a:latin typeface="DejaVu Sans"/>
                <a:ea typeface="DejaVu Sans"/>
                <a:cs typeface="DejaVu Sans"/>
              </a:defRPr>
            </a:lvl8pPr>
            <a:lvl9pPr algn="r">
              <a:defRPr sz="1275" b="0">
                <a:solidFill>
                  <a:srgbClr val="536B7B"/>
                </a:solidFill>
                <a:latin typeface="DejaVu Sans"/>
                <a:ea typeface="DejaVu Sans"/>
                <a:cs typeface="DejaVu Sans"/>
              </a:defRPr>
            </a:lvl9pPr>
          </a:lstStyle>
          <a:p>
            <a:pPr algn="r">
              <a:lnSpc>
                <a:spcPct val="112000"/>
              </a:lnSpc>
              <a:buNone/>
              <a:defRPr sz="1275" b="0">
                <a:solidFill>
                  <a:srgbClr val="536B7B"/>
                </a:solidFill>
                <a:latin typeface="DejaVu Sans"/>
                <a:ea typeface="DejaVu Sans"/>
                <a:cs typeface="DejaVu Sans"/>
              </a:defRPr>
            </a:pPr>
            <a:r>
              <a:rPr sz="1275" b="0">
                <a:solidFill>
                  <a:srgbClr val="536B7B"/>
                </a:solidFill>
                <a:latin typeface="DejaVu Sans"/>
                <a:ea typeface="DejaVu Sans"/>
                <a:cs typeface="DejaVu Sans"/>
              </a:rPr>
              <a:t>47</a:t>
            </a:r>
          </a:p>
        </p:txBody>
      </p:sp>
      <p:sp>
        <p:nvSpPr>
          <p:cNvPr id="5" name="text-324">
            <a:extLst>
              <a:ext uri="{FF2B5EF4-FFF2-40B4-BE49-F238E27FC236}">
                <a16:creationId xmlns:a16="http://schemas.microsoft.com/office/drawing/2014/main" id="{850A8701-1A23-4705-9260-70F105282ED1}"/>
              </a:ext>
            </a:extLst>
          </p:cNvPr>
          <p:cNvSpPr>
            <a:spLocks noGrp="1"/>
          </p:cNvSpPr>
          <p:nvPr/>
        </p:nvSpPr>
        <p:spPr>
          <a:xfrm>
            <a:off x="609600" y="1714500"/>
            <a:ext cx="10972800" cy="628650"/>
          </a:xfrm>
          <a:prstGeom prst="rect">
            <a:avLst/>
          </a:prstGeom>
          <a:noFill/>
          <a:ln w="0">
            <a:noFill/>
            <a:prstDash val="solid"/>
          </a:ln>
        </p:spPr>
        <p:txBody>
          <a:bodyPr wrap="square" lIns="0" tIns="0" rIns="0" bIns="0" anchor="t">
            <a:noAutofit/>
          </a:bodyPr>
          <a:lstStyle>
            <a:defPPr algn="l">
              <a:defRPr sz="2025" b="0">
                <a:solidFill>
                  <a:srgbClr val="123047"/>
                </a:solidFill>
                <a:latin typeface="DejaVu Sans"/>
                <a:ea typeface="DejaVu Sans"/>
                <a:cs typeface="DejaVu Sans"/>
              </a:defRPr>
            </a:defPPr>
            <a:lvl1pPr algn="l">
              <a:defRPr sz="2025" b="0">
                <a:solidFill>
                  <a:srgbClr val="123047"/>
                </a:solidFill>
                <a:latin typeface="DejaVu Sans"/>
                <a:ea typeface="DejaVu Sans"/>
                <a:cs typeface="DejaVu Sans"/>
              </a:defRPr>
            </a:lvl1pPr>
            <a:lvl2pPr algn="l">
              <a:defRPr sz="2025" b="0">
                <a:solidFill>
                  <a:srgbClr val="123047"/>
                </a:solidFill>
                <a:latin typeface="DejaVu Sans"/>
                <a:ea typeface="DejaVu Sans"/>
                <a:cs typeface="DejaVu Sans"/>
              </a:defRPr>
            </a:lvl2pPr>
            <a:lvl3pPr algn="l">
              <a:defRPr sz="2025" b="0">
                <a:solidFill>
                  <a:srgbClr val="123047"/>
                </a:solidFill>
                <a:latin typeface="DejaVu Sans"/>
                <a:ea typeface="DejaVu Sans"/>
                <a:cs typeface="DejaVu Sans"/>
              </a:defRPr>
            </a:lvl3pPr>
            <a:lvl4pPr algn="l">
              <a:defRPr sz="2025" b="0">
                <a:solidFill>
                  <a:srgbClr val="123047"/>
                </a:solidFill>
                <a:latin typeface="DejaVu Sans"/>
                <a:ea typeface="DejaVu Sans"/>
                <a:cs typeface="DejaVu Sans"/>
              </a:defRPr>
            </a:lvl4pPr>
            <a:lvl5pPr algn="l">
              <a:defRPr sz="2025" b="0">
                <a:solidFill>
                  <a:srgbClr val="123047"/>
                </a:solidFill>
                <a:latin typeface="DejaVu Sans"/>
                <a:ea typeface="DejaVu Sans"/>
                <a:cs typeface="DejaVu Sans"/>
              </a:defRPr>
            </a:lvl5pPr>
            <a:lvl6pPr algn="l">
              <a:defRPr sz="2025" b="0">
                <a:solidFill>
                  <a:srgbClr val="123047"/>
                </a:solidFill>
                <a:latin typeface="DejaVu Sans"/>
                <a:ea typeface="DejaVu Sans"/>
                <a:cs typeface="DejaVu Sans"/>
              </a:defRPr>
            </a:lvl6pPr>
            <a:lvl7pPr algn="l">
              <a:defRPr sz="2025" b="0">
                <a:solidFill>
                  <a:srgbClr val="123047"/>
                </a:solidFill>
                <a:latin typeface="DejaVu Sans"/>
                <a:ea typeface="DejaVu Sans"/>
                <a:cs typeface="DejaVu Sans"/>
              </a:defRPr>
            </a:lvl7pPr>
            <a:lvl8pPr algn="l">
              <a:defRPr sz="2025" b="0">
                <a:solidFill>
                  <a:srgbClr val="123047"/>
                </a:solidFill>
                <a:latin typeface="DejaVu Sans"/>
                <a:ea typeface="DejaVu Sans"/>
                <a:cs typeface="DejaVu Sans"/>
              </a:defRPr>
            </a:lvl8pPr>
            <a:lvl9pPr algn="l">
              <a:defRPr sz="2025" b="0">
                <a:solidFill>
                  <a:srgbClr val="123047"/>
                </a:solidFill>
                <a:latin typeface="DejaVu Sans"/>
                <a:ea typeface="DejaVu Sans"/>
                <a:cs typeface="DejaVu Sans"/>
              </a:defRPr>
            </a:lvl9pPr>
          </a:lstStyle>
          <a:p>
            <a:pPr algn="l">
              <a:lnSpc>
                <a:spcPct val="112000"/>
              </a:lnSpc>
              <a:buNone/>
              <a:defRPr sz="2025" b="0">
                <a:solidFill>
                  <a:srgbClr val="123047"/>
                </a:solidFill>
                <a:latin typeface="DejaVu Sans"/>
                <a:ea typeface="DejaVu Sans"/>
                <a:cs typeface="DejaVu Sans"/>
              </a:defRPr>
            </a:pPr>
            <a:r>
              <a:rPr sz="2025" b="0">
                <a:solidFill>
                  <a:srgbClr val="123047"/>
                </a:solidFill>
                <a:latin typeface="DejaVu Sans"/>
                <a:ea typeface="DejaVu Sans"/>
                <a:cs typeface="DejaVu Sans"/>
              </a:rPr>
              <a:t>Mô hình đã mở rộng giám sát tại chỗ sang web qua Wi-Fi, localhost và thông báo Telegram tự động.</a:t>
            </a:r>
          </a:p>
        </p:txBody>
      </p:sp>
      <p:sp>
        <p:nvSpPr>
          <p:cNvPr id="6" name="text-325">
            <a:extLst>
              <a:ext uri="{FF2B5EF4-FFF2-40B4-BE49-F238E27FC236}">
                <a16:creationId xmlns:a16="http://schemas.microsoft.com/office/drawing/2014/main" id="{FAE688F5-1A3B-4BF0-BAA6-3BA1E316621C}"/>
              </a:ext>
            </a:extLst>
          </p:cNvPr>
          <p:cNvSpPr>
            <a:spLocks noGrp="1"/>
          </p:cNvSpPr>
          <p:nvPr/>
        </p:nvSpPr>
        <p:spPr>
          <a:xfrm>
            <a:off x="609600" y="251460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Kết quả</a:t>
            </a:r>
          </a:p>
        </p:txBody>
      </p:sp>
      <p:sp>
        <p:nvSpPr>
          <p:cNvPr id="7" name="text-326">
            <a:extLst>
              <a:ext uri="{FF2B5EF4-FFF2-40B4-BE49-F238E27FC236}">
                <a16:creationId xmlns:a16="http://schemas.microsoft.com/office/drawing/2014/main" id="{49C79804-8765-4030-BEC9-CF0A3696FFE0}"/>
              </a:ext>
            </a:extLst>
          </p:cNvPr>
          <p:cNvSpPr>
            <a:spLocks noGrp="1"/>
          </p:cNvSpPr>
          <p:nvPr/>
        </p:nvSpPr>
        <p:spPr>
          <a:xfrm>
            <a:off x="609600" y="3028950"/>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Chuỗi đọc, lọc, kiểm tra, cảnh báo và</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điều khiển đã được mô tả trong mã</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nguồn của phiên bản cập nhật.</a:t>
            </a:r>
          </a:p>
        </p:txBody>
      </p:sp>
      <p:sp>
        <p:nvSpPr>
          <p:cNvPr id="8" name="text-327">
            <a:extLst>
              <a:ext uri="{FF2B5EF4-FFF2-40B4-BE49-F238E27FC236}">
                <a16:creationId xmlns:a16="http://schemas.microsoft.com/office/drawing/2014/main" id="{07E928D3-DA1E-4A17-BBC5-C7F3A040C7C0}"/>
              </a:ext>
            </a:extLst>
          </p:cNvPr>
          <p:cNvSpPr>
            <a:spLocks noGrp="1"/>
          </p:cNvSpPr>
          <p:nvPr/>
        </p:nvSpPr>
        <p:spPr>
          <a:xfrm>
            <a:off x="609600" y="4193381"/>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Quan sát tích hợp cho thấy đã nhận</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được một tin nhắn hết cảnh báo.</a:t>
            </a:r>
          </a:p>
        </p:txBody>
      </p:sp>
      <p:sp>
        <p:nvSpPr>
          <p:cNvPr id="9" name="text-328">
            <a:extLst>
              <a:ext uri="{FF2B5EF4-FFF2-40B4-BE49-F238E27FC236}">
                <a16:creationId xmlns:a16="http://schemas.microsoft.com/office/drawing/2014/main" id="{F6E92B1C-D339-4886-95DF-71BB124068BE}"/>
              </a:ext>
            </a:extLst>
          </p:cNvPr>
          <p:cNvSpPr>
            <a:spLocks noGrp="1"/>
          </p:cNvSpPr>
          <p:nvPr/>
        </p:nvSpPr>
        <p:spPr>
          <a:xfrm>
            <a:off x="6381750" y="2514600"/>
            <a:ext cx="5200650" cy="51435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2025" b="1">
                <a:solidFill>
                  <a:srgbClr val="007E87"/>
                </a:solidFill>
                <a:latin typeface="DejaVu Sans"/>
                <a:ea typeface="DejaVu Sans"/>
                <a:cs typeface="DejaVu Sans"/>
              </a:rPr>
              <a:t>Bước hoàn thiện</a:t>
            </a:r>
          </a:p>
        </p:txBody>
      </p:sp>
      <p:sp>
        <p:nvSpPr>
          <p:cNvPr id="10" name="text-329">
            <a:extLst>
              <a:ext uri="{FF2B5EF4-FFF2-40B4-BE49-F238E27FC236}">
                <a16:creationId xmlns:a16="http://schemas.microsoft.com/office/drawing/2014/main" id="{DEA2814B-0BA5-4F17-8454-E6625D4140B4}"/>
              </a:ext>
            </a:extLst>
          </p:cNvPr>
          <p:cNvSpPr>
            <a:spLocks noGrp="1"/>
          </p:cNvSpPr>
          <p:nvPr/>
        </p:nvSpPr>
        <p:spPr>
          <a:xfrm>
            <a:off x="6381750" y="3028950"/>
            <a:ext cx="5200650" cy="671513"/>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Tiếp tục phép thử định lượng và độ</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bền để đánh giá đầy đủ.</a:t>
            </a:r>
          </a:p>
        </p:txBody>
      </p:sp>
      <p:sp>
        <p:nvSpPr>
          <p:cNvPr id="11" name="text-330">
            <a:extLst>
              <a:ext uri="{FF2B5EF4-FFF2-40B4-BE49-F238E27FC236}">
                <a16:creationId xmlns:a16="http://schemas.microsoft.com/office/drawing/2014/main" id="{CE153F44-C171-43AB-B32D-1A182C3B8AED}"/>
              </a:ext>
            </a:extLst>
          </p:cNvPr>
          <p:cNvSpPr>
            <a:spLocks noGrp="1"/>
          </p:cNvSpPr>
          <p:nvPr/>
        </p:nvSpPr>
        <p:spPr>
          <a:xfrm>
            <a:off x="6381750" y="3871913"/>
            <a:ext cx="5200650" cy="992981"/>
          </a:xfrm>
          <a:prstGeom prst="rect">
            <a:avLst/>
          </a:prstGeom>
          <a:noFill/>
          <a:ln w="0">
            <a:noFill/>
            <a:prstDash val="solid"/>
          </a:ln>
        </p:spPr>
        <p:txBody>
          <a:bodyPr wrap="square" lIns="0" tIns="0" rIns="0" bIns="0" anchor="t">
            <a:noAutofit/>
          </a:bodyPr>
          <a:lstStyle>
            <a:defPPr algn="l">
              <a:defRPr sz="1875" b="0">
                <a:solidFill>
                  <a:srgbClr val="263E50"/>
                </a:solidFill>
                <a:latin typeface="DejaVu Sans"/>
                <a:ea typeface="DejaVu Sans"/>
                <a:cs typeface="DejaVu Sans"/>
              </a:defRPr>
            </a:defPPr>
            <a:lvl1pPr algn="l">
              <a:defRPr sz="1875" b="0">
                <a:solidFill>
                  <a:srgbClr val="263E50"/>
                </a:solidFill>
                <a:latin typeface="DejaVu Sans"/>
                <a:ea typeface="DejaVu Sans"/>
                <a:cs typeface="DejaVu Sans"/>
              </a:defRPr>
            </a:lvl1pPr>
            <a:lvl2pPr algn="l">
              <a:defRPr sz="1875" b="0">
                <a:solidFill>
                  <a:srgbClr val="263E50"/>
                </a:solidFill>
                <a:latin typeface="DejaVu Sans"/>
                <a:ea typeface="DejaVu Sans"/>
                <a:cs typeface="DejaVu Sans"/>
              </a:defRPr>
            </a:lvl2pPr>
            <a:lvl3pPr algn="l">
              <a:defRPr sz="1875" b="0">
                <a:solidFill>
                  <a:srgbClr val="263E50"/>
                </a:solidFill>
                <a:latin typeface="DejaVu Sans"/>
                <a:ea typeface="DejaVu Sans"/>
                <a:cs typeface="DejaVu Sans"/>
              </a:defRPr>
            </a:lvl3pPr>
            <a:lvl4pPr algn="l">
              <a:defRPr sz="1875" b="0">
                <a:solidFill>
                  <a:srgbClr val="263E50"/>
                </a:solidFill>
                <a:latin typeface="DejaVu Sans"/>
                <a:ea typeface="DejaVu Sans"/>
                <a:cs typeface="DejaVu Sans"/>
              </a:defRPr>
            </a:lvl4pPr>
            <a:lvl5pPr algn="l">
              <a:defRPr sz="1875" b="0">
                <a:solidFill>
                  <a:srgbClr val="263E50"/>
                </a:solidFill>
                <a:latin typeface="DejaVu Sans"/>
                <a:ea typeface="DejaVu Sans"/>
                <a:cs typeface="DejaVu Sans"/>
              </a:defRPr>
            </a:lvl5pPr>
            <a:lvl6pPr algn="l">
              <a:defRPr sz="1875" b="0">
                <a:solidFill>
                  <a:srgbClr val="263E50"/>
                </a:solidFill>
                <a:latin typeface="DejaVu Sans"/>
                <a:ea typeface="DejaVu Sans"/>
                <a:cs typeface="DejaVu Sans"/>
              </a:defRPr>
            </a:lvl6pPr>
            <a:lvl7pPr algn="l">
              <a:defRPr sz="1875" b="0">
                <a:solidFill>
                  <a:srgbClr val="263E50"/>
                </a:solidFill>
                <a:latin typeface="DejaVu Sans"/>
                <a:ea typeface="DejaVu Sans"/>
                <a:cs typeface="DejaVu Sans"/>
              </a:defRPr>
            </a:lvl7pPr>
            <a:lvl8pPr algn="l">
              <a:defRPr sz="1875" b="0">
                <a:solidFill>
                  <a:srgbClr val="263E50"/>
                </a:solidFill>
                <a:latin typeface="DejaVu Sans"/>
                <a:ea typeface="DejaVu Sans"/>
                <a:cs typeface="DejaVu Sans"/>
              </a:defRPr>
            </a:lvl8pPr>
            <a:lvl9pPr algn="l">
              <a:defRPr sz="1875" b="0">
                <a:solidFill>
                  <a:srgbClr val="263E50"/>
                </a:solidFill>
                <a:latin typeface="DejaVu Sans"/>
                <a:ea typeface="DejaVu Sans"/>
                <a:cs typeface="DejaVu Sans"/>
              </a:defRPr>
            </a:lvl9pPr>
          </a:lstStyle>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Đây là mô hình học tập, chưa được</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chứng nhận như thiết bị cảnh báo khí</a:t>
            </a:r>
          </a:p>
          <a:p>
            <a:pPr algn="l">
              <a:lnSpc>
                <a:spcPct val="112000"/>
              </a:lnSpc>
              <a:buNone/>
              <a:defRPr sz="1875" b="0">
                <a:solidFill>
                  <a:srgbClr val="263E50"/>
                </a:solidFill>
                <a:latin typeface="DejaVu Sans"/>
                <a:ea typeface="DejaVu Sans"/>
                <a:cs typeface="DejaVu Sans"/>
              </a:defRPr>
            </a:pPr>
            <a:r>
              <a:rPr sz="1875" b="0">
                <a:solidFill>
                  <a:srgbClr val="263E50"/>
                </a:solidFill>
                <a:latin typeface="DejaVu Sans"/>
                <a:ea typeface="DejaVu Sans"/>
                <a:cs typeface="DejaVu Sans"/>
              </a:rPr>
              <a:t>hoặc đo bụi đạt chuẩn.</a:t>
            </a:r>
          </a:p>
        </p:txBody>
      </p:sp>
    </p:spTree>
    <p:extLst>
      <p:ext uri="{BB962C8B-B14F-4D97-AF65-F5344CB8AC3E}">
        <p14:creationId xmlns:p14="http://schemas.microsoft.com/office/powerpoint/2010/main" val="1299923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331">
            <a:extLst>
              <a:ext uri="{FF2B5EF4-FFF2-40B4-BE49-F238E27FC236}">
                <a16:creationId xmlns:a16="http://schemas.microsoft.com/office/drawing/2014/main" id="{A8AD3DBF-AFD4-54DA-40AF-241F865F26BA}"/>
              </a:ext>
            </a:extLst>
          </p:cNvPr>
          <p:cNvSpPr>
            <a:spLocks noGrp="1"/>
          </p:cNvSpPr>
          <p:nvPr/>
        </p:nvSpPr>
        <p:spPr>
          <a:xfrm>
            <a:off x="2005780" y="2547477"/>
            <a:ext cx="10972800" cy="45720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l">
              <a:lnSpc>
                <a:spcPct val="112000"/>
              </a:lnSpc>
              <a:buNone/>
              <a:defRPr sz="2025" b="1">
                <a:solidFill>
                  <a:srgbClr val="007E87"/>
                </a:solidFill>
                <a:latin typeface="DejaVu Sans"/>
                <a:ea typeface="DejaVu Sans"/>
                <a:cs typeface="DejaVu Sans"/>
              </a:defRPr>
            </a:pPr>
            <a:r>
              <a:rPr sz="4000" b="1" dirty="0" err="1">
                <a:solidFill>
                  <a:srgbClr val="007E87"/>
                </a:solidFill>
                <a:latin typeface="Times New Roman" panose="02020603050405020304" pitchFamily="18" charset="0"/>
                <a:cs typeface="Times New Roman" panose="02020603050405020304" pitchFamily="18" charset="0"/>
              </a:rPr>
              <a:t>Cảm</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ơn</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c</a:t>
            </a:r>
            <a:r>
              <a:rPr lang="en-US" sz="4000" dirty="0" err="1">
                <a:latin typeface="Times New Roman" panose="02020603050405020304" pitchFamily="18" charset="0"/>
                <a:cs typeface="Times New Roman" panose="02020603050405020304" pitchFamily="18" charset="0"/>
              </a:rPr>
              <a:t>ô</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và</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c</a:t>
            </a:r>
            <a:r>
              <a:rPr sz="4000" b="1" dirty="0" err="1">
                <a:solidFill>
                  <a:srgbClr val="007E87"/>
                </a:solidFill>
                <a:latin typeface="Times New Roman" panose="02020603050405020304" pitchFamily="18" charset="0"/>
                <a:cs typeface="Times New Roman" panose="02020603050405020304" pitchFamily="18" charset="0"/>
              </a:rPr>
              <a:t>ác</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bạn</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đã</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lắng</a:t>
            </a:r>
            <a:r>
              <a:rPr sz="4000" b="1" dirty="0">
                <a:solidFill>
                  <a:srgbClr val="007E87"/>
                </a:solidFill>
                <a:latin typeface="Times New Roman" panose="02020603050405020304" pitchFamily="18" charset="0"/>
                <a:cs typeface="Times New Roman" panose="02020603050405020304" pitchFamily="18" charset="0"/>
              </a:rPr>
              <a:t> </a:t>
            </a:r>
            <a:r>
              <a:rPr sz="4000" b="1" dirty="0" err="1">
                <a:solidFill>
                  <a:srgbClr val="007E87"/>
                </a:solidFill>
                <a:latin typeface="Times New Roman" panose="02020603050405020304" pitchFamily="18" charset="0"/>
                <a:cs typeface="Times New Roman" panose="02020603050405020304" pitchFamily="18" charset="0"/>
              </a:rPr>
              <a:t>nghe</a:t>
            </a:r>
            <a:endParaRPr sz="4000" b="1" dirty="0">
              <a:solidFill>
                <a:srgbClr val="007E87"/>
              </a:solidFill>
              <a:latin typeface="Times New Roman" panose="02020603050405020304" pitchFamily="18" charset="0"/>
              <a:cs typeface="Times New Roman" panose="02020603050405020304" pitchFamily="18" charset="0"/>
            </a:endParaRPr>
          </a:p>
        </p:txBody>
      </p:sp>
      <p:sp>
        <p:nvSpPr>
          <p:cNvPr id="5" name="text-331">
            <a:extLst>
              <a:ext uri="{FF2B5EF4-FFF2-40B4-BE49-F238E27FC236}">
                <a16:creationId xmlns:a16="http://schemas.microsoft.com/office/drawing/2014/main" id="{46B59011-F75E-180F-F167-3C92F24BC419}"/>
              </a:ext>
            </a:extLst>
          </p:cNvPr>
          <p:cNvSpPr>
            <a:spLocks noGrp="1"/>
          </p:cNvSpPr>
          <p:nvPr/>
        </p:nvSpPr>
        <p:spPr>
          <a:xfrm>
            <a:off x="609600" y="3200400"/>
            <a:ext cx="10972800" cy="457200"/>
          </a:xfrm>
          <a:prstGeom prst="rect">
            <a:avLst/>
          </a:prstGeom>
          <a:noFill/>
          <a:ln w="0">
            <a:noFill/>
            <a:prstDash val="solid"/>
          </a:ln>
        </p:spPr>
        <p:txBody>
          <a:bodyPr wrap="square" lIns="0" tIns="0" rIns="0" bIns="0" anchor="t">
            <a:noAutofit/>
          </a:bodyPr>
          <a:lstStyle>
            <a:defPPr algn="l">
              <a:defRPr sz="2025" b="1">
                <a:solidFill>
                  <a:srgbClr val="007E87"/>
                </a:solidFill>
                <a:latin typeface="DejaVu Sans"/>
                <a:ea typeface="DejaVu Sans"/>
                <a:cs typeface="DejaVu Sans"/>
              </a:defRPr>
            </a:defPPr>
            <a:lvl1pPr algn="l">
              <a:defRPr sz="2025" b="1">
                <a:solidFill>
                  <a:srgbClr val="007E87"/>
                </a:solidFill>
                <a:latin typeface="DejaVu Sans"/>
                <a:ea typeface="DejaVu Sans"/>
                <a:cs typeface="DejaVu Sans"/>
              </a:defRPr>
            </a:lvl1pPr>
            <a:lvl2pPr algn="l">
              <a:defRPr sz="2025" b="1">
                <a:solidFill>
                  <a:srgbClr val="007E87"/>
                </a:solidFill>
                <a:latin typeface="DejaVu Sans"/>
                <a:ea typeface="DejaVu Sans"/>
                <a:cs typeface="DejaVu Sans"/>
              </a:defRPr>
            </a:lvl2pPr>
            <a:lvl3pPr algn="l">
              <a:defRPr sz="2025" b="1">
                <a:solidFill>
                  <a:srgbClr val="007E87"/>
                </a:solidFill>
                <a:latin typeface="DejaVu Sans"/>
                <a:ea typeface="DejaVu Sans"/>
                <a:cs typeface="DejaVu Sans"/>
              </a:defRPr>
            </a:lvl3pPr>
            <a:lvl4pPr algn="l">
              <a:defRPr sz="2025" b="1">
                <a:solidFill>
                  <a:srgbClr val="007E87"/>
                </a:solidFill>
                <a:latin typeface="DejaVu Sans"/>
                <a:ea typeface="DejaVu Sans"/>
                <a:cs typeface="DejaVu Sans"/>
              </a:defRPr>
            </a:lvl4pPr>
            <a:lvl5pPr algn="l">
              <a:defRPr sz="2025" b="1">
                <a:solidFill>
                  <a:srgbClr val="007E87"/>
                </a:solidFill>
                <a:latin typeface="DejaVu Sans"/>
                <a:ea typeface="DejaVu Sans"/>
                <a:cs typeface="DejaVu Sans"/>
              </a:defRPr>
            </a:lvl5pPr>
            <a:lvl6pPr algn="l">
              <a:defRPr sz="2025" b="1">
                <a:solidFill>
                  <a:srgbClr val="007E87"/>
                </a:solidFill>
                <a:latin typeface="DejaVu Sans"/>
                <a:ea typeface="DejaVu Sans"/>
                <a:cs typeface="DejaVu Sans"/>
              </a:defRPr>
            </a:lvl6pPr>
            <a:lvl7pPr algn="l">
              <a:defRPr sz="2025" b="1">
                <a:solidFill>
                  <a:srgbClr val="007E87"/>
                </a:solidFill>
                <a:latin typeface="DejaVu Sans"/>
                <a:ea typeface="DejaVu Sans"/>
                <a:cs typeface="DejaVu Sans"/>
              </a:defRPr>
            </a:lvl7pPr>
            <a:lvl8pPr algn="l">
              <a:defRPr sz="2025" b="1">
                <a:solidFill>
                  <a:srgbClr val="007E87"/>
                </a:solidFill>
                <a:latin typeface="DejaVu Sans"/>
                <a:ea typeface="DejaVu Sans"/>
                <a:cs typeface="DejaVu Sans"/>
              </a:defRPr>
            </a:lvl8pPr>
            <a:lvl9pPr algn="l">
              <a:defRPr sz="2025" b="1">
                <a:solidFill>
                  <a:srgbClr val="007E87"/>
                </a:solidFill>
                <a:latin typeface="DejaVu Sans"/>
                <a:ea typeface="DejaVu Sans"/>
                <a:cs typeface="DejaVu Sans"/>
              </a:defRPr>
            </a:lvl9pPr>
          </a:lstStyle>
          <a:p>
            <a:pPr algn="ctr">
              <a:lnSpc>
                <a:spcPct val="112000"/>
              </a:lnSpc>
              <a:buNone/>
              <a:defRPr sz="2025" b="1">
                <a:solidFill>
                  <a:srgbClr val="007E87"/>
                </a:solidFill>
                <a:latin typeface="DejaVu Sans"/>
                <a:ea typeface="DejaVu Sans"/>
                <a:cs typeface="DejaVu Sans"/>
              </a:defRPr>
            </a:pPr>
            <a:r>
              <a:rPr lang="en-US" sz="4000" b="1" dirty="0">
                <a:solidFill>
                  <a:srgbClr val="007E87"/>
                </a:solidFill>
                <a:latin typeface="Times New Roman" panose="02020603050405020304" pitchFamily="18" charset="0"/>
                <a:cs typeface="Times New Roman" panose="02020603050405020304" pitchFamily="18" charset="0"/>
              </a:rPr>
              <a:t>Q&amp;A</a:t>
            </a:r>
            <a:endParaRPr sz="4000" b="1" dirty="0">
              <a:solidFill>
                <a:srgbClr val="007E87"/>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61171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22331</Words>
  <Application>Microsoft Office PowerPoint</Application>
  <DocSecurity>0</DocSecurity>
  <PresentationFormat>Widescreen</PresentationFormat>
  <Paragraphs>1772</Paragraphs>
  <Slides>48</Slides>
  <Notes>47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Aptos</vt:lpstr>
      <vt:lpstr>DejaVu Sans</vt:lpstr>
      <vt:lpstr>DejaVu Sans Mono</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vutronghung112020@outlook.com</cp:lastModifiedBy>
  <cp:revision>2</cp:revision>
  <dcterms:created xsi:type="dcterms:W3CDTF">2026-10-20T04:34:25Z</dcterms:created>
  <dcterms:modified xsi:type="dcterms:W3CDTF">2026-10-20T04:42:29Z</dcterms:modified>
</cp:coreProperties>
</file>